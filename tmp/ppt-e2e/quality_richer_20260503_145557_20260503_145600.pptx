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封面页：说明主题“受控模式复杂布局验证”与汇报范围。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目录页：按三大章节展开汇报。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章节页：01 建设背景与目标。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内容页：现状痛点与建设必要性，突出关键指标与执行建议。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内容页：目标体系与价值锚点，突出关键指标与执行建议。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章节页：02 平台架构与关键能力。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内容页：总体架构与执行流程，突出关键指标与执行建议。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内容页：能力矩阵与场景覆盖，突出关键指标与执行建议。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章节页：03 试点成效与推广计划。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结尾页：总结结论并给出下一步行动建议。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0_img1.png"/>
  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7482840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受控模式复杂布局验证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1099717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基于 haiyou_pure_svg 模板的生产经营智能化实践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69580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汇报单位：中海油研究总院数智研究院技术团队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35075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461524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799398" y="4095750"/>
            <a:ext cx="659320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现状痛点与建设必要性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27094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深水钻井技术进展...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97230" y="1830705"/>
            <a:ext cx="288729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① Deepwater Atlas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83380" y="1830705"/>
            <a:ext cx="288729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7BC0"/>
                </a:solidFill>
                <a:latin typeface="Microsoft YaHei"/>
                <a:ea typeface="Microsoft YaHei"/>
                <a:cs typeface="Microsoft YaHei"/>
              </a:rPr>
              <a:t>② Deepwater Titan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98130" y="1830705"/>
            <a:ext cx="161523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4CB3E6"/>
                </a:solidFill>
                <a:latin typeface="Microsoft YaHei"/>
                <a:ea typeface="Microsoft YaHei"/>
                <a:cs typeface="Microsoft YaHei"/>
              </a:rPr>
              <a:t>③ 核心参数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1952625"/>
            <a:ext cx="895350" cy="9525"/>
          </a:xfrm>
          <a:custGeom>
            <a:avLst/>
            <a:gdLst/>
            <a:ahLst/>
            <a:cxnLst/>
            <a:rect l="l" t="t" r="r" b="b"/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38100">
            <a:solidFill>
              <a:srgbClr val="2C7BC0"/>
            </a:solidFill>
          </a:ln>
        </p:spPr>
      </p:sp>
      <p:sp>
        <p:nvSpPr>
          <p:cNvPr id="11" name="Line 11"/>
          <p:cNvSpPr/>
          <p:nvPr/>
        </p:nvSpPr>
        <p:spPr>
          <a:xfrm>
            <a:off x="6610350" y="195262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4CB3E6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514350" y="2247900"/>
            <a:ext cx="3524250" cy="1809750"/>
          </a:xfrm>
          <a:custGeom>
            <a:avLst/>
            <a:gdLst/>
            <a:ahLst/>
            <a:cxnLst/>
            <a:rect l="l" t="t" r="r" b="b"/>
            <a:pathLst>
              <a:path w="3524250" h="18097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95450"/>
                </a:lnTo>
                <a:cubicBezTo>
                  <a:pt x="3524250" y="1758576"/>
                  <a:pt x="3473076" y="1809750"/>
                  <a:pt x="3409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514350" y="2247900"/>
            <a:ext cx="3524250" cy="400050"/>
          </a:xfrm>
          <a:custGeom>
            <a:avLst/>
            <a:gdLst/>
            <a:ahLst/>
            <a:cxnLst/>
            <a:rect l="l" t="t" r="r" b="b"/>
            <a:pathLst>
              <a:path w="3524250" h="4000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85750"/>
                </a:lnTo>
                <a:cubicBezTo>
                  <a:pt x="3524250" y="348876"/>
                  <a:pt x="3473076" y="400050"/>
                  <a:pt x="3409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49630" y="2306955"/>
            <a:ext cx="26135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Deepwater Atlas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7230" y="2878455"/>
            <a:ext cx="460790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数据分散在多系统，查询链路长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33850" y="2247900"/>
            <a:ext cx="3524250" cy="1809750"/>
          </a:xfrm>
          <a:custGeom>
            <a:avLst/>
            <a:gdLst/>
            <a:ahLst/>
            <a:cxnLst/>
            <a:rect l="l" t="t" r="r" b="b"/>
            <a:pathLst>
              <a:path w="3524250" h="18097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95450"/>
                </a:lnTo>
                <a:cubicBezTo>
                  <a:pt x="3524250" y="1758576"/>
                  <a:pt x="3473076" y="1809750"/>
                  <a:pt x="3409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133850" y="2247900"/>
            <a:ext cx="3524250" cy="400050"/>
          </a:xfrm>
          <a:custGeom>
            <a:avLst/>
            <a:gdLst/>
            <a:ahLst/>
            <a:cxnLst/>
            <a:rect l="l" t="t" r="r" b="b"/>
            <a:pathLst>
              <a:path w="3524250" h="4000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85750"/>
                </a:lnTo>
                <a:cubicBezTo>
                  <a:pt x="3524250" y="348876"/>
                  <a:pt x="3473076" y="400050"/>
                  <a:pt x="3409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469130" y="2306955"/>
            <a:ext cx="26135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Deepwater Titan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6730" y="2878455"/>
            <a:ext cx="460790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跨部门分析靠人工拼接，时效低</a:t>
            </a:r>
          </a:p>
        </p:txBody>
      </p:sp>
      <p:sp>
        <p:nvSpPr>
          <p:cNvPr id="20" name="Freeform 20"/>
          <p:cNvSpPr/>
          <p:nvPr/>
        </p:nvSpPr>
        <p:spPr>
          <a:xfrm>
            <a:off x="7753350" y="2247900"/>
            <a:ext cx="3905250" cy="1809750"/>
          </a:xfrm>
          <a:custGeom>
            <a:avLst/>
            <a:gdLst/>
            <a:ahLst/>
            <a:cxnLst/>
            <a:rect l="l" t="t" r="r" b="b"/>
            <a:pathLst>
              <a:path w="3905250" h="1809750">
                <a:moveTo>
                  <a:pt x="114300" y="0"/>
                </a:moveTo>
                <a:lnTo>
                  <a:pt x="3790950" y="0"/>
                </a:lnTo>
                <a:cubicBezTo>
                  <a:pt x="3854076" y="0"/>
                  <a:pt x="3905250" y="51174"/>
                  <a:pt x="3905250" y="114300"/>
                </a:cubicBezTo>
                <a:lnTo>
                  <a:pt x="3905250" y="1695450"/>
                </a:lnTo>
                <a:cubicBezTo>
                  <a:pt x="3905250" y="1758576"/>
                  <a:pt x="3854076" y="1809750"/>
                  <a:pt x="3790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5BB6E4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7753350" y="2247900"/>
            <a:ext cx="3905250" cy="400050"/>
          </a:xfrm>
          <a:custGeom>
            <a:avLst/>
            <a:gdLst/>
            <a:ahLst/>
            <a:cxnLst/>
            <a:rect l="l" t="t" r="r" b="b"/>
            <a:pathLst>
              <a:path w="3905250" h="400050">
                <a:moveTo>
                  <a:pt x="114300" y="0"/>
                </a:moveTo>
                <a:lnTo>
                  <a:pt x="3790950" y="0"/>
                </a:lnTo>
                <a:cubicBezTo>
                  <a:pt x="3854076" y="0"/>
                  <a:pt x="3905250" y="51174"/>
                  <a:pt x="3905250" y="114300"/>
                </a:cubicBezTo>
                <a:lnTo>
                  <a:pt x="3905250" y="285750"/>
                </a:lnTo>
                <a:cubicBezTo>
                  <a:pt x="3905250" y="348876"/>
                  <a:pt x="3854076" y="400050"/>
                  <a:pt x="3790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088630" y="23069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核心参数指标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36230" y="2878455"/>
            <a:ext cx="43012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成果复用不足，重复劳动较多</a:t>
            </a:r>
          </a:p>
        </p:txBody>
      </p:sp>
      <p:sp>
        <p:nvSpPr>
          <p:cNvPr id="24" name="Freeform 24"/>
          <p:cNvSpPr/>
          <p:nvPr/>
        </p:nvSpPr>
        <p:spPr>
          <a:xfrm>
            <a:off x="533400" y="4267200"/>
            <a:ext cx="11125200" cy="762000"/>
          </a:xfrm>
          <a:custGeom>
            <a:avLst/>
            <a:gdLst/>
            <a:ahLst/>
            <a:cxnLst/>
            <a:rect l="l" t="t" r="r" b="b"/>
            <a:pathLst>
              <a:path w="11125200" h="762000">
                <a:moveTo>
                  <a:pt x="95250" y="0"/>
                </a:moveTo>
                <a:lnTo>
                  <a:pt x="11029950" y="0"/>
                </a:lnTo>
                <a:cubicBezTo>
                  <a:pt x="11082555" y="0"/>
                  <a:pt x="11125200" y="42645"/>
                  <a:pt x="11125200" y="95250"/>
                </a:cubicBezTo>
                <a:lnTo>
                  <a:pt x="11125200" y="666750"/>
                </a:lnTo>
                <a:cubicBezTo>
                  <a:pt x="11125200" y="719355"/>
                  <a:pt x="11082555" y="762000"/>
                  <a:pt x="110299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8FBFF"/>
          </a:solidFill>
          <a:ln w="9525">
            <a:solidFill>
              <a:srgbClr val="2C7BC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019175" y="4462462"/>
            <a:ext cx="1625774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深水钻井技术进展 当前存在口径不统一、协同成本高、结论沉淀慢等问题，需要统一的企业级智能体平台支撑。</a:t>
            </a:r>
          </a:p>
        </p:txBody>
      </p:sp>
      <p:sp>
        <p:nvSpPr>
          <p:cNvPr id="26" name="Freeform 26"/>
          <p:cNvSpPr/>
          <p:nvPr/>
        </p:nvSpPr>
        <p:spPr>
          <a:xfrm>
            <a:off x="533400" y="516255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933450"/>
                </a:lnTo>
                <a:cubicBezTo>
                  <a:pt x="3429000" y="986055"/>
                  <a:pt x="3386355" y="1028700"/>
                  <a:pt x="33337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4248150" y="516255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933450"/>
                </a:lnTo>
                <a:cubicBezTo>
                  <a:pt x="3429000" y="986055"/>
                  <a:pt x="3386355" y="1028700"/>
                  <a:pt x="33337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7962900" y="5162550"/>
            <a:ext cx="3695700" cy="1028700"/>
          </a:xfrm>
          <a:custGeom>
            <a:avLst/>
            <a:gdLst/>
            <a:ahLst/>
            <a:cxnLst/>
            <a:rect l="l" t="t" r="r" b="b"/>
            <a:pathLst>
              <a:path w="3695700" h="1028700">
                <a:moveTo>
                  <a:pt x="95250" y="0"/>
                </a:moveTo>
                <a:lnTo>
                  <a:pt x="3600450" y="0"/>
                </a:lnTo>
                <a:cubicBezTo>
                  <a:pt x="3653055" y="0"/>
                  <a:pt x="3695700" y="42645"/>
                  <a:pt x="3695700" y="95250"/>
                </a:cubicBezTo>
                <a:lnTo>
                  <a:pt x="3695700" y="933450"/>
                </a:lnTo>
                <a:cubicBezTo>
                  <a:pt x="3695700" y="986055"/>
                  <a:pt x="3653055" y="1028700"/>
                  <a:pt x="36004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621429" y="5172075"/>
            <a:ext cx="1252942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96%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91136" y="5172075"/>
            <a:ext cx="1943029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$60万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29009" y="5172075"/>
            <a:ext cx="1563481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22项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目标体系与价值锚点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9982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围绕降本、提质、增效、控险建立四维目标体系，确保建设投入可衡量、可评估。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4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21030" y="1630680"/>
            <a:ext cx="679907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中国深水钻井 — 跨越式发展</a:t>
            </a:r>
          </a:p>
        </p:txBody>
      </p:sp>
      <p:sp>
        <p:nvSpPr>
          <p:cNvPr id="8" name="Freeform 8"/>
          <p:cNvSpPr/>
          <p:nvPr/>
        </p:nvSpPr>
        <p:spPr>
          <a:xfrm>
            <a:off x="533400" y="2266950"/>
            <a:ext cx="2628900" cy="1143000"/>
          </a:xfrm>
          <a:custGeom>
            <a:avLst/>
            <a:gdLst/>
            <a:ahLst/>
            <a:cxnLst/>
            <a:rect l="l" t="t" r="r" b="b"/>
            <a:pathLst>
              <a:path w="2628900" h="1143000">
                <a:moveTo>
                  <a:pt x="171450" y="0"/>
                </a:moveTo>
                <a:lnTo>
                  <a:pt x="2457450" y="0"/>
                </a:lnTo>
                <a:cubicBezTo>
                  <a:pt x="2552139" y="0"/>
                  <a:pt x="2628900" y="76761"/>
                  <a:pt x="2628900" y="171450"/>
                </a:cubicBezTo>
                <a:lnTo>
                  <a:pt x="2628900" y="971550"/>
                </a:lnTo>
                <a:cubicBezTo>
                  <a:pt x="2628900" y="1066239"/>
                  <a:pt x="2552139" y="1143000"/>
                  <a:pt x="24574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3352800" y="2266950"/>
            <a:ext cx="2628900" cy="1143000"/>
          </a:xfrm>
          <a:custGeom>
            <a:avLst/>
            <a:gdLst/>
            <a:ahLst/>
            <a:cxnLst/>
            <a:rect l="l" t="t" r="r" b="b"/>
            <a:pathLst>
              <a:path w="2628900" h="1143000">
                <a:moveTo>
                  <a:pt x="171450" y="0"/>
                </a:moveTo>
                <a:lnTo>
                  <a:pt x="2457450" y="0"/>
                </a:lnTo>
                <a:cubicBezTo>
                  <a:pt x="2552139" y="0"/>
                  <a:pt x="2628900" y="76761"/>
                  <a:pt x="2628900" y="171450"/>
                </a:cubicBezTo>
                <a:lnTo>
                  <a:pt x="2628900" y="971550"/>
                </a:lnTo>
                <a:cubicBezTo>
                  <a:pt x="2628900" y="1066239"/>
                  <a:pt x="2552139" y="1143000"/>
                  <a:pt x="24574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6172200" y="2266950"/>
            <a:ext cx="2628900" cy="1143000"/>
          </a:xfrm>
          <a:custGeom>
            <a:avLst/>
            <a:gdLst/>
            <a:ahLst/>
            <a:cxnLst/>
            <a:rect l="l" t="t" r="r" b="b"/>
            <a:pathLst>
              <a:path w="2628900" h="1143000">
                <a:moveTo>
                  <a:pt x="171450" y="0"/>
                </a:moveTo>
                <a:lnTo>
                  <a:pt x="2457450" y="0"/>
                </a:lnTo>
                <a:cubicBezTo>
                  <a:pt x="2552139" y="0"/>
                  <a:pt x="2628900" y="76761"/>
                  <a:pt x="2628900" y="171450"/>
                </a:cubicBezTo>
                <a:lnTo>
                  <a:pt x="2628900" y="971550"/>
                </a:lnTo>
                <a:cubicBezTo>
                  <a:pt x="2628900" y="1066239"/>
                  <a:pt x="2552139" y="1143000"/>
                  <a:pt x="24574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8991600" y="2266950"/>
            <a:ext cx="2667000" cy="1143000"/>
          </a:xfrm>
          <a:custGeom>
            <a:avLst/>
            <a:gdLst/>
            <a:ahLst/>
            <a:cxnLst/>
            <a:rect l="l" t="t" r="r" b="b"/>
            <a:pathLst>
              <a:path w="2667000" h="1143000">
                <a:moveTo>
                  <a:pt x="171450" y="0"/>
                </a:moveTo>
                <a:lnTo>
                  <a:pt x="2495550" y="0"/>
                </a:lnTo>
                <a:cubicBezTo>
                  <a:pt x="2590239" y="0"/>
                  <a:pt x="2667000" y="76761"/>
                  <a:pt x="2667000" y="171450"/>
                </a:cubicBezTo>
                <a:lnTo>
                  <a:pt x="2667000" y="971550"/>
                </a:lnTo>
                <a:cubicBezTo>
                  <a:pt x="2667000" y="1066239"/>
                  <a:pt x="2590239" y="1143000"/>
                  <a:pt x="24955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5458" y="2345055"/>
            <a:ext cx="2084784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1000+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42172" y="2345055"/>
            <a:ext cx="1850155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60%+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74412" y="2345055"/>
            <a:ext cx="1224477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52402" y="2296478"/>
            <a:ext cx="3545395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5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世界先进</a:t>
            </a:r>
          </a:p>
        </p:txBody>
      </p:sp>
      <p:sp>
        <p:nvSpPr>
          <p:cNvPr id="16" name="Freeform 16"/>
          <p:cNvSpPr/>
          <p:nvPr/>
        </p:nvSpPr>
        <p:spPr>
          <a:xfrm>
            <a:off x="533400" y="3638550"/>
            <a:ext cx="5448300" cy="2476500"/>
          </a:xfrm>
          <a:custGeom>
            <a:avLst/>
            <a:gdLst/>
            <a:ahLst/>
            <a:cxnLst/>
            <a:rect l="l" t="t" r="r" b="b"/>
            <a:pathLst>
              <a:path w="5448300" h="247650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2362200"/>
                </a:lnTo>
                <a:cubicBezTo>
                  <a:pt x="5448300" y="2425326"/>
                  <a:pt x="5397126" y="2476500"/>
                  <a:pt x="5334000" y="2476500"/>
                </a:cubicBezTo>
                <a:lnTo>
                  <a:pt x="114300" y="2476500"/>
                </a:lnTo>
                <a:cubicBezTo>
                  <a:pt x="51174" y="2476500"/>
                  <a:pt x="0" y="2425326"/>
                  <a:pt x="0" y="2362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115050" y="3638550"/>
            <a:ext cx="5543550" cy="2476500"/>
          </a:xfrm>
          <a:custGeom>
            <a:avLst/>
            <a:gdLst/>
            <a:ahLst/>
            <a:cxnLst/>
            <a:rect l="l" t="t" r="r" b="b"/>
            <a:pathLst>
              <a:path w="5543550" h="247650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2362200"/>
                </a:lnTo>
                <a:cubicBezTo>
                  <a:pt x="5543550" y="2425326"/>
                  <a:pt x="5492376" y="2476500"/>
                  <a:pt x="5429250" y="2476500"/>
                </a:cubicBezTo>
                <a:lnTo>
                  <a:pt x="114300" y="2476500"/>
                </a:lnTo>
                <a:cubicBezTo>
                  <a:pt x="51174" y="2476500"/>
                  <a:pt x="0" y="2425326"/>
                  <a:pt x="0" y="2362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721519" y="3826669"/>
            <a:ext cx="233362" cy="233362"/>
            <a:chOff x="721519" y="3826669"/>
            <a:chExt cx="233362" cy="233362"/>
          </a:xfrm>
        </p:grpSpPr>
        <p:sp>
          <p:nvSpPr>
            <p:cNvPr id="18" name="Freeform 18"/>
            <p:cNvSpPr/>
            <p:nvPr/>
          </p:nvSpPr>
          <p:spPr>
            <a:xfrm>
              <a:off x="721519" y="3826669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0"/>
                  </a:moveTo>
                  <a:lnTo>
                    <a:pt x="0" y="0"/>
                  </a:lnTo>
                  <a:lnTo>
                    <a:pt x="0" y="100012"/>
                  </a:lnTo>
                  <a:lnTo>
                    <a:pt x="39704" y="100012"/>
                  </a:lnTo>
                  <a:lnTo>
                    <a:pt x="64707" y="50006"/>
                  </a:lnTo>
                  <a:lnTo>
                    <a:pt x="101980" y="50006"/>
                  </a:lnTo>
                  <a:lnTo>
                    <a:pt x="150019" y="146084"/>
                  </a:lnTo>
                  <a:lnTo>
                    <a:pt x="173055" y="100012"/>
                  </a:lnTo>
                  <a:lnTo>
                    <a:pt x="233362" y="100012"/>
                  </a:lnTo>
                  <a:lnTo>
                    <a:pt x="233362" y="0"/>
                  </a:ln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21519" y="3913947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46071"/>
                  </a:moveTo>
                  <a:lnTo>
                    <a:pt x="193658" y="46071"/>
                  </a:lnTo>
                  <a:lnTo>
                    <a:pt x="168654" y="96078"/>
                  </a:lnTo>
                  <a:lnTo>
                    <a:pt x="131383" y="96078"/>
                  </a:lnTo>
                  <a:lnTo>
                    <a:pt x="83344" y="0"/>
                  </a:lnTo>
                  <a:lnTo>
                    <a:pt x="60308" y="46071"/>
                  </a:lnTo>
                  <a:lnTo>
                    <a:pt x="0" y="46071"/>
                  </a:lnTo>
                  <a:lnTo>
                    <a:pt x="0" y="146084"/>
                  </a:lnTo>
                  <a:lnTo>
                    <a:pt x="233362" y="146084"/>
                  </a:lnTo>
                  <a:lnTo>
                    <a:pt x="233362" y="46071"/>
                  </a:ln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066800" y="36957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关键指标创历史最好水平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286500" y="3810000"/>
            <a:ext cx="266700" cy="266700"/>
            <a:chOff x="6286500" y="3810000"/>
            <a:chExt cx="266700" cy="266700"/>
          </a:xfrm>
        </p:grpSpPr>
        <p:sp>
          <p:nvSpPr>
            <p:cNvPr id="22" name="Freeform 22"/>
            <p:cNvSpPr/>
            <p:nvPr/>
          </p:nvSpPr>
          <p:spPr>
            <a:xfrm>
              <a:off x="6353175" y="38766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675" y="0"/>
                  </a:moveTo>
                  <a:cubicBezTo>
                    <a:pt x="29851" y="0"/>
                    <a:pt x="0" y="29851"/>
                    <a:pt x="0" y="66675"/>
                  </a:cubicBezTo>
                  <a:cubicBezTo>
                    <a:pt x="0" y="103498"/>
                    <a:pt x="29851" y="133350"/>
                    <a:pt x="66675" y="133350"/>
                  </a:cubicBezTo>
                  <a:cubicBezTo>
                    <a:pt x="103498" y="133350"/>
                    <a:pt x="133350" y="103498"/>
                    <a:pt x="133350" y="66675"/>
                  </a:cubicBezTo>
                  <a:cubicBezTo>
                    <a:pt x="133350" y="29851"/>
                    <a:pt x="103498" y="0"/>
                    <a:pt x="66675" y="0"/>
                  </a:cubicBezTo>
                  <a:close/>
                  <a:moveTo>
                    <a:pt x="33338" y="66675"/>
                  </a:moveTo>
                  <a:cubicBezTo>
                    <a:pt x="33338" y="48263"/>
                    <a:pt x="48263" y="33338"/>
                    <a:pt x="66675" y="33338"/>
                  </a:cubicBezTo>
                  <a:cubicBezTo>
                    <a:pt x="85087" y="33338"/>
                    <a:pt x="100012" y="48263"/>
                    <a:pt x="100012" y="66675"/>
                  </a:cubicBezTo>
                  <a:cubicBezTo>
                    <a:pt x="100012" y="85087"/>
                    <a:pt x="85087" y="100012"/>
                    <a:pt x="66675" y="100012"/>
                  </a:cubicBezTo>
                  <a:cubicBezTo>
                    <a:pt x="48263" y="100012"/>
                    <a:pt x="33338" y="85087"/>
                    <a:pt x="33338" y="66675"/>
                  </a:cubicBez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286500" y="38100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lose/>
                  <a:moveTo>
                    <a:pt x="33338" y="133350"/>
                  </a:moveTo>
                  <a:cubicBezTo>
                    <a:pt x="33338" y="78115"/>
                    <a:pt x="78115" y="33338"/>
                    <a:pt x="133350" y="33338"/>
                  </a:cubicBezTo>
                  <a:cubicBezTo>
                    <a:pt x="188585" y="33338"/>
                    <a:pt x="233362" y="78115"/>
                    <a:pt x="233362" y="133350"/>
                  </a:cubicBezTo>
                  <a:cubicBezTo>
                    <a:pt x="233362" y="188585"/>
                    <a:pt x="188585" y="233362"/>
                    <a:pt x="133350" y="233362"/>
                  </a:cubicBezTo>
                  <a:cubicBezTo>
                    <a:pt x="78115" y="233362"/>
                    <a:pt x="33338" y="188585"/>
                    <a:pt x="33338" y="133350"/>
                  </a:cubicBez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648450" y="36957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深水优智钻完井技术体系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0575" y="4348162"/>
            <a:ext cx="559427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效率：报告编制与协同时间显著下降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0575" y="4862512"/>
            <a:ext cx="493704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质量：口径一致与追溯能力增强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72225" y="4348162"/>
            <a:ext cx="493704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管理：实现过程可视与责任闭环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72225" y="4862512"/>
            <a:ext cx="1216652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围绕降本、提质、增效、控险建立四维目标体系，确保建设投入可衡量、可评估。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总体架构与执行流程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9152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平台采用数据底座、智能体引擎、业务应用三层架构，形成从问题识别到产物交付的端到端流程。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7FBFF">
              <a:alpha val="96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33550"/>
            <a:ext cx="5753100" cy="2495550"/>
          </a:xfrm>
          <a:custGeom>
            <a:avLst/>
            <a:gdLst/>
            <a:ahLst/>
            <a:cxnLst/>
            <a:rect l="l" t="t" r="r" b="b"/>
            <a:pathLst>
              <a:path w="5753100" h="2495550">
                <a:moveTo>
                  <a:pt x="114300" y="0"/>
                </a:moveTo>
                <a:lnTo>
                  <a:pt x="5638800" y="0"/>
                </a:lnTo>
                <a:cubicBezTo>
                  <a:pt x="5701926" y="0"/>
                  <a:pt x="5753100" y="51174"/>
                  <a:pt x="5753100" y="114300"/>
                </a:cubicBezTo>
                <a:lnTo>
                  <a:pt x="5753100" y="2381250"/>
                </a:lnTo>
                <a:cubicBezTo>
                  <a:pt x="5753100" y="2444376"/>
                  <a:pt x="5701926" y="2495550"/>
                  <a:pt x="5638800" y="2495550"/>
                </a:cubicBezTo>
                <a:lnTo>
                  <a:pt x="114300" y="2495550"/>
                </a:lnTo>
                <a:cubicBezTo>
                  <a:pt x="51174" y="2495550"/>
                  <a:pt x="0" y="2444376"/>
                  <a:pt x="0" y="23812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33400" y="1733550"/>
            <a:ext cx="5753100" cy="114300"/>
          </a:xfrm>
          <a:custGeom>
            <a:avLst/>
            <a:gdLst/>
            <a:ahLst/>
            <a:cxnLst/>
            <a:rect l="l" t="t" r="r" b="b"/>
            <a:pathLst>
              <a:path w="5753100" h="114300">
                <a:moveTo>
                  <a:pt x="114300" y="0"/>
                </a:moveTo>
                <a:lnTo>
                  <a:pt x="5638800" y="0"/>
                </a:lnTo>
                <a:cubicBezTo>
                  <a:pt x="5701926" y="0"/>
                  <a:pt x="5753100" y="25587"/>
                  <a:pt x="5753100" y="57150"/>
                </a:cubicBezTo>
                <a:lnTo>
                  <a:pt x="5753100" y="57150"/>
                </a:lnTo>
                <a:cubicBezTo>
                  <a:pt x="5753100" y="88713"/>
                  <a:pt x="5701926" y="114300"/>
                  <a:pt x="5638800" y="114300"/>
                </a:cubicBezTo>
                <a:lnTo>
                  <a:pt x="114300" y="114300"/>
                </a:lnTo>
                <a:cubicBezTo>
                  <a:pt x="51174" y="114300"/>
                  <a:pt x="0" y="88713"/>
                  <a:pt x="0" y="57150"/>
                </a:cubicBezTo>
                <a:lnTo>
                  <a:pt x="0" y="57150"/>
                </a:lnTo>
                <a:cubicBezTo>
                  <a:pt x="0" y="25587"/>
                  <a:pt x="51174" y="0"/>
                  <a:pt x="114300" y="0"/>
                </a:cubicBezTo>
                <a:close/>
              </a:path>
            </a:pathLst>
          </a:custGeom>
          <a:solidFill>
            <a:srgbClr val="DE7B30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62000" y="2019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550" y="57150"/>
                </a:moveTo>
                <a:cubicBezTo>
                  <a:pt x="209550" y="82033"/>
                  <a:pt x="193647" y="103203"/>
                  <a:pt x="171450" y="111048"/>
                </a:cubicBezTo>
                <a:lnTo>
                  <a:pt x="171450" y="265119"/>
                </a:lnTo>
                <a:cubicBezTo>
                  <a:pt x="219313" y="257089"/>
                  <a:pt x="257089" y="219313"/>
                  <a:pt x="265119" y="171450"/>
                </a:cubicBezTo>
                <a:lnTo>
                  <a:pt x="228600" y="171450"/>
                </a:lnTo>
                <a:lnTo>
                  <a:pt x="228600" y="133350"/>
                </a:lnTo>
                <a:lnTo>
                  <a:pt x="304800" y="133350"/>
                </a:lnTo>
                <a:lnTo>
                  <a:pt x="304800" y="152400"/>
                </a:lnTo>
                <a:cubicBezTo>
                  <a:pt x="304800" y="236569"/>
                  <a:pt x="236569" y="304800"/>
                  <a:pt x="152400" y="304800"/>
                </a:cubicBezTo>
                <a:cubicBezTo>
                  <a:pt x="68232" y="304800"/>
                  <a:pt x="0" y="236569"/>
                  <a:pt x="0" y="152400"/>
                </a:cubicBezTo>
                <a:lnTo>
                  <a:pt x="0" y="133350"/>
                </a:lnTo>
                <a:lnTo>
                  <a:pt x="76200" y="133350"/>
                </a:lnTo>
                <a:lnTo>
                  <a:pt x="76200" y="171450"/>
                </a:lnTo>
                <a:lnTo>
                  <a:pt x="39680" y="171450"/>
                </a:lnTo>
                <a:cubicBezTo>
                  <a:pt x="47710" y="219313"/>
                  <a:pt x="85487" y="257089"/>
                  <a:pt x="133350" y="265119"/>
                </a:cubicBezTo>
                <a:lnTo>
                  <a:pt x="133350" y="111048"/>
                </a:lnTo>
                <a:cubicBezTo>
                  <a:pt x="111153" y="103203"/>
                  <a:pt x="95250" y="82033"/>
                  <a:pt x="95250" y="57150"/>
                </a:cubicBezTo>
                <a:cubicBezTo>
                  <a:pt x="95250" y="25587"/>
                  <a:pt x="120837" y="0"/>
                  <a:pt x="152400" y="0"/>
                </a:cubicBezTo>
                <a:cubicBezTo>
                  <a:pt x="183963" y="0"/>
                  <a:pt x="209550" y="25587"/>
                  <a:pt x="209550" y="5715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96340" y="1929765"/>
            <a:ext cx="501793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Chevron Anchor 项目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7230" y="2668905"/>
            <a:ext cx="460790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· 统一接入结构化与非结构化数据</a:t>
            </a:r>
          </a:p>
        </p:txBody>
      </p:sp>
      <p:sp>
        <p:nvSpPr>
          <p:cNvPr id="12" name="Freeform 12"/>
          <p:cNvSpPr/>
          <p:nvPr/>
        </p:nvSpPr>
        <p:spPr>
          <a:xfrm>
            <a:off x="6686550" y="1733550"/>
            <a:ext cx="4953000" cy="742950"/>
          </a:xfrm>
          <a:custGeom>
            <a:avLst/>
            <a:gdLst/>
            <a:ahLst/>
            <a:cxnLst/>
            <a:rect l="l" t="t" r="r" b="b"/>
            <a:pathLst>
              <a:path w="4953000" h="74295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628650"/>
                </a:lnTo>
                <a:cubicBezTo>
                  <a:pt x="4953000" y="691776"/>
                  <a:pt x="4901826" y="742950"/>
                  <a:pt x="4838700" y="742950"/>
                </a:cubicBezTo>
                <a:lnTo>
                  <a:pt x="114300" y="742950"/>
                </a:lnTo>
                <a:cubicBezTo>
                  <a:pt x="51174" y="742950"/>
                  <a:pt x="0" y="691776"/>
                  <a:pt x="0" y="6286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875145" y="1745932"/>
            <a:ext cx="368355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3D74B8"/>
                </a:solidFill>
                <a:latin typeface="Arial"/>
                <a:ea typeface="Microsoft YaHei"/>
                <a:cs typeface="Arial"/>
              </a:rPr>
              <a:t>20,000 psi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86550" y="2647950"/>
            <a:ext cx="4953000" cy="742950"/>
          </a:xfrm>
          <a:custGeom>
            <a:avLst/>
            <a:gdLst/>
            <a:ahLst/>
            <a:cxnLst/>
            <a:rect l="l" t="t" r="r" b="b"/>
            <a:pathLst>
              <a:path w="4953000" h="74295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628650"/>
                </a:lnTo>
                <a:cubicBezTo>
                  <a:pt x="4953000" y="691776"/>
                  <a:pt x="4901826" y="742950"/>
                  <a:pt x="4838700" y="742950"/>
                </a:cubicBezTo>
                <a:lnTo>
                  <a:pt x="114300" y="742950"/>
                </a:lnTo>
                <a:cubicBezTo>
                  <a:pt x="51174" y="742950"/>
                  <a:pt x="0" y="691776"/>
                  <a:pt x="0" y="6286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8FBFF"/>
          </a:solidFill>
          <a:ln w="9525">
            <a:solidFill>
              <a:srgbClr val="5BB6E4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875145" y="2660332"/>
            <a:ext cx="2471304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69C0EA"/>
                </a:solidFill>
                <a:latin typeface="Arial"/>
                <a:ea typeface="Microsoft YaHei"/>
                <a:cs typeface="Arial"/>
              </a:rPr>
              <a:t>75,000</a:t>
            </a:r>
          </a:p>
        </p:txBody>
      </p:sp>
      <p:sp>
        <p:nvSpPr>
          <p:cNvPr id="16" name="Freeform 16"/>
          <p:cNvSpPr/>
          <p:nvPr/>
        </p:nvSpPr>
        <p:spPr>
          <a:xfrm>
            <a:off x="6686550" y="3562350"/>
            <a:ext cx="4953000" cy="742950"/>
          </a:xfrm>
          <a:custGeom>
            <a:avLst/>
            <a:gdLst/>
            <a:ahLst/>
            <a:cxnLst/>
            <a:rect l="l" t="t" r="r" b="b"/>
            <a:pathLst>
              <a:path w="4953000" h="74295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628650"/>
                </a:lnTo>
                <a:cubicBezTo>
                  <a:pt x="4953000" y="691776"/>
                  <a:pt x="4901826" y="742950"/>
                  <a:pt x="4838700" y="742950"/>
                </a:cubicBezTo>
                <a:lnTo>
                  <a:pt x="114300" y="742950"/>
                </a:lnTo>
                <a:cubicBezTo>
                  <a:pt x="51174" y="742950"/>
                  <a:pt x="0" y="691776"/>
                  <a:pt x="0" y="6286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CFFFB"/>
          </a:solidFill>
          <a:ln w="9525">
            <a:solidFill>
              <a:srgbClr val="4A8E3B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875145" y="3574732"/>
            <a:ext cx="200779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4A8E3B"/>
                </a:solidFill>
                <a:latin typeface="Arial"/>
                <a:ea typeface="Microsoft YaHei"/>
                <a:cs typeface="Arial"/>
              </a:rPr>
              <a:t>4.4亿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3400" y="4629150"/>
            <a:ext cx="11125200" cy="1581150"/>
          </a:xfrm>
          <a:custGeom>
            <a:avLst/>
            <a:gdLst/>
            <a:ahLst/>
            <a:cxnLst/>
            <a:rect l="l" t="t" r="r" b="b"/>
            <a:pathLst>
              <a:path w="11125200" h="15811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66850"/>
                </a:lnTo>
                <a:cubicBezTo>
                  <a:pt x="11125200" y="1529976"/>
                  <a:pt x="11074026" y="1581150"/>
                  <a:pt x="11010900" y="1581150"/>
                </a:cubicBezTo>
                <a:lnTo>
                  <a:pt x="114300" y="1581150"/>
                </a:lnTo>
                <a:cubicBezTo>
                  <a:pt x="51174" y="1581150"/>
                  <a:pt x="0" y="1529976"/>
                  <a:pt x="0" y="14668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8F5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762000" y="4857750"/>
            <a:ext cx="3352800" cy="1200150"/>
          </a:xfrm>
          <a:custGeom>
            <a:avLst/>
            <a:gdLst/>
            <a:ahLst/>
            <a:cxnLst/>
            <a:rect l="l" t="t" r="r" b="b"/>
            <a:pathLst>
              <a:path w="3352800" h="1200150">
                <a:moveTo>
                  <a:pt x="95250" y="0"/>
                </a:moveTo>
                <a:lnTo>
                  <a:pt x="3257550" y="0"/>
                </a:lnTo>
                <a:cubicBezTo>
                  <a:pt x="3310155" y="0"/>
                  <a:pt x="3352800" y="42645"/>
                  <a:pt x="3352800" y="95250"/>
                </a:cubicBezTo>
                <a:lnTo>
                  <a:pt x="3352800" y="1104900"/>
                </a:lnTo>
                <a:cubicBezTo>
                  <a:pt x="3352800" y="1157505"/>
                  <a:pt x="3310155" y="1200150"/>
                  <a:pt x="3257550" y="1200150"/>
                </a:cubicBezTo>
                <a:lnTo>
                  <a:pt x="95250" y="1200150"/>
                </a:lnTo>
                <a:cubicBezTo>
                  <a:pt x="42645" y="1200150"/>
                  <a:pt x="0" y="1157505"/>
                  <a:pt x="0" y="11049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20" name="Freeform 20"/>
          <p:cNvSpPr/>
          <p:nvPr/>
        </p:nvSpPr>
        <p:spPr>
          <a:xfrm>
            <a:off x="4419600" y="4857750"/>
            <a:ext cx="3352800" cy="1200150"/>
          </a:xfrm>
          <a:custGeom>
            <a:avLst/>
            <a:gdLst/>
            <a:ahLst/>
            <a:cxnLst/>
            <a:rect l="l" t="t" r="r" b="b"/>
            <a:pathLst>
              <a:path w="3352800" h="1200150">
                <a:moveTo>
                  <a:pt x="95250" y="0"/>
                </a:moveTo>
                <a:lnTo>
                  <a:pt x="3257550" y="0"/>
                </a:lnTo>
                <a:cubicBezTo>
                  <a:pt x="3310155" y="0"/>
                  <a:pt x="3352800" y="42645"/>
                  <a:pt x="3352800" y="95250"/>
                </a:cubicBezTo>
                <a:lnTo>
                  <a:pt x="3352800" y="1104900"/>
                </a:lnTo>
                <a:cubicBezTo>
                  <a:pt x="3352800" y="1157505"/>
                  <a:pt x="3310155" y="1200150"/>
                  <a:pt x="3257550" y="1200150"/>
                </a:cubicBezTo>
                <a:lnTo>
                  <a:pt x="95250" y="1200150"/>
                </a:lnTo>
                <a:cubicBezTo>
                  <a:pt x="42645" y="1200150"/>
                  <a:pt x="0" y="1157505"/>
                  <a:pt x="0" y="11049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8077200" y="4857750"/>
            <a:ext cx="3352800" cy="1200150"/>
          </a:xfrm>
          <a:custGeom>
            <a:avLst/>
            <a:gdLst/>
            <a:ahLst/>
            <a:cxnLst/>
            <a:rect l="l" t="t" r="r" b="b"/>
            <a:pathLst>
              <a:path w="3352800" h="1200150">
                <a:moveTo>
                  <a:pt x="95250" y="0"/>
                </a:moveTo>
                <a:lnTo>
                  <a:pt x="3257550" y="0"/>
                </a:lnTo>
                <a:cubicBezTo>
                  <a:pt x="3310155" y="0"/>
                  <a:pt x="3352800" y="42645"/>
                  <a:pt x="3352800" y="95250"/>
                </a:cubicBezTo>
                <a:lnTo>
                  <a:pt x="3352800" y="1104900"/>
                </a:lnTo>
                <a:cubicBezTo>
                  <a:pt x="3352800" y="1157505"/>
                  <a:pt x="3310155" y="1200150"/>
                  <a:pt x="3257550" y="1200150"/>
                </a:cubicBezTo>
                <a:lnTo>
                  <a:pt x="95250" y="1200150"/>
                </a:lnTo>
                <a:cubicBezTo>
                  <a:pt x="42645" y="1200150"/>
                  <a:pt x="0" y="1157505"/>
                  <a:pt x="0" y="11049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69C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3455" y="5045392"/>
            <a:ext cx="262916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Shell Sparta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31055" y="5045392"/>
            <a:ext cx="225766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BP Kaskida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88655" y="5045392"/>
            <a:ext cx="182060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技术意义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能力矩阵与场景覆盖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77746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以影响度和实施复杂度构建能力矩阵，明确优先级与落地节奏。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7FBFF">
              <a:alpha val="96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33550"/>
            <a:ext cx="5543550" cy="2038350"/>
          </a:xfrm>
          <a:custGeom>
            <a:avLst/>
            <a:gdLst/>
            <a:ahLst/>
            <a:cxnLst/>
            <a:rect l="l" t="t" r="r" b="b"/>
            <a:pathLst>
              <a:path w="5543550" h="203835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1924050"/>
                </a:lnTo>
                <a:cubicBezTo>
                  <a:pt x="5543550" y="1987176"/>
                  <a:pt x="5492376" y="2038350"/>
                  <a:pt x="5429250" y="2038350"/>
                </a:cubicBezTo>
                <a:lnTo>
                  <a:pt x="114300" y="2038350"/>
                </a:lnTo>
                <a:cubicBezTo>
                  <a:pt x="51174" y="2038350"/>
                  <a:pt x="0" y="1987176"/>
                  <a:pt x="0" y="192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210300" y="1733550"/>
            <a:ext cx="5448300" cy="2038350"/>
          </a:xfrm>
          <a:custGeom>
            <a:avLst/>
            <a:gdLst/>
            <a:ahLst/>
            <a:cxnLst/>
            <a:rect l="l" t="t" r="r" b="b"/>
            <a:pathLst>
              <a:path w="5448300" h="203835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1924050"/>
                </a:lnTo>
                <a:cubicBezTo>
                  <a:pt x="5448300" y="1987176"/>
                  <a:pt x="5397126" y="2038350"/>
                  <a:pt x="5334000" y="2038350"/>
                </a:cubicBezTo>
                <a:lnTo>
                  <a:pt x="114300" y="2038350"/>
                </a:lnTo>
                <a:cubicBezTo>
                  <a:pt x="51174" y="2038350"/>
                  <a:pt x="0" y="1987176"/>
                  <a:pt x="0" y="192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533400" y="1733550"/>
            <a:ext cx="5543550" cy="495300"/>
          </a:xfrm>
          <a:custGeom>
            <a:avLst/>
            <a:gdLst/>
            <a:ahLst/>
            <a:cxnLst/>
            <a:rect l="l" t="t" r="r" b="b"/>
            <a:pathLst>
              <a:path w="5543550" h="49530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381000"/>
                </a:lnTo>
                <a:cubicBezTo>
                  <a:pt x="5543550" y="444126"/>
                  <a:pt x="5492376" y="495300"/>
                  <a:pt x="542925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6210300" y="1733550"/>
            <a:ext cx="5448300" cy="495300"/>
          </a:xfrm>
          <a:custGeom>
            <a:avLst/>
            <a:gdLst/>
            <a:ahLst/>
            <a:cxnLst/>
            <a:rect l="l" t="t" r="r" b="b"/>
            <a:pathLst>
              <a:path w="5448300" h="49530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381000"/>
                </a:lnTo>
                <a:cubicBezTo>
                  <a:pt x="5448300" y="444126"/>
                  <a:pt x="5397126" y="495300"/>
                  <a:pt x="53340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99135" y="1723072"/>
            <a:ext cx="5457651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 — 自营超深水气田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76035" y="1723072"/>
            <a:ext cx="492858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二期 — 深水高压气田</a:t>
            </a:r>
          </a:p>
        </p:txBody>
      </p:sp>
      <p:sp>
        <p:nvSpPr>
          <p:cNvPr id="13" name="Freeform 13"/>
          <p:cNvSpPr/>
          <p:nvPr/>
        </p:nvSpPr>
        <p:spPr>
          <a:xfrm>
            <a:off x="742950" y="2400300"/>
            <a:ext cx="1600200" cy="685800"/>
          </a:xfrm>
          <a:custGeom>
            <a:avLst/>
            <a:gdLst/>
            <a:ahLst/>
            <a:cxnLst/>
            <a:rect l="l" t="t" r="r" b="b"/>
            <a:pathLst>
              <a:path w="1600200" h="685800">
                <a:moveTo>
                  <a:pt x="114300" y="0"/>
                </a:moveTo>
                <a:lnTo>
                  <a:pt x="1485900" y="0"/>
                </a:lnTo>
                <a:cubicBezTo>
                  <a:pt x="1549026" y="0"/>
                  <a:pt x="1600200" y="51174"/>
                  <a:pt x="1600200" y="114300"/>
                </a:cubicBezTo>
                <a:lnTo>
                  <a:pt x="1600200" y="571500"/>
                </a:lnTo>
                <a:cubicBezTo>
                  <a:pt x="1600200" y="634626"/>
                  <a:pt x="1549026" y="685800"/>
                  <a:pt x="148590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2457450" y="2400300"/>
            <a:ext cx="1600200" cy="685800"/>
          </a:xfrm>
          <a:custGeom>
            <a:avLst/>
            <a:gdLst/>
            <a:ahLst/>
            <a:cxnLst/>
            <a:rect l="l" t="t" r="r" b="b"/>
            <a:pathLst>
              <a:path w="1600200" h="685800">
                <a:moveTo>
                  <a:pt x="114300" y="0"/>
                </a:moveTo>
                <a:lnTo>
                  <a:pt x="1485900" y="0"/>
                </a:lnTo>
                <a:cubicBezTo>
                  <a:pt x="1549026" y="0"/>
                  <a:pt x="1600200" y="51174"/>
                  <a:pt x="1600200" y="114300"/>
                </a:cubicBezTo>
                <a:lnTo>
                  <a:pt x="1600200" y="571500"/>
                </a:lnTo>
                <a:cubicBezTo>
                  <a:pt x="1600200" y="634626"/>
                  <a:pt x="1549026" y="685800"/>
                  <a:pt x="148590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4171950" y="2400300"/>
            <a:ext cx="1695450" cy="685800"/>
          </a:xfrm>
          <a:custGeom>
            <a:avLst/>
            <a:gdLst/>
            <a:ahLst/>
            <a:cxnLst/>
            <a:rect l="l" t="t" r="r" b="b"/>
            <a:pathLst>
              <a:path w="1695450" h="685800">
                <a:moveTo>
                  <a:pt x="114300" y="0"/>
                </a:moveTo>
                <a:lnTo>
                  <a:pt x="1581150" y="0"/>
                </a:lnTo>
                <a:cubicBezTo>
                  <a:pt x="1644276" y="0"/>
                  <a:pt x="1695450" y="51174"/>
                  <a:pt x="1695450" y="114300"/>
                </a:cubicBezTo>
                <a:lnTo>
                  <a:pt x="1695450" y="571500"/>
                </a:lnTo>
                <a:cubicBezTo>
                  <a:pt x="1695450" y="634626"/>
                  <a:pt x="1644276" y="685800"/>
                  <a:pt x="158115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BF5A2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82364" y="2439352"/>
            <a:ext cx="2121372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1500+m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19229" y="2439352"/>
            <a:ext cx="2276642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5000+m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2368" y="2439352"/>
            <a:ext cx="1655564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138°C</a:t>
            </a:r>
          </a:p>
        </p:txBody>
      </p:sp>
      <p:sp>
        <p:nvSpPr>
          <p:cNvPr id="19" name="Freeform 19"/>
          <p:cNvSpPr/>
          <p:nvPr/>
        </p:nvSpPr>
        <p:spPr>
          <a:xfrm>
            <a:off x="6419850" y="2400300"/>
            <a:ext cx="2457450" cy="514350"/>
          </a:xfrm>
          <a:custGeom>
            <a:avLst/>
            <a:gdLst/>
            <a:ahLst/>
            <a:cxnLst/>
            <a:rect l="l" t="t" r="r" b="b"/>
            <a:pathLst>
              <a:path w="2457450" h="514350">
                <a:moveTo>
                  <a:pt x="95250" y="0"/>
                </a:moveTo>
                <a:lnTo>
                  <a:pt x="2362200" y="0"/>
                </a:lnTo>
                <a:cubicBezTo>
                  <a:pt x="2414805" y="0"/>
                  <a:pt x="2457450" y="42645"/>
                  <a:pt x="2457450" y="95250"/>
                </a:cubicBezTo>
                <a:lnTo>
                  <a:pt x="2457450" y="419100"/>
                </a:lnTo>
                <a:cubicBezTo>
                  <a:pt x="2457450" y="471705"/>
                  <a:pt x="2414805" y="514350"/>
                  <a:pt x="2362200" y="514350"/>
                </a:cubicBezTo>
                <a:lnTo>
                  <a:pt x="95250" y="514350"/>
                </a:lnTo>
                <a:cubicBezTo>
                  <a:pt x="42645" y="514350"/>
                  <a:pt x="0" y="471705"/>
                  <a:pt x="0" y="419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9010650" y="2400300"/>
            <a:ext cx="2457450" cy="514350"/>
          </a:xfrm>
          <a:custGeom>
            <a:avLst/>
            <a:gdLst/>
            <a:ahLst/>
            <a:cxnLst/>
            <a:rect l="l" t="t" r="r" b="b"/>
            <a:pathLst>
              <a:path w="2457450" h="514350">
                <a:moveTo>
                  <a:pt x="95250" y="0"/>
                </a:moveTo>
                <a:lnTo>
                  <a:pt x="2362200" y="0"/>
                </a:lnTo>
                <a:cubicBezTo>
                  <a:pt x="2414805" y="0"/>
                  <a:pt x="2457450" y="42645"/>
                  <a:pt x="2457450" y="95250"/>
                </a:cubicBezTo>
                <a:lnTo>
                  <a:pt x="2457450" y="419100"/>
                </a:lnTo>
                <a:cubicBezTo>
                  <a:pt x="2457450" y="471705"/>
                  <a:pt x="2414805" y="514350"/>
                  <a:pt x="2362200" y="514350"/>
                </a:cubicBezTo>
                <a:lnTo>
                  <a:pt x="95250" y="514350"/>
                </a:lnTo>
                <a:cubicBezTo>
                  <a:pt x="42645" y="514350"/>
                  <a:pt x="0" y="471705"/>
                  <a:pt x="0" y="419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36041" y="2357438"/>
            <a:ext cx="104411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30%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1530" y="2357438"/>
            <a:ext cx="121664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23" name="Freeform 23"/>
          <p:cNvSpPr/>
          <p:nvPr/>
        </p:nvSpPr>
        <p:spPr>
          <a:xfrm>
            <a:off x="533400" y="3981450"/>
            <a:ext cx="11125200" cy="2209800"/>
          </a:xfrm>
          <a:custGeom>
            <a:avLst/>
            <a:gdLst/>
            <a:ahLst/>
            <a:cxnLst/>
            <a:rect l="l" t="t" r="r" b="b"/>
            <a:pathLst>
              <a:path w="11125200" h="220980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2095500"/>
                </a:lnTo>
                <a:cubicBezTo>
                  <a:pt x="11125200" y="2158626"/>
                  <a:pt x="11074026" y="2209800"/>
                  <a:pt x="11010900" y="2209800"/>
                </a:cubicBezTo>
                <a:lnTo>
                  <a:pt x="114300" y="2209800"/>
                </a:lnTo>
                <a:cubicBezTo>
                  <a:pt x="51174" y="2209800"/>
                  <a:pt x="0" y="2158626"/>
                  <a:pt x="0" y="2095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8F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842004" y="3992880"/>
            <a:ext cx="4507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攻克核心技术难题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293370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50863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69C0EA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723900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4A8E3B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93916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07035"/>
            </a:solidFill>
          </a:ln>
        </p:spPr>
      </p:sp>
      <p:sp>
        <p:nvSpPr>
          <p:cNvPr id="30" name="Freeform 30"/>
          <p:cNvSpPr/>
          <p:nvPr/>
        </p:nvSpPr>
        <p:spPr>
          <a:xfrm>
            <a:off x="1581150" y="48387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83356" y="50006"/>
                </a:moveTo>
                <a:cubicBezTo>
                  <a:pt x="183356" y="71779"/>
                  <a:pt x="169441" y="90302"/>
                  <a:pt x="150019" y="97167"/>
                </a:cubicBezTo>
                <a:lnTo>
                  <a:pt x="150019" y="231979"/>
                </a:lnTo>
                <a:cubicBezTo>
                  <a:pt x="191899" y="224953"/>
                  <a:pt x="224953" y="191899"/>
                  <a:pt x="231979" y="150019"/>
                </a:cubicBezTo>
                <a:lnTo>
                  <a:pt x="200025" y="150019"/>
                </a:lnTo>
                <a:lnTo>
                  <a:pt x="200025" y="116681"/>
                </a:lnTo>
                <a:lnTo>
                  <a:pt x="266700" y="116681"/>
                </a:lnTo>
                <a:lnTo>
                  <a:pt x="266700" y="133350"/>
                </a:lnTo>
                <a:cubicBezTo>
                  <a:pt x="266700" y="206998"/>
                  <a:pt x="206998" y="266700"/>
                  <a:pt x="133350" y="266700"/>
                </a:cubicBezTo>
                <a:cubicBezTo>
                  <a:pt x="59703" y="266700"/>
                  <a:pt x="0" y="206998"/>
                  <a:pt x="0" y="133350"/>
                </a:cubicBezTo>
                <a:lnTo>
                  <a:pt x="0" y="116681"/>
                </a:lnTo>
                <a:lnTo>
                  <a:pt x="66675" y="116681"/>
                </a:lnTo>
                <a:lnTo>
                  <a:pt x="66675" y="150019"/>
                </a:lnTo>
                <a:lnTo>
                  <a:pt x="34720" y="150019"/>
                </a:lnTo>
                <a:cubicBezTo>
                  <a:pt x="41747" y="191899"/>
                  <a:pt x="74801" y="224953"/>
                  <a:pt x="116681" y="231979"/>
                </a:cubicBezTo>
                <a:lnTo>
                  <a:pt x="116681" y="97167"/>
                </a:lnTo>
                <a:cubicBezTo>
                  <a:pt x="97259" y="90302"/>
                  <a:pt x="83344" y="71779"/>
                  <a:pt x="83344" y="50006"/>
                </a:cubicBezTo>
                <a:cubicBezTo>
                  <a:pt x="83344" y="22389"/>
                  <a:pt x="105732" y="0"/>
                  <a:pt x="133350" y="0"/>
                </a:cubicBezTo>
                <a:cubicBezTo>
                  <a:pt x="160968" y="0"/>
                  <a:pt x="183356" y="22389"/>
                  <a:pt x="183356" y="50006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3750469" y="4855369"/>
            <a:ext cx="233362" cy="233362"/>
            <a:chOff x="3750469" y="4855369"/>
            <a:chExt cx="233362" cy="233362"/>
          </a:xfrm>
        </p:grpSpPr>
        <p:sp>
          <p:nvSpPr>
            <p:cNvPr id="31" name="Freeform 31"/>
            <p:cNvSpPr/>
            <p:nvPr/>
          </p:nvSpPr>
          <p:spPr>
            <a:xfrm>
              <a:off x="3750469" y="4855369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0"/>
                  </a:moveTo>
                  <a:lnTo>
                    <a:pt x="0" y="0"/>
                  </a:lnTo>
                  <a:lnTo>
                    <a:pt x="0" y="100012"/>
                  </a:lnTo>
                  <a:lnTo>
                    <a:pt x="39704" y="100012"/>
                  </a:lnTo>
                  <a:lnTo>
                    <a:pt x="64707" y="50006"/>
                  </a:lnTo>
                  <a:lnTo>
                    <a:pt x="101980" y="50006"/>
                  </a:lnTo>
                  <a:lnTo>
                    <a:pt x="150019" y="146084"/>
                  </a:lnTo>
                  <a:lnTo>
                    <a:pt x="173055" y="100012"/>
                  </a:lnTo>
                  <a:lnTo>
                    <a:pt x="233362" y="100012"/>
                  </a:lnTo>
                  <a:lnTo>
                    <a:pt x="233362" y="0"/>
                  </a:ln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750469" y="4942647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46071"/>
                  </a:moveTo>
                  <a:lnTo>
                    <a:pt x="193658" y="46071"/>
                  </a:lnTo>
                  <a:lnTo>
                    <a:pt x="168654" y="96078"/>
                  </a:lnTo>
                  <a:lnTo>
                    <a:pt x="131383" y="96078"/>
                  </a:lnTo>
                  <a:lnTo>
                    <a:pt x="83344" y="0"/>
                  </a:lnTo>
                  <a:lnTo>
                    <a:pt x="60308" y="46071"/>
                  </a:lnTo>
                  <a:lnTo>
                    <a:pt x="0" y="46071"/>
                  </a:lnTo>
                  <a:lnTo>
                    <a:pt x="0" y="146084"/>
                  </a:lnTo>
                  <a:lnTo>
                    <a:pt x="233362" y="146084"/>
                  </a:lnTo>
                  <a:lnTo>
                    <a:pt x="233362" y="46071"/>
                  </a:lnTo>
                  <a:close/>
                </a:path>
              </a:pathLst>
            </a:custGeom>
            <a:solidFill>
              <a:srgbClr val="3D74B8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887164" y="4839415"/>
            <a:ext cx="265269" cy="261103"/>
            <a:chOff x="5887164" y="4839415"/>
            <a:chExt cx="265269" cy="261103"/>
          </a:xfrm>
        </p:grpSpPr>
        <p:sp>
          <p:nvSpPr>
            <p:cNvPr id="34" name="Freeform 34"/>
            <p:cNvSpPr/>
            <p:nvPr/>
          </p:nvSpPr>
          <p:spPr>
            <a:xfrm>
              <a:off x="5887164" y="4839415"/>
              <a:ext cx="65245" cy="65245"/>
            </a:xfrm>
            <a:custGeom>
              <a:avLst/>
              <a:gdLst/>
              <a:ahLst/>
              <a:cxnLst/>
              <a:rect l="l" t="t" r="r" b="b"/>
              <a:pathLst>
                <a:path w="65245" h="65245">
                  <a:moveTo>
                    <a:pt x="65245" y="23573"/>
                  </a:moveTo>
                  <a:lnTo>
                    <a:pt x="23573" y="65245"/>
                  </a:lnTo>
                  <a:lnTo>
                    <a:pt x="0" y="41672"/>
                  </a:lnTo>
                  <a:lnTo>
                    <a:pt x="41672" y="0"/>
                  </a:lnTo>
                  <a:lnTo>
                    <a:pt x="65245" y="23573"/>
                  </a:lnTo>
                  <a:close/>
                </a:path>
              </a:pathLst>
            </a:custGeom>
            <a:solidFill>
              <a:srgbClr val="69C0EA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5891331" y="4872038"/>
              <a:ext cx="256935" cy="228480"/>
            </a:xfrm>
            <a:custGeom>
              <a:avLst/>
              <a:gdLst/>
              <a:ahLst/>
              <a:cxnLst/>
              <a:rect l="l" t="t" r="r" b="b"/>
              <a:pathLst>
                <a:path w="256935" h="228480">
                  <a:moveTo>
                    <a:pt x="236815" y="108347"/>
                  </a:moveTo>
                  <a:cubicBezTo>
                    <a:pt x="236815" y="130103"/>
                    <a:pt x="230402" y="150362"/>
                    <a:pt x="219364" y="167335"/>
                  </a:cubicBezTo>
                  <a:lnTo>
                    <a:pt x="256935" y="204907"/>
                  </a:lnTo>
                  <a:lnTo>
                    <a:pt x="233362" y="228480"/>
                  </a:lnTo>
                  <a:lnTo>
                    <a:pt x="197083" y="192202"/>
                  </a:lnTo>
                  <a:cubicBezTo>
                    <a:pt x="178399" y="207509"/>
                    <a:pt x="154506" y="216693"/>
                    <a:pt x="128467" y="216693"/>
                  </a:cubicBezTo>
                  <a:cubicBezTo>
                    <a:pt x="102429" y="216693"/>
                    <a:pt x="78536" y="207509"/>
                    <a:pt x="59851" y="192202"/>
                  </a:cubicBezTo>
                  <a:lnTo>
                    <a:pt x="23573" y="228480"/>
                  </a:lnTo>
                  <a:lnTo>
                    <a:pt x="0" y="204907"/>
                  </a:lnTo>
                  <a:lnTo>
                    <a:pt x="37571" y="167335"/>
                  </a:lnTo>
                  <a:cubicBezTo>
                    <a:pt x="26533" y="150362"/>
                    <a:pt x="20120" y="130103"/>
                    <a:pt x="20120" y="108347"/>
                  </a:cubicBezTo>
                  <a:cubicBezTo>
                    <a:pt x="20120" y="48509"/>
                    <a:pt x="68629" y="0"/>
                    <a:pt x="128467" y="0"/>
                  </a:cubicBezTo>
                  <a:cubicBezTo>
                    <a:pt x="188305" y="0"/>
                    <a:pt x="236815" y="48509"/>
                    <a:pt x="236815" y="108347"/>
                  </a:cubicBezTo>
                  <a:close/>
                  <a:moveTo>
                    <a:pt x="111800" y="50006"/>
                  </a:moveTo>
                  <a:lnTo>
                    <a:pt x="111800" y="123585"/>
                  </a:lnTo>
                  <a:lnTo>
                    <a:pt x="150020" y="161805"/>
                  </a:lnTo>
                  <a:lnTo>
                    <a:pt x="173593" y="138232"/>
                  </a:lnTo>
                  <a:lnTo>
                    <a:pt x="145137" y="109776"/>
                  </a:lnTo>
                  <a:lnTo>
                    <a:pt x="145137" y="50006"/>
                  </a:lnTo>
                  <a:lnTo>
                    <a:pt x="111800" y="50006"/>
                  </a:lnTo>
                  <a:close/>
                </a:path>
              </a:pathLst>
            </a:custGeom>
            <a:solidFill>
              <a:srgbClr val="69C0EA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087188" y="4839415"/>
              <a:ext cx="65245" cy="65245"/>
            </a:xfrm>
            <a:custGeom>
              <a:avLst/>
              <a:gdLst/>
              <a:ahLst/>
              <a:cxnLst/>
              <a:rect l="l" t="t" r="r" b="b"/>
              <a:pathLst>
                <a:path w="65245" h="65245">
                  <a:moveTo>
                    <a:pt x="41672" y="65245"/>
                  </a:moveTo>
                  <a:lnTo>
                    <a:pt x="0" y="23573"/>
                  </a:lnTo>
                  <a:lnTo>
                    <a:pt x="23573" y="0"/>
                  </a:lnTo>
                  <a:lnTo>
                    <a:pt x="65245" y="41672"/>
                  </a:lnTo>
                  <a:lnTo>
                    <a:pt x="41672" y="65245"/>
                  </a:lnTo>
                  <a:close/>
                </a:path>
              </a:pathLst>
            </a:custGeom>
            <a:solidFill>
              <a:srgbClr val="69C0EA"/>
            </a:solidFill>
            <a:ln>
              <a:noFill/>
            </a:ln>
          </p:spPr>
        </p:sp>
      </p:grpSp>
      <p:sp>
        <p:nvSpPr>
          <p:cNvPr id="38" name="Freeform 38"/>
          <p:cNvSpPr/>
          <p:nvPr/>
        </p:nvSpPr>
        <p:spPr>
          <a:xfrm>
            <a:off x="8039100" y="48387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133350"/>
                </a:moveTo>
                <a:cubicBezTo>
                  <a:pt x="266700" y="206998"/>
                  <a:pt x="206998" y="266700"/>
                  <a:pt x="133350" y="266700"/>
                </a:cubicBezTo>
                <a:cubicBezTo>
                  <a:pt x="59703" y="266700"/>
                  <a:pt x="0" y="206998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8" y="0"/>
                  <a:pt x="266700" y="59703"/>
                  <a:pt x="266700" y="133350"/>
                </a:cubicBezTo>
                <a:close/>
                <a:moveTo>
                  <a:pt x="154186" y="62508"/>
                </a:moveTo>
                <a:cubicBezTo>
                  <a:pt x="154186" y="74015"/>
                  <a:pt x="144857" y="83344"/>
                  <a:pt x="133350" y="83344"/>
                </a:cubicBezTo>
                <a:cubicBezTo>
                  <a:pt x="121843" y="83344"/>
                  <a:pt x="112514" y="74015"/>
                  <a:pt x="112514" y="62508"/>
                </a:cubicBezTo>
                <a:cubicBezTo>
                  <a:pt x="112514" y="51000"/>
                  <a:pt x="121843" y="41672"/>
                  <a:pt x="133350" y="41672"/>
                </a:cubicBezTo>
                <a:cubicBezTo>
                  <a:pt x="144857" y="41672"/>
                  <a:pt x="154186" y="51000"/>
                  <a:pt x="154186" y="62508"/>
                </a:cubicBezTo>
                <a:close/>
                <a:moveTo>
                  <a:pt x="200025" y="133350"/>
                </a:moveTo>
                <a:lnTo>
                  <a:pt x="157003" y="133350"/>
                </a:lnTo>
                <a:lnTo>
                  <a:pt x="186768" y="216694"/>
                </a:lnTo>
                <a:lnTo>
                  <a:pt x="151369" y="216694"/>
                </a:lnTo>
                <a:lnTo>
                  <a:pt x="133350" y="166241"/>
                </a:lnTo>
                <a:lnTo>
                  <a:pt x="115331" y="216694"/>
                </a:lnTo>
                <a:lnTo>
                  <a:pt x="79931" y="216694"/>
                </a:lnTo>
                <a:lnTo>
                  <a:pt x="109697" y="133350"/>
                </a:lnTo>
                <a:lnTo>
                  <a:pt x="66675" y="133350"/>
                </a:lnTo>
                <a:lnTo>
                  <a:pt x="66675" y="100012"/>
                </a:lnTo>
                <a:lnTo>
                  <a:pt x="200025" y="100012"/>
                </a:lnTo>
                <a:lnTo>
                  <a:pt x="200025" y="133350"/>
                </a:ln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10225088" y="4838700"/>
            <a:ext cx="200025" cy="266700"/>
          </a:xfrm>
          <a:custGeom>
            <a:avLst/>
            <a:gdLst/>
            <a:ahLst/>
            <a:cxnLst/>
            <a:rect l="l" t="t" r="r" b="b"/>
            <a:pathLst>
              <a:path w="200025" h="266700">
                <a:moveTo>
                  <a:pt x="133350" y="133350"/>
                </a:moveTo>
                <a:lnTo>
                  <a:pt x="200025" y="133350"/>
                </a:lnTo>
                <a:lnTo>
                  <a:pt x="200025" y="166688"/>
                </a:lnTo>
                <a:lnTo>
                  <a:pt x="100012" y="266700"/>
                </a:lnTo>
                <a:lnTo>
                  <a:pt x="0" y="166688"/>
                </a:lnTo>
                <a:lnTo>
                  <a:pt x="0" y="133350"/>
                </a:lnTo>
                <a:lnTo>
                  <a:pt x="66675" y="133350"/>
                </a:lnTo>
                <a:lnTo>
                  <a:pt x="66675" y="0"/>
                </a:lnTo>
                <a:lnTo>
                  <a:pt x="133350" y="0"/>
                </a:lnTo>
                <a:lnTo>
                  <a:pt x="133350" y="133350"/>
                </a:lnTo>
                <a:close/>
              </a:path>
            </a:pathLst>
          </a:custGeom>
          <a:solidFill>
            <a:srgbClr val="F0703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750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安全钻井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2769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井筒完整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0803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储层保护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3299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高效防砂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856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智能完井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82452" y="425005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运营管理与数字化推进组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
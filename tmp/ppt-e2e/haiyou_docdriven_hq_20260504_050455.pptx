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汇报聚焦海上平台智能运维一体化，目标是安全优先前提下实现降本增效。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目录分为现状与目标、方案与路线、价值与保障三部分。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第一章节进入现状分析，明确业务痛点与改进目标。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痛点来自系统割裂、告警噪声和处置链路长，需通过平台化能力统一治理。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核心KPI覆盖可靠性、效率和安全闭环，形成可量化管理抓手。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第二章节进入实施方案与推进路径。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四层架构把采集、平台、应用、运营打通，形成持续演进体系。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柱状图展示关键指标改进幅度，体现阶段性成果。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折线图展示季度推进趋势，强调按里程碑稳步落地。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总结强调标准先行、样板先试、运营闭环，保障推广成功。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0_img1.png"/>
  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2940" y="3025140"/>
            <a:ext cx="1337157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海上平台智能运维与安全生产一体化方案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895" y="3755708"/>
            <a:ext cx="732591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文档驱动高质量成片（海油模板）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5325" y="4291012"/>
            <a:ext cx="345828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DeerFlow ppt-master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4672012"/>
            <a:ext cx="186451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2026-05-04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1660" y="20231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现状与目标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0" y="29756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方案与路线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0" y="3928110"/>
            <a:ext cx="33270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价值与保障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31590" y="1868805"/>
            <a:ext cx="1728821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719512" y="4095750"/>
            <a:ext cx="475297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现状与目标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381000" y="342900"/>
            <a:ext cx="114300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3395" y="498158"/>
            <a:ext cx="297837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关键痛点诊断</a:t>
            </a:r>
          </a:p>
        </p:txBody>
      </p:sp>
      <p:sp>
        <p:nvSpPr>
          <p:cNvPr id="5" name="Freeform 5"/>
          <p:cNvSpPr/>
          <p:nvPr/>
        </p:nvSpPr>
        <p:spPr>
          <a:xfrm>
            <a:off x="495300" y="1447800"/>
            <a:ext cx="3524250" cy="4762500"/>
          </a:xfrm>
          <a:custGeom>
            <a:avLst/>
            <a:gdLst/>
            <a:ahLst/>
            <a:cxnLst/>
            <a:rect l="l" t="t" r="r" b="b"/>
            <a:pathLst>
              <a:path w="3524250" h="4762500">
                <a:moveTo>
                  <a:pt x="190500" y="0"/>
                </a:moveTo>
                <a:lnTo>
                  <a:pt x="3333750" y="0"/>
                </a:lnTo>
                <a:cubicBezTo>
                  <a:pt x="3438960" y="0"/>
                  <a:pt x="3524250" y="85290"/>
                  <a:pt x="3524250" y="190500"/>
                </a:cubicBezTo>
                <a:lnTo>
                  <a:pt x="3524250" y="4572000"/>
                </a:lnTo>
                <a:cubicBezTo>
                  <a:pt x="3524250" y="4677210"/>
                  <a:pt x="3438960" y="4762500"/>
                  <a:pt x="3333750" y="4762500"/>
                </a:cubicBezTo>
                <a:lnTo>
                  <a:pt x="190500" y="4762500"/>
                </a:lnTo>
                <a:cubicBezTo>
                  <a:pt x="85290" y="4762500"/>
                  <a:pt x="0" y="4677210"/>
                  <a:pt x="0" y="45720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800100" y="1771650"/>
            <a:ext cx="457200" cy="428625"/>
          </a:xfrm>
          <a:custGeom>
            <a:avLst/>
            <a:gdLst/>
            <a:ahLst/>
            <a:cxnLst/>
            <a:rect l="l" t="t" r="r" b="b"/>
            <a:pathLst>
              <a:path w="457200" h="428625">
                <a:moveTo>
                  <a:pt x="457200" y="428625"/>
                </a:moveTo>
                <a:lnTo>
                  <a:pt x="0" y="428625"/>
                </a:lnTo>
                <a:lnTo>
                  <a:pt x="0" y="342900"/>
                </a:lnTo>
                <a:lnTo>
                  <a:pt x="200025" y="0"/>
                </a:lnTo>
                <a:lnTo>
                  <a:pt x="257175" y="0"/>
                </a:lnTo>
                <a:lnTo>
                  <a:pt x="457200" y="342900"/>
                </a:lnTo>
                <a:lnTo>
                  <a:pt x="457200" y="428625"/>
                </a:lnTo>
                <a:close/>
                <a:moveTo>
                  <a:pt x="200025" y="114300"/>
                </a:moveTo>
                <a:lnTo>
                  <a:pt x="257175" y="114300"/>
                </a:lnTo>
                <a:lnTo>
                  <a:pt x="257175" y="257175"/>
                </a:lnTo>
                <a:lnTo>
                  <a:pt x="200025" y="257175"/>
                </a:lnTo>
                <a:lnTo>
                  <a:pt x="200025" y="114300"/>
                </a:lnTo>
                <a:close/>
                <a:moveTo>
                  <a:pt x="200025" y="314325"/>
                </a:moveTo>
                <a:lnTo>
                  <a:pt x="257175" y="314325"/>
                </a:lnTo>
                <a:lnTo>
                  <a:pt x="257175" y="371475"/>
                </a:lnTo>
                <a:lnTo>
                  <a:pt x="200025" y="371475"/>
                </a:lnTo>
                <a:lnTo>
                  <a:pt x="200025" y="314325"/>
                </a:lnTo>
                <a:close/>
              </a:path>
            </a:pathLst>
          </a:custGeom>
          <a:solidFill>
            <a:srgbClr val="DE002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362075" y="1852612"/>
            <a:ext cx="178236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告警噪声高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9145" y="2431732"/>
            <a:ext cx="23312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- 日均告警 1,200+ 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9145" y="2812732"/>
            <a:ext cx="264452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- 有效告警占比不足 30%</a:t>
            </a:r>
          </a:p>
        </p:txBody>
      </p:sp>
      <p:sp>
        <p:nvSpPr>
          <p:cNvPr id="10" name="Freeform 10"/>
          <p:cNvSpPr/>
          <p:nvPr/>
        </p:nvSpPr>
        <p:spPr>
          <a:xfrm>
            <a:off x="4324350" y="1447800"/>
            <a:ext cx="3524250" cy="4762500"/>
          </a:xfrm>
          <a:custGeom>
            <a:avLst/>
            <a:gdLst/>
            <a:ahLst/>
            <a:cxnLst/>
            <a:rect l="l" t="t" r="r" b="b"/>
            <a:pathLst>
              <a:path w="3524250" h="4762500">
                <a:moveTo>
                  <a:pt x="190500" y="0"/>
                </a:moveTo>
                <a:lnTo>
                  <a:pt x="3333750" y="0"/>
                </a:lnTo>
                <a:cubicBezTo>
                  <a:pt x="3438960" y="0"/>
                  <a:pt x="3524250" y="85290"/>
                  <a:pt x="3524250" y="190500"/>
                </a:cubicBezTo>
                <a:lnTo>
                  <a:pt x="3524250" y="4572000"/>
                </a:lnTo>
                <a:cubicBezTo>
                  <a:pt x="3524250" y="4677210"/>
                  <a:pt x="3438960" y="4762500"/>
                  <a:pt x="3333750" y="4762500"/>
                </a:cubicBezTo>
                <a:lnTo>
                  <a:pt x="190500" y="4762500"/>
                </a:lnTo>
                <a:cubicBezTo>
                  <a:pt x="85290" y="4762500"/>
                  <a:pt x="0" y="4677210"/>
                  <a:pt x="0" y="45720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4686300" y="1771650"/>
            <a:ext cx="342900" cy="457200"/>
            <a:chOff x="4686300" y="1771650"/>
            <a:chExt cx="342900" cy="457200"/>
          </a:xfrm>
        </p:grpSpPr>
        <p:sp>
          <p:nvSpPr>
            <p:cNvPr id="11" name="Freeform 11"/>
            <p:cNvSpPr/>
            <p:nvPr/>
          </p:nvSpPr>
          <p:spPr>
            <a:xfrm>
              <a:off x="4686300" y="1954530"/>
              <a:ext cx="342900" cy="131445"/>
            </a:xfrm>
            <a:custGeom>
              <a:avLst/>
              <a:gdLst/>
              <a:ahLst/>
              <a:cxnLst/>
              <a:rect l="l" t="t" r="r" b="b"/>
              <a:pathLst>
                <a:path w="342900" h="131445">
                  <a:moveTo>
                    <a:pt x="318243" y="14578"/>
                  </a:moveTo>
                  <a:cubicBezTo>
                    <a:pt x="326281" y="10558"/>
                    <a:pt x="334679" y="5709"/>
                    <a:pt x="342900" y="0"/>
                  </a:cubicBezTo>
                  <a:lnTo>
                    <a:pt x="342900" y="45720"/>
                  </a:lnTo>
                  <a:cubicBezTo>
                    <a:pt x="342900" y="93064"/>
                    <a:pt x="266139" y="131445"/>
                    <a:pt x="171450" y="131445"/>
                  </a:cubicBezTo>
                  <a:cubicBezTo>
                    <a:pt x="76761" y="131445"/>
                    <a:pt x="0" y="93064"/>
                    <a:pt x="0" y="45720"/>
                  </a:cubicBezTo>
                  <a:lnTo>
                    <a:pt x="0" y="0"/>
                  </a:lnTo>
                  <a:cubicBezTo>
                    <a:pt x="8222" y="5709"/>
                    <a:pt x="16619" y="10558"/>
                    <a:pt x="24658" y="14578"/>
                  </a:cubicBezTo>
                  <a:cubicBezTo>
                    <a:pt x="65178" y="34838"/>
                    <a:pt x="117157" y="45720"/>
                    <a:pt x="171450" y="45720"/>
                  </a:cubicBezTo>
                  <a:cubicBezTo>
                    <a:pt x="225743" y="45720"/>
                    <a:pt x="277720" y="34838"/>
                    <a:pt x="318243" y="14578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686300" y="2097405"/>
              <a:ext cx="342900" cy="131445"/>
            </a:xfrm>
            <a:custGeom>
              <a:avLst/>
              <a:gdLst/>
              <a:ahLst/>
              <a:cxnLst/>
              <a:rect l="l" t="t" r="r" b="b"/>
              <a:pathLst>
                <a:path w="342900" h="131445">
                  <a:moveTo>
                    <a:pt x="0" y="0"/>
                  </a:moveTo>
                  <a:lnTo>
                    <a:pt x="0" y="45720"/>
                  </a:lnTo>
                  <a:cubicBezTo>
                    <a:pt x="0" y="93066"/>
                    <a:pt x="76761" y="131445"/>
                    <a:pt x="171450" y="131445"/>
                  </a:cubicBezTo>
                  <a:cubicBezTo>
                    <a:pt x="266139" y="131445"/>
                    <a:pt x="342900" y="93066"/>
                    <a:pt x="342900" y="45720"/>
                  </a:cubicBezTo>
                  <a:lnTo>
                    <a:pt x="342900" y="0"/>
                  </a:lnTo>
                  <a:cubicBezTo>
                    <a:pt x="334679" y="5709"/>
                    <a:pt x="326281" y="10558"/>
                    <a:pt x="318243" y="14579"/>
                  </a:cubicBezTo>
                  <a:cubicBezTo>
                    <a:pt x="277720" y="34839"/>
                    <a:pt x="225743" y="45720"/>
                    <a:pt x="171450" y="45720"/>
                  </a:cubicBezTo>
                  <a:cubicBezTo>
                    <a:pt x="117157" y="45720"/>
                    <a:pt x="65178" y="34839"/>
                    <a:pt x="24658" y="14579"/>
                  </a:cubicBezTo>
                  <a:cubicBezTo>
                    <a:pt x="16619" y="10558"/>
                    <a:pt x="8222" y="5709"/>
                    <a:pt x="0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686300" y="1771650"/>
              <a:ext cx="342900" cy="171450"/>
            </a:xfrm>
            <a:custGeom>
              <a:avLst/>
              <a:gdLst/>
              <a:ahLst/>
              <a:cxnLst/>
              <a:rect l="l" t="t" r="r" b="b"/>
              <a:pathLst>
                <a:path w="342900" h="171450">
                  <a:moveTo>
                    <a:pt x="171450" y="0"/>
                  </a:moveTo>
                  <a:cubicBezTo>
                    <a:pt x="266139" y="0"/>
                    <a:pt x="342900" y="38381"/>
                    <a:pt x="342900" y="85725"/>
                  </a:cubicBezTo>
                  <a:cubicBezTo>
                    <a:pt x="342900" y="133069"/>
                    <a:pt x="266139" y="171450"/>
                    <a:pt x="171450" y="171450"/>
                  </a:cubicBezTo>
                  <a:cubicBezTo>
                    <a:pt x="76761" y="171450"/>
                    <a:pt x="0" y="133069"/>
                    <a:pt x="0" y="85725"/>
                  </a:cubicBezTo>
                  <a:cubicBezTo>
                    <a:pt x="0" y="3838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5191125" y="1852612"/>
            <a:ext cx="212740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数据口径不一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8195" y="2431732"/>
            <a:ext cx="25842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- 设备主数据缺失率 14%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08195" y="2812732"/>
            <a:ext cx="21746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- 跨系统追溯成本高</a:t>
            </a:r>
          </a:p>
        </p:txBody>
      </p:sp>
      <p:sp>
        <p:nvSpPr>
          <p:cNvPr id="18" name="Freeform 18"/>
          <p:cNvSpPr/>
          <p:nvPr/>
        </p:nvSpPr>
        <p:spPr>
          <a:xfrm>
            <a:off x="8153400" y="1447800"/>
            <a:ext cx="3524250" cy="4762500"/>
          </a:xfrm>
          <a:custGeom>
            <a:avLst/>
            <a:gdLst/>
            <a:ahLst/>
            <a:cxnLst/>
            <a:rect l="l" t="t" r="r" b="b"/>
            <a:pathLst>
              <a:path w="3524250" h="4762500">
                <a:moveTo>
                  <a:pt x="190500" y="0"/>
                </a:moveTo>
                <a:lnTo>
                  <a:pt x="3333750" y="0"/>
                </a:lnTo>
                <a:cubicBezTo>
                  <a:pt x="3438960" y="0"/>
                  <a:pt x="3524250" y="85290"/>
                  <a:pt x="3524250" y="190500"/>
                </a:cubicBezTo>
                <a:lnTo>
                  <a:pt x="3524250" y="4572000"/>
                </a:lnTo>
                <a:cubicBezTo>
                  <a:pt x="3524250" y="4677210"/>
                  <a:pt x="3438960" y="4762500"/>
                  <a:pt x="3333750" y="4762500"/>
                </a:cubicBezTo>
                <a:lnTo>
                  <a:pt x="190500" y="4762500"/>
                </a:lnTo>
                <a:cubicBezTo>
                  <a:pt x="85290" y="4762500"/>
                  <a:pt x="0" y="4677210"/>
                  <a:pt x="0" y="45720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grpSp>
        <p:nvGrpSpPr>
          <p:cNvPr id="22" name="Group 22"/>
          <p:cNvGrpSpPr/>
          <p:nvPr/>
        </p:nvGrpSpPr>
        <p:grpSpPr>
          <a:xfrm>
            <a:off x="8458200" y="1771650"/>
            <a:ext cx="457200" cy="457200"/>
            <a:chOff x="8458200" y="1771650"/>
            <a:chExt cx="457200" cy="457200"/>
          </a:xfrm>
        </p:grpSpPr>
        <p:sp>
          <p:nvSpPr>
            <p:cNvPr id="19" name="Freeform 19"/>
            <p:cNvSpPr/>
            <p:nvPr/>
          </p:nvSpPr>
          <p:spPr>
            <a:xfrm>
              <a:off x="8458200" y="17716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3436" y="57217"/>
                  </a:moveTo>
                  <a:cubicBezTo>
                    <a:pt x="231829" y="57172"/>
                    <a:pt x="230217" y="57150"/>
                    <a:pt x="228600" y="57150"/>
                  </a:cubicBezTo>
                  <a:cubicBezTo>
                    <a:pt x="133911" y="57150"/>
                    <a:pt x="57150" y="133911"/>
                    <a:pt x="57150" y="228600"/>
                  </a:cubicBezTo>
                  <a:cubicBezTo>
                    <a:pt x="57150" y="323289"/>
                    <a:pt x="133911" y="400050"/>
                    <a:pt x="228600" y="400050"/>
                  </a:cubicBezTo>
                  <a:cubicBezTo>
                    <a:pt x="323289" y="400050"/>
                    <a:pt x="400050" y="323289"/>
                    <a:pt x="400050" y="228600"/>
                  </a:cubicBezTo>
                  <a:cubicBezTo>
                    <a:pt x="400050" y="226983"/>
                    <a:pt x="400027" y="225371"/>
                    <a:pt x="399984" y="223764"/>
                  </a:cubicBezTo>
                  <a:lnTo>
                    <a:pt x="450462" y="173285"/>
                  </a:lnTo>
                  <a:cubicBezTo>
                    <a:pt x="454863" y="190997"/>
                    <a:pt x="457200" y="209526"/>
                    <a:pt x="457200" y="228600"/>
                  </a:cubicBezTo>
                  <a:cubicBezTo>
                    <a:pt x="457200" y="354853"/>
                    <a:pt x="354853" y="457200"/>
                    <a:pt x="228600" y="457200"/>
                  </a:cubicBezTo>
                  <a:cubicBezTo>
                    <a:pt x="102348" y="457200"/>
                    <a:pt x="0" y="354853"/>
                    <a:pt x="0" y="228600"/>
                  </a:cubicBezTo>
                  <a:cubicBezTo>
                    <a:pt x="0" y="102348"/>
                    <a:pt x="102348" y="0"/>
                    <a:pt x="228600" y="0"/>
                  </a:cubicBezTo>
                  <a:cubicBezTo>
                    <a:pt x="247674" y="0"/>
                    <a:pt x="266203" y="2336"/>
                    <a:pt x="283915" y="6738"/>
                  </a:cubicBezTo>
                  <a:lnTo>
                    <a:pt x="233436" y="57217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572500" y="1889550"/>
              <a:ext cx="225000" cy="225000"/>
            </a:xfrm>
            <a:custGeom>
              <a:avLst/>
              <a:gdLst/>
              <a:ahLst/>
              <a:cxnLst/>
              <a:rect l="l" t="t" r="r" b="b"/>
              <a:pathLst>
                <a:path w="225000" h="225000">
                  <a:moveTo>
                    <a:pt x="0" y="110699"/>
                  </a:moveTo>
                  <a:cubicBezTo>
                    <a:pt x="0" y="57440"/>
                    <a:pt x="36427" y="12688"/>
                    <a:pt x="85725" y="0"/>
                  </a:cubicBezTo>
                  <a:lnTo>
                    <a:pt x="85725" y="61195"/>
                  </a:lnTo>
                  <a:cubicBezTo>
                    <a:pt x="68643" y="71076"/>
                    <a:pt x="57150" y="89545"/>
                    <a:pt x="57150" y="110699"/>
                  </a:cubicBezTo>
                  <a:cubicBezTo>
                    <a:pt x="57150" y="142262"/>
                    <a:pt x="82737" y="167849"/>
                    <a:pt x="114300" y="167849"/>
                  </a:cubicBezTo>
                  <a:cubicBezTo>
                    <a:pt x="135454" y="167849"/>
                    <a:pt x="153923" y="156356"/>
                    <a:pt x="163804" y="139274"/>
                  </a:cubicBezTo>
                  <a:lnTo>
                    <a:pt x="225000" y="139274"/>
                  </a:lnTo>
                  <a:cubicBezTo>
                    <a:pt x="212309" y="188573"/>
                    <a:pt x="167559" y="225000"/>
                    <a:pt x="114300" y="225000"/>
                  </a:cubicBezTo>
                  <a:cubicBezTo>
                    <a:pt x="51174" y="225000"/>
                    <a:pt x="0" y="173825"/>
                    <a:pt x="0" y="110699"/>
                  </a:cubicBez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8680882" y="1771650"/>
              <a:ext cx="234518" cy="234518"/>
            </a:xfrm>
            <a:custGeom>
              <a:avLst/>
              <a:gdLst/>
              <a:ahLst/>
              <a:cxnLst/>
              <a:rect l="l" t="t" r="r" b="b"/>
              <a:pathLst>
                <a:path w="234518" h="234518">
                  <a:moveTo>
                    <a:pt x="177368" y="57150"/>
                  </a:moveTo>
                  <a:lnTo>
                    <a:pt x="148793" y="0"/>
                  </a:lnTo>
                  <a:lnTo>
                    <a:pt x="63068" y="85725"/>
                  </a:lnTo>
                  <a:lnTo>
                    <a:pt x="63068" y="131039"/>
                  </a:lnTo>
                  <a:lnTo>
                    <a:pt x="0" y="194107"/>
                  </a:lnTo>
                  <a:lnTo>
                    <a:pt x="40411" y="234518"/>
                  </a:lnTo>
                  <a:lnTo>
                    <a:pt x="103479" y="171450"/>
                  </a:lnTo>
                  <a:lnTo>
                    <a:pt x="148793" y="171450"/>
                  </a:lnTo>
                  <a:lnTo>
                    <a:pt x="234518" y="85725"/>
                  </a:lnTo>
                  <a:lnTo>
                    <a:pt x="177368" y="5715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9020175" y="1852612"/>
            <a:ext cx="178236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处置链路长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37245" y="2431732"/>
            <a:ext cx="27168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- 平均处置时长 9.5 小时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37245" y="2812732"/>
            <a:ext cx="21746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- 经验复用效率偏低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93395" y="498158"/>
            <a:ext cx="317159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年度KPI目标卡</a:t>
            </a:r>
          </a:p>
        </p:txBody>
      </p:sp>
      <p:sp>
        <p:nvSpPr>
          <p:cNvPr id="4" name="Freeform 4"/>
          <p:cNvSpPr/>
          <p:nvPr/>
        </p:nvSpPr>
        <p:spPr>
          <a:xfrm>
            <a:off x="666750" y="1428750"/>
            <a:ext cx="5143500" cy="2190750"/>
          </a:xfrm>
          <a:custGeom>
            <a:avLst/>
            <a:gdLst/>
            <a:ahLst/>
            <a:cxnLst/>
            <a:rect l="l" t="t" r="r" b="b"/>
            <a:pathLst>
              <a:path w="5143500" h="2190750">
                <a:moveTo>
                  <a:pt x="171450" y="0"/>
                </a:moveTo>
                <a:lnTo>
                  <a:pt x="4972050" y="0"/>
                </a:lnTo>
                <a:cubicBezTo>
                  <a:pt x="5066739" y="0"/>
                  <a:pt x="5143500" y="76761"/>
                  <a:pt x="5143500" y="171450"/>
                </a:cubicBezTo>
                <a:lnTo>
                  <a:pt x="5143500" y="2019300"/>
                </a:lnTo>
                <a:cubicBezTo>
                  <a:pt x="5143500" y="2113989"/>
                  <a:pt x="5066739" y="2190750"/>
                  <a:pt x="4972050" y="2190750"/>
                </a:cubicBezTo>
                <a:lnTo>
                  <a:pt x="171450" y="2190750"/>
                </a:lnTo>
                <a:cubicBezTo>
                  <a:pt x="76761" y="2190750"/>
                  <a:pt x="0" y="2113989"/>
                  <a:pt x="0" y="2019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914400" y="1752600"/>
            <a:ext cx="400050" cy="400050"/>
            <a:chOff x="914400" y="1752600"/>
            <a:chExt cx="400050" cy="400050"/>
          </a:xfrm>
        </p:grpSpPr>
        <p:sp>
          <p:nvSpPr>
            <p:cNvPr id="5" name="Freeform 5"/>
            <p:cNvSpPr/>
            <p:nvPr/>
          </p:nvSpPr>
          <p:spPr>
            <a:xfrm>
              <a:off x="1014412" y="1852612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100012" y="0"/>
                  </a:moveTo>
                  <a:cubicBezTo>
                    <a:pt x="44777" y="0"/>
                    <a:pt x="0" y="44777"/>
                    <a:pt x="0" y="100012"/>
                  </a:cubicBezTo>
                  <a:cubicBezTo>
                    <a:pt x="0" y="155247"/>
                    <a:pt x="44777" y="200025"/>
                    <a:pt x="100012" y="200025"/>
                  </a:cubicBezTo>
                  <a:cubicBezTo>
                    <a:pt x="155247" y="200025"/>
                    <a:pt x="200025" y="155247"/>
                    <a:pt x="200025" y="100012"/>
                  </a:cubicBezTo>
                  <a:cubicBezTo>
                    <a:pt x="200025" y="44777"/>
                    <a:pt x="155247" y="0"/>
                    <a:pt x="100012" y="0"/>
                  </a:cubicBezTo>
                  <a:close/>
                  <a:moveTo>
                    <a:pt x="50006" y="100012"/>
                  </a:moveTo>
                  <a:cubicBezTo>
                    <a:pt x="50006" y="72395"/>
                    <a:pt x="72395" y="50006"/>
                    <a:pt x="100012" y="50006"/>
                  </a:cubicBezTo>
                  <a:cubicBezTo>
                    <a:pt x="127630" y="50006"/>
                    <a:pt x="150019" y="72395"/>
                    <a:pt x="150019" y="100012"/>
                  </a:cubicBezTo>
                  <a:cubicBezTo>
                    <a:pt x="150019" y="127630"/>
                    <a:pt x="127630" y="150019"/>
                    <a:pt x="100012" y="150019"/>
                  </a:cubicBezTo>
                  <a:cubicBezTo>
                    <a:pt x="72395" y="150019"/>
                    <a:pt x="50006" y="127630"/>
                    <a:pt x="50006" y="100012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914400" y="1752600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200025" y="0"/>
                  </a:moveTo>
                  <a:cubicBezTo>
                    <a:pt x="89554" y="0"/>
                    <a:pt x="0" y="89554"/>
                    <a:pt x="0" y="200025"/>
                  </a:cubicBezTo>
                  <a:cubicBezTo>
                    <a:pt x="0" y="310496"/>
                    <a:pt x="89554" y="400050"/>
                    <a:pt x="200025" y="400050"/>
                  </a:cubicBezTo>
                  <a:cubicBezTo>
                    <a:pt x="310496" y="400050"/>
                    <a:pt x="400050" y="310496"/>
                    <a:pt x="400050" y="200025"/>
                  </a:cubicBezTo>
                  <a:cubicBezTo>
                    <a:pt x="400050" y="89554"/>
                    <a:pt x="310496" y="0"/>
                    <a:pt x="200025" y="0"/>
                  </a:cubicBezTo>
                  <a:close/>
                  <a:moveTo>
                    <a:pt x="50006" y="200025"/>
                  </a:moveTo>
                  <a:cubicBezTo>
                    <a:pt x="50006" y="117172"/>
                    <a:pt x="117172" y="50006"/>
                    <a:pt x="200025" y="50006"/>
                  </a:cubicBezTo>
                  <a:cubicBezTo>
                    <a:pt x="282878" y="50006"/>
                    <a:pt x="350044" y="117172"/>
                    <a:pt x="350044" y="200025"/>
                  </a:cubicBezTo>
                  <a:cubicBezTo>
                    <a:pt x="350044" y="282878"/>
                    <a:pt x="282878" y="350044"/>
                    <a:pt x="200025" y="350044"/>
                  </a:cubicBezTo>
                  <a:cubicBezTo>
                    <a:pt x="117172" y="350044"/>
                    <a:pt x="50006" y="282878"/>
                    <a:pt x="50006" y="200025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421130" y="1821180"/>
            <a:ext cx="15868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设备可用率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3440" y="2301240"/>
            <a:ext cx="5348173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A870"/>
                </a:solidFill>
                <a:latin typeface="Arial"/>
                <a:ea typeface="Microsoft YaHei"/>
                <a:cs typeface="Arial"/>
              </a:rPr>
              <a:t>96.8% 到 98.5%</a:t>
            </a:r>
          </a:p>
        </p:txBody>
      </p:sp>
      <p:sp>
        <p:nvSpPr>
          <p:cNvPr id="10" name="Freeform 10"/>
          <p:cNvSpPr/>
          <p:nvPr/>
        </p:nvSpPr>
        <p:spPr>
          <a:xfrm>
            <a:off x="6381750" y="1428750"/>
            <a:ext cx="5143500" cy="2190750"/>
          </a:xfrm>
          <a:custGeom>
            <a:avLst/>
            <a:gdLst/>
            <a:ahLst/>
            <a:cxnLst/>
            <a:rect l="l" t="t" r="r" b="b"/>
            <a:pathLst>
              <a:path w="5143500" h="2190750">
                <a:moveTo>
                  <a:pt x="171450" y="0"/>
                </a:moveTo>
                <a:lnTo>
                  <a:pt x="4972050" y="0"/>
                </a:lnTo>
                <a:cubicBezTo>
                  <a:pt x="5066739" y="0"/>
                  <a:pt x="5143500" y="76761"/>
                  <a:pt x="5143500" y="171450"/>
                </a:cubicBezTo>
                <a:lnTo>
                  <a:pt x="5143500" y="2019300"/>
                </a:lnTo>
                <a:cubicBezTo>
                  <a:pt x="5143500" y="2113989"/>
                  <a:pt x="5066739" y="2190750"/>
                  <a:pt x="4972050" y="2190750"/>
                </a:cubicBezTo>
                <a:lnTo>
                  <a:pt x="171450" y="2190750"/>
                </a:lnTo>
                <a:cubicBezTo>
                  <a:pt x="76761" y="2190750"/>
                  <a:pt x="0" y="2113989"/>
                  <a:pt x="0" y="2019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6654403" y="1752600"/>
            <a:ext cx="350044" cy="400050"/>
          </a:xfrm>
          <a:custGeom>
            <a:avLst/>
            <a:gdLst/>
            <a:ahLst/>
            <a:cxnLst/>
            <a:rect l="l" t="t" r="r" b="b"/>
            <a:pathLst>
              <a:path w="350044" h="400050">
                <a:moveTo>
                  <a:pt x="83763" y="334864"/>
                </a:moveTo>
                <a:lnTo>
                  <a:pt x="175022" y="400050"/>
                </a:lnTo>
                <a:lnTo>
                  <a:pt x="266281" y="334864"/>
                </a:lnTo>
                <a:cubicBezTo>
                  <a:pt x="318847" y="297317"/>
                  <a:pt x="350044" y="236696"/>
                  <a:pt x="350044" y="172098"/>
                </a:cubicBezTo>
                <a:lnTo>
                  <a:pt x="350044" y="75009"/>
                </a:lnTo>
                <a:lnTo>
                  <a:pt x="175022" y="0"/>
                </a:lnTo>
                <a:lnTo>
                  <a:pt x="0" y="75009"/>
                </a:lnTo>
                <a:lnTo>
                  <a:pt x="0" y="172098"/>
                </a:lnTo>
                <a:cubicBezTo>
                  <a:pt x="0" y="236696"/>
                  <a:pt x="31197" y="297317"/>
                  <a:pt x="83763" y="334864"/>
                </a:cubicBezTo>
                <a:close/>
              </a:path>
            </a:pathLst>
          </a:custGeom>
          <a:solidFill>
            <a:srgbClr val="DE002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36130" y="1821180"/>
            <a:ext cx="189357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高风险闭环率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68440" y="2301240"/>
            <a:ext cx="354474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0A870"/>
                </a:solidFill>
                <a:latin typeface="Arial"/>
                <a:ea typeface="Microsoft YaHei"/>
                <a:cs typeface="Arial"/>
              </a:rPr>
              <a:t>71% 到 93%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" y="4000500"/>
            <a:ext cx="10858500" cy="2095500"/>
          </a:xfrm>
          <a:custGeom>
            <a:avLst/>
            <a:gdLst/>
            <a:ahLst/>
            <a:cxnLst/>
            <a:rect l="l" t="t" r="r" b="b"/>
            <a:pathLst>
              <a:path w="10858500" h="2095500">
                <a:moveTo>
                  <a:pt x="171450" y="0"/>
                </a:moveTo>
                <a:lnTo>
                  <a:pt x="10687050" y="0"/>
                </a:lnTo>
                <a:cubicBezTo>
                  <a:pt x="10781739" y="0"/>
                  <a:pt x="10858500" y="76761"/>
                  <a:pt x="10858500" y="171450"/>
                </a:cubicBezTo>
                <a:lnTo>
                  <a:pt x="10858500" y="1924050"/>
                </a:lnTo>
                <a:cubicBezTo>
                  <a:pt x="10858500" y="2018739"/>
                  <a:pt x="10781739" y="2095500"/>
                  <a:pt x="10687050" y="2095500"/>
                </a:cubicBezTo>
                <a:lnTo>
                  <a:pt x="171450" y="2095500"/>
                </a:lnTo>
                <a:cubicBezTo>
                  <a:pt x="76761" y="2095500"/>
                  <a:pt x="0" y="2018739"/>
                  <a:pt x="0" y="1924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983456" y="4324350"/>
            <a:ext cx="300038" cy="400050"/>
          </a:xfrm>
          <a:custGeom>
            <a:avLst/>
            <a:gdLst/>
            <a:ahLst/>
            <a:cxnLst/>
            <a:rect l="l" t="t" r="r" b="b"/>
            <a:pathLst>
              <a:path w="300038" h="400050">
                <a:moveTo>
                  <a:pt x="175022" y="175022"/>
                </a:moveTo>
                <a:lnTo>
                  <a:pt x="200025" y="0"/>
                </a:lnTo>
                <a:lnTo>
                  <a:pt x="150019" y="0"/>
                </a:lnTo>
                <a:lnTo>
                  <a:pt x="0" y="175022"/>
                </a:lnTo>
                <a:lnTo>
                  <a:pt x="0" y="225028"/>
                </a:lnTo>
                <a:lnTo>
                  <a:pt x="125016" y="225028"/>
                </a:lnTo>
                <a:lnTo>
                  <a:pt x="100012" y="400050"/>
                </a:lnTo>
                <a:lnTo>
                  <a:pt x="150019" y="400050"/>
                </a:lnTo>
                <a:lnTo>
                  <a:pt x="300038" y="225028"/>
                </a:lnTo>
                <a:lnTo>
                  <a:pt x="300038" y="175022"/>
                </a:lnTo>
                <a:lnTo>
                  <a:pt x="175022" y="175022"/>
                </a:ln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421130" y="4402455"/>
            <a:ext cx="943851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效率目标：非计划停机率 5.2% 到 3.6%，平均处置时长 9.5h 到 5.6h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6845" y="4984432"/>
            <a:ext cx="60664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通过告警治理、模型诊断、作业协同三条主线并行推进。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719512" y="4095750"/>
            <a:ext cx="475297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方案与路线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93395" y="498158"/>
            <a:ext cx="539367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一体化能力架构（四层）</a:t>
            </a:r>
          </a:p>
        </p:txBody>
      </p:sp>
      <p:sp>
        <p:nvSpPr>
          <p:cNvPr id="4" name="Freeform 4"/>
          <p:cNvSpPr/>
          <p:nvPr/>
        </p:nvSpPr>
        <p:spPr>
          <a:xfrm>
            <a:off x="857250" y="1333500"/>
            <a:ext cx="10477500" cy="1047750"/>
          </a:xfrm>
          <a:custGeom>
            <a:avLst/>
            <a:gdLst/>
            <a:ahLst/>
            <a:cxnLst/>
            <a:rect l="l" t="t" r="r" b="b"/>
            <a:pathLst>
              <a:path w="10477500" h="1047750">
                <a:moveTo>
                  <a:pt x="133350" y="0"/>
                </a:moveTo>
                <a:lnTo>
                  <a:pt x="10344150" y="0"/>
                </a:lnTo>
                <a:cubicBezTo>
                  <a:pt x="10417797" y="0"/>
                  <a:pt x="10477500" y="59703"/>
                  <a:pt x="10477500" y="133350"/>
                </a:cubicBezTo>
                <a:lnTo>
                  <a:pt x="10477500" y="914400"/>
                </a:lnTo>
                <a:cubicBezTo>
                  <a:pt x="10477500" y="988047"/>
                  <a:pt x="10417797" y="1047750"/>
                  <a:pt x="10344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C"/>
          </a:solidFill>
          <a:ln w="9525">
            <a:solidFill>
              <a:srgbClr val="D9DEE5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1104900" y="1638300"/>
            <a:ext cx="400050" cy="400050"/>
          </a:xfrm>
          <a:custGeom>
            <a:avLst/>
            <a:gdLst/>
            <a:ahLst/>
            <a:cxnLst/>
            <a:rect l="l" t="t" r="r" b="b"/>
            <a:pathLst>
              <a:path w="400050" h="400050">
                <a:moveTo>
                  <a:pt x="200025" y="50006"/>
                </a:moveTo>
                <a:cubicBezTo>
                  <a:pt x="117172" y="50006"/>
                  <a:pt x="50006" y="117172"/>
                  <a:pt x="50006" y="200025"/>
                </a:cubicBezTo>
                <a:cubicBezTo>
                  <a:pt x="50006" y="282878"/>
                  <a:pt x="117172" y="350044"/>
                  <a:pt x="200025" y="350044"/>
                </a:cubicBezTo>
                <a:cubicBezTo>
                  <a:pt x="282878" y="350044"/>
                  <a:pt x="350044" y="282878"/>
                  <a:pt x="350044" y="200025"/>
                </a:cubicBezTo>
                <a:cubicBezTo>
                  <a:pt x="350044" y="186586"/>
                  <a:pt x="348276" y="173560"/>
                  <a:pt x="344963" y="161167"/>
                </a:cubicBezTo>
                <a:lnTo>
                  <a:pt x="384221" y="121908"/>
                </a:lnTo>
                <a:cubicBezTo>
                  <a:pt x="394412" y="145907"/>
                  <a:pt x="400050" y="172308"/>
                  <a:pt x="400050" y="200025"/>
                </a:cubicBezTo>
                <a:cubicBezTo>
                  <a:pt x="400050" y="310496"/>
                  <a:pt x="310496" y="400050"/>
                  <a:pt x="200025" y="400050"/>
                </a:cubicBezTo>
                <a:cubicBezTo>
                  <a:pt x="89554" y="400050"/>
                  <a:pt x="0" y="310496"/>
                  <a:pt x="0" y="200025"/>
                </a:cubicBezTo>
                <a:cubicBezTo>
                  <a:pt x="0" y="89554"/>
                  <a:pt x="89554" y="0"/>
                  <a:pt x="200025" y="0"/>
                </a:cubicBezTo>
                <a:cubicBezTo>
                  <a:pt x="246249" y="0"/>
                  <a:pt x="288811" y="15679"/>
                  <a:pt x="322680" y="42009"/>
                </a:cubicBezTo>
                <a:lnTo>
                  <a:pt x="357367" y="7323"/>
                </a:lnTo>
                <a:lnTo>
                  <a:pt x="392727" y="42683"/>
                </a:lnTo>
                <a:lnTo>
                  <a:pt x="217705" y="217705"/>
                </a:lnTo>
                <a:lnTo>
                  <a:pt x="182345" y="182345"/>
                </a:lnTo>
                <a:lnTo>
                  <a:pt x="212974" y="151716"/>
                </a:lnTo>
                <a:cubicBezTo>
                  <a:pt x="196292" y="147261"/>
                  <a:pt x="177753" y="151577"/>
                  <a:pt x="164665" y="164665"/>
                </a:cubicBezTo>
                <a:cubicBezTo>
                  <a:pt x="145137" y="184194"/>
                  <a:pt x="145137" y="215856"/>
                  <a:pt x="164665" y="235385"/>
                </a:cubicBezTo>
                <a:cubicBezTo>
                  <a:pt x="184194" y="254914"/>
                  <a:pt x="215856" y="254914"/>
                  <a:pt x="235385" y="235385"/>
                </a:cubicBezTo>
                <a:lnTo>
                  <a:pt x="270744" y="270744"/>
                </a:lnTo>
                <a:cubicBezTo>
                  <a:pt x="231687" y="309801"/>
                  <a:pt x="168363" y="309801"/>
                  <a:pt x="129305" y="270744"/>
                </a:cubicBezTo>
                <a:cubicBezTo>
                  <a:pt x="90248" y="231687"/>
                  <a:pt x="90248" y="168363"/>
                  <a:pt x="129305" y="129305"/>
                </a:cubicBezTo>
                <a:cubicBezTo>
                  <a:pt x="162258" y="96353"/>
                  <a:pt x="212484" y="91202"/>
                  <a:pt x="250836" y="113853"/>
                </a:cubicBezTo>
                <a:lnTo>
                  <a:pt x="286948" y="77741"/>
                </a:lnTo>
                <a:cubicBezTo>
                  <a:pt x="262425" y="60277"/>
                  <a:pt x="232425" y="50006"/>
                  <a:pt x="200025" y="50006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66875" y="1700212"/>
            <a:ext cx="109227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感知层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06140" y="1748790"/>
            <a:ext cx="3358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边缘采集 协议适配 状态上报</a:t>
            </a:r>
          </a:p>
        </p:txBody>
      </p:sp>
      <p:sp>
        <p:nvSpPr>
          <p:cNvPr id="8" name="Freeform 8"/>
          <p:cNvSpPr/>
          <p:nvPr/>
        </p:nvSpPr>
        <p:spPr>
          <a:xfrm>
            <a:off x="857250" y="2571750"/>
            <a:ext cx="10477500" cy="1047750"/>
          </a:xfrm>
          <a:custGeom>
            <a:avLst/>
            <a:gdLst/>
            <a:ahLst/>
            <a:cxnLst/>
            <a:rect l="l" t="t" r="r" b="b"/>
            <a:pathLst>
              <a:path w="10477500" h="1047750">
                <a:moveTo>
                  <a:pt x="133350" y="0"/>
                </a:moveTo>
                <a:lnTo>
                  <a:pt x="10344150" y="0"/>
                </a:lnTo>
                <a:cubicBezTo>
                  <a:pt x="10417797" y="0"/>
                  <a:pt x="10477500" y="59703"/>
                  <a:pt x="10477500" y="133350"/>
                </a:cubicBezTo>
                <a:lnTo>
                  <a:pt x="10477500" y="914400"/>
                </a:lnTo>
                <a:cubicBezTo>
                  <a:pt x="10477500" y="988047"/>
                  <a:pt x="10417797" y="1047750"/>
                  <a:pt x="10344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1154906" y="2876550"/>
            <a:ext cx="300038" cy="400050"/>
            <a:chOff x="1154906" y="2876550"/>
            <a:chExt cx="300038" cy="400050"/>
          </a:xfrm>
        </p:grpSpPr>
        <p:sp>
          <p:nvSpPr>
            <p:cNvPr id="9" name="Freeform 9"/>
            <p:cNvSpPr/>
            <p:nvPr/>
          </p:nvSpPr>
          <p:spPr>
            <a:xfrm>
              <a:off x="1154906" y="3036570"/>
              <a:ext cx="300038" cy="115014"/>
            </a:xfrm>
            <a:custGeom>
              <a:avLst/>
              <a:gdLst/>
              <a:ahLst/>
              <a:cxnLst/>
              <a:rect l="l" t="t" r="r" b="b"/>
              <a:pathLst>
                <a:path w="300038" h="115014">
                  <a:moveTo>
                    <a:pt x="278462" y="12756"/>
                  </a:moveTo>
                  <a:cubicBezTo>
                    <a:pt x="285496" y="9238"/>
                    <a:pt x="292844" y="4996"/>
                    <a:pt x="300038" y="0"/>
                  </a:cubicBezTo>
                  <a:lnTo>
                    <a:pt x="300038" y="40005"/>
                  </a:lnTo>
                  <a:cubicBezTo>
                    <a:pt x="300038" y="81431"/>
                    <a:pt x="232872" y="115014"/>
                    <a:pt x="150019" y="115014"/>
                  </a:cubicBezTo>
                  <a:cubicBezTo>
                    <a:pt x="67166" y="115014"/>
                    <a:pt x="0" y="81431"/>
                    <a:pt x="0" y="40005"/>
                  </a:cubicBezTo>
                  <a:lnTo>
                    <a:pt x="0" y="0"/>
                  </a:lnTo>
                  <a:cubicBezTo>
                    <a:pt x="7194" y="4996"/>
                    <a:pt x="14541" y="9238"/>
                    <a:pt x="21576" y="12756"/>
                  </a:cubicBezTo>
                  <a:cubicBezTo>
                    <a:pt x="57031" y="30483"/>
                    <a:pt x="102512" y="40005"/>
                    <a:pt x="150019" y="40005"/>
                  </a:cubicBezTo>
                  <a:cubicBezTo>
                    <a:pt x="197525" y="40005"/>
                    <a:pt x="243005" y="30483"/>
                    <a:pt x="278462" y="12756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154906" y="3161586"/>
              <a:ext cx="300038" cy="115014"/>
            </a:xfrm>
            <a:custGeom>
              <a:avLst/>
              <a:gdLst/>
              <a:ahLst/>
              <a:cxnLst/>
              <a:rect l="l" t="t" r="r" b="b"/>
              <a:pathLst>
                <a:path w="300038" h="115014">
                  <a:moveTo>
                    <a:pt x="0" y="0"/>
                  </a:moveTo>
                  <a:lnTo>
                    <a:pt x="0" y="40005"/>
                  </a:lnTo>
                  <a:cubicBezTo>
                    <a:pt x="0" y="81433"/>
                    <a:pt x="67166" y="115014"/>
                    <a:pt x="150019" y="115014"/>
                  </a:cubicBezTo>
                  <a:cubicBezTo>
                    <a:pt x="232872" y="115014"/>
                    <a:pt x="300038" y="81433"/>
                    <a:pt x="300038" y="40005"/>
                  </a:cubicBezTo>
                  <a:lnTo>
                    <a:pt x="300038" y="0"/>
                  </a:lnTo>
                  <a:cubicBezTo>
                    <a:pt x="292844" y="4996"/>
                    <a:pt x="285496" y="9239"/>
                    <a:pt x="278462" y="12757"/>
                  </a:cubicBezTo>
                  <a:cubicBezTo>
                    <a:pt x="243005" y="30484"/>
                    <a:pt x="197525" y="40005"/>
                    <a:pt x="150019" y="40005"/>
                  </a:cubicBezTo>
                  <a:cubicBezTo>
                    <a:pt x="102512" y="40005"/>
                    <a:pt x="57031" y="30484"/>
                    <a:pt x="21576" y="12757"/>
                  </a:cubicBezTo>
                  <a:cubicBezTo>
                    <a:pt x="14541" y="9239"/>
                    <a:pt x="7194" y="4996"/>
                    <a:pt x="0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154906" y="2876550"/>
              <a:ext cx="300038" cy="150019"/>
            </a:xfrm>
            <a:custGeom>
              <a:avLst/>
              <a:gdLst/>
              <a:ahLst/>
              <a:cxnLst/>
              <a:rect l="l" t="t" r="r" b="b"/>
              <a:pathLst>
                <a:path w="300038" h="150019">
                  <a:moveTo>
                    <a:pt x="150019" y="0"/>
                  </a:moveTo>
                  <a:cubicBezTo>
                    <a:pt x="232872" y="0"/>
                    <a:pt x="300038" y="33583"/>
                    <a:pt x="300038" y="75009"/>
                  </a:cubicBezTo>
                  <a:cubicBezTo>
                    <a:pt x="300038" y="116436"/>
                    <a:pt x="232872" y="150019"/>
                    <a:pt x="150019" y="150019"/>
                  </a:cubicBezTo>
                  <a:cubicBezTo>
                    <a:pt x="67166" y="150019"/>
                    <a:pt x="0" y="116436"/>
                    <a:pt x="0" y="75009"/>
                  </a:cubicBezTo>
                  <a:cubicBezTo>
                    <a:pt x="0" y="33583"/>
                    <a:pt x="67166" y="0"/>
                    <a:pt x="150019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666875" y="2938462"/>
            <a:ext cx="109227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平台层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06140" y="2987040"/>
            <a:ext cx="396278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主数据 事件总线 规则引擎 知识库</a:t>
            </a:r>
          </a:p>
        </p:txBody>
      </p:sp>
      <p:sp>
        <p:nvSpPr>
          <p:cNvPr id="15" name="Freeform 15"/>
          <p:cNvSpPr/>
          <p:nvPr/>
        </p:nvSpPr>
        <p:spPr>
          <a:xfrm>
            <a:off x="857250" y="3810000"/>
            <a:ext cx="10477500" cy="1047750"/>
          </a:xfrm>
          <a:custGeom>
            <a:avLst/>
            <a:gdLst/>
            <a:ahLst/>
            <a:cxnLst/>
            <a:rect l="l" t="t" r="r" b="b"/>
            <a:pathLst>
              <a:path w="10477500" h="1047750">
                <a:moveTo>
                  <a:pt x="133350" y="0"/>
                </a:moveTo>
                <a:lnTo>
                  <a:pt x="10344150" y="0"/>
                </a:lnTo>
                <a:cubicBezTo>
                  <a:pt x="10417797" y="0"/>
                  <a:pt x="10477500" y="59703"/>
                  <a:pt x="10477500" y="133350"/>
                </a:cubicBezTo>
                <a:lnTo>
                  <a:pt x="10477500" y="914400"/>
                </a:lnTo>
                <a:cubicBezTo>
                  <a:pt x="10477500" y="988047"/>
                  <a:pt x="10417797" y="1047750"/>
                  <a:pt x="10344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4FC"/>
          </a:solidFill>
          <a:ln w="9525">
            <a:solidFill>
              <a:srgbClr val="D9DEE5"/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1104900" y="4139803"/>
            <a:ext cx="400050" cy="350044"/>
            <a:chOff x="1104900" y="4139803"/>
            <a:chExt cx="400050" cy="350044"/>
          </a:xfrm>
        </p:grpSpPr>
        <p:sp>
          <p:nvSpPr>
            <p:cNvPr id="16" name="Freeform 16"/>
            <p:cNvSpPr/>
            <p:nvPr/>
          </p:nvSpPr>
          <p:spPr>
            <a:xfrm>
              <a:off x="1404938" y="4139803"/>
              <a:ext cx="100012" cy="350044"/>
            </a:xfrm>
            <a:custGeom>
              <a:avLst/>
              <a:gdLst/>
              <a:ahLst/>
              <a:cxnLst/>
              <a:rect l="l" t="t" r="r" b="b"/>
              <a:pathLst>
                <a:path w="100012" h="350044">
                  <a:moveTo>
                    <a:pt x="100012" y="0"/>
                  </a:moveTo>
                  <a:lnTo>
                    <a:pt x="0" y="0"/>
                  </a:lnTo>
                  <a:lnTo>
                    <a:pt x="0" y="350044"/>
                  </a:lnTo>
                  <a:lnTo>
                    <a:pt x="100012" y="350044"/>
                  </a:lnTo>
                  <a:lnTo>
                    <a:pt x="100012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254919" y="4239816"/>
              <a:ext cx="100012" cy="250031"/>
            </a:xfrm>
            <a:custGeom>
              <a:avLst/>
              <a:gdLst/>
              <a:ahLst/>
              <a:cxnLst/>
              <a:rect l="l" t="t" r="r" b="b"/>
              <a:pathLst>
                <a:path w="100012" h="250031">
                  <a:moveTo>
                    <a:pt x="0" y="0"/>
                  </a:moveTo>
                  <a:lnTo>
                    <a:pt x="100012" y="0"/>
                  </a:lnTo>
                  <a:lnTo>
                    <a:pt x="100012" y="250031"/>
                  </a:lnTo>
                  <a:lnTo>
                    <a:pt x="0" y="2500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04900" y="4339828"/>
              <a:ext cx="100012" cy="150019"/>
            </a:xfrm>
            <a:custGeom>
              <a:avLst/>
              <a:gdLst/>
              <a:ahLst/>
              <a:cxnLst/>
              <a:rect l="l" t="t" r="r" b="b"/>
              <a:pathLst>
                <a:path w="100012" h="150019">
                  <a:moveTo>
                    <a:pt x="0" y="0"/>
                  </a:moveTo>
                  <a:lnTo>
                    <a:pt x="100012" y="0"/>
                  </a:lnTo>
                  <a:lnTo>
                    <a:pt x="100012" y="150019"/>
                  </a:lnTo>
                  <a:lnTo>
                    <a:pt x="0" y="150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666875" y="4176712"/>
            <a:ext cx="109227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06140" y="4225290"/>
            <a:ext cx="448856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健康诊断 风险预警 作业协同 经营看板</a:t>
            </a:r>
          </a:p>
        </p:txBody>
      </p:sp>
      <p:sp>
        <p:nvSpPr>
          <p:cNvPr id="22" name="Freeform 22"/>
          <p:cNvSpPr/>
          <p:nvPr/>
        </p:nvSpPr>
        <p:spPr>
          <a:xfrm>
            <a:off x="857250" y="5048250"/>
            <a:ext cx="10477500" cy="1047750"/>
          </a:xfrm>
          <a:custGeom>
            <a:avLst/>
            <a:gdLst/>
            <a:ahLst/>
            <a:cxnLst/>
            <a:rect l="l" t="t" r="r" b="b"/>
            <a:pathLst>
              <a:path w="10477500" h="1047750">
                <a:moveTo>
                  <a:pt x="133350" y="0"/>
                </a:moveTo>
                <a:lnTo>
                  <a:pt x="10344150" y="0"/>
                </a:lnTo>
                <a:cubicBezTo>
                  <a:pt x="10417797" y="0"/>
                  <a:pt x="10477500" y="59703"/>
                  <a:pt x="10477500" y="133350"/>
                </a:cubicBezTo>
                <a:lnTo>
                  <a:pt x="10477500" y="914400"/>
                </a:lnTo>
                <a:cubicBezTo>
                  <a:pt x="10477500" y="988047"/>
                  <a:pt x="10417797" y="1047750"/>
                  <a:pt x="10344150" y="1047750"/>
                </a:cubicBezTo>
                <a:lnTo>
                  <a:pt x="133350" y="1047750"/>
                </a:lnTo>
                <a:cubicBezTo>
                  <a:pt x="59703" y="1047750"/>
                  <a:pt x="0" y="988047"/>
                  <a:pt x="0" y="914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5F9FC"/>
          </a:solidFill>
          <a:ln w="9525">
            <a:solidFill>
              <a:srgbClr val="D9DEE5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1104900" y="5378053"/>
            <a:ext cx="400050" cy="350044"/>
            <a:chOff x="1104900" y="5378053"/>
            <a:chExt cx="400050" cy="350044"/>
          </a:xfrm>
        </p:grpSpPr>
        <p:sp>
          <p:nvSpPr>
            <p:cNvPr id="23" name="Freeform 23"/>
            <p:cNvSpPr/>
            <p:nvPr/>
          </p:nvSpPr>
          <p:spPr>
            <a:xfrm>
              <a:off x="1179909" y="5378053"/>
              <a:ext cx="125016" cy="125016"/>
            </a:xfrm>
            <a:custGeom>
              <a:avLst/>
              <a:gdLst/>
              <a:ahLst/>
              <a:cxnLst/>
              <a:rect l="l" t="t" r="r" b="b"/>
              <a:pathLst>
                <a:path w="125016" h="125016">
                  <a:moveTo>
                    <a:pt x="125016" y="62508"/>
                  </a:moveTo>
                  <a:cubicBezTo>
                    <a:pt x="125016" y="97030"/>
                    <a:pt x="97030" y="125016"/>
                    <a:pt x="62508" y="125016"/>
                  </a:cubicBezTo>
                  <a:cubicBezTo>
                    <a:pt x="27986" y="125016"/>
                    <a:pt x="0" y="97030"/>
                    <a:pt x="0" y="62508"/>
                  </a:cubicBezTo>
                  <a:cubicBezTo>
                    <a:pt x="0" y="27986"/>
                    <a:pt x="27986" y="0"/>
                    <a:pt x="62508" y="0"/>
                  </a:cubicBezTo>
                  <a:cubicBezTo>
                    <a:pt x="97030" y="0"/>
                    <a:pt x="125016" y="27986"/>
                    <a:pt x="125016" y="62508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104900" y="5553075"/>
              <a:ext cx="200025" cy="175022"/>
            </a:xfrm>
            <a:custGeom>
              <a:avLst/>
              <a:gdLst/>
              <a:ahLst/>
              <a:cxnLst/>
              <a:rect l="l" t="t" r="r" b="b"/>
              <a:pathLst>
                <a:path w="200025" h="175022">
                  <a:moveTo>
                    <a:pt x="75009" y="0"/>
                  </a:moveTo>
                  <a:cubicBezTo>
                    <a:pt x="33583" y="0"/>
                    <a:pt x="0" y="33583"/>
                    <a:pt x="0" y="75009"/>
                  </a:cubicBezTo>
                  <a:lnTo>
                    <a:pt x="0" y="175022"/>
                  </a:lnTo>
                  <a:lnTo>
                    <a:pt x="200025" y="175022"/>
                  </a:lnTo>
                  <a:lnTo>
                    <a:pt x="200025" y="0"/>
                  </a:lnTo>
                  <a:lnTo>
                    <a:pt x="75009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354931" y="5553075"/>
              <a:ext cx="150019" cy="175022"/>
            </a:xfrm>
            <a:custGeom>
              <a:avLst/>
              <a:gdLst/>
              <a:ahLst/>
              <a:cxnLst/>
              <a:rect l="l" t="t" r="r" b="b"/>
              <a:pathLst>
                <a:path w="150019" h="175022">
                  <a:moveTo>
                    <a:pt x="75009" y="0"/>
                  </a:moveTo>
                  <a:lnTo>
                    <a:pt x="0" y="0"/>
                  </a:lnTo>
                  <a:lnTo>
                    <a:pt x="0" y="175022"/>
                  </a:lnTo>
                  <a:lnTo>
                    <a:pt x="150019" y="175022"/>
                  </a:lnTo>
                  <a:lnTo>
                    <a:pt x="150019" y="75009"/>
                  </a:lnTo>
                  <a:cubicBezTo>
                    <a:pt x="150019" y="33583"/>
                    <a:pt x="116437" y="0"/>
                    <a:pt x="75009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354931" y="5403056"/>
              <a:ext cx="100012" cy="100012"/>
            </a:xfrm>
            <a:custGeom>
              <a:avLst/>
              <a:gdLst/>
              <a:ahLst/>
              <a:cxnLst/>
              <a:rect l="l" t="t" r="r" b="b"/>
              <a:pathLst>
                <a:path w="100012" h="100012">
                  <a:moveTo>
                    <a:pt x="50006" y="100012"/>
                  </a:moveTo>
                  <a:cubicBezTo>
                    <a:pt x="77625" y="100012"/>
                    <a:pt x="100012" y="77624"/>
                    <a:pt x="100012" y="50006"/>
                  </a:cubicBezTo>
                  <a:cubicBezTo>
                    <a:pt x="100012" y="22389"/>
                    <a:pt x="77625" y="0"/>
                    <a:pt x="50006" y="0"/>
                  </a:cubicBezTo>
                  <a:cubicBezTo>
                    <a:pt x="22388" y="0"/>
                    <a:pt x="0" y="22389"/>
                    <a:pt x="0" y="50006"/>
                  </a:cubicBezTo>
                  <a:cubicBezTo>
                    <a:pt x="0" y="77624"/>
                    <a:pt x="22388" y="100012"/>
                    <a:pt x="50006" y="100012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1666875" y="5414962"/>
            <a:ext cx="109227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运营层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06140" y="5463540"/>
            <a:ext cx="448856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组织机制 指标闭环 双周复盘 持续优化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93395" y="498158"/>
            <a:ext cx="539367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关键指标改进（柱状图）</a:t>
            </a:r>
          </a:p>
        </p:txBody>
      </p:sp>
      <p:sp>
        <p:nvSpPr>
          <p:cNvPr id="4" name="Line 4"/>
          <p:cNvSpPr/>
          <p:nvPr/>
        </p:nvSpPr>
        <p:spPr>
          <a:xfrm>
            <a:off x="1428750" y="5619750"/>
            <a:ext cx="9429750" cy="9525"/>
          </a:xfrm>
          <a:custGeom>
            <a:avLst/>
            <a:gdLst/>
            <a:ahLst/>
            <a:cxnLst/>
            <a:rect l="l" t="t" r="r" b="b"/>
            <a:pathLst>
              <a:path w="9429750" h="9525">
                <a:moveTo>
                  <a:pt x="0" y="0"/>
                </a:moveTo>
                <a:lnTo>
                  <a:pt x="9429750" y="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5" name="Line 5"/>
          <p:cNvSpPr/>
          <p:nvPr/>
        </p:nvSpPr>
        <p:spPr>
          <a:xfrm>
            <a:off x="1428750" y="171450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2286000" y="3429000"/>
            <a:ext cx="666750" cy="2190750"/>
          </a:xfrm>
          <a:prstGeom prst="rect">
            <a:avLst/>
          </a:prstGeom>
          <a:solidFill>
            <a:srgbClr val="9CC9E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143250" y="2667000"/>
            <a:ext cx="666750" cy="2952750"/>
          </a:xfrm>
          <a:prstGeom prst="rect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7170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可用率</a:t>
            </a:r>
          </a:p>
        </p:txBody>
      </p:sp>
      <p:sp>
        <p:nvSpPr>
          <p:cNvPr id="9" name="Rectangle 9"/>
          <p:cNvSpPr/>
          <p:nvPr/>
        </p:nvSpPr>
        <p:spPr>
          <a:xfrm>
            <a:off x="4762500" y="3905250"/>
            <a:ext cx="666750" cy="1714500"/>
          </a:xfrm>
          <a:prstGeom prst="rect">
            <a:avLst/>
          </a:prstGeom>
          <a:solidFill>
            <a:srgbClr val="F2A0B1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619750" y="4810125"/>
            <a:ext cx="666750" cy="809625"/>
          </a:xfrm>
          <a:prstGeom prst="rect">
            <a:avLst/>
          </a:prstGeom>
          <a:solidFill>
            <a:srgbClr val="DE002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55295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停机率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239000" y="2857500"/>
            <a:ext cx="666750" cy="2762250"/>
          </a:xfrm>
          <a:prstGeom prst="rect">
            <a:avLst/>
          </a:prstGeom>
          <a:solidFill>
            <a:srgbClr val="9BE4C7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096250" y="2000250"/>
            <a:ext cx="666750" cy="3619500"/>
          </a:xfrm>
          <a:prstGeom prst="rect">
            <a:avLst/>
          </a:prstGeom>
          <a:solidFill>
            <a:srgbClr val="00A87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048500" y="5791200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闭环率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64105" y="31689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7185"/>
                </a:solidFill>
                <a:latin typeface="Arial"/>
                <a:ea typeface="Microsoft YaHei"/>
                <a:cs typeface="Arial"/>
              </a:rPr>
              <a:t>96.8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21355" y="24069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98.5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40605" y="3645218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7185"/>
                </a:solidFill>
                <a:latin typeface="Arial"/>
                <a:ea typeface="Microsoft YaHei"/>
                <a:cs typeface="Arial"/>
              </a:rPr>
              <a:t>5.2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97855" y="4550092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3.6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17105" y="2597468"/>
            <a:ext cx="2018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7185"/>
                </a:solidFill>
                <a:latin typeface="Arial"/>
                <a:ea typeface="Microsoft YaHei"/>
                <a:cs typeface="Arial"/>
              </a:rPr>
              <a:t>71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74355" y="1740218"/>
            <a:ext cx="2511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93</a:t>
            </a:r>
          </a:p>
        </p:txBody>
      </p:sp>
      <p:sp>
        <p:nvSpPr>
          <p:cNvPr id="21" name="Freeform 21"/>
          <p:cNvSpPr/>
          <p:nvPr/>
        </p:nvSpPr>
        <p:spPr>
          <a:xfrm>
            <a:off x="9239250" y="2000250"/>
            <a:ext cx="2095500" cy="1238250"/>
          </a:xfrm>
          <a:custGeom>
            <a:avLst/>
            <a:gdLst/>
            <a:ahLst/>
            <a:cxnLst/>
            <a:rect l="l" t="t" r="r" b="b"/>
            <a:pathLst>
              <a:path w="2095500" h="1238250">
                <a:moveTo>
                  <a:pt x="133350" y="0"/>
                </a:moveTo>
                <a:lnTo>
                  <a:pt x="1962150" y="0"/>
                </a:lnTo>
                <a:cubicBezTo>
                  <a:pt x="2035797" y="0"/>
                  <a:pt x="2095500" y="59703"/>
                  <a:pt x="2095500" y="133350"/>
                </a:cubicBezTo>
                <a:lnTo>
                  <a:pt x="2095500" y="1104900"/>
                </a:lnTo>
                <a:cubicBezTo>
                  <a:pt x="2095500" y="1178547"/>
                  <a:pt x="2035797" y="1238250"/>
                  <a:pt x="1962150" y="1238250"/>
                </a:cubicBezTo>
                <a:lnTo>
                  <a:pt x="133350" y="1238250"/>
                </a:lnTo>
                <a:cubicBezTo>
                  <a:pt x="59703" y="1238250"/>
                  <a:pt x="0" y="1178547"/>
                  <a:pt x="0" y="11049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9429750" y="2247900"/>
            <a:ext cx="228600" cy="133350"/>
          </a:xfrm>
          <a:prstGeom prst="rect">
            <a:avLst/>
          </a:prstGeom>
          <a:solidFill>
            <a:srgbClr val="9CC9E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736455" y="2216468"/>
            <a:ext cx="4286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429750" y="2571750"/>
            <a:ext cx="228600" cy="133350"/>
          </a:xfrm>
          <a:prstGeom prst="rect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736455" y="2540318"/>
            <a:ext cx="4286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93395" y="498158"/>
            <a:ext cx="539367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季度推进趋势（折线图）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1333500"/>
            <a:ext cx="10668000" cy="4762500"/>
          </a:xfrm>
          <a:custGeom>
            <a:avLst/>
            <a:gdLst/>
            <a:ahLst/>
            <a:cxnLst/>
            <a:rect l="l" t="t" r="r" b="b"/>
            <a:pathLst>
              <a:path w="10668000" h="4762500">
                <a:moveTo>
                  <a:pt x="171450" y="0"/>
                </a:moveTo>
                <a:lnTo>
                  <a:pt x="10496550" y="0"/>
                </a:lnTo>
                <a:cubicBezTo>
                  <a:pt x="10591239" y="0"/>
                  <a:pt x="10668000" y="76761"/>
                  <a:pt x="10668000" y="171450"/>
                </a:cubicBezTo>
                <a:lnTo>
                  <a:pt x="10668000" y="4591050"/>
                </a:lnTo>
                <a:cubicBezTo>
                  <a:pt x="10668000" y="4685739"/>
                  <a:pt x="10591239" y="4762500"/>
                  <a:pt x="104965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9DEE5"/>
            </a:solidFill>
          </a:ln>
        </p:spPr>
      </p:sp>
      <p:sp>
        <p:nvSpPr>
          <p:cNvPr id="5" name="Line 5"/>
          <p:cNvSpPr/>
          <p:nvPr/>
        </p:nvSpPr>
        <p:spPr>
          <a:xfrm>
            <a:off x="1619250" y="53340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6" name="Line 6"/>
          <p:cNvSpPr/>
          <p:nvPr/>
        </p:nvSpPr>
        <p:spPr>
          <a:xfrm>
            <a:off x="1619250" y="2000250"/>
            <a:ext cx="9525" cy="3333750"/>
          </a:xfrm>
          <a:custGeom>
            <a:avLst/>
            <a:gdLst/>
            <a:ahLst/>
            <a:cxnLst/>
            <a:rect l="l" t="t" r="r" b="b"/>
            <a:pathLst>
              <a:path w="9525" h="3333750">
                <a:moveTo>
                  <a:pt x="0" y="0"/>
                </a:moveTo>
                <a:lnTo>
                  <a:pt x="0" y="3333750"/>
                </a:lnTo>
              </a:path>
            </a:pathLst>
          </a:custGeom>
          <a:noFill/>
          <a:ln w="28575">
            <a:solidFill>
              <a:srgbClr val="123B5E"/>
            </a:solidFill>
          </a:ln>
        </p:spPr>
      </p:sp>
      <p:sp>
        <p:nvSpPr>
          <p:cNvPr id="7" name="Polyline 7"/>
          <p:cNvSpPr/>
          <p:nvPr/>
        </p:nvSpPr>
        <p:spPr>
          <a:xfrm>
            <a:off x="2095500" y="2667000"/>
            <a:ext cx="6572250" cy="2286000"/>
          </a:xfrm>
          <a:custGeom>
            <a:avLst/>
            <a:gdLst/>
            <a:ahLst/>
            <a:cxnLst/>
            <a:rect l="l" t="t" r="r" b="b"/>
            <a:pathLst>
              <a:path w="6572250" h="2286000">
                <a:moveTo>
                  <a:pt x="0" y="2286000"/>
                </a:moveTo>
                <a:lnTo>
                  <a:pt x="2190750" y="1714500"/>
                </a:lnTo>
                <a:lnTo>
                  <a:pt x="4381500" y="952500"/>
                </a:lnTo>
                <a:lnTo>
                  <a:pt x="6572250" y="0"/>
                </a:lnTo>
              </a:path>
            </a:pathLst>
          </a:custGeom>
          <a:noFill/>
          <a:ln w="57150">
            <a:solidFill>
              <a:srgbClr val="0074CC"/>
            </a:solidFill>
          </a:ln>
        </p:spPr>
      </p:sp>
      <p:sp>
        <p:nvSpPr>
          <p:cNvPr id="8" name="Ellipse 8"/>
          <p:cNvSpPr/>
          <p:nvPr/>
        </p:nvSpPr>
        <p:spPr>
          <a:xfrm>
            <a:off x="2019300" y="48768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4210050" y="43053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6400800" y="35433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8591550" y="2590800"/>
            <a:ext cx="152400" cy="15240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884045" y="5536882"/>
            <a:ext cx="2949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7479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6554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56295" y="5536882"/>
            <a:ext cx="3551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23B5E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30640" y="2548890"/>
            <a:ext cx="187280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23B5E"/>
                </a:solidFill>
                <a:latin typeface="Microsoft YaHei"/>
                <a:ea typeface="Microsoft YaHei"/>
                <a:cs typeface="Microsoft YaHei"/>
              </a:rPr>
              <a:t>推广覆盖率 85%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810750" y="3074194"/>
            <a:ext cx="419100" cy="366713"/>
            <a:chOff x="9810750" y="3074194"/>
            <a:chExt cx="419100" cy="366713"/>
          </a:xfrm>
        </p:grpSpPr>
        <p:sp>
          <p:nvSpPr>
            <p:cNvPr id="17" name="Freeform 17"/>
            <p:cNvSpPr/>
            <p:nvPr/>
          </p:nvSpPr>
          <p:spPr>
            <a:xfrm>
              <a:off x="10125075" y="3074194"/>
              <a:ext cx="104775" cy="366712"/>
            </a:xfrm>
            <a:custGeom>
              <a:avLst/>
              <a:gdLst/>
              <a:ahLst/>
              <a:cxnLst/>
              <a:rect l="l" t="t" r="r" b="b"/>
              <a:pathLst>
                <a:path w="104775" h="366712">
                  <a:moveTo>
                    <a:pt x="104775" y="0"/>
                  </a:moveTo>
                  <a:lnTo>
                    <a:pt x="0" y="0"/>
                  </a:lnTo>
                  <a:lnTo>
                    <a:pt x="0" y="366712"/>
                  </a:lnTo>
                  <a:lnTo>
                    <a:pt x="104775" y="366712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9967912" y="3178969"/>
              <a:ext cx="104775" cy="261938"/>
            </a:xfrm>
            <a:custGeom>
              <a:avLst/>
              <a:gdLst/>
              <a:ahLst/>
              <a:cxnLst/>
              <a:rect l="l" t="t" r="r" b="b"/>
              <a:pathLst>
                <a:path w="104775" h="261938">
                  <a:moveTo>
                    <a:pt x="0" y="0"/>
                  </a:moveTo>
                  <a:lnTo>
                    <a:pt x="104775" y="0"/>
                  </a:lnTo>
                  <a:lnTo>
                    <a:pt x="104775" y="261938"/>
                  </a:lnTo>
                  <a:lnTo>
                    <a:pt x="0" y="261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9810750" y="3283744"/>
              <a:ext cx="104775" cy="157162"/>
            </a:xfrm>
            <a:custGeom>
              <a:avLst/>
              <a:gdLst/>
              <a:ahLst/>
              <a:cxnLst/>
              <a:rect l="l" t="t" r="r" b="b"/>
              <a:pathLst>
                <a:path w="104775" h="157162">
                  <a:moveTo>
                    <a:pt x="0" y="0"/>
                  </a:moveTo>
                  <a:lnTo>
                    <a:pt x="104775" y="0"/>
                  </a:lnTo>
                  <a:lnTo>
                    <a:pt x="104775" y="157162"/>
                  </a:lnTo>
                  <a:lnTo>
                    <a:pt x="0" y="1571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870"/>
            </a:solidFill>
            <a:ln>
              <a:noFill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0267950" y="317182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7185"/>
                </a:solidFill>
                <a:latin typeface="Microsoft YaHei"/>
                <a:ea typeface="Microsoft YaHei"/>
                <a:cs typeface="Microsoft YaHei"/>
              </a:rPr>
              <a:t>里程碑按期达成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01159" y="2807970"/>
            <a:ext cx="2789682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
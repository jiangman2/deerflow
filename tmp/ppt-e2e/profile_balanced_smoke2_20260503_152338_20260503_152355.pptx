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Default Extension="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封面页：说明主题“Profile Balanced Smoke”与汇报范围。</a:t>
            </a:r>
          </a:p>
          <a:p>
            <a:r>
              <a:rPr lang="zh-CN" dirty="0"/>
              <a:t>• 建议时长：60-90秒，突出“问题-举措-成效-计划”。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目录页：按三大章节展开汇报。</a:t>
            </a:r>
          </a:p>
          <a:p>
            <a:r>
              <a:rPr lang="zh-CN" dirty="0"/>
              <a:t>• 建议时长：60-90秒，突出“问题-举措-成效-计划”。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章节页：01 建设背景与目标。</a:t>
            </a:r>
          </a:p>
          <a:p>
            <a:r>
              <a:rPr lang="zh-CN" dirty="0"/>
              <a:t>• 建议时长：60-90秒，突出“问题-举措-成效-计划”。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内容页：现状痛点与建设必要性（布局=atlas_triplet，图表=bar_chart.svg，图标=chunk-filled/database,chunk-filled/sparkles,chunk-filled/activity,chunk-filled/anchor），突出关键指标与执行建议。</a:t>
            </a:r>
          </a:p>
          <a:p>
            <a:r>
              <a:rPr lang="zh-CN" dirty="0"/>
              <a:t>• 建议时长：60-90秒，突出“问题-举措-成效-计划”。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内容页：目标体系与价值锚点（布局=milestone_dashboard，图表=line_chart.svg，图标=chunk-filled/bolt,chunk-filled/users,chunk-filled/coin,chunk-filled/activity），突出关键指标与执行建议。</a:t>
            </a:r>
          </a:p>
          <a:p>
            <a:r>
              <a:rPr lang="zh-CN" dirty="0"/>
              <a:t>• 建议时长：60-90秒，突出“问题-举措-成效-计划”。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章节页：02 平台架构与关键能力。</a:t>
            </a:r>
          </a:p>
          <a:p>
            <a:r>
              <a:rPr lang="zh-CN" dirty="0"/>
              <a:t>• 建议时长：60-90秒，突出“问题-举措-成效-计划”。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内容页：总体架构与执行流程（布局=project_compare，图表=bar_chart.svg，图标=chunk-filled/database,chunk-filled/arrows-rotate-counter-clockwise,chunk-filled/sparkles,chunk-filled/activity），突出关键指标与执行建议。</a:t>
            </a:r>
          </a:p>
          <a:p>
            <a:r>
              <a:rPr lang="zh-CN" dirty="0"/>
              <a:t>• 建议时长：60-90秒，突出“问题-举措-成效-计划”。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内容页：能力矩阵与场景覆盖（布局=dual_phase，图表=bar_chart.svg，图标=chunk-filled/coin,chunk-filled/activity,chunk-filled/anchor,chunk-filled/alarm-clock），突出关键指标与执行建议。</a:t>
            </a:r>
          </a:p>
          <a:p>
            <a:r>
              <a:rPr lang="zh-CN" dirty="0"/>
              <a:t>• 建议时长：60-90秒，突出“问题-举措-成效-计划”。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章节页：03 试点成效与推广计划。</a:t>
            </a:r>
          </a:p>
          <a:p>
            <a:r>
              <a:rPr lang="zh-CN" dirty="0"/>
              <a:t>• 建议时长：60-90秒，突出“问题-举措-成效-计划”。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内容页：试点成效与推广路径（布局=timeline，图表=gantt_chart.svg，图标=chunk-filled/bolt,chunk-filled/users,chunk-filled/activity,chunk-filled/anchor），突出关键指标与执行建议。</a:t>
            </a:r>
          </a:p>
          <a:p>
            <a:r>
              <a:rPr lang="zh-CN" dirty="0"/>
              <a:t>• 建议时长：60-90秒，突出“问题-举措-成效-计划”。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内容页：补充分析页 1，用于扩展页数并补强经营视角。</a:t>
            </a:r>
          </a:p>
          <a:p>
            <a:r>
              <a:rPr lang="zh-CN" dirty="0"/>
              <a:t>• 建议时长：60-90秒，突出“问题-举措-成效-计划”。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结尾页：总结结论并给出下一步行动建议。</a:t>
            </a:r>
          </a:p>
          <a:p>
            <a:r>
              <a:rPr lang="zh-CN" dirty="0"/>
              <a:t>• 建议时长：60-90秒，突出“问题-举措-成效-计划”。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1_img1.png"/>
  <Relationship Id="rId3" Type="http://schemas.openxmlformats.org/officeDocument/2006/relationships/image" Target="../media/s1_img2.png"/>
  <Relationship Id="rId4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2_img1.png"/>
  <Relationship Id="rId3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3_img1.png"/>
  <Relationship Id="rId3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3_img1.png"/>
  <Relationship Id="rId3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3_img1.png"/>
  <Relationship Id="rId3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12_img1.png"/>
  <Relationship Id="rId3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247650"/>
            <a:ext cx="1390650" cy="4191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662940" y="3025140"/>
            <a:ext cx="8255737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Profile Balanced Smoke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83895" y="3755708"/>
            <a:ext cx="10997174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EAF2F9"/>
                </a:solidFill>
                <a:latin typeface="Microsoft YaHei"/>
                <a:ea typeface="Microsoft YaHei"/>
                <a:cs typeface="Microsoft YaHei"/>
              </a:rPr>
              <a:t>基于 haiyou_pure_svg 模板的生产经营智能化实践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95325" y="4291012"/>
            <a:ext cx="6958012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DDEAF6"/>
                </a:solidFill>
                <a:latin typeface="Microsoft YaHei"/>
                <a:ea typeface="Microsoft YaHei"/>
                <a:cs typeface="Microsoft YaHei"/>
              </a:rPr>
              <a:t>汇报单位：中海油研究总院数智研究院技术团队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95325" y="4672012"/>
            <a:ext cx="3507581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DDEAF6"/>
                </a:solidFill>
                <a:latin typeface="Microsoft YaHei"/>
                <a:ea typeface="Microsoft YaHei"/>
                <a:cs typeface="Microsoft YaHei"/>
              </a:rPr>
              <a:t>汇报日期：2026-05-03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" y="0"/>
            <a:ext cx="12174855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 rot="5400000">
            <a:off x="104394" y="1642110"/>
            <a:ext cx="3765042" cy="1097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400" dirty="0">
                <a:solidFill>
                  <a:srgbClr val="E3E8ED"/>
                </a:solidFill>
                <a:latin typeface="Arial"/>
                <a:ea typeface="Microsoft YaHei"/>
                <a:cs typeface="Arial"/>
              </a:rPr>
              <a:t>CONTENTS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008680" y="2415540"/>
            <a:ext cx="1126141" cy="1280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3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目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008680" y="3320415"/>
            <a:ext cx="1126141" cy="1280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3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录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417695" y="1974532"/>
            <a:ext cx="724236" cy="944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65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661660" y="2023110"/>
            <a:ext cx="4615244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建设背景与目标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417695" y="2927032"/>
            <a:ext cx="902508" cy="944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65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661660" y="2975610"/>
            <a:ext cx="5903405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平台架构与关键能力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417695" y="3879532"/>
            <a:ext cx="902508" cy="944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65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661660" y="3928110"/>
            <a:ext cx="5903405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试点成效与推广计划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" y="0"/>
            <a:ext cx="12099608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231590" y="1868805"/>
            <a:ext cx="1728821" cy="2255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10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5" name="Line 5"/>
          <p:cNvSpPr/>
          <p:nvPr/>
        </p:nvSpPr>
        <p:spPr>
          <a:xfrm>
            <a:off x="3981450" y="3638550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38100">
            <a:solidFill>
              <a:srgbClr val="0074CC"/>
            </a:solidFill>
          </a:ln>
        </p:spPr>
      </p:sp>
      <p:sp>
        <p:nvSpPr>
          <p:cNvPr id="6" name="Line 6"/>
          <p:cNvSpPr/>
          <p:nvPr/>
        </p:nvSpPr>
        <p:spPr>
          <a:xfrm>
            <a:off x="5505450" y="3638550"/>
            <a:ext cx="1181100" cy="9525"/>
          </a:xfrm>
          <a:custGeom>
            <a:avLst/>
            <a:gdLst/>
            <a:ahLst/>
            <a:cxnLst/>
            <a:rect l="l" t="t" r="r" b="b"/>
            <a:pathLst>
              <a:path w="1181100" h="9525">
                <a:moveTo>
                  <a:pt x="0" y="0"/>
                </a:moveTo>
                <a:lnTo>
                  <a:pt x="1181100" y="0"/>
                </a:lnTo>
              </a:path>
            </a:pathLst>
          </a:custGeom>
          <a:noFill/>
          <a:ln w="38100">
            <a:solidFill>
              <a:srgbClr val="DE002B"/>
            </a:solidFill>
          </a:ln>
        </p:spPr>
      </p:sp>
      <p:sp>
        <p:nvSpPr>
          <p:cNvPr id="7" name="Line 7"/>
          <p:cNvSpPr/>
          <p:nvPr/>
        </p:nvSpPr>
        <p:spPr>
          <a:xfrm>
            <a:off x="6686550" y="3638550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38100">
            <a:solidFill>
              <a:srgbClr val="0074CC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2799398" y="4095750"/>
            <a:ext cx="6593205" cy="1219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建设背景与目标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46710" y="489585"/>
            <a:ext cx="420909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现状痛点与建设必要性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8140" y="1120140"/>
            <a:ext cx="353755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数据湖建设与智能体应用...</a:t>
            </a:r>
          </a:p>
        </p:txBody>
      </p:sp>
      <p:sp>
        <p:nvSpPr>
          <p:cNvPr id="6" name="Freeform 6"/>
          <p:cNvSpPr/>
          <p:nvPr/>
        </p:nvSpPr>
        <p:spPr>
          <a:xfrm>
            <a:off x="400050" y="1562100"/>
            <a:ext cx="11391900" cy="4762500"/>
          </a:xfrm>
          <a:custGeom>
            <a:avLst/>
            <a:gdLst/>
            <a:ahLst/>
            <a:cxnLst/>
            <a:rect l="l" t="t" r="r" b="b"/>
            <a:pathLst>
              <a:path w="11391900" h="4762500">
                <a:moveTo>
                  <a:pt x="171450" y="0"/>
                </a:moveTo>
                <a:lnTo>
                  <a:pt x="11220450" y="0"/>
                </a:lnTo>
                <a:cubicBezTo>
                  <a:pt x="11315139" y="0"/>
                  <a:pt x="11391900" y="76761"/>
                  <a:pt x="11391900" y="171450"/>
                </a:cubicBezTo>
                <a:lnTo>
                  <a:pt x="11391900" y="4591050"/>
                </a:lnTo>
                <a:cubicBezTo>
                  <a:pt x="11391900" y="4685739"/>
                  <a:pt x="11315139" y="4762500"/>
                  <a:pt x="11220450" y="4762500"/>
                </a:cubicBezTo>
                <a:lnTo>
                  <a:pt x="171450" y="4762500"/>
                </a:lnTo>
                <a:cubicBezTo>
                  <a:pt x="76761" y="4762500"/>
                  <a:pt x="0" y="4685739"/>
                  <a:pt x="0" y="45910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>
              <a:alpha val="95000"/>
            </a:srgbClr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533400" y="1752600"/>
            <a:ext cx="11125200" cy="1238250"/>
          </a:xfrm>
          <a:custGeom>
            <a:avLst/>
            <a:gdLst/>
            <a:ahLst/>
            <a:cxnLst/>
            <a:rect l="l" t="t" r="r" b="b"/>
            <a:pathLst>
              <a:path w="11125200" h="1238250">
                <a:moveTo>
                  <a:pt x="114300" y="0"/>
                </a:moveTo>
                <a:lnTo>
                  <a:pt x="11010900" y="0"/>
                </a:lnTo>
                <a:cubicBezTo>
                  <a:pt x="11074026" y="0"/>
                  <a:pt x="11125200" y="51174"/>
                  <a:pt x="11125200" y="114300"/>
                </a:cubicBezTo>
                <a:lnTo>
                  <a:pt x="11125200" y="1123950"/>
                </a:lnTo>
                <a:cubicBezTo>
                  <a:pt x="11125200" y="1187076"/>
                  <a:pt x="11074026" y="1238250"/>
                  <a:pt x="11010900" y="1238250"/>
                </a:cubicBezTo>
                <a:lnTo>
                  <a:pt x="114300" y="1238250"/>
                </a:lnTo>
                <a:cubicBezTo>
                  <a:pt x="51174" y="1238250"/>
                  <a:pt x="0" y="1187076"/>
                  <a:pt x="0" y="11239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7FBFF"/>
          </a:solidFill>
          <a:ln w="9525">
            <a:solidFill>
              <a:srgbClr val="D7E4F2"/>
            </a:solidFill>
          </a:ln>
        </p:spPr>
      </p:sp>
      <p:grpSp>
        <p:nvGrpSpPr>
          <p:cNvPr id="11" name="Group 11"/>
          <p:cNvGrpSpPr/>
          <p:nvPr/>
        </p:nvGrpSpPr>
        <p:grpSpPr>
          <a:xfrm>
            <a:off x="757238" y="2038350"/>
            <a:ext cx="200025" cy="266700"/>
            <a:chOff x="757238" y="2038350"/>
            <a:chExt cx="200025" cy="266700"/>
          </a:xfrm>
        </p:grpSpPr>
        <p:sp>
          <p:nvSpPr>
            <p:cNvPr id="8" name="Freeform 8"/>
            <p:cNvSpPr/>
            <p:nvPr/>
          </p:nvSpPr>
          <p:spPr>
            <a:xfrm>
              <a:off x="757238" y="2145030"/>
              <a:ext cx="200025" cy="76676"/>
            </a:xfrm>
            <a:custGeom>
              <a:avLst/>
              <a:gdLst/>
              <a:ahLst/>
              <a:cxnLst/>
              <a:rect l="l" t="t" r="r" b="b"/>
              <a:pathLst>
                <a:path w="200025" h="76676">
                  <a:moveTo>
                    <a:pt x="185642" y="8504"/>
                  </a:moveTo>
                  <a:cubicBezTo>
                    <a:pt x="190330" y="6159"/>
                    <a:pt x="195229" y="3330"/>
                    <a:pt x="200025" y="0"/>
                  </a:cubicBezTo>
                  <a:lnTo>
                    <a:pt x="200025" y="26670"/>
                  </a:lnTo>
                  <a:cubicBezTo>
                    <a:pt x="200025" y="54287"/>
                    <a:pt x="155248" y="76676"/>
                    <a:pt x="100012" y="76676"/>
                  </a:cubicBezTo>
                  <a:cubicBezTo>
                    <a:pt x="44777" y="76676"/>
                    <a:pt x="0" y="54287"/>
                    <a:pt x="0" y="26670"/>
                  </a:cubicBezTo>
                  <a:lnTo>
                    <a:pt x="0" y="0"/>
                  </a:lnTo>
                  <a:cubicBezTo>
                    <a:pt x="4796" y="3330"/>
                    <a:pt x="9694" y="6159"/>
                    <a:pt x="14384" y="8504"/>
                  </a:cubicBezTo>
                  <a:cubicBezTo>
                    <a:pt x="38021" y="20322"/>
                    <a:pt x="68342" y="26670"/>
                    <a:pt x="100012" y="26670"/>
                  </a:cubicBezTo>
                  <a:cubicBezTo>
                    <a:pt x="131683" y="26670"/>
                    <a:pt x="162004" y="20322"/>
                    <a:pt x="185642" y="8504"/>
                  </a:cubicBezTo>
                  <a:close/>
                </a:path>
              </a:pathLst>
            </a:custGeom>
            <a:solidFill>
              <a:srgbClr val="2C7BC0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757238" y="2228374"/>
              <a:ext cx="200025" cy="76676"/>
            </a:xfrm>
            <a:custGeom>
              <a:avLst/>
              <a:gdLst/>
              <a:ahLst/>
              <a:cxnLst/>
              <a:rect l="l" t="t" r="r" b="b"/>
              <a:pathLst>
                <a:path w="200025" h="76676">
                  <a:moveTo>
                    <a:pt x="0" y="0"/>
                  </a:moveTo>
                  <a:lnTo>
                    <a:pt x="0" y="26670"/>
                  </a:lnTo>
                  <a:cubicBezTo>
                    <a:pt x="0" y="54288"/>
                    <a:pt x="44777" y="76676"/>
                    <a:pt x="100012" y="76676"/>
                  </a:cubicBezTo>
                  <a:cubicBezTo>
                    <a:pt x="155248" y="76676"/>
                    <a:pt x="200025" y="54288"/>
                    <a:pt x="200025" y="26670"/>
                  </a:cubicBezTo>
                  <a:lnTo>
                    <a:pt x="200025" y="0"/>
                  </a:lnTo>
                  <a:cubicBezTo>
                    <a:pt x="195229" y="3330"/>
                    <a:pt x="190330" y="6159"/>
                    <a:pt x="185642" y="8504"/>
                  </a:cubicBezTo>
                  <a:cubicBezTo>
                    <a:pt x="162004" y="20323"/>
                    <a:pt x="131683" y="26670"/>
                    <a:pt x="100012" y="26670"/>
                  </a:cubicBezTo>
                  <a:cubicBezTo>
                    <a:pt x="68342" y="26670"/>
                    <a:pt x="38021" y="20323"/>
                    <a:pt x="14384" y="8504"/>
                  </a:cubicBezTo>
                  <a:cubicBezTo>
                    <a:pt x="9694" y="6159"/>
                    <a:pt x="4796" y="3330"/>
                    <a:pt x="0" y="0"/>
                  </a:cubicBezTo>
                  <a:close/>
                </a:path>
              </a:pathLst>
            </a:custGeom>
            <a:solidFill>
              <a:srgbClr val="2C7BC0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757238" y="2038350"/>
              <a:ext cx="200025" cy="100012"/>
            </a:xfrm>
            <a:custGeom>
              <a:avLst/>
              <a:gdLst/>
              <a:ahLst/>
              <a:cxnLst/>
              <a:rect l="l" t="t" r="r" b="b"/>
              <a:pathLst>
                <a:path w="200025" h="100012">
                  <a:moveTo>
                    <a:pt x="100012" y="0"/>
                  </a:moveTo>
                  <a:cubicBezTo>
                    <a:pt x="155248" y="0"/>
                    <a:pt x="200025" y="22389"/>
                    <a:pt x="200025" y="50006"/>
                  </a:cubicBezTo>
                  <a:cubicBezTo>
                    <a:pt x="200025" y="77624"/>
                    <a:pt x="155248" y="100012"/>
                    <a:pt x="100012" y="100012"/>
                  </a:cubicBezTo>
                  <a:cubicBezTo>
                    <a:pt x="44777" y="100012"/>
                    <a:pt x="0" y="77624"/>
                    <a:pt x="0" y="50006"/>
                  </a:cubicBezTo>
                  <a:cubicBezTo>
                    <a:pt x="0" y="22389"/>
                    <a:pt x="44777" y="0"/>
                    <a:pt x="100012" y="0"/>
                  </a:cubicBezTo>
                  <a:close/>
                </a:path>
              </a:pathLst>
            </a:custGeom>
            <a:solidFill>
              <a:srgbClr val="2C7BC0"/>
            </a:solidFill>
            <a:ln>
              <a:noFill/>
            </a:ln>
          </p:spPr>
        </p:sp>
      </p:grpSp>
      <p:sp>
        <p:nvSpPr>
          <p:cNvPr id="12" name="TextBox 12"/>
          <p:cNvSpPr txBox="1"/>
          <p:nvPr/>
        </p:nvSpPr>
        <p:spPr>
          <a:xfrm>
            <a:off x="1072515" y="1991678"/>
            <a:ext cx="5539454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数据分散在多系统，查询链路长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723900" y="2533650"/>
            <a:ext cx="266700" cy="266700"/>
            <a:chOff x="723900" y="2533650"/>
            <a:chExt cx="266700" cy="266700"/>
          </a:xfrm>
        </p:grpSpPr>
        <p:sp>
          <p:nvSpPr>
            <p:cNvPr id="13" name="Freeform 13"/>
            <p:cNvSpPr/>
            <p:nvPr/>
          </p:nvSpPr>
          <p:spPr>
            <a:xfrm>
              <a:off x="857250" y="2533650"/>
              <a:ext cx="116681" cy="116681"/>
            </a:xfrm>
            <a:custGeom>
              <a:avLst/>
              <a:gdLst/>
              <a:ahLst/>
              <a:cxnLst/>
              <a:rect l="l" t="t" r="r" b="b"/>
              <a:pathLst>
                <a:path w="116681" h="116681">
                  <a:moveTo>
                    <a:pt x="0" y="50006"/>
                  </a:moveTo>
                  <a:lnTo>
                    <a:pt x="41672" y="41672"/>
                  </a:lnTo>
                  <a:lnTo>
                    <a:pt x="50006" y="0"/>
                  </a:lnTo>
                  <a:lnTo>
                    <a:pt x="66675" y="0"/>
                  </a:lnTo>
                  <a:lnTo>
                    <a:pt x="75009" y="41672"/>
                  </a:lnTo>
                  <a:lnTo>
                    <a:pt x="116681" y="50006"/>
                  </a:lnTo>
                  <a:lnTo>
                    <a:pt x="116681" y="66675"/>
                  </a:lnTo>
                  <a:lnTo>
                    <a:pt x="75009" y="75009"/>
                  </a:lnTo>
                  <a:lnTo>
                    <a:pt x="66675" y="116681"/>
                  </a:lnTo>
                  <a:lnTo>
                    <a:pt x="50006" y="116681"/>
                  </a:lnTo>
                  <a:lnTo>
                    <a:pt x="41672" y="75009"/>
                  </a:lnTo>
                  <a:lnTo>
                    <a:pt x="0" y="66675"/>
                  </a:lnTo>
                  <a:lnTo>
                    <a:pt x="0" y="50006"/>
                  </a:lnTo>
                  <a:close/>
                </a:path>
              </a:pathLst>
            </a:custGeom>
            <a:solidFill>
              <a:srgbClr val="2C7BC0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723900" y="2616994"/>
              <a:ext cx="183356" cy="183356"/>
            </a:xfrm>
            <a:custGeom>
              <a:avLst/>
              <a:gdLst/>
              <a:ahLst/>
              <a:cxnLst/>
              <a:rect l="l" t="t" r="r" b="b"/>
              <a:pathLst>
                <a:path w="183356" h="183356">
                  <a:moveTo>
                    <a:pt x="0" y="100012"/>
                  </a:moveTo>
                  <a:lnTo>
                    <a:pt x="0" y="83344"/>
                  </a:lnTo>
                  <a:lnTo>
                    <a:pt x="66675" y="66675"/>
                  </a:lnTo>
                  <a:lnTo>
                    <a:pt x="83344" y="0"/>
                  </a:lnTo>
                  <a:lnTo>
                    <a:pt x="100012" y="0"/>
                  </a:lnTo>
                  <a:lnTo>
                    <a:pt x="116681" y="66675"/>
                  </a:lnTo>
                  <a:lnTo>
                    <a:pt x="183356" y="83344"/>
                  </a:lnTo>
                  <a:lnTo>
                    <a:pt x="183356" y="100012"/>
                  </a:lnTo>
                  <a:lnTo>
                    <a:pt x="116681" y="116681"/>
                  </a:lnTo>
                  <a:lnTo>
                    <a:pt x="100012" y="183356"/>
                  </a:lnTo>
                  <a:lnTo>
                    <a:pt x="83344" y="183356"/>
                  </a:lnTo>
                  <a:lnTo>
                    <a:pt x="66675" y="116681"/>
                  </a:lnTo>
                  <a:lnTo>
                    <a:pt x="0" y="100012"/>
                  </a:lnTo>
                  <a:close/>
                </a:path>
              </a:pathLst>
            </a:custGeom>
            <a:solidFill>
              <a:srgbClr val="2C7BC0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740569" y="2541984"/>
              <a:ext cx="50006" cy="50006"/>
            </a:xfrm>
            <a:custGeom>
              <a:avLst/>
              <a:gdLst/>
              <a:ahLst/>
              <a:cxnLst/>
              <a:rect l="l" t="t" r="r" b="b"/>
              <a:pathLst>
                <a:path w="50006" h="50006">
                  <a:moveTo>
                    <a:pt x="0" y="25003"/>
                  </a:moveTo>
                  <a:lnTo>
                    <a:pt x="25003" y="0"/>
                  </a:lnTo>
                  <a:lnTo>
                    <a:pt x="50006" y="25003"/>
                  </a:lnTo>
                  <a:lnTo>
                    <a:pt x="25003" y="50006"/>
                  </a:lnTo>
                  <a:lnTo>
                    <a:pt x="0" y="25003"/>
                  </a:lnTo>
                  <a:close/>
                </a:path>
              </a:pathLst>
            </a:custGeom>
            <a:solidFill>
              <a:srgbClr val="2C7BC0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907256" y="2733675"/>
              <a:ext cx="66675" cy="66675"/>
            </a:xfrm>
            <a:custGeom>
              <a:avLst/>
              <a:gdLst/>
              <a:ahLst/>
              <a:cxnLst/>
              <a:rect l="l" t="t" r="r" b="b"/>
              <a:pathLst>
                <a:path w="66675" h="66675">
                  <a:moveTo>
                    <a:pt x="66675" y="33338"/>
                  </a:moveTo>
                  <a:lnTo>
                    <a:pt x="33338" y="0"/>
                  </a:lnTo>
                  <a:lnTo>
                    <a:pt x="0" y="33338"/>
                  </a:lnTo>
                  <a:lnTo>
                    <a:pt x="33338" y="66675"/>
                  </a:lnTo>
                  <a:lnTo>
                    <a:pt x="66675" y="33338"/>
                  </a:lnTo>
                  <a:close/>
                </a:path>
              </a:pathLst>
            </a:custGeom>
            <a:solidFill>
              <a:srgbClr val="2C7BC0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957262" y="2667000"/>
              <a:ext cx="33338" cy="33338"/>
            </a:xfrm>
            <a:custGeom>
              <a:avLst/>
              <a:gdLst/>
              <a:ahLst/>
              <a:cxnLst/>
              <a:rect l="l" t="t" r="r" b="b"/>
              <a:pathLst>
                <a:path w="33338" h="33338">
                  <a:moveTo>
                    <a:pt x="16669" y="33338"/>
                  </a:moveTo>
                  <a:cubicBezTo>
                    <a:pt x="25875" y="33338"/>
                    <a:pt x="33338" y="25875"/>
                    <a:pt x="33338" y="16669"/>
                  </a:cubicBezTo>
                  <a:cubicBezTo>
                    <a:pt x="33338" y="7463"/>
                    <a:pt x="25875" y="0"/>
                    <a:pt x="16669" y="0"/>
                  </a:cubicBezTo>
                  <a:cubicBezTo>
                    <a:pt x="7463" y="0"/>
                    <a:pt x="0" y="7463"/>
                    <a:pt x="0" y="16669"/>
                  </a:cubicBezTo>
                  <a:cubicBezTo>
                    <a:pt x="0" y="25875"/>
                    <a:pt x="7463" y="33338"/>
                    <a:pt x="16669" y="33338"/>
                  </a:cubicBezTo>
                  <a:close/>
                </a:path>
              </a:pathLst>
            </a:custGeom>
            <a:solidFill>
              <a:srgbClr val="2C7BC0"/>
            </a:solidFill>
            <a:ln>
              <a:noFill/>
            </a:ln>
          </p:spPr>
        </p:sp>
      </p:grpSp>
      <p:sp>
        <p:nvSpPr>
          <p:cNvPr id="19" name="TextBox 19"/>
          <p:cNvSpPr txBox="1"/>
          <p:nvPr/>
        </p:nvSpPr>
        <p:spPr>
          <a:xfrm>
            <a:off x="1076325" y="2519362"/>
            <a:ext cx="4657725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跨部门分析靠人工拼接，时效低</a:t>
            </a:r>
          </a:p>
        </p:txBody>
      </p:sp>
      <p:sp>
        <p:nvSpPr>
          <p:cNvPr id="20" name="Freeform 20"/>
          <p:cNvSpPr/>
          <p:nvPr/>
        </p:nvSpPr>
        <p:spPr>
          <a:xfrm>
            <a:off x="533400" y="3124200"/>
            <a:ext cx="7239000" cy="3086100"/>
          </a:xfrm>
          <a:custGeom>
            <a:avLst/>
            <a:gdLst/>
            <a:ahLst/>
            <a:cxnLst/>
            <a:rect l="l" t="t" r="r" b="b"/>
            <a:pathLst>
              <a:path w="7239000" h="3086100">
                <a:moveTo>
                  <a:pt x="114300" y="0"/>
                </a:moveTo>
                <a:lnTo>
                  <a:pt x="7124700" y="0"/>
                </a:lnTo>
                <a:cubicBezTo>
                  <a:pt x="7187826" y="0"/>
                  <a:pt x="7239000" y="51174"/>
                  <a:pt x="7239000" y="114300"/>
                </a:cubicBezTo>
                <a:lnTo>
                  <a:pt x="7239000" y="2971800"/>
                </a:lnTo>
                <a:cubicBezTo>
                  <a:pt x="7239000" y="3034926"/>
                  <a:pt x="7187826" y="3086100"/>
                  <a:pt x="7124700" y="3086100"/>
                </a:cubicBezTo>
                <a:lnTo>
                  <a:pt x="114300" y="3086100"/>
                </a:lnTo>
                <a:cubicBezTo>
                  <a:pt x="51174" y="3086100"/>
                  <a:pt x="0" y="3034926"/>
                  <a:pt x="0" y="29718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4F2"/>
            </a:solidFill>
          </a:ln>
        </p:spPr>
      </p:sp>
      <p:sp>
        <p:nvSpPr>
          <p:cNvPr id="21" name="Freeform 21"/>
          <p:cNvSpPr/>
          <p:nvPr/>
        </p:nvSpPr>
        <p:spPr>
          <a:xfrm>
            <a:off x="7943850" y="3124200"/>
            <a:ext cx="3714750" cy="3086100"/>
          </a:xfrm>
          <a:custGeom>
            <a:avLst/>
            <a:gdLst/>
            <a:ahLst/>
            <a:cxnLst/>
            <a:rect l="l" t="t" r="r" b="b"/>
            <a:pathLst>
              <a:path w="3714750" h="3086100">
                <a:moveTo>
                  <a:pt x="114300" y="0"/>
                </a:moveTo>
                <a:lnTo>
                  <a:pt x="3600450" y="0"/>
                </a:lnTo>
                <a:cubicBezTo>
                  <a:pt x="3663576" y="0"/>
                  <a:pt x="3714750" y="51174"/>
                  <a:pt x="3714750" y="114300"/>
                </a:cubicBezTo>
                <a:lnTo>
                  <a:pt x="3714750" y="2971800"/>
                </a:lnTo>
                <a:cubicBezTo>
                  <a:pt x="3714750" y="3034926"/>
                  <a:pt x="3663576" y="3086100"/>
                  <a:pt x="3600450" y="3086100"/>
                </a:cubicBezTo>
                <a:lnTo>
                  <a:pt x="114300" y="3086100"/>
                </a:lnTo>
                <a:cubicBezTo>
                  <a:pt x="51174" y="3086100"/>
                  <a:pt x="0" y="3034926"/>
                  <a:pt x="0" y="29718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4F2"/>
            </a:solidFill>
          </a:ln>
        </p:spPr>
      </p:sp>
      <p:grpSp>
        <p:nvGrpSpPr>
          <p:cNvPr id="24" name="Group 24"/>
          <p:cNvGrpSpPr/>
          <p:nvPr/>
        </p:nvGrpSpPr>
        <p:grpSpPr>
          <a:xfrm>
            <a:off x="8190309" y="3465909"/>
            <a:ext cx="250031" cy="250031"/>
            <a:chOff x="8190309" y="3465909"/>
            <a:chExt cx="250031" cy="250031"/>
          </a:xfrm>
        </p:grpSpPr>
        <p:sp>
          <p:nvSpPr>
            <p:cNvPr id="22" name="Freeform 22"/>
            <p:cNvSpPr/>
            <p:nvPr/>
          </p:nvSpPr>
          <p:spPr>
            <a:xfrm>
              <a:off x="8190309" y="3465909"/>
              <a:ext cx="250031" cy="156518"/>
            </a:xfrm>
            <a:custGeom>
              <a:avLst/>
              <a:gdLst/>
              <a:ahLst/>
              <a:cxnLst/>
              <a:rect l="l" t="t" r="r" b="b"/>
              <a:pathLst>
                <a:path w="250031" h="156518">
                  <a:moveTo>
                    <a:pt x="250031" y="0"/>
                  </a:moveTo>
                  <a:lnTo>
                    <a:pt x="0" y="0"/>
                  </a:lnTo>
                  <a:lnTo>
                    <a:pt x="0" y="107156"/>
                  </a:lnTo>
                  <a:lnTo>
                    <a:pt x="42540" y="107156"/>
                  </a:lnTo>
                  <a:lnTo>
                    <a:pt x="69329" y="53578"/>
                  </a:lnTo>
                  <a:lnTo>
                    <a:pt x="109264" y="53578"/>
                  </a:lnTo>
                  <a:lnTo>
                    <a:pt x="160734" y="156518"/>
                  </a:lnTo>
                  <a:lnTo>
                    <a:pt x="185416" y="107156"/>
                  </a:lnTo>
                  <a:lnTo>
                    <a:pt x="250031" y="107156"/>
                  </a:lnTo>
                  <a:lnTo>
                    <a:pt x="250031" y="0"/>
                  </a:lnTo>
                  <a:close/>
                </a:path>
              </a:pathLst>
            </a:custGeom>
            <a:solidFill>
              <a:srgbClr val="2C7BC0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8190309" y="3559422"/>
              <a:ext cx="250031" cy="156518"/>
            </a:xfrm>
            <a:custGeom>
              <a:avLst/>
              <a:gdLst/>
              <a:ahLst/>
              <a:cxnLst/>
              <a:rect l="l" t="t" r="r" b="b"/>
              <a:pathLst>
                <a:path w="250031" h="156518">
                  <a:moveTo>
                    <a:pt x="250031" y="49362"/>
                  </a:moveTo>
                  <a:lnTo>
                    <a:pt x="207490" y="49362"/>
                  </a:lnTo>
                  <a:lnTo>
                    <a:pt x="180701" y="102940"/>
                  </a:lnTo>
                  <a:lnTo>
                    <a:pt x="140767" y="102940"/>
                  </a:lnTo>
                  <a:lnTo>
                    <a:pt x="89297" y="0"/>
                  </a:lnTo>
                  <a:lnTo>
                    <a:pt x="64616" y="49362"/>
                  </a:lnTo>
                  <a:lnTo>
                    <a:pt x="0" y="49362"/>
                  </a:lnTo>
                  <a:lnTo>
                    <a:pt x="0" y="156518"/>
                  </a:lnTo>
                  <a:lnTo>
                    <a:pt x="250031" y="156518"/>
                  </a:lnTo>
                  <a:lnTo>
                    <a:pt x="250031" y="49362"/>
                  </a:lnTo>
                  <a:close/>
                </a:path>
              </a:pathLst>
            </a:custGeom>
            <a:solidFill>
              <a:srgbClr val="2C7BC0"/>
            </a:solidFill>
            <a:ln>
              <a:noFill/>
            </a:ln>
          </p:spPr>
        </p:sp>
      </p:grpSp>
      <p:sp>
        <p:nvSpPr>
          <p:cNvPr id="25" name="TextBox 25"/>
          <p:cNvSpPr txBox="1"/>
          <p:nvPr/>
        </p:nvSpPr>
        <p:spPr>
          <a:xfrm>
            <a:off x="8561070" y="3417570"/>
            <a:ext cx="484555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成果复用不足，重复劳动较多</a:t>
            </a:r>
          </a:p>
        </p:txBody>
      </p:sp>
      <p:sp>
        <p:nvSpPr>
          <p:cNvPr id="26" name="Freeform 26"/>
          <p:cNvSpPr/>
          <p:nvPr/>
        </p:nvSpPr>
        <p:spPr>
          <a:xfrm>
            <a:off x="8172450" y="413385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96453" y="53578"/>
                </a:moveTo>
                <a:cubicBezTo>
                  <a:pt x="196453" y="76906"/>
                  <a:pt x="181544" y="96752"/>
                  <a:pt x="160734" y="104107"/>
                </a:cubicBezTo>
                <a:lnTo>
                  <a:pt x="160734" y="248549"/>
                </a:lnTo>
                <a:cubicBezTo>
                  <a:pt x="205606" y="241021"/>
                  <a:pt x="241021" y="205606"/>
                  <a:pt x="248549" y="160734"/>
                </a:cubicBezTo>
                <a:lnTo>
                  <a:pt x="214312" y="160734"/>
                </a:lnTo>
                <a:lnTo>
                  <a:pt x="214312" y="125016"/>
                </a:lnTo>
                <a:lnTo>
                  <a:pt x="285750" y="125016"/>
                </a:lnTo>
                <a:lnTo>
                  <a:pt x="285750" y="142875"/>
                </a:lnTo>
                <a:cubicBezTo>
                  <a:pt x="285750" y="221783"/>
                  <a:pt x="221783" y="285750"/>
                  <a:pt x="142875" y="285750"/>
                </a:cubicBezTo>
                <a:cubicBezTo>
                  <a:pt x="63967" y="285750"/>
                  <a:pt x="0" y="221783"/>
                  <a:pt x="0" y="142875"/>
                </a:cubicBezTo>
                <a:lnTo>
                  <a:pt x="0" y="125016"/>
                </a:lnTo>
                <a:lnTo>
                  <a:pt x="71438" y="125016"/>
                </a:lnTo>
                <a:lnTo>
                  <a:pt x="71438" y="160734"/>
                </a:lnTo>
                <a:lnTo>
                  <a:pt x="37200" y="160734"/>
                </a:lnTo>
                <a:cubicBezTo>
                  <a:pt x="44728" y="205606"/>
                  <a:pt x="80144" y="241021"/>
                  <a:pt x="125016" y="248549"/>
                </a:cubicBezTo>
                <a:lnTo>
                  <a:pt x="125016" y="104107"/>
                </a:lnTo>
                <a:cubicBezTo>
                  <a:pt x="104206" y="96752"/>
                  <a:pt x="89297" y="76906"/>
                  <a:pt x="89297" y="53578"/>
                </a:cubicBezTo>
                <a:cubicBezTo>
                  <a:pt x="89297" y="23988"/>
                  <a:pt x="113285" y="0"/>
                  <a:pt x="142875" y="0"/>
                </a:cubicBezTo>
                <a:cubicBezTo>
                  <a:pt x="172465" y="0"/>
                  <a:pt x="196453" y="23988"/>
                  <a:pt x="196453" y="53578"/>
                </a:cubicBezTo>
                <a:close/>
              </a:path>
            </a:pathLst>
          </a:custGeom>
          <a:solidFill>
            <a:srgbClr val="2C7BC0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8562975" y="4119562"/>
            <a:ext cx="1700212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关键要点四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145780" y="4897755"/>
            <a:ext cx="249164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图表：bar_chart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145780" y="5374005"/>
            <a:ext cx="393315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数据湖建设与智能体应用...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46710" y="489585"/>
            <a:ext cx="379504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目标体系与价值锚点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8140" y="1120140"/>
            <a:ext cx="998296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围绕降本、提质、增效、控险建立四维目标体系，确保建设投入可衡量、可评估。</a:t>
            </a:r>
          </a:p>
        </p:txBody>
      </p:sp>
      <p:sp>
        <p:nvSpPr>
          <p:cNvPr id="6" name="Freeform 6"/>
          <p:cNvSpPr/>
          <p:nvPr/>
        </p:nvSpPr>
        <p:spPr>
          <a:xfrm>
            <a:off x="400050" y="1562100"/>
            <a:ext cx="11391900" cy="4762500"/>
          </a:xfrm>
          <a:custGeom>
            <a:avLst/>
            <a:gdLst/>
            <a:ahLst/>
            <a:cxnLst/>
            <a:rect l="l" t="t" r="r" b="b"/>
            <a:pathLst>
              <a:path w="11391900" h="4762500">
                <a:moveTo>
                  <a:pt x="171450" y="0"/>
                </a:moveTo>
                <a:lnTo>
                  <a:pt x="11220450" y="0"/>
                </a:lnTo>
                <a:cubicBezTo>
                  <a:pt x="11315139" y="0"/>
                  <a:pt x="11391900" y="76761"/>
                  <a:pt x="11391900" y="171450"/>
                </a:cubicBezTo>
                <a:lnTo>
                  <a:pt x="11391900" y="4591050"/>
                </a:lnTo>
                <a:cubicBezTo>
                  <a:pt x="11391900" y="4685739"/>
                  <a:pt x="11315139" y="4762500"/>
                  <a:pt x="11220450" y="4762500"/>
                </a:cubicBezTo>
                <a:lnTo>
                  <a:pt x="171450" y="4762500"/>
                </a:lnTo>
                <a:cubicBezTo>
                  <a:pt x="76761" y="4762500"/>
                  <a:pt x="0" y="4685739"/>
                  <a:pt x="0" y="45910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>
              <a:alpha val="95000"/>
            </a:srgbClr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533400" y="1752600"/>
            <a:ext cx="11125200" cy="1238250"/>
          </a:xfrm>
          <a:custGeom>
            <a:avLst/>
            <a:gdLst/>
            <a:ahLst/>
            <a:cxnLst/>
            <a:rect l="l" t="t" r="r" b="b"/>
            <a:pathLst>
              <a:path w="11125200" h="1238250">
                <a:moveTo>
                  <a:pt x="114300" y="0"/>
                </a:moveTo>
                <a:lnTo>
                  <a:pt x="11010900" y="0"/>
                </a:lnTo>
                <a:cubicBezTo>
                  <a:pt x="11074026" y="0"/>
                  <a:pt x="11125200" y="51174"/>
                  <a:pt x="11125200" y="114300"/>
                </a:cubicBezTo>
                <a:lnTo>
                  <a:pt x="11125200" y="1123950"/>
                </a:lnTo>
                <a:cubicBezTo>
                  <a:pt x="11125200" y="1187076"/>
                  <a:pt x="11074026" y="1238250"/>
                  <a:pt x="11010900" y="1238250"/>
                </a:cubicBezTo>
                <a:lnTo>
                  <a:pt x="114300" y="1238250"/>
                </a:lnTo>
                <a:cubicBezTo>
                  <a:pt x="51174" y="1238250"/>
                  <a:pt x="0" y="1187076"/>
                  <a:pt x="0" y="11239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7FBFF"/>
          </a:solidFill>
          <a:ln w="9525">
            <a:solidFill>
              <a:srgbClr val="D7E4F2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757238" y="2038350"/>
            <a:ext cx="200025" cy="266700"/>
          </a:xfrm>
          <a:custGeom>
            <a:avLst/>
            <a:gdLst/>
            <a:ahLst/>
            <a:cxnLst/>
            <a:rect l="l" t="t" r="r" b="b"/>
            <a:pathLst>
              <a:path w="200025" h="266700">
                <a:moveTo>
                  <a:pt x="116681" y="116681"/>
                </a:moveTo>
                <a:lnTo>
                  <a:pt x="133350" y="0"/>
                </a:lnTo>
                <a:lnTo>
                  <a:pt x="100012" y="0"/>
                </a:lnTo>
                <a:lnTo>
                  <a:pt x="0" y="116681"/>
                </a:lnTo>
                <a:lnTo>
                  <a:pt x="0" y="150019"/>
                </a:lnTo>
                <a:lnTo>
                  <a:pt x="83344" y="150019"/>
                </a:lnTo>
                <a:lnTo>
                  <a:pt x="66675" y="266700"/>
                </a:lnTo>
                <a:lnTo>
                  <a:pt x="100012" y="266700"/>
                </a:lnTo>
                <a:lnTo>
                  <a:pt x="200025" y="150019"/>
                </a:lnTo>
                <a:lnTo>
                  <a:pt x="200025" y="116681"/>
                </a:lnTo>
                <a:lnTo>
                  <a:pt x="116681" y="116681"/>
                </a:lnTo>
                <a:close/>
              </a:path>
            </a:pathLst>
          </a:custGeom>
          <a:solidFill>
            <a:srgbClr val="2C7BC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072515" y="1991678"/>
            <a:ext cx="6321552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效率：报告编制与协同时间显著下降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723900" y="2550319"/>
            <a:ext cx="266700" cy="233362"/>
            <a:chOff x="723900" y="2550319"/>
            <a:chExt cx="266700" cy="233362"/>
          </a:xfrm>
        </p:grpSpPr>
        <p:sp>
          <p:nvSpPr>
            <p:cNvPr id="10" name="Freeform 10"/>
            <p:cNvSpPr/>
            <p:nvPr/>
          </p:nvSpPr>
          <p:spPr>
            <a:xfrm>
              <a:off x="773906" y="2550319"/>
              <a:ext cx="83344" cy="83344"/>
            </a:xfrm>
            <a:custGeom>
              <a:avLst/>
              <a:gdLst/>
              <a:ahLst/>
              <a:cxnLst/>
              <a:rect l="l" t="t" r="r" b="b"/>
              <a:pathLst>
                <a:path w="83344" h="83344">
                  <a:moveTo>
                    <a:pt x="83344" y="41672"/>
                  </a:moveTo>
                  <a:cubicBezTo>
                    <a:pt x="83344" y="64687"/>
                    <a:pt x="64687" y="83344"/>
                    <a:pt x="41672" y="83344"/>
                  </a:cubicBezTo>
                  <a:cubicBezTo>
                    <a:pt x="18657" y="83344"/>
                    <a:pt x="0" y="64687"/>
                    <a:pt x="0" y="41672"/>
                  </a:cubicBezTo>
                  <a:cubicBezTo>
                    <a:pt x="0" y="18657"/>
                    <a:pt x="18657" y="0"/>
                    <a:pt x="41672" y="0"/>
                  </a:cubicBezTo>
                  <a:cubicBezTo>
                    <a:pt x="64687" y="0"/>
                    <a:pt x="83344" y="18657"/>
                    <a:pt x="83344" y="41672"/>
                  </a:cubicBezTo>
                  <a:close/>
                </a:path>
              </a:pathLst>
            </a:custGeom>
            <a:solidFill>
              <a:srgbClr val="2C7BC0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723900" y="2667000"/>
              <a:ext cx="133350" cy="116681"/>
            </a:xfrm>
            <a:custGeom>
              <a:avLst/>
              <a:gdLst/>
              <a:ahLst/>
              <a:cxnLst/>
              <a:rect l="l" t="t" r="r" b="b"/>
              <a:pathLst>
                <a:path w="133350" h="116681">
                  <a:moveTo>
                    <a:pt x="50006" y="0"/>
                  </a:moveTo>
                  <a:cubicBezTo>
                    <a:pt x="22389" y="0"/>
                    <a:pt x="0" y="22389"/>
                    <a:pt x="0" y="50006"/>
                  </a:cubicBezTo>
                  <a:lnTo>
                    <a:pt x="0" y="116681"/>
                  </a:lnTo>
                  <a:lnTo>
                    <a:pt x="133350" y="116681"/>
                  </a:lnTo>
                  <a:lnTo>
                    <a:pt x="133350" y="0"/>
                  </a:lnTo>
                  <a:lnTo>
                    <a:pt x="50006" y="0"/>
                  </a:lnTo>
                  <a:close/>
                </a:path>
              </a:pathLst>
            </a:custGeom>
            <a:solidFill>
              <a:srgbClr val="2C7BC0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890588" y="2667000"/>
              <a:ext cx="100012" cy="116681"/>
            </a:xfrm>
            <a:custGeom>
              <a:avLst/>
              <a:gdLst/>
              <a:ahLst/>
              <a:cxnLst/>
              <a:rect l="l" t="t" r="r" b="b"/>
              <a:pathLst>
                <a:path w="100012" h="116681">
                  <a:moveTo>
                    <a:pt x="50006" y="0"/>
                  </a:moveTo>
                  <a:lnTo>
                    <a:pt x="0" y="0"/>
                  </a:lnTo>
                  <a:lnTo>
                    <a:pt x="0" y="116681"/>
                  </a:lnTo>
                  <a:lnTo>
                    <a:pt x="100012" y="116681"/>
                  </a:lnTo>
                  <a:lnTo>
                    <a:pt x="100012" y="50006"/>
                  </a:lnTo>
                  <a:cubicBezTo>
                    <a:pt x="100012" y="22389"/>
                    <a:pt x="77625" y="0"/>
                    <a:pt x="50006" y="0"/>
                  </a:cubicBezTo>
                  <a:close/>
                </a:path>
              </a:pathLst>
            </a:custGeom>
            <a:solidFill>
              <a:srgbClr val="2C7BC0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890588" y="2566988"/>
              <a:ext cx="66675" cy="66675"/>
            </a:xfrm>
            <a:custGeom>
              <a:avLst/>
              <a:gdLst/>
              <a:ahLst/>
              <a:cxnLst/>
              <a:rect l="l" t="t" r="r" b="b"/>
              <a:pathLst>
                <a:path w="66675" h="66675">
                  <a:moveTo>
                    <a:pt x="33338" y="66675"/>
                  </a:moveTo>
                  <a:cubicBezTo>
                    <a:pt x="51750" y="66675"/>
                    <a:pt x="66675" y="51749"/>
                    <a:pt x="66675" y="33338"/>
                  </a:cubicBezTo>
                  <a:cubicBezTo>
                    <a:pt x="66675" y="14926"/>
                    <a:pt x="51750" y="0"/>
                    <a:pt x="33338" y="0"/>
                  </a:cubicBezTo>
                  <a:cubicBezTo>
                    <a:pt x="14925" y="0"/>
                    <a:pt x="0" y="14926"/>
                    <a:pt x="0" y="33338"/>
                  </a:cubicBezTo>
                  <a:cubicBezTo>
                    <a:pt x="0" y="51749"/>
                    <a:pt x="14925" y="66675"/>
                    <a:pt x="33338" y="66675"/>
                  </a:cubicBezTo>
                  <a:close/>
                </a:path>
              </a:pathLst>
            </a:custGeom>
            <a:solidFill>
              <a:srgbClr val="2C7BC0"/>
            </a:solidFill>
            <a:ln>
              <a:noFill/>
            </a:ln>
          </p:spPr>
        </p:sp>
      </p:grpSp>
      <p:sp>
        <p:nvSpPr>
          <p:cNvPr id="15" name="TextBox 15"/>
          <p:cNvSpPr txBox="1"/>
          <p:nvPr/>
        </p:nvSpPr>
        <p:spPr>
          <a:xfrm>
            <a:off x="1076325" y="2519362"/>
            <a:ext cx="4657725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质量：口径一致与追溯能力增强</a:t>
            </a:r>
          </a:p>
        </p:txBody>
      </p:sp>
      <p:sp>
        <p:nvSpPr>
          <p:cNvPr id="16" name="Freeform 16"/>
          <p:cNvSpPr/>
          <p:nvPr/>
        </p:nvSpPr>
        <p:spPr>
          <a:xfrm>
            <a:off x="533400" y="3124200"/>
            <a:ext cx="7239000" cy="3086100"/>
          </a:xfrm>
          <a:custGeom>
            <a:avLst/>
            <a:gdLst/>
            <a:ahLst/>
            <a:cxnLst/>
            <a:rect l="l" t="t" r="r" b="b"/>
            <a:pathLst>
              <a:path w="7239000" h="3086100">
                <a:moveTo>
                  <a:pt x="114300" y="0"/>
                </a:moveTo>
                <a:lnTo>
                  <a:pt x="7124700" y="0"/>
                </a:lnTo>
                <a:cubicBezTo>
                  <a:pt x="7187826" y="0"/>
                  <a:pt x="7239000" y="51174"/>
                  <a:pt x="7239000" y="114300"/>
                </a:cubicBezTo>
                <a:lnTo>
                  <a:pt x="7239000" y="2971800"/>
                </a:lnTo>
                <a:cubicBezTo>
                  <a:pt x="7239000" y="3034926"/>
                  <a:pt x="7187826" y="3086100"/>
                  <a:pt x="7124700" y="3086100"/>
                </a:cubicBezTo>
                <a:lnTo>
                  <a:pt x="114300" y="3086100"/>
                </a:lnTo>
                <a:cubicBezTo>
                  <a:pt x="51174" y="3086100"/>
                  <a:pt x="0" y="3034926"/>
                  <a:pt x="0" y="29718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4F2"/>
            </a:solidFill>
          </a:ln>
        </p:spPr>
      </p:sp>
      <p:sp>
        <p:nvSpPr>
          <p:cNvPr id="17" name="Freeform 17"/>
          <p:cNvSpPr/>
          <p:nvPr/>
        </p:nvSpPr>
        <p:spPr>
          <a:xfrm>
            <a:off x="7943850" y="3124200"/>
            <a:ext cx="3714750" cy="3086100"/>
          </a:xfrm>
          <a:custGeom>
            <a:avLst/>
            <a:gdLst/>
            <a:ahLst/>
            <a:cxnLst/>
            <a:rect l="l" t="t" r="r" b="b"/>
            <a:pathLst>
              <a:path w="3714750" h="3086100">
                <a:moveTo>
                  <a:pt x="114300" y="0"/>
                </a:moveTo>
                <a:lnTo>
                  <a:pt x="3600450" y="0"/>
                </a:lnTo>
                <a:cubicBezTo>
                  <a:pt x="3663576" y="0"/>
                  <a:pt x="3714750" y="51174"/>
                  <a:pt x="3714750" y="114300"/>
                </a:cubicBezTo>
                <a:lnTo>
                  <a:pt x="3714750" y="2971800"/>
                </a:lnTo>
                <a:cubicBezTo>
                  <a:pt x="3714750" y="3034926"/>
                  <a:pt x="3663576" y="3086100"/>
                  <a:pt x="3600450" y="3086100"/>
                </a:cubicBezTo>
                <a:lnTo>
                  <a:pt x="114300" y="3086100"/>
                </a:lnTo>
                <a:cubicBezTo>
                  <a:pt x="51174" y="3086100"/>
                  <a:pt x="0" y="3034926"/>
                  <a:pt x="0" y="29718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4F2"/>
            </a:solidFill>
          </a:ln>
        </p:spPr>
      </p:sp>
      <p:sp>
        <p:nvSpPr>
          <p:cNvPr id="18" name="Freeform 18"/>
          <p:cNvSpPr/>
          <p:nvPr/>
        </p:nvSpPr>
        <p:spPr>
          <a:xfrm>
            <a:off x="8172450" y="344805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285750"/>
                </a:moveTo>
                <a:cubicBezTo>
                  <a:pt x="221783" y="285750"/>
                  <a:pt x="285750" y="221783"/>
                  <a:pt x="285750" y="142875"/>
                </a:cubicBezTo>
                <a:cubicBezTo>
                  <a:pt x="285750" y="63967"/>
                  <a:pt x="221783" y="0"/>
                  <a:pt x="142875" y="0"/>
                </a:cubicBezTo>
                <a:cubicBezTo>
                  <a:pt x="63967" y="0"/>
                  <a:pt x="0" y="63967"/>
                  <a:pt x="0" y="142875"/>
                </a:cubicBezTo>
                <a:cubicBezTo>
                  <a:pt x="0" y="221783"/>
                  <a:pt x="63967" y="285750"/>
                  <a:pt x="142875" y="285750"/>
                </a:cubicBezTo>
                <a:close/>
                <a:moveTo>
                  <a:pt x="160734" y="89297"/>
                </a:moveTo>
                <a:lnTo>
                  <a:pt x="125016" y="89297"/>
                </a:lnTo>
                <a:lnTo>
                  <a:pt x="125016" y="196453"/>
                </a:lnTo>
                <a:lnTo>
                  <a:pt x="160734" y="196453"/>
                </a:lnTo>
                <a:lnTo>
                  <a:pt x="160734" y="89297"/>
                </a:lnTo>
                <a:close/>
              </a:path>
            </a:pathLst>
          </a:custGeom>
          <a:solidFill>
            <a:srgbClr val="2C7BC0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561070" y="3417570"/>
            <a:ext cx="5213604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管理：实现过程可视与责任闭环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8190309" y="4151709"/>
            <a:ext cx="250031" cy="250031"/>
            <a:chOff x="8190309" y="4151709"/>
            <a:chExt cx="250031" cy="250031"/>
          </a:xfrm>
        </p:grpSpPr>
        <p:sp>
          <p:nvSpPr>
            <p:cNvPr id="20" name="Freeform 20"/>
            <p:cNvSpPr/>
            <p:nvPr/>
          </p:nvSpPr>
          <p:spPr>
            <a:xfrm>
              <a:off x="8190309" y="4151709"/>
              <a:ext cx="250031" cy="156518"/>
            </a:xfrm>
            <a:custGeom>
              <a:avLst/>
              <a:gdLst/>
              <a:ahLst/>
              <a:cxnLst/>
              <a:rect l="l" t="t" r="r" b="b"/>
              <a:pathLst>
                <a:path w="250031" h="156518">
                  <a:moveTo>
                    <a:pt x="250031" y="0"/>
                  </a:moveTo>
                  <a:lnTo>
                    <a:pt x="0" y="0"/>
                  </a:lnTo>
                  <a:lnTo>
                    <a:pt x="0" y="107156"/>
                  </a:lnTo>
                  <a:lnTo>
                    <a:pt x="42540" y="107156"/>
                  </a:lnTo>
                  <a:lnTo>
                    <a:pt x="69329" y="53578"/>
                  </a:lnTo>
                  <a:lnTo>
                    <a:pt x="109264" y="53578"/>
                  </a:lnTo>
                  <a:lnTo>
                    <a:pt x="160734" y="156518"/>
                  </a:lnTo>
                  <a:lnTo>
                    <a:pt x="185416" y="107156"/>
                  </a:lnTo>
                  <a:lnTo>
                    <a:pt x="250031" y="107156"/>
                  </a:lnTo>
                  <a:lnTo>
                    <a:pt x="250031" y="0"/>
                  </a:lnTo>
                  <a:close/>
                </a:path>
              </a:pathLst>
            </a:custGeom>
            <a:solidFill>
              <a:srgbClr val="2C7BC0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8190309" y="4245222"/>
              <a:ext cx="250031" cy="156518"/>
            </a:xfrm>
            <a:custGeom>
              <a:avLst/>
              <a:gdLst/>
              <a:ahLst/>
              <a:cxnLst/>
              <a:rect l="l" t="t" r="r" b="b"/>
              <a:pathLst>
                <a:path w="250031" h="156518">
                  <a:moveTo>
                    <a:pt x="250031" y="49362"/>
                  </a:moveTo>
                  <a:lnTo>
                    <a:pt x="207490" y="49362"/>
                  </a:lnTo>
                  <a:lnTo>
                    <a:pt x="180701" y="102940"/>
                  </a:lnTo>
                  <a:lnTo>
                    <a:pt x="140767" y="102940"/>
                  </a:lnTo>
                  <a:lnTo>
                    <a:pt x="89297" y="0"/>
                  </a:lnTo>
                  <a:lnTo>
                    <a:pt x="64616" y="49362"/>
                  </a:lnTo>
                  <a:lnTo>
                    <a:pt x="0" y="49362"/>
                  </a:lnTo>
                  <a:lnTo>
                    <a:pt x="0" y="156518"/>
                  </a:lnTo>
                  <a:lnTo>
                    <a:pt x="250031" y="156518"/>
                  </a:lnTo>
                  <a:lnTo>
                    <a:pt x="250031" y="49362"/>
                  </a:lnTo>
                  <a:close/>
                </a:path>
              </a:pathLst>
            </a:custGeom>
            <a:solidFill>
              <a:srgbClr val="2C7BC0"/>
            </a:solidFill>
            <a:ln>
              <a:noFill/>
            </a:ln>
          </p:spPr>
        </p:sp>
      </p:grpSp>
      <p:sp>
        <p:nvSpPr>
          <p:cNvPr id="23" name="TextBox 23"/>
          <p:cNvSpPr txBox="1"/>
          <p:nvPr/>
        </p:nvSpPr>
        <p:spPr>
          <a:xfrm>
            <a:off x="8562975" y="4119562"/>
            <a:ext cx="1700212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关键要点四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145780" y="4897755"/>
            <a:ext cx="250698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图表：line_chart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145780" y="5374005"/>
            <a:ext cx="1109472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围绕降本、提质、增效、控险建立四维目标体系，确保建设投入可衡量、可评估。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" y="0"/>
            <a:ext cx="12099608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018813" y="1868805"/>
            <a:ext cx="2154374" cy="2255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10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5" name="Line 5"/>
          <p:cNvSpPr/>
          <p:nvPr/>
        </p:nvSpPr>
        <p:spPr>
          <a:xfrm>
            <a:off x="3981450" y="3638550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38100">
            <a:solidFill>
              <a:srgbClr val="0074CC"/>
            </a:solidFill>
          </a:ln>
        </p:spPr>
      </p:sp>
      <p:sp>
        <p:nvSpPr>
          <p:cNvPr id="6" name="Line 6"/>
          <p:cNvSpPr/>
          <p:nvPr/>
        </p:nvSpPr>
        <p:spPr>
          <a:xfrm>
            <a:off x="5505450" y="3638550"/>
            <a:ext cx="1181100" cy="9525"/>
          </a:xfrm>
          <a:custGeom>
            <a:avLst/>
            <a:gdLst/>
            <a:ahLst/>
            <a:cxnLst/>
            <a:rect l="l" t="t" r="r" b="b"/>
            <a:pathLst>
              <a:path w="1181100" h="9525">
                <a:moveTo>
                  <a:pt x="0" y="0"/>
                </a:moveTo>
                <a:lnTo>
                  <a:pt x="1181100" y="0"/>
                </a:lnTo>
              </a:path>
            </a:pathLst>
          </a:custGeom>
          <a:noFill/>
          <a:ln w="38100">
            <a:solidFill>
              <a:srgbClr val="DE002B"/>
            </a:solidFill>
          </a:ln>
        </p:spPr>
      </p:sp>
      <p:sp>
        <p:nvSpPr>
          <p:cNvPr id="7" name="Line 7"/>
          <p:cNvSpPr/>
          <p:nvPr/>
        </p:nvSpPr>
        <p:spPr>
          <a:xfrm>
            <a:off x="6686550" y="3638550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38100">
            <a:solidFill>
              <a:srgbClr val="0074CC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879282" y="4095750"/>
            <a:ext cx="8433435" cy="1219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平台架构与关键能力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46710" y="489585"/>
            <a:ext cx="379504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总体架构与执行流程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8140" y="1120140"/>
            <a:ext cx="1191520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平台采用数据底座、智能体引擎、业务应用三层架构，形成从问题识别到产物交付的端到端流程。</a:t>
            </a:r>
          </a:p>
        </p:txBody>
      </p:sp>
      <p:sp>
        <p:nvSpPr>
          <p:cNvPr id="6" name="Freeform 6"/>
          <p:cNvSpPr/>
          <p:nvPr/>
        </p:nvSpPr>
        <p:spPr>
          <a:xfrm>
            <a:off x="400050" y="1562100"/>
            <a:ext cx="11391900" cy="4762500"/>
          </a:xfrm>
          <a:custGeom>
            <a:avLst/>
            <a:gdLst/>
            <a:ahLst/>
            <a:cxnLst/>
            <a:rect l="l" t="t" r="r" b="b"/>
            <a:pathLst>
              <a:path w="11391900" h="4762500">
                <a:moveTo>
                  <a:pt x="171450" y="0"/>
                </a:moveTo>
                <a:lnTo>
                  <a:pt x="11220450" y="0"/>
                </a:lnTo>
                <a:cubicBezTo>
                  <a:pt x="11315139" y="0"/>
                  <a:pt x="11391900" y="76761"/>
                  <a:pt x="11391900" y="171450"/>
                </a:cubicBezTo>
                <a:lnTo>
                  <a:pt x="11391900" y="4591050"/>
                </a:lnTo>
                <a:cubicBezTo>
                  <a:pt x="11391900" y="4685739"/>
                  <a:pt x="11315139" y="4762500"/>
                  <a:pt x="11220450" y="4762500"/>
                </a:cubicBezTo>
                <a:lnTo>
                  <a:pt x="171450" y="4762500"/>
                </a:lnTo>
                <a:cubicBezTo>
                  <a:pt x="76761" y="4762500"/>
                  <a:pt x="0" y="4685739"/>
                  <a:pt x="0" y="45910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>
              <a:alpha val="95000"/>
            </a:srgbClr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533400" y="1752600"/>
            <a:ext cx="5162550" cy="2781300"/>
          </a:xfrm>
          <a:custGeom>
            <a:avLst/>
            <a:gdLst/>
            <a:ahLst/>
            <a:cxnLst/>
            <a:rect l="l" t="t" r="r" b="b"/>
            <a:pathLst>
              <a:path w="5162550" h="2781300">
                <a:moveTo>
                  <a:pt x="114300" y="0"/>
                </a:moveTo>
                <a:lnTo>
                  <a:pt x="5048250" y="0"/>
                </a:lnTo>
                <a:cubicBezTo>
                  <a:pt x="5111376" y="0"/>
                  <a:pt x="5162550" y="51174"/>
                  <a:pt x="5162550" y="114300"/>
                </a:cubicBezTo>
                <a:lnTo>
                  <a:pt x="5162550" y="2667000"/>
                </a:lnTo>
                <a:cubicBezTo>
                  <a:pt x="5162550" y="2730126"/>
                  <a:pt x="5111376" y="2781300"/>
                  <a:pt x="5048250" y="2781300"/>
                </a:cubicBezTo>
                <a:lnTo>
                  <a:pt x="114300" y="2781300"/>
                </a:lnTo>
                <a:cubicBezTo>
                  <a:pt x="51174" y="2781300"/>
                  <a:pt x="0" y="2730126"/>
                  <a:pt x="0" y="26670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4F2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5886450" y="1752600"/>
            <a:ext cx="5772150" cy="2781300"/>
          </a:xfrm>
          <a:custGeom>
            <a:avLst/>
            <a:gdLst/>
            <a:ahLst/>
            <a:cxnLst/>
            <a:rect l="l" t="t" r="r" b="b"/>
            <a:pathLst>
              <a:path w="5772150" h="2781300">
                <a:moveTo>
                  <a:pt x="114300" y="0"/>
                </a:moveTo>
                <a:lnTo>
                  <a:pt x="5657850" y="0"/>
                </a:lnTo>
                <a:cubicBezTo>
                  <a:pt x="5720976" y="0"/>
                  <a:pt x="5772150" y="51174"/>
                  <a:pt x="5772150" y="114300"/>
                </a:cubicBezTo>
                <a:lnTo>
                  <a:pt x="5772150" y="2667000"/>
                </a:lnTo>
                <a:cubicBezTo>
                  <a:pt x="5772150" y="2730126"/>
                  <a:pt x="5720976" y="2781300"/>
                  <a:pt x="5657850" y="2781300"/>
                </a:cubicBezTo>
                <a:lnTo>
                  <a:pt x="114300" y="2781300"/>
                </a:lnTo>
                <a:cubicBezTo>
                  <a:pt x="51174" y="2781300"/>
                  <a:pt x="0" y="2730126"/>
                  <a:pt x="0" y="26670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7FBFF"/>
          </a:solidFill>
          <a:ln w="9525">
            <a:solidFill>
              <a:srgbClr val="D7E4F2"/>
            </a:solidFill>
          </a:ln>
        </p:spPr>
      </p:sp>
      <p:grpSp>
        <p:nvGrpSpPr>
          <p:cNvPr id="12" name="Group 12"/>
          <p:cNvGrpSpPr/>
          <p:nvPr/>
        </p:nvGrpSpPr>
        <p:grpSpPr>
          <a:xfrm>
            <a:off x="6148388" y="2038350"/>
            <a:ext cx="200025" cy="266700"/>
            <a:chOff x="6148388" y="2038350"/>
            <a:chExt cx="200025" cy="266700"/>
          </a:xfrm>
        </p:grpSpPr>
        <p:sp>
          <p:nvSpPr>
            <p:cNvPr id="9" name="Freeform 9"/>
            <p:cNvSpPr/>
            <p:nvPr/>
          </p:nvSpPr>
          <p:spPr>
            <a:xfrm>
              <a:off x="6148388" y="2145030"/>
              <a:ext cx="200025" cy="76676"/>
            </a:xfrm>
            <a:custGeom>
              <a:avLst/>
              <a:gdLst/>
              <a:ahLst/>
              <a:cxnLst/>
              <a:rect l="l" t="t" r="r" b="b"/>
              <a:pathLst>
                <a:path w="200025" h="76676">
                  <a:moveTo>
                    <a:pt x="185642" y="8504"/>
                  </a:moveTo>
                  <a:cubicBezTo>
                    <a:pt x="190330" y="6159"/>
                    <a:pt x="195229" y="3330"/>
                    <a:pt x="200025" y="0"/>
                  </a:cubicBezTo>
                  <a:lnTo>
                    <a:pt x="200025" y="26670"/>
                  </a:lnTo>
                  <a:cubicBezTo>
                    <a:pt x="200025" y="54287"/>
                    <a:pt x="155248" y="76676"/>
                    <a:pt x="100012" y="76676"/>
                  </a:cubicBezTo>
                  <a:cubicBezTo>
                    <a:pt x="44777" y="76676"/>
                    <a:pt x="0" y="54287"/>
                    <a:pt x="0" y="26670"/>
                  </a:cubicBezTo>
                  <a:lnTo>
                    <a:pt x="0" y="0"/>
                  </a:lnTo>
                  <a:cubicBezTo>
                    <a:pt x="4796" y="3330"/>
                    <a:pt x="9694" y="6159"/>
                    <a:pt x="14384" y="8504"/>
                  </a:cubicBezTo>
                  <a:cubicBezTo>
                    <a:pt x="38021" y="20322"/>
                    <a:pt x="68342" y="26670"/>
                    <a:pt x="100012" y="26670"/>
                  </a:cubicBezTo>
                  <a:cubicBezTo>
                    <a:pt x="131683" y="26670"/>
                    <a:pt x="162004" y="20322"/>
                    <a:pt x="185642" y="8504"/>
                  </a:cubicBezTo>
                  <a:close/>
                </a:path>
              </a:pathLst>
            </a:custGeom>
            <a:solidFill>
              <a:srgbClr val="2C7BC0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6148388" y="2228374"/>
              <a:ext cx="200025" cy="76676"/>
            </a:xfrm>
            <a:custGeom>
              <a:avLst/>
              <a:gdLst/>
              <a:ahLst/>
              <a:cxnLst/>
              <a:rect l="l" t="t" r="r" b="b"/>
              <a:pathLst>
                <a:path w="200025" h="76676">
                  <a:moveTo>
                    <a:pt x="0" y="0"/>
                  </a:moveTo>
                  <a:lnTo>
                    <a:pt x="0" y="26670"/>
                  </a:lnTo>
                  <a:cubicBezTo>
                    <a:pt x="0" y="54288"/>
                    <a:pt x="44777" y="76676"/>
                    <a:pt x="100012" y="76676"/>
                  </a:cubicBezTo>
                  <a:cubicBezTo>
                    <a:pt x="155248" y="76676"/>
                    <a:pt x="200025" y="54288"/>
                    <a:pt x="200025" y="26670"/>
                  </a:cubicBezTo>
                  <a:lnTo>
                    <a:pt x="200025" y="0"/>
                  </a:lnTo>
                  <a:cubicBezTo>
                    <a:pt x="195229" y="3330"/>
                    <a:pt x="190330" y="6159"/>
                    <a:pt x="185642" y="8504"/>
                  </a:cubicBezTo>
                  <a:cubicBezTo>
                    <a:pt x="162004" y="20323"/>
                    <a:pt x="131683" y="26670"/>
                    <a:pt x="100012" y="26670"/>
                  </a:cubicBezTo>
                  <a:cubicBezTo>
                    <a:pt x="68342" y="26670"/>
                    <a:pt x="38021" y="20323"/>
                    <a:pt x="14384" y="8504"/>
                  </a:cubicBezTo>
                  <a:cubicBezTo>
                    <a:pt x="9694" y="6159"/>
                    <a:pt x="4796" y="3330"/>
                    <a:pt x="0" y="0"/>
                  </a:cubicBezTo>
                  <a:close/>
                </a:path>
              </a:pathLst>
            </a:custGeom>
            <a:solidFill>
              <a:srgbClr val="2C7BC0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6148388" y="2038350"/>
              <a:ext cx="200025" cy="100012"/>
            </a:xfrm>
            <a:custGeom>
              <a:avLst/>
              <a:gdLst/>
              <a:ahLst/>
              <a:cxnLst/>
              <a:rect l="l" t="t" r="r" b="b"/>
              <a:pathLst>
                <a:path w="200025" h="100012">
                  <a:moveTo>
                    <a:pt x="100012" y="0"/>
                  </a:moveTo>
                  <a:cubicBezTo>
                    <a:pt x="155248" y="0"/>
                    <a:pt x="200025" y="22389"/>
                    <a:pt x="200025" y="50006"/>
                  </a:cubicBezTo>
                  <a:cubicBezTo>
                    <a:pt x="200025" y="77624"/>
                    <a:pt x="155248" y="100012"/>
                    <a:pt x="100012" y="100012"/>
                  </a:cubicBezTo>
                  <a:cubicBezTo>
                    <a:pt x="44777" y="100012"/>
                    <a:pt x="0" y="77624"/>
                    <a:pt x="0" y="50006"/>
                  </a:cubicBezTo>
                  <a:cubicBezTo>
                    <a:pt x="0" y="22389"/>
                    <a:pt x="44777" y="0"/>
                    <a:pt x="100012" y="0"/>
                  </a:cubicBezTo>
                  <a:close/>
                </a:path>
              </a:pathLst>
            </a:custGeom>
            <a:solidFill>
              <a:srgbClr val="2C7BC0"/>
            </a:solidFill>
            <a:ln>
              <a:noFill/>
            </a:ln>
          </p:spPr>
        </p:sp>
      </p:grpSp>
      <p:sp>
        <p:nvSpPr>
          <p:cNvPr id="13" name="TextBox 13"/>
          <p:cNvSpPr txBox="1"/>
          <p:nvPr/>
        </p:nvSpPr>
        <p:spPr>
          <a:xfrm>
            <a:off x="6446520" y="1988820"/>
            <a:ext cx="5213604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统一接入结构化与非结构化数据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6115050" y="2667000"/>
            <a:ext cx="266700" cy="266700"/>
            <a:chOff x="6115050" y="2667000"/>
            <a:chExt cx="266700" cy="266700"/>
          </a:xfrm>
        </p:grpSpPr>
        <p:sp>
          <p:nvSpPr>
            <p:cNvPr id="14" name="Freeform 14"/>
            <p:cNvSpPr/>
            <p:nvPr/>
          </p:nvSpPr>
          <p:spPr>
            <a:xfrm>
              <a:off x="6115050" y="2667000"/>
              <a:ext cx="233362" cy="116681"/>
            </a:xfrm>
            <a:custGeom>
              <a:avLst/>
              <a:gdLst/>
              <a:ahLst/>
              <a:cxnLst/>
              <a:rect l="l" t="t" r="r" b="b"/>
              <a:pathLst>
                <a:path w="233362" h="116681">
                  <a:moveTo>
                    <a:pt x="100012" y="116681"/>
                  </a:moveTo>
                  <a:lnTo>
                    <a:pt x="116681" y="100012"/>
                  </a:lnTo>
                  <a:lnTo>
                    <a:pt x="78462" y="61793"/>
                  </a:lnTo>
                  <a:lnTo>
                    <a:pt x="88226" y="52029"/>
                  </a:lnTo>
                  <a:cubicBezTo>
                    <a:pt x="100194" y="40061"/>
                    <a:pt x="116425" y="33338"/>
                    <a:pt x="133350" y="33338"/>
                  </a:cubicBezTo>
                  <a:cubicBezTo>
                    <a:pt x="150275" y="33338"/>
                    <a:pt x="166506" y="40061"/>
                    <a:pt x="178474" y="52029"/>
                  </a:cubicBezTo>
                  <a:lnTo>
                    <a:pt x="179904" y="53459"/>
                  </a:lnTo>
                  <a:cubicBezTo>
                    <a:pt x="192787" y="66342"/>
                    <a:pt x="200025" y="83815"/>
                    <a:pt x="200025" y="102035"/>
                  </a:cubicBezTo>
                  <a:lnTo>
                    <a:pt x="200025" y="116681"/>
                  </a:lnTo>
                  <a:lnTo>
                    <a:pt x="233362" y="116681"/>
                  </a:lnTo>
                  <a:lnTo>
                    <a:pt x="233362" y="102035"/>
                  </a:lnTo>
                  <a:cubicBezTo>
                    <a:pt x="233362" y="74974"/>
                    <a:pt x="222613" y="49020"/>
                    <a:pt x="203477" y="29885"/>
                  </a:cubicBezTo>
                  <a:lnTo>
                    <a:pt x="202047" y="28455"/>
                  </a:lnTo>
                  <a:cubicBezTo>
                    <a:pt x="183828" y="10236"/>
                    <a:pt x="159117" y="0"/>
                    <a:pt x="133350" y="0"/>
                  </a:cubicBezTo>
                  <a:cubicBezTo>
                    <a:pt x="107584" y="0"/>
                    <a:pt x="82872" y="10236"/>
                    <a:pt x="64653" y="28455"/>
                  </a:cubicBezTo>
                  <a:lnTo>
                    <a:pt x="54888" y="38220"/>
                  </a:lnTo>
                  <a:lnTo>
                    <a:pt x="16669" y="0"/>
                  </a:lnTo>
                  <a:lnTo>
                    <a:pt x="0" y="16669"/>
                  </a:lnTo>
                  <a:lnTo>
                    <a:pt x="0" y="116681"/>
                  </a:lnTo>
                  <a:lnTo>
                    <a:pt x="100012" y="116681"/>
                  </a:lnTo>
                  <a:close/>
                </a:path>
              </a:pathLst>
            </a:custGeom>
            <a:solidFill>
              <a:srgbClr val="2C7BC0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6148388" y="2817019"/>
              <a:ext cx="233362" cy="116681"/>
            </a:xfrm>
            <a:custGeom>
              <a:avLst/>
              <a:gdLst/>
              <a:ahLst/>
              <a:cxnLst/>
              <a:rect l="l" t="t" r="r" b="b"/>
              <a:pathLst>
                <a:path w="233362" h="116681">
                  <a:moveTo>
                    <a:pt x="145136" y="64653"/>
                  </a:moveTo>
                  <a:cubicBezTo>
                    <a:pt x="133169" y="76620"/>
                    <a:pt x="116937" y="83344"/>
                    <a:pt x="100012" y="83344"/>
                  </a:cubicBezTo>
                  <a:cubicBezTo>
                    <a:pt x="83088" y="83344"/>
                    <a:pt x="66856" y="76621"/>
                    <a:pt x="54888" y="64653"/>
                  </a:cubicBezTo>
                  <a:lnTo>
                    <a:pt x="53459" y="63223"/>
                  </a:lnTo>
                  <a:cubicBezTo>
                    <a:pt x="40575" y="50340"/>
                    <a:pt x="33338" y="32866"/>
                    <a:pt x="33338" y="14646"/>
                  </a:cubicBezTo>
                  <a:lnTo>
                    <a:pt x="33338" y="0"/>
                  </a:lnTo>
                  <a:lnTo>
                    <a:pt x="0" y="0"/>
                  </a:lnTo>
                  <a:lnTo>
                    <a:pt x="0" y="14646"/>
                  </a:lnTo>
                  <a:cubicBezTo>
                    <a:pt x="0" y="41709"/>
                    <a:pt x="10750" y="67660"/>
                    <a:pt x="29885" y="86796"/>
                  </a:cubicBezTo>
                  <a:lnTo>
                    <a:pt x="31315" y="88226"/>
                  </a:lnTo>
                  <a:cubicBezTo>
                    <a:pt x="49535" y="106445"/>
                    <a:pt x="74246" y="116681"/>
                    <a:pt x="100012" y="116681"/>
                  </a:cubicBezTo>
                  <a:cubicBezTo>
                    <a:pt x="125779" y="116681"/>
                    <a:pt x="150490" y="106445"/>
                    <a:pt x="168709" y="88226"/>
                  </a:cubicBezTo>
                  <a:lnTo>
                    <a:pt x="178474" y="78461"/>
                  </a:lnTo>
                  <a:lnTo>
                    <a:pt x="216694" y="116681"/>
                  </a:lnTo>
                  <a:lnTo>
                    <a:pt x="233362" y="100012"/>
                  </a:lnTo>
                  <a:lnTo>
                    <a:pt x="233362" y="0"/>
                  </a:lnTo>
                  <a:lnTo>
                    <a:pt x="133350" y="0"/>
                  </a:lnTo>
                  <a:lnTo>
                    <a:pt x="116681" y="16669"/>
                  </a:lnTo>
                  <a:lnTo>
                    <a:pt x="154901" y="54889"/>
                  </a:lnTo>
                  <a:lnTo>
                    <a:pt x="145136" y="64653"/>
                  </a:lnTo>
                  <a:close/>
                </a:path>
              </a:pathLst>
            </a:custGeom>
            <a:solidFill>
              <a:srgbClr val="2C7BC0"/>
            </a:solidFill>
            <a:ln>
              <a:noFill/>
            </a:ln>
          </p:spPr>
        </p:sp>
      </p:grpSp>
      <p:sp>
        <p:nvSpPr>
          <p:cNvPr id="17" name="TextBox 17"/>
          <p:cNvSpPr txBox="1"/>
          <p:nvPr/>
        </p:nvSpPr>
        <p:spPr>
          <a:xfrm>
            <a:off x="6446520" y="2617470"/>
            <a:ext cx="5268811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通过 Skills 编排实现任务自动化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6115050" y="3295650"/>
            <a:ext cx="266700" cy="266700"/>
            <a:chOff x="6115050" y="3295650"/>
            <a:chExt cx="266700" cy="266700"/>
          </a:xfrm>
        </p:grpSpPr>
        <p:sp>
          <p:nvSpPr>
            <p:cNvPr id="18" name="Freeform 18"/>
            <p:cNvSpPr/>
            <p:nvPr/>
          </p:nvSpPr>
          <p:spPr>
            <a:xfrm>
              <a:off x="6248400" y="3295650"/>
              <a:ext cx="116681" cy="116681"/>
            </a:xfrm>
            <a:custGeom>
              <a:avLst/>
              <a:gdLst/>
              <a:ahLst/>
              <a:cxnLst/>
              <a:rect l="l" t="t" r="r" b="b"/>
              <a:pathLst>
                <a:path w="116681" h="116681">
                  <a:moveTo>
                    <a:pt x="0" y="50006"/>
                  </a:moveTo>
                  <a:lnTo>
                    <a:pt x="41672" y="41672"/>
                  </a:lnTo>
                  <a:lnTo>
                    <a:pt x="50006" y="0"/>
                  </a:lnTo>
                  <a:lnTo>
                    <a:pt x="66675" y="0"/>
                  </a:lnTo>
                  <a:lnTo>
                    <a:pt x="75009" y="41672"/>
                  </a:lnTo>
                  <a:lnTo>
                    <a:pt x="116681" y="50006"/>
                  </a:lnTo>
                  <a:lnTo>
                    <a:pt x="116681" y="66675"/>
                  </a:lnTo>
                  <a:lnTo>
                    <a:pt x="75009" y="75009"/>
                  </a:lnTo>
                  <a:lnTo>
                    <a:pt x="66675" y="116681"/>
                  </a:lnTo>
                  <a:lnTo>
                    <a:pt x="50006" y="116681"/>
                  </a:lnTo>
                  <a:lnTo>
                    <a:pt x="41672" y="75009"/>
                  </a:lnTo>
                  <a:lnTo>
                    <a:pt x="0" y="66675"/>
                  </a:lnTo>
                  <a:lnTo>
                    <a:pt x="0" y="50006"/>
                  </a:lnTo>
                  <a:close/>
                </a:path>
              </a:pathLst>
            </a:custGeom>
            <a:solidFill>
              <a:srgbClr val="2C7BC0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6115050" y="3378994"/>
              <a:ext cx="183356" cy="183356"/>
            </a:xfrm>
            <a:custGeom>
              <a:avLst/>
              <a:gdLst/>
              <a:ahLst/>
              <a:cxnLst/>
              <a:rect l="l" t="t" r="r" b="b"/>
              <a:pathLst>
                <a:path w="183356" h="183356">
                  <a:moveTo>
                    <a:pt x="0" y="100012"/>
                  </a:moveTo>
                  <a:lnTo>
                    <a:pt x="0" y="83344"/>
                  </a:lnTo>
                  <a:lnTo>
                    <a:pt x="66675" y="66675"/>
                  </a:lnTo>
                  <a:lnTo>
                    <a:pt x="83344" y="0"/>
                  </a:lnTo>
                  <a:lnTo>
                    <a:pt x="100012" y="0"/>
                  </a:lnTo>
                  <a:lnTo>
                    <a:pt x="116681" y="66675"/>
                  </a:lnTo>
                  <a:lnTo>
                    <a:pt x="183356" y="83344"/>
                  </a:lnTo>
                  <a:lnTo>
                    <a:pt x="183356" y="100012"/>
                  </a:lnTo>
                  <a:lnTo>
                    <a:pt x="116681" y="116681"/>
                  </a:lnTo>
                  <a:lnTo>
                    <a:pt x="100012" y="183356"/>
                  </a:lnTo>
                  <a:lnTo>
                    <a:pt x="83344" y="183356"/>
                  </a:lnTo>
                  <a:lnTo>
                    <a:pt x="66675" y="116681"/>
                  </a:lnTo>
                  <a:lnTo>
                    <a:pt x="0" y="100012"/>
                  </a:lnTo>
                  <a:close/>
                </a:path>
              </a:pathLst>
            </a:custGeom>
            <a:solidFill>
              <a:srgbClr val="2C7BC0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6131719" y="3303984"/>
              <a:ext cx="50006" cy="50006"/>
            </a:xfrm>
            <a:custGeom>
              <a:avLst/>
              <a:gdLst/>
              <a:ahLst/>
              <a:cxnLst/>
              <a:rect l="l" t="t" r="r" b="b"/>
              <a:pathLst>
                <a:path w="50006" h="50006">
                  <a:moveTo>
                    <a:pt x="0" y="25003"/>
                  </a:moveTo>
                  <a:lnTo>
                    <a:pt x="25003" y="0"/>
                  </a:lnTo>
                  <a:lnTo>
                    <a:pt x="50006" y="25003"/>
                  </a:lnTo>
                  <a:lnTo>
                    <a:pt x="25003" y="50006"/>
                  </a:lnTo>
                  <a:lnTo>
                    <a:pt x="0" y="25003"/>
                  </a:lnTo>
                  <a:close/>
                </a:path>
              </a:pathLst>
            </a:custGeom>
            <a:solidFill>
              <a:srgbClr val="2C7BC0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6298406" y="3495675"/>
              <a:ext cx="66675" cy="66675"/>
            </a:xfrm>
            <a:custGeom>
              <a:avLst/>
              <a:gdLst/>
              <a:ahLst/>
              <a:cxnLst/>
              <a:rect l="l" t="t" r="r" b="b"/>
              <a:pathLst>
                <a:path w="66675" h="66675">
                  <a:moveTo>
                    <a:pt x="66675" y="33338"/>
                  </a:moveTo>
                  <a:lnTo>
                    <a:pt x="33338" y="0"/>
                  </a:lnTo>
                  <a:lnTo>
                    <a:pt x="0" y="33338"/>
                  </a:lnTo>
                  <a:lnTo>
                    <a:pt x="33338" y="66675"/>
                  </a:lnTo>
                  <a:lnTo>
                    <a:pt x="66675" y="33338"/>
                  </a:lnTo>
                  <a:close/>
                </a:path>
              </a:pathLst>
            </a:custGeom>
            <a:solidFill>
              <a:srgbClr val="2C7BC0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6348412" y="3429000"/>
              <a:ext cx="33338" cy="33338"/>
            </a:xfrm>
            <a:custGeom>
              <a:avLst/>
              <a:gdLst/>
              <a:ahLst/>
              <a:cxnLst/>
              <a:rect l="l" t="t" r="r" b="b"/>
              <a:pathLst>
                <a:path w="33338" h="33338">
                  <a:moveTo>
                    <a:pt x="16669" y="33338"/>
                  </a:moveTo>
                  <a:cubicBezTo>
                    <a:pt x="25875" y="33338"/>
                    <a:pt x="33338" y="25875"/>
                    <a:pt x="33338" y="16669"/>
                  </a:cubicBezTo>
                  <a:cubicBezTo>
                    <a:pt x="33338" y="7463"/>
                    <a:pt x="25875" y="0"/>
                    <a:pt x="16669" y="0"/>
                  </a:cubicBezTo>
                  <a:cubicBezTo>
                    <a:pt x="7463" y="0"/>
                    <a:pt x="0" y="7463"/>
                    <a:pt x="0" y="16669"/>
                  </a:cubicBezTo>
                  <a:cubicBezTo>
                    <a:pt x="0" y="25875"/>
                    <a:pt x="7463" y="33338"/>
                    <a:pt x="16669" y="33338"/>
                  </a:cubicBezTo>
                  <a:close/>
                </a:path>
              </a:pathLst>
            </a:custGeom>
            <a:solidFill>
              <a:srgbClr val="2C7BC0"/>
            </a:solidFill>
            <a:ln>
              <a:noFill/>
            </a:ln>
          </p:spPr>
        </p:sp>
      </p:grpSp>
      <p:sp>
        <p:nvSpPr>
          <p:cNvPr id="24" name="TextBox 24"/>
          <p:cNvSpPr txBox="1"/>
          <p:nvPr/>
        </p:nvSpPr>
        <p:spPr>
          <a:xfrm>
            <a:off x="6446520" y="3246120"/>
            <a:ext cx="4477512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支持全链路追踪与运营治理</a:t>
            </a:r>
          </a:p>
        </p:txBody>
      </p:sp>
      <p:sp>
        <p:nvSpPr>
          <p:cNvPr id="25" name="Freeform 25"/>
          <p:cNvSpPr/>
          <p:nvPr/>
        </p:nvSpPr>
        <p:spPr>
          <a:xfrm>
            <a:off x="533400" y="4667250"/>
            <a:ext cx="11125200" cy="1543050"/>
          </a:xfrm>
          <a:custGeom>
            <a:avLst/>
            <a:gdLst/>
            <a:ahLst/>
            <a:cxnLst/>
            <a:rect l="l" t="t" r="r" b="b"/>
            <a:pathLst>
              <a:path w="11125200" h="1543050">
                <a:moveTo>
                  <a:pt x="114300" y="0"/>
                </a:moveTo>
                <a:lnTo>
                  <a:pt x="11010900" y="0"/>
                </a:lnTo>
                <a:cubicBezTo>
                  <a:pt x="11074026" y="0"/>
                  <a:pt x="11125200" y="51174"/>
                  <a:pt x="11125200" y="114300"/>
                </a:cubicBezTo>
                <a:lnTo>
                  <a:pt x="11125200" y="1428750"/>
                </a:lnTo>
                <a:cubicBezTo>
                  <a:pt x="11125200" y="1491876"/>
                  <a:pt x="11074026" y="1543050"/>
                  <a:pt x="11010900" y="1543050"/>
                </a:cubicBezTo>
                <a:lnTo>
                  <a:pt x="114300" y="1543050"/>
                </a:lnTo>
                <a:cubicBezTo>
                  <a:pt x="51174" y="1543050"/>
                  <a:pt x="0" y="1491876"/>
                  <a:pt x="0" y="14287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4F2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767715" y="4811078"/>
            <a:ext cx="4737804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语义匹配图表：bar_chart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71525" y="5300662"/>
            <a:ext cx="14187487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平台采用数据底座、智能体引擎、业务应用三层架构，形成从问题识别到产物交付的端到端流程。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73430" y="5716905"/>
            <a:ext cx="184756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· 关键要点四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46710" y="489585"/>
            <a:ext cx="379504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能力矩阵与场景覆盖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8140" y="1120140"/>
            <a:ext cx="777468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以影响度和实施复杂度构建能力矩阵，明确优先级与落地节奏。</a:t>
            </a:r>
          </a:p>
        </p:txBody>
      </p:sp>
      <p:sp>
        <p:nvSpPr>
          <p:cNvPr id="6" name="Freeform 6"/>
          <p:cNvSpPr/>
          <p:nvPr/>
        </p:nvSpPr>
        <p:spPr>
          <a:xfrm>
            <a:off x="400050" y="1562100"/>
            <a:ext cx="11391900" cy="4762500"/>
          </a:xfrm>
          <a:custGeom>
            <a:avLst/>
            <a:gdLst/>
            <a:ahLst/>
            <a:cxnLst/>
            <a:rect l="l" t="t" r="r" b="b"/>
            <a:pathLst>
              <a:path w="11391900" h="4762500">
                <a:moveTo>
                  <a:pt x="171450" y="0"/>
                </a:moveTo>
                <a:lnTo>
                  <a:pt x="11220450" y="0"/>
                </a:lnTo>
                <a:cubicBezTo>
                  <a:pt x="11315139" y="0"/>
                  <a:pt x="11391900" y="76761"/>
                  <a:pt x="11391900" y="171450"/>
                </a:cubicBezTo>
                <a:lnTo>
                  <a:pt x="11391900" y="4591050"/>
                </a:lnTo>
                <a:cubicBezTo>
                  <a:pt x="11391900" y="4685739"/>
                  <a:pt x="11315139" y="4762500"/>
                  <a:pt x="11220450" y="4762500"/>
                </a:cubicBezTo>
                <a:lnTo>
                  <a:pt x="171450" y="4762500"/>
                </a:lnTo>
                <a:cubicBezTo>
                  <a:pt x="76761" y="4762500"/>
                  <a:pt x="0" y="4685739"/>
                  <a:pt x="0" y="45910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>
              <a:alpha val="95000"/>
            </a:srgbClr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533400" y="1752600"/>
            <a:ext cx="5162550" cy="2781300"/>
          </a:xfrm>
          <a:custGeom>
            <a:avLst/>
            <a:gdLst/>
            <a:ahLst/>
            <a:cxnLst/>
            <a:rect l="l" t="t" r="r" b="b"/>
            <a:pathLst>
              <a:path w="5162550" h="2781300">
                <a:moveTo>
                  <a:pt x="114300" y="0"/>
                </a:moveTo>
                <a:lnTo>
                  <a:pt x="5048250" y="0"/>
                </a:lnTo>
                <a:cubicBezTo>
                  <a:pt x="5111376" y="0"/>
                  <a:pt x="5162550" y="51174"/>
                  <a:pt x="5162550" y="114300"/>
                </a:cubicBezTo>
                <a:lnTo>
                  <a:pt x="5162550" y="2667000"/>
                </a:lnTo>
                <a:cubicBezTo>
                  <a:pt x="5162550" y="2730126"/>
                  <a:pt x="5111376" y="2781300"/>
                  <a:pt x="5048250" y="2781300"/>
                </a:cubicBezTo>
                <a:lnTo>
                  <a:pt x="114300" y="2781300"/>
                </a:lnTo>
                <a:cubicBezTo>
                  <a:pt x="51174" y="2781300"/>
                  <a:pt x="0" y="2730126"/>
                  <a:pt x="0" y="26670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4F2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5886450" y="1752600"/>
            <a:ext cx="5772150" cy="2781300"/>
          </a:xfrm>
          <a:custGeom>
            <a:avLst/>
            <a:gdLst/>
            <a:ahLst/>
            <a:cxnLst/>
            <a:rect l="l" t="t" r="r" b="b"/>
            <a:pathLst>
              <a:path w="5772150" h="2781300">
                <a:moveTo>
                  <a:pt x="114300" y="0"/>
                </a:moveTo>
                <a:lnTo>
                  <a:pt x="5657850" y="0"/>
                </a:lnTo>
                <a:cubicBezTo>
                  <a:pt x="5720976" y="0"/>
                  <a:pt x="5772150" y="51174"/>
                  <a:pt x="5772150" y="114300"/>
                </a:cubicBezTo>
                <a:lnTo>
                  <a:pt x="5772150" y="2667000"/>
                </a:lnTo>
                <a:cubicBezTo>
                  <a:pt x="5772150" y="2730126"/>
                  <a:pt x="5720976" y="2781300"/>
                  <a:pt x="5657850" y="2781300"/>
                </a:cubicBezTo>
                <a:lnTo>
                  <a:pt x="114300" y="2781300"/>
                </a:lnTo>
                <a:cubicBezTo>
                  <a:pt x="51174" y="2781300"/>
                  <a:pt x="0" y="2730126"/>
                  <a:pt x="0" y="26670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7FBFF"/>
          </a:solidFill>
          <a:ln w="9525">
            <a:solidFill>
              <a:srgbClr val="D7E4F2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6115050" y="2038350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50" y="266700"/>
                </a:moveTo>
                <a:cubicBezTo>
                  <a:pt x="206998" y="266700"/>
                  <a:pt x="266700" y="206998"/>
                  <a:pt x="266700" y="133350"/>
                </a:cubicBezTo>
                <a:cubicBezTo>
                  <a:pt x="266700" y="59703"/>
                  <a:pt x="206998" y="0"/>
                  <a:pt x="133350" y="0"/>
                </a:cubicBezTo>
                <a:cubicBezTo>
                  <a:pt x="59703" y="0"/>
                  <a:pt x="0" y="59703"/>
                  <a:pt x="0" y="133350"/>
                </a:cubicBezTo>
                <a:cubicBezTo>
                  <a:pt x="0" y="206998"/>
                  <a:pt x="59703" y="266700"/>
                  <a:pt x="133350" y="266700"/>
                </a:cubicBezTo>
                <a:close/>
                <a:moveTo>
                  <a:pt x="150019" y="83344"/>
                </a:moveTo>
                <a:lnTo>
                  <a:pt x="116681" y="83344"/>
                </a:lnTo>
                <a:lnTo>
                  <a:pt x="116681" y="183356"/>
                </a:lnTo>
                <a:lnTo>
                  <a:pt x="150019" y="183356"/>
                </a:lnTo>
                <a:lnTo>
                  <a:pt x="150019" y="83344"/>
                </a:lnTo>
                <a:close/>
              </a:path>
            </a:pathLst>
          </a:custGeom>
          <a:solidFill>
            <a:srgbClr val="2C7BC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6446520" y="1988820"/>
            <a:ext cx="484555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优先推进高价值、低门槛场景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6131719" y="2683669"/>
            <a:ext cx="233362" cy="233362"/>
            <a:chOff x="6131719" y="2683669"/>
            <a:chExt cx="233362" cy="233362"/>
          </a:xfrm>
        </p:grpSpPr>
        <p:sp>
          <p:nvSpPr>
            <p:cNvPr id="11" name="Freeform 11"/>
            <p:cNvSpPr/>
            <p:nvPr/>
          </p:nvSpPr>
          <p:spPr>
            <a:xfrm>
              <a:off x="6131719" y="2683669"/>
              <a:ext cx="233362" cy="146084"/>
            </a:xfrm>
            <a:custGeom>
              <a:avLst/>
              <a:gdLst/>
              <a:ahLst/>
              <a:cxnLst/>
              <a:rect l="l" t="t" r="r" b="b"/>
              <a:pathLst>
                <a:path w="233362" h="146084">
                  <a:moveTo>
                    <a:pt x="233362" y="0"/>
                  </a:moveTo>
                  <a:lnTo>
                    <a:pt x="0" y="0"/>
                  </a:lnTo>
                  <a:lnTo>
                    <a:pt x="0" y="100012"/>
                  </a:lnTo>
                  <a:lnTo>
                    <a:pt x="39704" y="100012"/>
                  </a:lnTo>
                  <a:lnTo>
                    <a:pt x="64707" y="50006"/>
                  </a:lnTo>
                  <a:lnTo>
                    <a:pt x="101980" y="50006"/>
                  </a:lnTo>
                  <a:lnTo>
                    <a:pt x="150019" y="146084"/>
                  </a:lnTo>
                  <a:lnTo>
                    <a:pt x="173055" y="100012"/>
                  </a:lnTo>
                  <a:lnTo>
                    <a:pt x="233362" y="100012"/>
                  </a:lnTo>
                  <a:lnTo>
                    <a:pt x="233362" y="0"/>
                  </a:lnTo>
                  <a:close/>
                </a:path>
              </a:pathLst>
            </a:custGeom>
            <a:solidFill>
              <a:srgbClr val="2C7BC0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6131719" y="2770947"/>
              <a:ext cx="233362" cy="146084"/>
            </a:xfrm>
            <a:custGeom>
              <a:avLst/>
              <a:gdLst/>
              <a:ahLst/>
              <a:cxnLst/>
              <a:rect l="l" t="t" r="r" b="b"/>
              <a:pathLst>
                <a:path w="233362" h="146084">
                  <a:moveTo>
                    <a:pt x="233362" y="46071"/>
                  </a:moveTo>
                  <a:lnTo>
                    <a:pt x="193658" y="46071"/>
                  </a:lnTo>
                  <a:lnTo>
                    <a:pt x="168654" y="96078"/>
                  </a:lnTo>
                  <a:lnTo>
                    <a:pt x="131383" y="96078"/>
                  </a:lnTo>
                  <a:lnTo>
                    <a:pt x="83344" y="0"/>
                  </a:lnTo>
                  <a:lnTo>
                    <a:pt x="60308" y="46071"/>
                  </a:lnTo>
                  <a:lnTo>
                    <a:pt x="0" y="46071"/>
                  </a:lnTo>
                  <a:lnTo>
                    <a:pt x="0" y="146084"/>
                  </a:lnTo>
                  <a:lnTo>
                    <a:pt x="233362" y="146084"/>
                  </a:lnTo>
                  <a:lnTo>
                    <a:pt x="233362" y="46071"/>
                  </a:lnTo>
                  <a:close/>
                </a:path>
              </a:pathLst>
            </a:custGeom>
            <a:solidFill>
              <a:srgbClr val="2C7BC0"/>
            </a:solidFill>
            <a:ln>
              <a:noFill/>
            </a:ln>
          </p:spPr>
        </p:sp>
      </p:grpSp>
      <p:sp>
        <p:nvSpPr>
          <p:cNvPr id="14" name="TextBox 14"/>
          <p:cNvSpPr txBox="1"/>
          <p:nvPr/>
        </p:nvSpPr>
        <p:spPr>
          <a:xfrm>
            <a:off x="6446520" y="2617470"/>
            <a:ext cx="484555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聚焦生产经营分析与汇报提效</a:t>
            </a:r>
          </a:p>
        </p:txBody>
      </p:sp>
      <p:sp>
        <p:nvSpPr>
          <p:cNvPr id="15" name="Freeform 15"/>
          <p:cNvSpPr/>
          <p:nvPr/>
        </p:nvSpPr>
        <p:spPr>
          <a:xfrm>
            <a:off x="6115050" y="3295650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83356" y="50006"/>
                </a:moveTo>
                <a:cubicBezTo>
                  <a:pt x="183356" y="71779"/>
                  <a:pt x="169441" y="90302"/>
                  <a:pt x="150019" y="97167"/>
                </a:cubicBezTo>
                <a:lnTo>
                  <a:pt x="150019" y="231979"/>
                </a:lnTo>
                <a:cubicBezTo>
                  <a:pt x="191899" y="224953"/>
                  <a:pt x="224953" y="191899"/>
                  <a:pt x="231979" y="150019"/>
                </a:cubicBezTo>
                <a:lnTo>
                  <a:pt x="200025" y="150019"/>
                </a:lnTo>
                <a:lnTo>
                  <a:pt x="200025" y="116681"/>
                </a:lnTo>
                <a:lnTo>
                  <a:pt x="266700" y="116681"/>
                </a:lnTo>
                <a:lnTo>
                  <a:pt x="266700" y="133350"/>
                </a:lnTo>
                <a:cubicBezTo>
                  <a:pt x="266700" y="206998"/>
                  <a:pt x="206998" y="266700"/>
                  <a:pt x="133350" y="266700"/>
                </a:cubicBezTo>
                <a:cubicBezTo>
                  <a:pt x="59703" y="266700"/>
                  <a:pt x="0" y="206998"/>
                  <a:pt x="0" y="133350"/>
                </a:cubicBezTo>
                <a:lnTo>
                  <a:pt x="0" y="116681"/>
                </a:lnTo>
                <a:lnTo>
                  <a:pt x="66675" y="116681"/>
                </a:lnTo>
                <a:lnTo>
                  <a:pt x="66675" y="150019"/>
                </a:lnTo>
                <a:lnTo>
                  <a:pt x="34720" y="150019"/>
                </a:lnTo>
                <a:cubicBezTo>
                  <a:pt x="41747" y="191899"/>
                  <a:pt x="74801" y="224953"/>
                  <a:pt x="116681" y="231979"/>
                </a:cubicBezTo>
                <a:lnTo>
                  <a:pt x="116681" y="97167"/>
                </a:lnTo>
                <a:cubicBezTo>
                  <a:pt x="97259" y="90302"/>
                  <a:pt x="83344" y="71779"/>
                  <a:pt x="83344" y="50006"/>
                </a:cubicBezTo>
                <a:cubicBezTo>
                  <a:pt x="83344" y="22389"/>
                  <a:pt x="105732" y="0"/>
                  <a:pt x="133350" y="0"/>
                </a:cubicBezTo>
                <a:cubicBezTo>
                  <a:pt x="160968" y="0"/>
                  <a:pt x="183356" y="22389"/>
                  <a:pt x="183356" y="50006"/>
                </a:cubicBezTo>
                <a:close/>
              </a:path>
            </a:pathLst>
          </a:custGeom>
          <a:solidFill>
            <a:srgbClr val="2C7BC0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6446520" y="3246120"/>
            <a:ext cx="4477512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逐步扩展到风控与知识工程</a:t>
            </a:r>
          </a:p>
        </p:txBody>
      </p:sp>
      <p:sp>
        <p:nvSpPr>
          <p:cNvPr id="17" name="Freeform 17"/>
          <p:cNvSpPr/>
          <p:nvPr/>
        </p:nvSpPr>
        <p:spPr>
          <a:xfrm>
            <a:off x="533400" y="4667250"/>
            <a:ext cx="11125200" cy="1543050"/>
          </a:xfrm>
          <a:custGeom>
            <a:avLst/>
            <a:gdLst/>
            <a:ahLst/>
            <a:cxnLst/>
            <a:rect l="l" t="t" r="r" b="b"/>
            <a:pathLst>
              <a:path w="11125200" h="1543050">
                <a:moveTo>
                  <a:pt x="114300" y="0"/>
                </a:moveTo>
                <a:lnTo>
                  <a:pt x="11010900" y="0"/>
                </a:lnTo>
                <a:cubicBezTo>
                  <a:pt x="11074026" y="0"/>
                  <a:pt x="11125200" y="51174"/>
                  <a:pt x="11125200" y="114300"/>
                </a:cubicBezTo>
                <a:lnTo>
                  <a:pt x="11125200" y="1428750"/>
                </a:lnTo>
                <a:cubicBezTo>
                  <a:pt x="11125200" y="1491876"/>
                  <a:pt x="11074026" y="1543050"/>
                  <a:pt x="11010900" y="1543050"/>
                </a:cubicBezTo>
                <a:lnTo>
                  <a:pt x="114300" y="1543050"/>
                </a:lnTo>
                <a:cubicBezTo>
                  <a:pt x="51174" y="1543050"/>
                  <a:pt x="0" y="1491876"/>
                  <a:pt x="0" y="14287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4F2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767715" y="4811078"/>
            <a:ext cx="4737804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语义匹配图表：bar_chart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71525" y="5300662"/>
            <a:ext cx="92583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以影响度和实施复杂度构建能力矩阵，明确优先级与落地节奏。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73430" y="5716905"/>
            <a:ext cx="184756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· 关键要点四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" y="0"/>
            <a:ext cx="12099608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018813" y="1868805"/>
            <a:ext cx="2154374" cy="2255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10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5" name="Line 5"/>
          <p:cNvSpPr/>
          <p:nvPr/>
        </p:nvSpPr>
        <p:spPr>
          <a:xfrm>
            <a:off x="3981450" y="3638550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38100">
            <a:solidFill>
              <a:srgbClr val="0074CC"/>
            </a:solidFill>
          </a:ln>
        </p:spPr>
      </p:sp>
      <p:sp>
        <p:nvSpPr>
          <p:cNvPr id="6" name="Line 6"/>
          <p:cNvSpPr/>
          <p:nvPr/>
        </p:nvSpPr>
        <p:spPr>
          <a:xfrm>
            <a:off x="5505450" y="3638550"/>
            <a:ext cx="1181100" cy="9525"/>
          </a:xfrm>
          <a:custGeom>
            <a:avLst/>
            <a:gdLst/>
            <a:ahLst/>
            <a:cxnLst/>
            <a:rect l="l" t="t" r="r" b="b"/>
            <a:pathLst>
              <a:path w="1181100" h="9525">
                <a:moveTo>
                  <a:pt x="0" y="0"/>
                </a:moveTo>
                <a:lnTo>
                  <a:pt x="1181100" y="0"/>
                </a:lnTo>
              </a:path>
            </a:pathLst>
          </a:custGeom>
          <a:noFill/>
          <a:ln w="38100">
            <a:solidFill>
              <a:srgbClr val="DE002B"/>
            </a:solidFill>
          </a:ln>
        </p:spPr>
      </p:sp>
      <p:sp>
        <p:nvSpPr>
          <p:cNvPr id="7" name="Line 7"/>
          <p:cNvSpPr/>
          <p:nvPr/>
        </p:nvSpPr>
        <p:spPr>
          <a:xfrm>
            <a:off x="6686550" y="3638550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38100">
            <a:solidFill>
              <a:srgbClr val="0074CC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879282" y="4095750"/>
            <a:ext cx="8433435" cy="1219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试点成效与推广计划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46710" y="489585"/>
            <a:ext cx="379504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试点成效与推广路径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8140" y="1120140"/>
            <a:ext cx="91548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围绕效率、质量、管理三类指标形成可量化成效，并分阶段制定推广路径。</a:t>
            </a:r>
          </a:p>
        </p:txBody>
      </p:sp>
      <p:sp>
        <p:nvSpPr>
          <p:cNvPr id="6" name="Freeform 6"/>
          <p:cNvSpPr/>
          <p:nvPr/>
        </p:nvSpPr>
        <p:spPr>
          <a:xfrm>
            <a:off x="400050" y="1562100"/>
            <a:ext cx="11391900" cy="4762500"/>
          </a:xfrm>
          <a:custGeom>
            <a:avLst/>
            <a:gdLst/>
            <a:ahLst/>
            <a:cxnLst/>
            <a:rect l="l" t="t" r="r" b="b"/>
            <a:pathLst>
              <a:path w="11391900" h="4762500">
                <a:moveTo>
                  <a:pt x="171450" y="0"/>
                </a:moveTo>
                <a:lnTo>
                  <a:pt x="11220450" y="0"/>
                </a:lnTo>
                <a:cubicBezTo>
                  <a:pt x="11315139" y="0"/>
                  <a:pt x="11391900" y="76761"/>
                  <a:pt x="11391900" y="171450"/>
                </a:cubicBezTo>
                <a:lnTo>
                  <a:pt x="11391900" y="4591050"/>
                </a:lnTo>
                <a:cubicBezTo>
                  <a:pt x="11391900" y="4685739"/>
                  <a:pt x="11315139" y="4762500"/>
                  <a:pt x="11220450" y="4762500"/>
                </a:cubicBezTo>
                <a:lnTo>
                  <a:pt x="171450" y="4762500"/>
                </a:lnTo>
                <a:cubicBezTo>
                  <a:pt x="76761" y="4762500"/>
                  <a:pt x="0" y="4685739"/>
                  <a:pt x="0" y="45910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>
              <a:alpha val="95000"/>
            </a:srgbClr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533400" y="1752600"/>
            <a:ext cx="4953000" cy="4457700"/>
          </a:xfrm>
          <a:custGeom>
            <a:avLst/>
            <a:gdLst/>
            <a:ahLst/>
            <a:cxnLst/>
            <a:rect l="l" t="t" r="r" b="b"/>
            <a:pathLst>
              <a:path w="4953000" h="4457700">
                <a:moveTo>
                  <a:pt x="114300" y="0"/>
                </a:moveTo>
                <a:lnTo>
                  <a:pt x="4838700" y="0"/>
                </a:lnTo>
                <a:cubicBezTo>
                  <a:pt x="4901826" y="0"/>
                  <a:pt x="4953000" y="51174"/>
                  <a:pt x="4953000" y="114300"/>
                </a:cubicBezTo>
                <a:lnTo>
                  <a:pt x="4953000" y="4343400"/>
                </a:lnTo>
                <a:cubicBezTo>
                  <a:pt x="4953000" y="4406526"/>
                  <a:pt x="4901826" y="4457700"/>
                  <a:pt x="4838700" y="4457700"/>
                </a:cubicBezTo>
                <a:lnTo>
                  <a:pt x="114300" y="4457700"/>
                </a:lnTo>
                <a:cubicBezTo>
                  <a:pt x="51174" y="4457700"/>
                  <a:pt x="0" y="4406526"/>
                  <a:pt x="0" y="43434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4F2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666750" y="2095500"/>
            <a:ext cx="4953000" cy="419100"/>
          </a:xfrm>
          <a:custGeom>
            <a:avLst/>
            <a:gdLst/>
            <a:ahLst/>
            <a:cxnLst/>
            <a:rect l="l" t="t" r="r" b="b"/>
            <a:pathLst>
              <a:path w="4953000" h="4191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342900"/>
                </a:lnTo>
                <a:cubicBezTo>
                  <a:pt x="4953000" y="384984"/>
                  <a:pt x="4918884" y="419100"/>
                  <a:pt x="4876800" y="419100"/>
                </a:cubicBezTo>
                <a:lnTo>
                  <a:pt x="76200" y="419100"/>
                </a:lnTo>
                <a:cubicBezTo>
                  <a:pt x="34116" y="419100"/>
                  <a:pt x="0" y="384984"/>
                  <a:pt x="0" y="3429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9" name="Freeform 9"/>
          <p:cNvSpPr/>
          <p:nvPr/>
        </p:nvSpPr>
        <p:spPr>
          <a:xfrm>
            <a:off x="790575" y="215265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00012" y="100012"/>
                </a:moveTo>
                <a:lnTo>
                  <a:pt x="114300" y="0"/>
                </a:lnTo>
                <a:lnTo>
                  <a:pt x="85725" y="0"/>
                </a:lnTo>
                <a:lnTo>
                  <a:pt x="0" y="100012"/>
                </a:lnTo>
                <a:lnTo>
                  <a:pt x="0" y="128588"/>
                </a:lnTo>
                <a:lnTo>
                  <a:pt x="71438" y="128588"/>
                </a:lnTo>
                <a:lnTo>
                  <a:pt x="57150" y="228600"/>
                </a:lnTo>
                <a:lnTo>
                  <a:pt x="85725" y="228600"/>
                </a:lnTo>
                <a:lnTo>
                  <a:pt x="171450" y="128588"/>
                </a:lnTo>
                <a:lnTo>
                  <a:pt x="171450" y="100012"/>
                </a:lnTo>
                <a:lnTo>
                  <a:pt x="100012" y="100012"/>
                </a:lnTo>
                <a:close/>
              </a:path>
            </a:pathLst>
          </a:custGeom>
          <a:solidFill>
            <a:srgbClr val="0074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062990" y="2129790"/>
            <a:ext cx="412051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效率：核心报告产出时长下降 30%+</a:t>
            </a:r>
          </a:p>
        </p:txBody>
      </p:sp>
      <p:sp>
        <p:nvSpPr>
          <p:cNvPr id="11" name="Freeform 11"/>
          <p:cNvSpPr/>
          <p:nvPr/>
        </p:nvSpPr>
        <p:spPr>
          <a:xfrm>
            <a:off x="666750" y="2705100"/>
            <a:ext cx="4953000" cy="419100"/>
          </a:xfrm>
          <a:custGeom>
            <a:avLst/>
            <a:gdLst/>
            <a:ahLst/>
            <a:cxnLst/>
            <a:rect l="l" t="t" r="r" b="b"/>
            <a:pathLst>
              <a:path w="4953000" h="4191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342900"/>
                </a:lnTo>
                <a:cubicBezTo>
                  <a:pt x="4953000" y="384984"/>
                  <a:pt x="4918884" y="419100"/>
                  <a:pt x="4876800" y="419100"/>
                </a:cubicBezTo>
                <a:lnTo>
                  <a:pt x="76200" y="419100"/>
                </a:lnTo>
                <a:cubicBezTo>
                  <a:pt x="34116" y="419100"/>
                  <a:pt x="0" y="384984"/>
                  <a:pt x="0" y="3429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>
              <a:alpha val="82000"/>
            </a:srgbClr>
          </a:solidFill>
          <a:ln>
            <a:noFill/>
          </a:ln>
        </p:spPr>
      </p:sp>
      <p:grpSp>
        <p:nvGrpSpPr>
          <p:cNvPr id="16" name="Group 16"/>
          <p:cNvGrpSpPr/>
          <p:nvPr/>
        </p:nvGrpSpPr>
        <p:grpSpPr>
          <a:xfrm>
            <a:off x="762000" y="2776538"/>
            <a:ext cx="228600" cy="200024"/>
            <a:chOff x="762000" y="2776538"/>
            <a:chExt cx="228600" cy="200024"/>
          </a:xfrm>
        </p:grpSpPr>
        <p:sp>
          <p:nvSpPr>
            <p:cNvPr id="12" name="Freeform 12"/>
            <p:cNvSpPr/>
            <p:nvPr/>
          </p:nvSpPr>
          <p:spPr>
            <a:xfrm>
              <a:off x="804862" y="2776538"/>
              <a:ext cx="71438" cy="71438"/>
            </a:xfrm>
            <a:custGeom>
              <a:avLst/>
              <a:gdLst/>
              <a:ahLst/>
              <a:cxnLst/>
              <a:rect l="l" t="t" r="r" b="b"/>
              <a:pathLst>
                <a:path w="71438" h="71438">
                  <a:moveTo>
                    <a:pt x="71438" y="35719"/>
                  </a:moveTo>
                  <a:cubicBezTo>
                    <a:pt x="71438" y="55446"/>
                    <a:pt x="55446" y="71438"/>
                    <a:pt x="35719" y="71438"/>
                  </a:cubicBezTo>
                  <a:cubicBezTo>
                    <a:pt x="15992" y="71438"/>
                    <a:pt x="0" y="55446"/>
                    <a:pt x="0" y="35719"/>
                  </a:cubicBezTo>
                  <a:cubicBezTo>
                    <a:pt x="0" y="15992"/>
                    <a:pt x="15992" y="0"/>
                    <a:pt x="35719" y="0"/>
                  </a:cubicBezTo>
                  <a:cubicBezTo>
                    <a:pt x="55446" y="0"/>
                    <a:pt x="71438" y="15992"/>
                    <a:pt x="71438" y="35719"/>
                  </a:cubicBez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762000" y="2876550"/>
              <a:ext cx="114300" cy="100012"/>
            </a:xfrm>
            <a:custGeom>
              <a:avLst/>
              <a:gdLst/>
              <a:ahLst/>
              <a:cxnLst/>
              <a:rect l="l" t="t" r="r" b="b"/>
              <a:pathLst>
                <a:path w="114300" h="100012">
                  <a:moveTo>
                    <a:pt x="42862" y="0"/>
                  </a:moveTo>
                  <a:cubicBezTo>
                    <a:pt x="19190" y="0"/>
                    <a:pt x="0" y="19190"/>
                    <a:pt x="0" y="42862"/>
                  </a:cubicBezTo>
                  <a:lnTo>
                    <a:pt x="0" y="100012"/>
                  </a:lnTo>
                  <a:lnTo>
                    <a:pt x="114300" y="100012"/>
                  </a:lnTo>
                  <a:lnTo>
                    <a:pt x="114300" y="0"/>
                  </a:lnTo>
                  <a:lnTo>
                    <a:pt x="42862" y="0"/>
                  </a:ln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904875" y="2876550"/>
              <a:ext cx="85725" cy="100012"/>
            </a:xfrm>
            <a:custGeom>
              <a:avLst/>
              <a:gdLst/>
              <a:ahLst/>
              <a:cxnLst/>
              <a:rect l="l" t="t" r="r" b="b"/>
              <a:pathLst>
                <a:path w="85725" h="100012">
                  <a:moveTo>
                    <a:pt x="42862" y="0"/>
                  </a:moveTo>
                  <a:lnTo>
                    <a:pt x="0" y="0"/>
                  </a:lnTo>
                  <a:lnTo>
                    <a:pt x="0" y="100012"/>
                  </a:lnTo>
                  <a:lnTo>
                    <a:pt x="85725" y="100012"/>
                  </a:lnTo>
                  <a:lnTo>
                    <a:pt x="85725" y="42862"/>
                  </a:lnTo>
                  <a:cubicBezTo>
                    <a:pt x="85725" y="19190"/>
                    <a:pt x="66535" y="0"/>
                    <a:pt x="42862" y="0"/>
                  </a:cubicBez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904875" y="2790825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28575" y="57150"/>
                  </a:moveTo>
                  <a:cubicBezTo>
                    <a:pt x="44357" y="57150"/>
                    <a:pt x="57150" y="44357"/>
                    <a:pt x="57150" y="28575"/>
                  </a:cubicBezTo>
                  <a:cubicBezTo>
                    <a:pt x="57150" y="12793"/>
                    <a:pt x="44357" y="0"/>
                    <a:pt x="28575" y="0"/>
                  </a:cubicBezTo>
                  <a:cubicBezTo>
                    <a:pt x="12793" y="0"/>
                    <a:pt x="0" y="12793"/>
                    <a:pt x="0" y="28575"/>
                  </a:cubicBezTo>
                  <a:cubicBezTo>
                    <a:pt x="0" y="44357"/>
                    <a:pt x="12793" y="57150"/>
                    <a:pt x="28575" y="57150"/>
                  </a:cubicBez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</p:grpSp>
      <p:sp>
        <p:nvSpPr>
          <p:cNvPr id="17" name="TextBox 17"/>
          <p:cNvSpPr txBox="1"/>
          <p:nvPr/>
        </p:nvSpPr>
        <p:spPr>
          <a:xfrm>
            <a:off x="1062990" y="2739390"/>
            <a:ext cx="385762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质量：关键口径一致性达到 95%+</a:t>
            </a:r>
          </a:p>
        </p:txBody>
      </p:sp>
      <p:sp>
        <p:nvSpPr>
          <p:cNvPr id="18" name="Freeform 18"/>
          <p:cNvSpPr/>
          <p:nvPr/>
        </p:nvSpPr>
        <p:spPr>
          <a:xfrm>
            <a:off x="666750" y="3314700"/>
            <a:ext cx="4953000" cy="419100"/>
          </a:xfrm>
          <a:custGeom>
            <a:avLst/>
            <a:gdLst/>
            <a:ahLst/>
            <a:cxnLst/>
            <a:rect l="l" t="t" r="r" b="b"/>
            <a:pathLst>
              <a:path w="4953000" h="4191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342900"/>
                </a:lnTo>
                <a:cubicBezTo>
                  <a:pt x="4953000" y="384984"/>
                  <a:pt x="4918884" y="419100"/>
                  <a:pt x="4876800" y="419100"/>
                </a:cubicBezTo>
                <a:lnTo>
                  <a:pt x="76200" y="419100"/>
                </a:lnTo>
                <a:cubicBezTo>
                  <a:pt x="34116" y="419100"/>
                  <a:pt x="0" y="384984"/>
                  <a:pt x="0" y="3429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>
              <a:alpha val="82000"/>
            </a:srgbClr>
          </a:solidFill>
          <a:ln>
            <a:noFill/>
          </a:ln>
        </p:spPr>
      </p:sp>
      <p:grpSp>
        <p:nvGrpSpPr>
          <p:cNvPr id="21" name="Group 21"/>
          <p:cNvGrpSpPr/>
          <p:nvPr/>
        </p:nvGrpSpPr>
        <p:grpSpPr>
          <a:xfrm>
            <a:off x="776288" y="3386138"/>
            <a:ext cx="200025" cy="200025"/>
            <a:chOff x="776288" y="3386138"/>
            <a:chExt cx="200025" cy="200025"/>
          </a:xfrm>
        </p:grpSpPr>
        <p:sp>
          <p:nvSpPr>
            <p:cNvPr id="19" name="Freeform 19"/>
            <p:cNvSpPr/>
            <p:nvPr/>
          </p:nvSpPr>
          <p:spPr>
            <a:xfrm>
              <a:off x="776288" y="3386138"/>
              <a:ext cx="200025" cy="125215"/>
            </a:xfrm>
            <a:custGeom>
              <a:avLst/>
              <a:gdLst/>
              <a:ahLst/>
              <a:cxnLst/>
              <a:rect l="l" t="t" r="r" b="b"/>
              <a:pathLst>
                <a:path w="200025" h="125215">
                  <a:moveTo>
                    <a:pt x="200025" y="0"/>
                  </a:moveTo>
                  <a:lnTo>
                    <a:pt x="0" y="0"/>
                  </a:lnTo>
                  <a:lnTo>
                    <a:pt x="0" y="85725"/>
                  </a:lnTo>
                  <a:lnTo>
                    <a:pt x="34032" y="85725"/>
                  </a:lnTo>
                  <a:lnTo>
                    <a:pt x="55464" y="42862"/>
                  </a:lnTo>
                  <a:lnTo>
                    <a:pt x="87411" y="42862"/>
                  </a:lnTo>
                  <a:lnTo>
                    <a:pt x="128588" y="125215"/>
                  </a:lnTo>
                  <a:lnTo>
                    <a:pt x="148333" y="85725"/>
                  </a:lnTo>
                  <a:lnTo>
                    <a:pt x="200025" y="85725"/>
                  </a:lnTo>
                  <a:lnTo>
                    <a:pt x="200025" y="0"/>
                  </a:ln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776288" y="3460948"/>
              <a:ext cx="200025" cy="125215"/>
            </a:xfrm>
            <a:custGeom>
              <a:avLst/>
              <a:gdLst/>
              <a:ahLst/>
              <a:cxnLst/>
              <a:rect l="l" t="t" r="r" b="b"/>
              <a:pathLst>
                <a:path w="200025" h="125215">
                  <a:moveTo>
                    <a:pt x="200025" y="39490"/>
                  </a:moveTo>
                  <a:lnTo>
                    <a:pt x="165992" y="39490"/>
                  </a:lnTo>
                  <a:lnTo>
                    <a:pt x="144561" y="82352"/>
                  </a:lnTo>
                  <a:lnTo>
                    <a:pt x="112614" y="82352"/>
                  </a:lnTo>
                  <a:lnTo>
                    <a:pt x="71438" y="0"/>
                  </a:lnTo>
                  <a:lnTo>
                    <a:pt x="51693" y="39490"/>
                  </a:lnTo>
                  <a:lnTo>
                    <a:pt x="0" y="39490"/>
                  </a:lnTo>
                  <a:lnTo>
                    <a:pt x="0" y="125215"/>
                  </a:lnTo>
                  <a:lnTo>
                    <a:pt x="200025" y="125215"/>
                  </a:lnTo>
                  <a:lnTo>
                    <a:pt x="200025" y="39490"/>
                  </a:ln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</p:grpSp>
      <p:sp>
        <p:nvSpPr>
          <p:cNvPr id="22" name="TextBox 22"/>
          <p:cNvSpPr txBox="1"/>
          <p:nvPr/>
        </p:nvSpPr>
        <p:spPr>
          <a:xfrm>
            <a:off x="1062990" y="3348990"/>
            <a:ext cx="372618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管理：从试点复制到规模化运营</a:t>
            </a:r>
          </a:p>
        </p:txBody>
      </p:sp>
      <p:sp>
        <p:nvSpPr>
          <p:cNvPr id="23" name="Freeform 23"/>
          <p:cNvSpPr/>
          <p:nvPr/>
        </p:nvSpPr>
        <p:spPr>
          <a:xfrm>
            <a:off x="5619750" y="1752600"/>
            <a:ext cx="6038850" cy="4457700"/>
          </a:xfrm>
          <a:custGeom>
            <a:avLst/>
            <a:gdLst/>
            <a:ahLst/>
            <a:cxnLst/>
            <a:rect l="l" t="t" r="r" b="b"/>
            <a:pathLst>
              <a:path w="6038850" h="4457700">
                <a:moveTo>
                  <a:pt x="114300" y="0"/>
                </a:moveTo>
                <a:lnTo>
                  <a:pt x="5924550" y="0"/>
                </a:lnTo>
                <a:cubicBezTo>
                  <a:pt x="5987676" y="0"/>
                  <a:pt x="6038850" y="51174"/>
                  <a:pt x="6038850" y="114300"/>
                </a:cubicBezTo>
                <a:lnTo>
                  <a:pt x="6038850" y="4343400"/>
                </a:lnTo>
                <a:cubicBezTo>
                  <a:pt x="6038850" y="4406526"/>
                  <a:pt x="5987676" y="4457700"/>
                  <a:pt x="5924550" y="4457700"/>
                </a:cubicBezTo>
                <a:lnTo>
                  <a:pt x="114300" y="4457700"/>
                </a:lnTo>
                <a:cubicBezTo>
                  <a:pt x="51174" y="4457700"/>
                  <a:pt x="0" y="4406526"/>
                  <a:pt x="0" y="43434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4F2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661035" y="5656898"/>
            <a:ext cx="3766137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语义匹配图表：gantt_chart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46710" y="489585"/>
            <a:ext cx="238727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补充分析页 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8140" y="1120140"/>
            <a:ext cx="417243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围绕 数据湖建设与智能体应用...</a:t>
            </a:r>
          </a:p>
        </p:txBody>
      </p:sp>
      <p:sp>
        <p:nvSpPr>
          <p:cNvPr id="6" name="Freeform 6"/>
          <p:cNvSpPr/>
          <p:nvPr/>
        </p:nvSpPr>
        <p:spPr>
          <a:xfrm>
            <a:off x="400050" y="1562100"/>
            <a:ext cx="11391900" cy="4762500"/>
          </a:xfrm>
          <a:custGeom>
            <a:avLst/>
            <a:gdLst/>
            <a:ahLst/>
            <a:cxnLst/>
            <a:rect l="l" t="t" r="r" b="b"/>
            <a:pathLst>
              <a:path w="11391900" h="4762500">
                <a:moveTo>
                  <a:pt x="171450" y="0"/>
                </a:moveTo>
                <a:lnTo>
                  <a:pt x="11220450" y="0"/>
                </a:lnTo>
                <a:cubicBezTo>
                  <a:pt x="11315139" y="0"/>
                  <a:pt x="11391900" y="76761"/>
                  <a:pt x="11391900" y="171450"/>
                </a:cubicBezTo>
                <a:lnTo>
                  <a:pt x="11391900" y="4591050"/>
                </a:lnTo>
                <a:cubicBezTo>
                  <a:pt x="11391900" y="4685739"/>
                  <a:pt x="11315139" y="4762500"/>
                  <a:pt x="11220450" y="4762500"/>
                </a:cubicBezTo>
                <a:lnTo>
                  <a:pt x="171450" y="4762500"/>
                </a:lnTo>
                <a:cubicBezTo>
                  <a:pt x="76761" y="4762500"/>
                  <a:pt x="0" y="4685739"/>
                  <a:pt x="0" y="45910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>
              <a:alpha val="95000"/>
            </a:srgbClr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533400" y="1752600"/>
            <a:ext cx="5162550" cy="2781300"/>
          </a:xfrm>
          <a:custGeom>
            <a:avLst/>
            <a:gdLst/>
            <a:ahLst/>
            <a:cxnLst/>
            <a:rect l="l" t="t" r="r" b="b"/>
            <a:pathLst>
              <a:path w="5162550" h="2781300">
                <a:moveTo>
                  <a:pt x="114300" y="0"/>
                </a:moveTo>
                <a:lnTo>
                  <a:pt x="5048250" y="0"/>
                </a:lnTo>
                <a:cubicBezTo>
                  <a:pt x="5111376" y="0"/>
                  <a:pt x="5162550" y="51174"/>
                  <a:pt x="5162550" y="114300"/>
                </a:cubicBezTo>
                <a:lnTo>
                  <a:pt x="5162550" y="2667000"/>
                </a:lnTo>
                <a:cubicBezTo>
                  <a:pt x="5162550" y="2730126"/>
                  <a:pt x="5111376" y="2781300"/>
                  <a:pt x="5048250" y="2781300"/>
                </a:cubicBezTo>
                <a:lnTo>
                  <a:pt x="114300" y="2781300"/>
                </a:lnTo>
                <a:cubicBezTo>
                  <a:pt x="51174" y="2781300"/>
                  <a:pt x="0" y="2730126"/>
                  <a:pt x="0" y="26670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4F2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5886450" y="1752600"/>
            <a:ext cx="5772150" cy="2781300"/>
          </a:xfrm>
          <a:custGeom>
            <a:avLst/>
            <a:gdLst/>
            <a:ahLst/>
            <a:cxnLst/>
            <a:rect l="l" t="t" r="r" b="b"/>
            <a:pathLst>
              <a:path w="5772150" h="2781300">
                <a:moveTo>
                  <a:pt x="114300" y="0"/>
                </a:moveTo>
                <a:lnTo>
                  <a:pt x="5657850" y="0"/>
                </a:lnTo>
                <a:cubicBezTo>
                  <a:pt x="5720976" y="0"/>
                  <a:pt x="5772150" y="51174"/>
                  <a:pt x="5772150" y="114300"/>
                </a:cubicBezTo>
                <a:lnTo>
                  <a:pt x="5772150" y="2667000"/>
                </a:lnTo>
                <a:cubicBezTo>
                  <a:pt x="5772150" y="2730126"/>
                  <a:pt x="5720976" y="2781300"/>
                  <a:pt x="5657850" y="2781300"/>
                </a:cubicBezTo>
                <a:lnTo>
                  <a:pt x="114300" y="2781300"/>
                </a:lnTo>
                <a:cubicBezTo>
                  <a:pt x="51174" y="2781300"/>
                  <a:pt x="0" y="2730126"/>
                  <a:pt x="0" y="26670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7FBFF"/>
          </a:solidFill>
          <a:ln w="9525">
            <a:solidFill>
              <a:srgbClr val="D7E4F2"/>
            </a:solidFill>
          </a:ln>
        </p:spPr>
      </p:sp>
      <p:grpSp>
        <p:nvGrpSpPr>
          <p:cNvPr id="12" name="Group 12"/>
          <p:cNvGrpSpPr/>
          <p:nvPr/>
        </p:nvGrpSpPr>
        <p:grpSpPr>
          <a:xfrm>
            <a:off x="6148388" y="2038350"/>
            <a:ext cx="200025" cy="266700"/>
            <a:chOff x="6148388" y="2038350"/>
            <a:chExt cx="200025" cy="266700"/>
          </a:xfrm>
        </p:grpSpPr>
        <p:sp>
          <p:nvSpPr>
            <p:cNvPr id="9" name="Freeform 9"/>
            <p:cNvSpPr/>
            <p:nvPr/>
          </p:nvSpPr>
          <p:spPr>
            <a:xfrm>
              <a:off x="6148388" y="2145030"/>
              <a:ext cx="200025" cy="76676"/>
            </a:xfrm>
            <a:custGeom>
              <a:avLst/>
              <a:gdLst/>
              <a:ahLst/>
              <a:cxnLst/>
              <a:rect l="l" t="t" r="r" b="b"/>
              <a:pathLst>
                <a:path w="200025" h="76676">
                  <a:moveTo>
                    <a:pt x="185642" y="8504"/>
                  </a:moveTo>
                  <a:cubicBezTo>
                    <a:pt x="190330" y="6159"/>
                    <a:pt x="195229" y="3330"/>
                    <a:pt x="200025" y="0"/>
                  </a:cubicBezTo>
                  <a:lnTo>
                    <a:pt x="200025" y="26670"/>
                  </a:lnTo>
                  <a:cubicBezTo>
                    <a:pt x="200025" y="54287"/>
                    <a:pt x="155248" y="76676"/>
                    <a:pt x="100012" y="76676"/>
                  </a:cubicBezTo>
                  <a:cubicBezTo>
                    <a:pt x="44777" y="76676"/>
                    <a:pt x="0" y="54287"/>
                    <a:pt x="0" y="26670"/>
                  </a:cubicBezTo>
                  <a:lnTo>
                    <a:pt x="0" y="0"/>
                  </a:lnTo>
                  <a:cubicBezTo>
                    <a:pt x="4796" y="3330"/>
                    <a:pt x="9694" y="6159"/>
                    <a:pt x="14384" y="8504"/>
                  </a:cubicBezTo>
                  <a:cubicBezTo>
                    <a:pt x="38021" y="20322"/>
                    <a:pt x="68342" y="26670"/>
                    <a:pt x="100012" y="26670"/>
                  </a:cubicBezTo>
                  <a:cubicBezTo>
                    <a:pt x="131683" y="26670"/>
                    <a:pt x="162004" y="20322"/>
                    <a:pt x="185642" y="8504"/>
                  </a:cubicBezTo>
                  <a:close/>
                </a:path>
              </a:pathLst>
            </a:custGeom>
            <a:solidFill>
              <a:srgbClr val="2C7BC0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6148388" y="2228374"/>
              <a:ext cx="200025" cy="76676"/>
            </a:xfrm>
            <a:custGeom>
              <a:avLst/>
              <a:gdLst/>
              <a:ahLst/>
              <a:cxnLst/>
              <a:rect l="l" t="t" r="r" b="b"/>
              <a:pathLst>
                <a:path w="200025" h="76676">
                  <a:moveTo>
                    <a:pt x="0" y="0"/>
                  </a:moveTo>
                  <a:lnTo>
                    <a:pt x="0" y="26670"/>
                  </a:lnTo>
                  <a:cubicBezTo>
                    <a:pt x="0" y="54288"/>
                    <a:pt x="44777" y="76676"/>
                    <a:pt x="100012" y="76676"/>
                  </a:cubicBezTo>
                  <a:cubicBezTo>
                    <a:pt x="155248" y="76676"/>
                    <a:pt x="200025" y="54288"/>
                    <a:pt x="200025" y="26670"/>
                  </a:cubicBezTo>
                  <a:lnTo>
                    <a:pt x="200025" y="0"/>
                  </a:lnTo>
                  <a:cubicBezTo>
                    <a:pt x="195229" y="3330"/>
                    <a:pt x="190330" y="6159"/>
                    <a:pt x="185642" y="8504"/>
                  </a:cubicBezTo>
                  <a:cubicBezTo>
                    <a:pt x="162004" y="20323"/>
                    <a:pt x="131683" y="26670"/>
                    <a:pt x="100012" y="26670"/>
                  </a:cubicBezTo>
                  <a:cubicBezTo>
                    <a:pt x="68342" y="26670"/>
                    <a:pt x="38021" y="20323"/>
                    <a:pt x="14384" y="8504"/>
                  </a:cubicBezTo>
                  <a:cubicBezTo>
                    <a:pt x="9694" y="6159"/>
                    <a:pt x="4796" y="3330"/>
                    <a:pt x="0" y="0"/>
                  </a:cubicBezTo>
                  <a:close/>
                </a:path>
              </a:pathLst>
            </a:custGeom>
            <a:solidFill>
              <a:srgbClr val="2C7BC0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6148388" y="2038350"/>
              <a:ext cx="200025" cy="100012"/>
            </a:xfrm>
            <a:custGeom>
              <a:avLst/>
              <a:gdLst/>
              <a:ahLst/>
              <a:cxnLst/>
              <a:rect l="l" t="t" r="r" b="b"/>
              <a:pathLst>
                <a:path w="200025" h="100012">
                  <a:moveTo>
                    <a:pt x="100012" y="0"/>
                  </a:moveTo>
                  <a:cubicBezTo>
                    <a:pt x="155248" y="0"/>
                    <a:pt x="200025" y="22389"/>
                    <a:pt x="200025" y="50006"/>
                  </a:cubicBezTo>
                  <a:cubicBezTo>
                    <a:pt x="200025" y="77624"/>
                    <a:pt x="155248" y="100012"/>
                    <a:pt x="100012" y="100012"/>
                  </a:cubicBezTo>
                  <a:cubicBezTo>
                    <a:pt x="44777" y="100012"/>
                    <a:pt x="0" y="77624"/>
                    <a:pt x="0" y="50006"/>
                  </a:cubicBezTo>
                  <a:cubicBezTo>
                    <a:pt x="0" y="22389"/>
                    <a:pt x="44777" y="0"/>
                    <a:pt x="100012" y="0"/>
                  </a:cubicBezTo>
                  <a:close/>
                </a:path>
              </a:pathLst>
            </a:custGeom>
            <a:solidFill>
              <a:srgbClr val="2C7BC0"/>
            </a:solidFill>
            <a:ln>
              <a:noFill/>
            </a:ln>
          </p:spPr>
        </p:sp>
      </p:grpSp>
      <p:sp>
        <p:nvSpPr>
          <p:cNvPr id="13" name="TextBox 13"/>
          <p:cNvSpPr txBox="1"/>
          <p:nvPr/>
        </p:nvSpPr>
        <p:spPr>
          <a:xfrm>
            <a:off x="6446520" y="1988820"/>
            <a:ext cx="594969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补充：业务价值与投入产出联动分析</a:t>
            </a:r>
          </a:p>
        </p:txBody>
      </p:sp>
      <p:sp>
        <p:nvSpPr>
          <p:cNvPr id="14" name="Freeform 14"/>
          <p:cNvSpPr/>
          <p:nvPr/>
        </p:nvSpPr>
        <p:spPr>
          <a:xfrm>
            <a:off x="6115050" y="2667000"/>
            <a:ext cx="266700" cy="250031"/>
          </a:xfrm>
          <a:custGeom>
            <a:avLst/>
            <a:gdLst/>
            <a:ahLst/>
            <a:cxnLst/>
            <a:rect l="l" t="t" r="r" b="b"/>
            <a:pathLst>
              <a:path w="266700" h="250031">
                <a:moveTo>
                  <a:pt x="266700" y="250031"/>
                </a:moveTo>
                <a:lnTo>
                  <a:pt x="0" y="250031"/>
                </a:lnTo>
                <a:lnTo>
                  <a:pt x="0" y="200025"/>
                </a:lnTo>
                <a:lnTo>
                  <a:pt x="116681" y="0"/>
                </a:lnTo>
                <a:lnTo>
                  <a:pt x="150019" y="0"/>
                </a:lnTo>
                <a:lnTo>
                  <a:pt x="266700" y="200025"/>
                </a:lnTo>
                <a:lnTo>
                  <a:pt x="266700" y="250031"/>
                </a:lnTo>
                <a:close/>
              </a:path>
            </a:pathLst>
          </a:custGeom>
          <a:solidFill>
            <a:srgbClr val="2C7BC0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6446520" y="2617470"/>
            <a:ext cx="484555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补充：推进节奏与里程碑对齐</a:t>
            </a:r>
          </a:p>
        </p:txBody>
      </p:sp>
      <p:sp>
        <p:nvSpPr>
          <p:cNvPr id="16" name="Freeform 16"/>
          <p:cNvSpPr/>
          <p:nvPr/>
        </p:nvSpPr>
        <p:spPr>
          <a:xfrm>
            <a:off x="6115050" y="3295650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50" y="266700"/>
                </a:moveTo>
                <a:cubicBezTo>
                  <a:pt x="206998" y="266700"/>
                  <a:pt x="266700" y="206998"/>
                  <a:pt x="266700" y="133350"/>
                </a:cubicBezTo>
                <a:cubicBezTo>
                  <a:pt x="266700" y="59703"/>
                  <a:pt x="206998" y="0"/>
                  <a:pt x="133350" y="0"/>
                </a:cubicBezTo>
                <a:cubicBezTo>
                  <a:pt x="59703" y="0"/>
                  <a:pt x="0" y="59703"/>
                  <a:pt x="0" y="133350"/>
                </a:cubicBezTo>
                <a:cubicBezTo>
                  <a:pt x="0" y="206998"/>
                  <a:pt x="59703" y="266700"/>
                  <a:pt x="133350" y="266700"/>
                </a:cubicBezTo>
                <a:close/>
                <a:moveTo>
                  <a:pt x="150019" y="83344"/>
                </a:moveTo>
                <a:lnTo>
                  <a:pt x="116681" y="83344"/>
                </a:lnTo>
                <a:lnTo>
                  <a:pt x="116681" y="183356"/>
                </a:lnTo>
                <a:lnTo>
                  <a:pt x="150019" y="183356"/>
                </a:lnTo>
                <a:lnTo>
                  <a:pt x="150019" y="83344"/>
                </a:lnTo>
                <a:close/>
              </a:path>
            </a:pathLst>
          </a:custGeom>
          <a:solidFill>
            <a:srgbClr val="2C7BC0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6446520" y="3246120"/>
            <a:ext cx="4477512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补充：风险与治理闭环建议</a:t>
            </a:r>
          </a:p>
        </p:txBody>
      </p:sp>
      <p:sp>
        <p:nvSpPr>
          <p:cNvPr id="18" name="Freeform 18"/>
          <p:cNvSpPr/>
          <p:nvPr/>
        </p:nvSpPr>
        <p:spPr>
          <a:xfrm>
            <a:off x="533400" y="4667250"/>
            <a:ext cx="11125200" cy="1543050"/>
          </a:xfrm>
          <a:custGeom>
            <a:avLst/>
            <a:gdLst/>
            <a:ahLst/>
            <a:cxnLst/>
            <a:rect l="l" t="t" r="r" b="b"/>
            <a:pathLst>
              <a:path w="11125200" h="1543050">
                <a:moveTo>
                  <a:pt x="114300" y="0"/>
                </a:moveTo>
                <a:lnTo>
                  <a:pt x="11010900" y="0"/>
                </a:lnTo>
                <a:cubicBezTo>
                  <a:pt x="11074026" y="0"/>
                  <a:pt x="11125200" y="51174"/>
                  <a:pt x="11125200" y="114300"/>
                </a:cubicBezTo>
                <a:lnTo>
                  <a:pt x="11125200" y="1428750"/>
                </a:lnTo>
                <a:cubicBezTo>
                  <a:pt x="11125200" y="1491876"/>
                  <a:pt x="11074026" y="1543050"/>
                  <a:pt x="11010900" y="1543050"/>
                </a:cubicBezTo>
                <a:lnTo>
                  <a:pt x="114300" y="1543050"/>
                </a:lnTo>
                <a:cubicBezTo>
                  <a:pt x="51174" y="1543050"/>
                  <a:pt x="0" y="1491876"/>
                  <a:pt x="0" y="14287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4F2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767715" y="4811078"/>
            <a:ext cx="4737804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语义匹配图表：bar_chart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71525" y="5300662"/>
            <a:ext cx="4969907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围绕 数据湖建设与智能体应用...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73430" y="5716905"/>
            <a:ext cx="184756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· 关键要点四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8" y="0"/>
            <a:ext cx="12049125" cy="6858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4701159" y="2807970"/>
            <a:ext cx="2789682" cy="1706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4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谢谢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382452" y="4250055"/>
            <a:ext cx="342709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EAF2F9"/>
                </a:solidFill>
                <a:latin typeface="Microsoft YaHei"/>
                <a:ea typeface="Microsoft YaHei"/>
                <a:cs typeface="Microsoft YaHei"/>
              </a:rPr>
              <a:t>运营管理与数字化推进组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
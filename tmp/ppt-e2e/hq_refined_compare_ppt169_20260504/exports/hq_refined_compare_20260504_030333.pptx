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10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1143000" y="2286000"/>
            <a:ext cx="9525" cy="2286000"/>
          </a:xfrm>
          <a:custGeom>
            <a:avLst/>
            <a:gdLst/>
            <a:ahLst/>
            <a:cxnLst/>
            <a:rect l="l" t="t" r="r" b="b"/>
            <a:pathLst>
              <a:path w="9525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470660" y="2594610"/>
            <a:ext cx="654748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海上油气智能运营中台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1140" y="3425190"/>
            <a:ext cx="45411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高质量成片对照版（策略+图表+精修）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8760" y="4061460"/>
            <a:ext cx="28171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PROJECT ID: HQ-REFINED-2026-05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750" y="1428750"/>
            <a:ext cx="3810000" cy="3810000"/>
            <a:chOff x="7143750" y="1428750"/>
            <a:chExt cx="3810000" cy="3810000"/>
          </a:xfrm>
        </p:grpSpPr>
        <p:sp>
          <p:nvSpPr>
            <p:cNvPr id="8" name="Line 8"/>
            <p:cNvSpPr/>
            <p:nvPr/>
          </p:nvSpPr>
          <p:spPr>
            <a:xfrm>
              <a:off x="7620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572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477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143750" y="2381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143750" y="33337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143750" y="4286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</p:grpSp>
      <p:sp>
        <p:nvSpPr>
          <p:cNvPr id="16" name="Line 16"/>
          <p:cNvSpPr/>
          <p:nvPr/>
        </p:nvSpPr>
        <p:spPr>
          <a:xfrm>
            <a:off x="1143000" y="5905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29665" y="626840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2026-05-04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70518" y="62845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80421" y="6268402"/>
            <a:ext cx="1981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PPT Master Native Pipeline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285750"/>
            <a:ext cx="11430000" cy="5715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28575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43890" y="472440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0260" y="5372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143000"/>
            <a:ext cx="5334000" cy="1238250"/>
            <a:chOff x="571500" y="1143000"/>
            <a:chExt cx="5334000" cy="1238250"/>
          </a:xfrm>
        </p:grpSpPr>
        <p:sp>
          <p:nvSpPr>
            <p:cNvPr id="8" name="Freeform 8"/>
            <p:cNvSpPr/>
            <p:nvPr/>
          </p:nvSpPr>
          <p:spPr>
            <a:xfrm>
              <a:off x="571500" y="11430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1540" y="1148715"/>
              <a:ext cx="74759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E40AF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5450" y="145732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经营全景与目标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1165" y="1791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核心 KPI 与年度目标差距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714500" y="20955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286500" y="1143000"/>
            <a:ext cx="5334000" cy="1238250"/>
            <a:chOff x="6286500" y="1143000"/>
            <a:chExt cx="5334000" cy="1238250"/>
          </a:xfrm>
        </p:grpSpPr>
        <p:sp>
          <p:nvSpPr>
            <p:cNvPr id="14" name="Freeform 14"/>
            <p:cNvSpPr/>
            <p:nvPr/>
          </p:nvSpPr>
          <p:spPr>
            <a:xfrm>
              <a:off x="6286500" y="11430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06540" y="11487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7C3AED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10450" y="14573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优先级矩阵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16165" y="1791652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按价值/复杂度重排建设事项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429500" y="20955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71500" y="2571750"/>
            <a:ext cx="5334000" cy="1238250"/>
            <a:chOff x="571500" y="2571750"/>
            <a:chExt cx="5334000" cy="1238250"/>
          </a:xfrm>
        </p:grpSpPr>
        <p:sp>
          <p:nvSpPr>
            <p:cNvPr id="20" name="Freeform 20"/>
            <p:cNvSpPr/>
            <p:nvPr/>
          </p:nvSpPr>
          <p:spPr>
            <a:xfrm>
              <a:off x="571500" y="257175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1540" y="257746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E40AF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95450" y="28860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流程与架构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1165" y="32204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业务闭环和技术分层落地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714500" y="3524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286500" y="2571750"/>
            <a:ext cx="5334000" cy="1238250"/>
            <a:chOff x="6286500" y="2571750"/>
            <a:chExt cx="5334000" cy="1238250"/>
          </a:xfrm>
        </p:grpSpPr>
        <p:sp>
          <p:nvSpPr>
            <p:cNvPr id="26" name="Freeform 26"/>
            <p:cNvSpPr/>
            <p:nvPr/>
          </p:nvSpPr>
          <p:spPr>
            <a:xfrm>
              <a:off x="6286500" y="257175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06540" y="257746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7C3AED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10450" y="28860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实施路线图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16165" y="32204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三阶段推进节奏与里程碑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429500" y="3524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571500" y="4000500"/>
            <a:ext cx="5334000" cy="1238250"/>
            <a:chOff x="571500" y="4000500"/>
            <a:chExt cx="5334000" cy="1238250"/>
          </a:xfrm>
        </p:grpSpPr>
        <p:sp>
          <p:nvSpPr>
            <p:cNvPr id="32" name="Freeform 32"/>
            <p:cNvSpPr/>
            <p:nvPr/>
          </p:nvSpPr>
          <p:spPr>
            <a:xfrm>
              <a:off x="571500" y="40005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9525">
              <a:solidFill>
                <a:srgbClr val="374151"/>
              </a:solidFill>
              <a:prstDash val="dash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1540" y="40062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374151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99260" y="453771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价值闭环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4000500"/>
            <a:ext cx="5334000" cy="1238250"/>
            <a:chOff x="6286500" y="4000500"/>
            <a:chExt cx="5334000" cy="1238250"/>
          </a:xfrm>
        </p:grpSpPr>
        <p:sp>
          <p:nvSpPr>
            <p:cNvPr id="36" name="Freeform 36"/>
            <p:cNvSpPr/>
            <p:nvPr/>
          </p:nvSpPr>
          <p:spPr>
            <a:xfrm>
              <a:off x="6286500" y="40005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9525">
              <a:solidFill>
                <a:srgbClr val="374151"/>
              </a:solidFill>
              <a:prstDash val="dash"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06540" y="40062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374151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14260" y="4537710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风险与治理建议</a:t>
              </a:r>
            </a:p>
          </p:txBody>
        </p:sp>
      </p:grpSp>
      <p:sp>
        <p:nvSpPr>
          <p:cNvPr id="40" name="Line 40"/>
          <p:cNvSpPr/>
          <p:nvPr/>
        </p:nvSpPr>
        <p:spPr>
          <a:xfrm>
            <a:off x="571500" y="571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560070" y="6379845"/>
            <a:ext cx="7458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2026-05-04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705975" y="638794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536775" y="637984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422910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经营与运营关键指标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8165" y="886778"/>
            <a:ext cx="2385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2026 年经营看板 · 月度滚动复盘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428750"/>
            <a:ext cx="5334000" cy="2381250"/>
            <a:chOff x="571500" y="1428750"/>
            <a:chExt cx="5334000" cy="2381250"/>
          </a:xfrm>
          <a:effectLst>
            <a:outerShdw blurRad="114300" dist="3810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5" name="Freeform 5"/>
            <p:cNvSpPr/>
            <p:nvPr/>
          </p:nvSpPr>
          <p:spPr>
            <a:xfrm>
              <a:off x="571500" y="1428750"/>
              <a:ext cx="5334000" cy="2381250"/>
            </a:xfrm>
            <a:custGeom>
              <a:avLst/>
              <a:gdLst/>
              <a:ahLst/>
              <a:cxnLst/>
              <a:rect l="l" t="t" r="r" b="b"/>
              <a:pathLst>
                <a:path w="5334000" h="2381250">
                  <a:moveTo>
                    <a:pt x="152400" y="0"/>
                  </a:moveTo>
                  <a:lnTo>
                    <a:pt x="5181600" y="0"/>
                  </a:lnTo>
                  <a:cubicBezTo>
                    <a:pt x="5265768" y="0"/>
                    <a:pt x="5334000" y="68232"/>
                    <a:pt x="5334000" y="152400"/>
                  </a:cubicBezTo>
                  <a:lnTo>
                    <a:pt x="5334000" y="2228850"/>
                  </a:lnTo>
                  <a:cubicBezTo>
                    <a:pt x="5334000" y="2313018"/>
                    <a:pt x="5265768" y="2381250"/>
                    <a:pt x="5181600" y="2381250"/>
                  </a:cubicBezTo>
                  <a:lnTo>
                    <a:pt x="152400" y="2381250"/>
                  </a:lnTo>
                  <a:cubicBezTo>
                    <a:pt x="68232" y="2381250"/>
                    <a:pt x="0" y="2313018"/>
                    <a:pt x="0" y="2228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723900" y="1619250"/>
              <a:ext cx="57150" cy="762000"/>
            </a:xfrm>
            <a:custGeom>
              <a:avLst/>
              <a:gdLst/>
              <a:ahLst/>
              <a:cxnLst/>
              <a:rect l="l" t="t" r="r" b="b"/>
              <a:pathLst>
                <a:path w="57150" h="7620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733425"/>
                  </a:lnTo>
                  <a:cubicBezTo>
                    <a:pt x="57150" y="749207"/>
                    <a:pt x="44357" y="762000"/>
                    <a:pt x="28575" y="762000"/>
                  </a:cubicBezTo>
                  <a:lnTo>
                    <a:pt x="28575" y="762000"/>
                  </a:lnTo>
                  <a:cubicBezTo>
                    <a:pt x="12793" y="762000"/>
                    <a:pt x="0" y="749207"/>
                    <a:pt x="0" y="733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35355" y="1711642"/>
              <a:ext cx="862393" cy="2743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综合产值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9165" y="1963102"/>
              <a:ext cx="1253490" cy="21336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含生产与服务收入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3920" y="2226945"/>
              <a:ext cx="2662876" cy="109728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¥318.6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07080" y="2583180"/>
              <a:ext cx="294870" cy="4267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923925" y="3162300"/>
              <a:ext cx="342900" cy="3429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2" name="Polygon 12"/>
            <p:cNvSpPr/>
            <p:nvPr/>
          </p:nvSpPr>
          <p:spPr>
            <a:xfrm>
              <a:off x="1038225" y="32670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57150" y="0"/>
                  </a:moveTo>
                  <a:lnTo>
                    <a:pt x="1143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62075" y="3248025"/>
              <a:ext cx="739688" cy="30480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+18.5%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70760" y="3270885"/>
              <a:ext cx="1152144" cy="24384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vs. last year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86500" y="1428750"/>
            <a:ext cx="5334000" cy="2381250"/>
            <a:chOff x="6286500" y="1428750"/>
            <a:chExt cx="5334000" cy="2381250"/>
          </a:xfrm>
          <a:effectLst>
            <a:outerShdw blurRad="114300" dist="3810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6" name="Freeform 16"/>
            <p:cNvSpPr/>
            <p:nvPr/>
          </p:nvSpPr>
          <p:spPr>
            <a:xfrm>
              <a:off x="6286500" y="1428750"/>
              <a:ext cx="5334000" cy="2381250"/>
            </a:xfrm>
            <a:custGeom>
              <a:avLst/>
              <a:gdLst/>
              <a:ahLst/>
              <a:cxnLst/>
              <a:rect l="l" t="t" r="r" b="b"/>
              <a:pathLst>
                <a:path w="5334000" h="2381250">
                  <a:moveTo>
                    <a:pt x="152400" y="0"/>
                  </a:moveTo>
                  <a:lnTo>
                    <a:pt x="5181600" y="0"/>
                  </a:lnTo>
                  <a:cubicBezTo>
                    <a:pt x="5265768" y="0"/>
                    <a:pt x="5334000" y="68232"/>
                    <a:pt x="5334000" y="152400"/>
                  </a:cubicBezTo>
                  <a:lnTo>
                    <a:pt x="5334000" y="2228850"/>
                  </a:lnTo>
                  <a:cubicBezTo>
                    <a:pt x="5334000" y="2313018"/>
                    <a:pt x="5265768" y="2381250"/>
                    <a:pt x="5181600" y="2381250"/>
                  </a:cubicBezTo>
                  <a:lnTo>
                    <a:pt x="152400" y="2381250"/>
                  </a:lnTo>
                  <a:cubicBezTo>
                    <a:pt x="68232" y="2381250"/>
                    <a:pt x="0" y="2313018"/>
                    <a:pt x="0" y="2228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7" name="Freeform 17"/>
            <p:cNvSpPr/>
            <p:nvPr/>
          </p:nvSpPr>
          <p:spPr>
            <a:xfrm>
              <a:off x="6438900" y="1619250"/>
              <a:ext cx="57150" cy="762000"/>
            </a:xfrm>
            <a:custGeom>
              <a:avLst/>
              <a:gdLst/>
              <a:ahLst/>
              <a:cxnLst/>
              <a:rect l="l" t="t" r="r" b="b"/>
              <a:pathLst>
                <a:path w="57150" h="7620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733425"/>
                  </a:lnTo>
                  <a:cubicBezTo>
                    <a:pt x="57150" y="749207"/>
                    <a:pt x="44357" y="762000"/>
                    <a:pt x="28575" y="762000"/>
                  </a:cubicBezTo>
                  <a:lnTo>
                    <a:pt x="28575" y="762000"/>
                  </a:lnTo>
                  <a:cubicBezTo>
                    <a:pt x="12793" y="762000"/>
                    <a:pt x="0" y="749207"/>
                    <a:pt x="0" y="733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6650355" y="1711642"/>
              <a:ext cx="1069419" cy="2743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设备在线率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54165" y="1963102"/>
              <a:ext cx="1422178" cy="21336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Monthly 设备在线率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98920" y="2226945"/>
              <a:ext cx="1958988" cy="109728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98.4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69580" y="2583180"/>
              <a:ext cx="294870" cy="4267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638925" y="3162300"/>
              <a:ext cx="342900" cy="3429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3" name="Polygon 23"/>
            <p:cNvSpPr/>
            <p:nvPr/>
          </p:nvSpPr>
          <p:spPr>
            <a:xfrm>
              <a:off x="6753225" y="32670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57150" y="0"/>
                  </a:moveTo>
                  <a:lnTo>
                    <a:pt x="1143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77075" y="3248025"/>
              <a:ext cx="739688" cy="30480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+12.3%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85760" y="3270885"/>
              <a:ext cx="1283589" cy="24384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vs. last month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4191000"/>
            <a:ext cx="5334000" cy="2381250"/>
            <a:chOff x="571500" y="4191000"/>
            <a:chExt cx="5334000" cy="2381250"/>
          </a:xfrm>
          <a:effectLst>
            <a:outerShdw blurRad="114300" dist="3810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571500" y="4191000"/>
              <a:ext cx="5334000" cy="2381250"/>
            </a:xfrm>
            <a:custGeom>
              <a:avLst/>
              <a:gdLst/>
              <a:ahLst/>
              <a:cxnLst/>
              <a:rect l="l" t="t" r="r" b="b"/>
              <a:pathLst>
                <a:path w="5334000" h="2381250">
                  <a:moveTo>
                    <a:pt x="152400" y="0"/>
                  </a:moveTo>
                  <a:lnTo>
                    <a:pt x="5181600" y="0"/>
                  </a:lnTo>
                  <a:cubicBezTo>
                    <a:pt x="5265768" y="0"/>
                    <a:pt x="5334000" y="68232"/>
                    <a:pt x="5334000" y="152400"/>
                  </a:cubicBezTo>
                  <a:lnTo>
                    <a:pt x="5334000" y="2228850"/>
                  </a:lnTo>
                  <a:cubicBezTo>
                    <a:pt x="5334000" y="2313018"/>
                    <a:pt x="5265768" y="2381250"/>
                    <a:pt x="5181600" y="2381250"/>
                  </a:cubicBezTo>
                  <a:lnTo>
                    <a:pt x="152400" y="2381250"/>
                  </a:lnTo>
                  <a:cubicBezTo>
                    <a:pt x="68232" y="2381250"/>
                    <a:pt x="0" y="2313018"/>
                    <a:pt x="0" y="2228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8" name="Freeform 28"/>
            <p:cNvSpPr/>
            <p:nvPr/>
          </p:nvSpPr>
          <p:spPr>
            <a:xfrm>
              <a:off x="723900" y="4381500"/>
              <a:ext cx="57150" cy="762000"/>
            </a:xfrm>
            <a:custGeom>
              <a:avLst/>
              <a:gdLst/>
              <a:ahLst/>
              <a:cxnLst/>
              <a:rect l="l" t="t" r="r" b="b"/>
              <a:pathLst>
                <a:path w="57150" h="7620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733425"/>
                  </a:lnTo>
                  <a:cubicBezTo>
                    <a:pt x="57150" y="749207"/>
                    <a:pt x="44357" y="762000"/>
                    <a:pt x="28575" y="762000"/>
                  </a:cubicBezTo>
                  <a:lnTo>
                    <a:pt x="28575" y="762000"/>
                  </a:lnTo>
                  <a:cubicBezTo>
                    <a:pt x="12793" y="762000"/>
                    <a:pt x="0" y="749207"/>
                    <a:pt x="0" y="733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935355" y="4473892"/>
              <a:ext cx="1276445" cy="2743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单井运维成本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9165" y="4725352"/>
              <a:ext cx="1713548" cy="21336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含巡检、维保与停机损失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3920" y="4989195"/>
              <a:ext cx="2207419" cy="109728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¥37.1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923925" y="5924550"/>
              <a:ext cx="342900" cy="342900"/>
            </a:xfrm>
            <a:prstGeom prst="ellipse">
              <a:avLst/>
            </a:prstGeom>
            <a:solidFill>
              <a:srgbClr val="FFF1F2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3" name="Polygon 33"/>
            <p:cNvSpPr/>
            <p:nvPr/>
          </p:nvSpPr>
          <p:spPr>
            <a:xfrm>
              <a:off x="1038225" y="602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57150" y="13335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62075" y="6010275"/>
              <a:ext cx="670679" cy="30480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3F5E"/>
                  </a:solidFill>
                  <a:latin typeface="Segoe UI"/>
                  <a:ea typeface="Microsoft YaHei"/>
                  <a:cs typeface="Segoe UI"/>
                </a:rPr>
                <a:t>-3.2%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80260" y="6033135"/>
              <a:ext cx="1283589" cy="24384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vs. last month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4191000"/>
            <a:ext cx="5334000" cy="2381250"/>
            <a:chOff x="6286500" y="4191000"/>
            <a:chExt cx="5334000" cy="2381250"/>
          </a:xfrm>
          <a:effectLst>
            <a:outerShdw blurRad="114300" dist="3810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37" name="Freeform 37"/>
            <p:cNvSpPr/>
            <p:nvPr/>
          </p:nvSpPr>
          <p:spPr>
            <a:xfrm>
              <a:off x="6286500" y="4191000"/>
              <a:ext cx="5334000" cy="2381250"/>
            </a:xfrm>
            <a:custGeom>
              <a:avLst/>
              <a:gdLst/>
              <a:ahLst/>
              <a:cxnLst/>
              <a:rect l="l" t="t" r="r" b="b"/>
              <a:pathLst>
                <a:path w="5334000" h="2381250">
                  <a:moveTo>
                    <a:pt x="152400" y="0"/>
                  </a:moveTo>
                  <a:lnTo>
                    <a:pt x="5181600" y="0"/>
                  </a:lnTo>
                  <a:cubicBezTo>
                    <a:pt x="5265768" y="0"/>
                    <a:pt x="5334000" y="68232"/>
                    <a:pt x="5334000" y="152400"/>
                  </a:cubicBezTo>
                  <a:lnTo>
                    <a:pt x="5334000" y="2228850"/>
                  </a:lnTo>
                  <a:cubicBezTo>
                    <a:pt x="5334000" y="2313018"/>
                    <a:pt x="5265768" y="2381250"/>
                    <a:pt x="5181600" y="2381250"/>
                  </a:cubicBezTo>
                  <a:lnTo>
                    <a:pt x="152400" y="2381250"/>
                  </a:lnTo>
                  <a:cubicBezTo>
                    <a:pt x="68232" y="2381250"/>
                    <a:pt x="0" y="2313018"/>
                    <a:pt x="0" y="2228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8" name="Freeform 38"/>
            <p:cNvSpPr/>
            <p:nvPr/>
          </p:nvSpPr>
          <p:spPr>
            <a:xfrm>
              <a:off x="6438900" y="4381500"/>
              <a:ext cx="57150" cy="762000"/>
            </a:xfrm>
            <a:custGeom>
              <a:avLst/>
              <a:gdLst/>
              <a:ahLst/>
              <a:cxnLst/>
              <a:rect l="l" t="t" r="r" b="b"/>
              <a:pathLst>
                <a:path w="57150" h="7620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733425"/>
                  </a:lnTo>
                  <a:cubicBezTo>
                    <a:pt x="57150" y="749207"/>
                    <a:pt x="44357" y="762000"/>
                    <a:pt x="28575" y="762000"/>
                  </a:cubicBezTo>
                  <a:lnTo>
                    <a:pt x="28575" y="762000"/>
                  </a:lnTo>
                  <a:cubicBezTo>
                    <a:pt x="12793" y="762000"/>
                    <a:pt x="0" y="749207"/>
                    <a:pt x="0" y="733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9" name="TextBox 39"/>
            <p:cNvSpPr txBox="1"/>
            <p:nvPr/>
          </p:nvSpPr>
          <p:spPr>
            <a:xfrm>
              <a:off x="6650355" y="4473892"/>
              <a:ext cx="1069419" cy="2743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异常闭环率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4165" y="4725352"/>
              <a:ext cx="1253490" cy="21336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告警转工单并完成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8920" y="4989195"/>
              <a:ext cx="2414445" cy="109728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86.9%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38925" y="5924550"/>
              <a:ext cx="342900" cy="3429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3" name="Polygon 43"/>
            <p:cNvSpPr/>
            <p:nvPr/>
          </p:nvSpPr>
          <p:spPr>
            <a:xfrm>
              <a:off x="6753225" y="602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57150" y="0"/>
                  </a:moveTo>
                  <a:lnTo>
                    <a:pt x="1143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77075" y="6010275"/>
              <a:ext cx="670679" cy="30480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+0.8%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42885" y="6033135"/>
              <a:ext cx="1003173" cy="24384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pt increase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7991189" y="6609874"/>
            <a:ext cx="36416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Source: 生产经营系统、设备平台、工单系统（2026Q1）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5" grpId="0"/>
      <p:bldP spid="26" grpId="0"/>
      <p:bldP spid="36" grpId="0"/>
      <p:bldP spid="46" grpId="0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359092"/>
            <a:ext cx="487999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建设优先级矩阵（精修）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8165" y="839152"/>
            <a:ext cx="25788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价值影响 VS 实施复杂度 · 建设排序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8165" y="1077278"/>
            <a:ext cx="38604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纵轴价值影响，横轴实施复杂度，气泡大小代表资源消耗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-304639" y="1524000"/>
            <a:ext cx="10353514" cy="5107781"/>
            <a:chOff x="-304639" y="1524000"/>
            <a:chExt cx="10353514" cy="5107781"/>
          </a:xfrm>
        </p:grpSpPr>
        <p:sp>
          <p:nvSpPr>
            <p:cNvPr id="6" name="Freeform 6"/>
            <p:cNvSpPr/>
            <p:nvPr/>
          </p:nvSpPr>
          <p:spPr>
            <a:xfrm>
              <a:off x="5381625" y="1619250"/>
              <a:ext cx="4572000" cy="2286000"/>
            </a:xfrm>
            <a:custGeom>
              <a:avLst/>
              <a:gdLst/>
              <a:ahLst/>
              <a:cxnLst/>
              <a:rect l="l" t="t" r="r" b="b"/>
              <a:pathLst>
                <a:path w="4572000" h="2286000">
                  <a:moveTo>
                    <a:pt x="38100" y="0"/>
                  </a:moveTo>
                  <a:lnTo>
                    <a:pt x="4533900" y="0"/>
                  </a:lnTo>
                  <a:cubicBezTo>
                    <a:pt x="4554942" y="0"/>
                    <a:pt x="4572000" y="17058"/>
                    <a:pt x="4572000" y="38100"/>
                  </a:cubicBezTo>
                  <a:lnTo>
                    <a:pt x="4572000" y="2247900"/>
                  </a:lnTo>
                  <a:cubicBezTo>
                    <a:pt x="4572000" y="2268942"/>
                    <a:pt x="4554942" y="2286000"/>
                    <a:pt x="4533900" y="2286000"/>
                  </a:cubicBezTo>
                  <a:lnTo>
                    <a:pt x="38100" y="2286000"/>
                  </a:lnTo>
                  <a:cubicBezTo>
                    <a:pt x="17058" y="2286000"/>
                    <a:pt x="0" y="2268942"/>
                    <a:pt x="0" y="2247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gradFill>
              <a:gsLst>
                <a:gs pos="0">
                  <a:srgbClr val="ECFDF5"/>
                </a:gs>
                <a:gs pos="100000">
                  <a:srgbClr val="D1FAE5"/>
                </a:gs>
              </a:gsLst>
              <a:lin ang="2700000" scaled="1"/>
            </a:gradFill>
            <a:ln w="38100">
              <a:solidFill>
                <a:srgbClr val="FFFFFF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09625" y="1619250"/>
              <a:ext cx="4572000" cy="2286000"/>
            </a:xfrm>
            <a:custGeom>
              <a:avLst/>
              <a:gdLst/>
              <a:ahLst/>
              <a:cxnLst/>
              <a:rect l="l" t="t" r="r" b="b"/>
              <a:pathLst>
                <a:path w="4572000" h="2286000">
                  <a:moveTo>
                    <a:pt x="38100" y="0"/>
                  </a:moveTo>
                  <a:lnTo>
                    <a:pt x="4533900" y="0"/>
                  </a:lnTo>
                  <a:cubicBezTo>
                    <a:pt x="4554942" y="0"/>
                    <a:pt x="4572000" y="17058"/>
                    <a:pt x="4572000" y="38100"/>
                  </a:cubicBezTo>
                  <a:lnTo>
                    <a:pt x="4572000" y="2247900"/>
                  </a:lnTo>
                  <a:cubicBezTo>
                    <a:pt x="4572000" y="2268942"/>
                    <a:pt x="4554942" y="2286000"/>
                    <a:pt x="4533900" y="2286000"/>
                  </a:cubicBezTo>
                  <a:lnTo>
                    <a:pt x="38100" y="2286000"/>
                  </a:lnTo>
                  <a:cubicBezTo>
                    <a:pt x="17058" y="2286000"/>
                    <a:pt x="0" y="2268942"/>
                    <a:pt x="0" y="2247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gradFill>
              <a:gsLst>
                <a:gs pos="0">
                  <a:srgbClr val="FFFBEB"/>
                </a:gs>
                <a:gs pos="100000">
                  <a:srgbClr val="FEF3C7"/>
                </a:gs>
              </a:gsLst>
              <a:lin ang="2700000" scaled="1"/>
            </a:gradFill>
            <a:ln w="38100">
              <a:solidFill>
                <a:srgbClr val="FFFFF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09625" y="3905250"/>
              <a:ext cx="4572000" cy="2286000"/>
            </a:xfrm>
            <a:custGeom>
              <a:avLst/>
              <a:gdLst/>
              <a:ahLst/>
              <a:cxnLst/>
              <a:rect l="l" t="t" r="r" b="b"/>
              <a:pathLst>
                <a:path w="4572000" h="2286000">
                  <a:moveTo>
                    <a:pt x="38100" y="0"/>
                  </a:moveTo>
                  <a:lnTo>
                    <a:pt x="4533900" y="0"/>
                  </a:lnTo>
                  <a:cubicBezTo>
                    <a:pt x="4554942" y="0"/>
                    <a:pt x="4572000" y="17058"/>
                    <a:pt x="4572000" y="38100"/>
                  </a:cubicBezTo>
                  <a:lnTo>
                    <a:pt x="4572000" y="2247900"/>
                  </a:lnTo>
                  <a:cubicBezTo>
                    <a:pt x="4572000" y="2268942"/>
                    <a:pt x="4554942" y="2286000"/>
                    <a:pt x="4533900" y="2286000"/>
                  </a:cubicBezTo>
                  <a:lnTo>
                    <a:pt x="38100" y="2286000"/>
                  </a:lnTo>
                  <a:cubicBezTo>
                    <a:pt x="17058" y="2286000"/>
                    <a:pt x="0" y="2268942"/>
                    <a:pt x="0" y="2247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gradFill>
              <a:gsLst>
                <a:gs pos="0">
                  <a:srgbClr val="FFF1F2"/>
                </a:gs>
                <a:gs pos="100000">
                  <a:srgbClr val="FFE4E6"/>
                </a:gs>
              </a:gsLst>
              <a:lin ang="2700000" scaled="1"/>
            </a:gradFill>
            <a:ln w="38100">
              <a:solidFill>
                <a:srgbClr val="FFFFFF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381625" y="3905250"/>
              <a:ext cx="4572000" cy="2286000"/>
            </a:xfrm>
            <a:custGeom>
              <a:avLst/>
              <a:gdLst/>
              <a:ahLst/>
              <a:cxnLst/>
              <a:rect l="l" t="t" r="r" b="b"/>
              <a:pathLst>
                <a:path w="4572000" h="2286000">
                  <a:moveTo>
                    <a:pt x="38100" y="0"/>
                  </a:moveTo>
                  <a:lnTo>
                    <a:pt x="4533900" y="0"/>
                  </a:lnTo>
                  <a:cubicBezTo>
                    <a:pt x="4554942" y="0"/>
                    <a:pt x="4572000" y="17058"/>
                    <a:pt x="4572000" y="38100"/>
                  </a:cubicBezTo>
                  <a:lnTo>
                    <a:pt x="4572000" y="2247900"/>
                  </a:lnTo>
                  <a:cubicBezTo>
                    <a:pt x="4572000" y="2268942"/>
                    <a:pt x="4554942" y="2286000"/>
                    <a:pt x="4533900" y="2286000"/>
                  </a:cubicBezTo>
                  <a:lnTo>
                    <a:pt x="38100" y="2286000"/>
                  </a:lnTo>
                  <a:cubicBezTo>
                    <a:pt x="17058" y="2286000"/>
                    <a:pt x="0" y="2268942"/>
                    <a:pt x="0" y="2247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gradFill>
              <a:gsLst>
                <a:gs pos="0">
                  <a:srgbClr val="EFF6FF"/>
                </a:gs>
                <a:gs pos="100000">
                  <a:srgbClr val="DBEAFE"/>
                </a:gs>
              </a:gsLst>
              <a:lin ang="2700000" scaled="1"/>
            </a:gradFill>
            <a:ln w="38100">
              <a:solidFill>
                <a:srgbClr val="FFFFF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9625" y="3905250"/>
              <a:ext cx="9239250" cy="1"/>
            </a:xfrm>
            <a:prstGeom prst="line">
              <a:avLst/>
            </a:prstGeom>
            <a:noFill/>
            <a:ln w="28575">
              <a:solidFill>
                <a:srgbClr val="0F172A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5381625" y="1524000"/>
              <a:ext cx="1" cy="4667250"/>
            </a:xfrm>
            <a:prstGeom prst="line">
              <a:avLst/>
            </a:prstGeom>
            <a:noFill/>
            <a:ln w="28575">
              <a:solidFill>
                <a:srgbClr val="0F172A"/>
              </a:solidFill>
              <a:headEnd type="triangle" w="lg" len="lg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22782" y="6403181"/>
              <a:ext cx="19176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Implementation Effort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33221" y="641127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Low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7420" y="6411278"/>
              <a:ext cx="3406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High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 rot="-5400000">
              <a:off x="-304639" y="3790950"/>
              <a:ext cx="13569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Business Impact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0278" y="598265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Low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4176" y="1601152"/>
              <a:ext cx="3406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High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4890" y="1758315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47857"/>
                  </a:solidFill>
                  <a:latin typeface="Segoe UI"/>
                  <a:ea typeface="Microsoft YaHei"/>
                  <a:cs typeface="Segoe UI"/>
                </a:rPr>
                <a:t>高价值快赢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6320" y="2045970"/>
              <a:ext cx="17480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59669"/>
                  </a:solidFill>
                  <a:latin typeface="Segoe UI"/>
                  <a:ea typeface="Microsoft YaHei"/>
                  <a:cs typeface="Segoe UI"/>
                </a:rPr>
                <a:t>HIGH IMPACT · LOW EFFORT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96890" y="1758315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D8"/>
                  </a:solidFill>
                  <a:latin typeface="Segoe UI"/>
                  <a:ea typeface="Microsoft YaHei"/>
                  <a:cs typeface="Segoe UI"/>
                </a:rPr>
                <a:t>战略型项目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08320" y="2045970"/>
              <a:ext cx="17342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HIGH IMPACT · HIGH EFFORT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4890" y="5663565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45309"/>
                  </a:solidFill>
                  <a:latin typeface="Segoe UI"/>
                  <a:ea typeface="Microsoft YaHei"/>
                  <a:cs typeface="Segoe UI"/>
                </a:rPr>
                <a:t>机会型补充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6320" y="5951220"/>
              <a:ext cx="1761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706"/>
                  </a:solidFill>
                  <a:latin typeface="Segoe UI"/>
                  <a:ea typeface="Microsoft YaHei"/>
                  <a:cs typeface="Segoe UI"/>
                </a:rPr>
                <a:t>LOW IMPACT · LOW EFFORT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96890" y="5663565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E123C"/>
                  </a:solidFill>
                  <a:latin typeface="Segoe UI"/>
                  <a:ea typeface="Microsoft YaHei"/>
                  <a:cs typeface="Segoe UI"/>
                </a:rPr>
                <a:t>低收益事项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08320" y="5951220"/>
              <a:ext cx="17480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11D48"/>
                  </a:solidFill>
                  <a:latin typeface="Segoe UI"/>
                  <a:ea typeface="Microsoft YaHei"/>
                  <a:cs typeface="Segoe UI"/>
                </a:rPr>
                <a:t>LOW IMPACT · HIGH EFFORT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7848600" y="1828800"/>
              <a:ext cx="1047750" cy="1047750"/>
              <a:chOff x="7848600" y="1828800"/>
              <a:chExt cx="1047750" cy="1047750"/>
            </a:xfrm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grpSpPr>
          <p:sp>
            <p:nvSpPr>
              <p:cNvPr id="26" name="Ellipse 26"/>
              <p:cNvSpPr/>
              <p:nvPr/>
            </p:nvSpPr>
            <p:spPr>
              <a:xfrm>
                <a:off x="7848600" y="1828800"/>
                <a:ext cx="1047750" cy="1047750"/>
              </a:xfrm>
              <a:prstGeom prst="ellipse">
                <a:avLst/>
              </a:prstGeom>
              <a:solidFill>
                <a:srgbClr val="3B82F6">
                  <a:alpha val="95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924781" y="2185035"/>
                <a:ext cx="895388" cy="2438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Feature A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08724" y="2380774"/>
                <a:ext cx="727503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Score: 92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239125" y="4514850"/>
              <a:ext cx="1333500" cy="1333500"/>
              <a:chOff x="8239125" y="4514850"/>
              <a:chExt cx="1333500" cy="1333500"/>
            </a:xfrm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grpSpPr>
          <p:sp>
            <p:nvSpPr>
              <p:cNvPr id="30" name="Ellipse 30"/>
              <p:cNvSpPr/>
              <p:nvPr/>
            </p:nvSpPr>
            <p:spPr>
              <a:xfrm>
                <a:off x="8239125" y="4514850"/>
                <a:ext cx="1333500" cy="1333500"/>
              </a:xfrm>
              <a:prstGeom prst="ellipse">
                <a:avLst/>
              </a:prstGeom>
              <a:solidFill>
                <a:srgbClr val="F43F5E">
                  <a:alpha val="95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402219" y="4997768"/>
                <a:ext cx="1007312" cy="2743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Feature B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486162" y="5212556"/>
                <a:ext cx="839426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Score: 35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142512" y="1771650"/>
              <a:ext cx="839426" cy="800100"/>
              <a:chOff x="2142512" y="1771650"/>
              <a:chExt cx="839426" cy="800100"/>
            </a:xfrm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grpSpPr>
          <p:sp>
            <p:nvSpPr>
              <p:cNvPr id="34" name="Ellipse 34"/>
              <p:cNvSpPr/>
              <p:nvPr/>
            </p:nvSpPr>
            <p:spPr>
              <a:xfrm>
                <a:off x="2162175" y="1771650"/>
                <a:ext cx="800100" cy="800100"/>
              </a:xfrm>
              <a:prstGeom prst="ellipse">
                <a:avLst/>
              </a:prstGeom>
              <a:solidFill>
                <a:srgbClr val="10B981">
                  <a:alpha val="95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2142512" y="2021681"/>
                <a:ext cx="839426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Feature C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198474" y="2209324"/>
                <a:ext cx="727503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Score: 88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2703893" y="2581275"/>
              <a:ext cx="783465" cy="723900"/>
              <a:chOff x="2703893" y="2581275"/>
              <a:chExt cx="783465" cy="723900"/>
            </a:xfrm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grpSpPr>
          <p:sp>
            <p:nvSpPr>
              <p:cNvPr id="38" name="Ellipse 38"/>
              <p:cNvSpPr/>
              <p:nvPr/>
            </p:nvSpPr>
            <p:spPr>
              <a:xfrm>
                <a:off x="2733675" y="2581275"/>
                <a:ext cx="723900" cy="723900"/>
              </a:xfrm>
              <a:prstGeom prst="ellipse">
                <a:avLst/>
              </a:prstGeom>
              <a:solidFill>
                <a:srgbClr val="10B981">
                  <a:alpha val="95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2703893" y="2801302"/>
                <a:ext cx="78346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Feature D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759854" y="2979420"/>
                <a:ext cx="67154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Score: 75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493624" y="5172075"/>
              <a:ext cx="727503" cy="571500"/>
              <a:chOff x="1493624" y="5172075"/>
              <a:chExt cx="727503" cy="571500"/>
            </a:xfrm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grpSpPr>
          <p:sp>
            <p:nvSpPr>
              <p:cNvPr id="42" name="Ellipse 42"/>
              <p:cNvSpPr/>
              <p:nvPr/>
            </p:nvSpPr>
            <p:spPr>
              <a:xfrm>
                <a:off x="1571625" y="5172075"/>
                <a:ext cx="571500" cy="571500"/>
              </a:xfrm>
              <a:prstGeom prst="ellipse">
                <a:avLst/>
              </a:prstGeom>
              <a:solidFill>
                <a:srgbClr val="F59E0B">
                  <a:alpha val="95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493624" y="5333524"/>
                <a:ext cx="727503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Feature E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549585" y="5502116"/>
                <a:ext cx="615579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Score: 40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629400" y="4391025"/>
              <a:ext cx="857250" cy="857250"/>
              <a:chOff x="6629400" y="4391025"/>
              <a:chExt cx="857250" cy="857250"/>
            </a:xfrm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grpSpPr>
          <p:sp>
            <p:nvSpPr>
              <p:cNvPr id="46" name="Ellipse 46"/>
              <p:cNvSpPr/>
              <p:nvPr/>
            </p:nvSpPr>
            <p:spPr>
              <a:xfrm>
                <a:off x="6629400" y="4391025"/>
                <a:ext cx="857250" cy="857250"/>
              </a:xfrm>
              <a:prstGeom prst="ellipse">
                <a:avLst/>
              </a:prstGeom>
              <a:solidFill>
                <a:srgbClr val="F43F5E">
                  <a:alpha val="95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638312" y="4669631"/>
                <a:ext cx="839426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Feature F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694274" y="4857274"/>
                <a:ext cx="727503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Score: 28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200162" y="2333625"/>
              <a:ext cx="839426" cy="762000"/>
              <a:chOff x="6200162" y="2333625"/>
              <a:chExt cx="839426" cy="762000"/>
            </a:xfrm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grpSpPr>
          <p:sp>
            <p:nvSpPr>
              <p:cNvPr id="50" name="Ellipse 50"/>
              <p:cNvSpPr/>
              <p:nvPr/>
            </p:nvSpPr>
            <p:spPr>
              <a:xfrm>
                <a:off x="6238875" y="2333625"/>
                <a:ext cx="762000" cy="762000"/>
              </a:xfrm>
              <a:prstGeom prst="ellipse">
                <a:avLst/>
              </a:prstGeom>
              <a:solidFill>
                <a:srgbClr val="3B82F6">
                  <a:alpha val="95000"/>
                </a:srgbClr>
              </a:soli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200162" y="2564606"/>
                <a:ext cx="839426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Feature G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256124" y="2742724"/>
                <a:ext cx="727503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Score: 82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10191750" y="1619250"/>
            <a:ext cx="1878324" cy="2381250"/>
            <a:chOff x="10191750" y="1619250"/>
            <a:chExt cx="1878324" cy="2381250"/>
          </a:xfrm>
          <a:effectLst>
            <a:outerShdw blurRad="76200" dist="19050" dir="5400000" algn="ctr" rotWithShape="0">
              <a:srgbClr val="0F172A">
                <a:alpha val="7500"/>
              </a:srgbClr>
            </a:outerShdw>
          </a:effectLst>
        </p:grpSpPr>
        <p:sp>
          <p:nvSpPr>
            <p:cNvPr id="55" name="Freeform 55"/>
            <p:cNvSpPr/>
            <p:nvPr/>
          </p:nvSpPr>
          <p:spPr>
            <a:xfrm>
              <a:off x="10191750" y="1619250"/>
              <a:ext cx="1571625" cy="2381250"/>
            </a:xfrm>
            <a:custGeom>
              <a:avLst/>
              <a:gdLst/>
              <a:ahLst/>
              <a:cxnLst/>
              <a:rect l="l" t="t" r="r" b="b"/>
              <a:pathLst>
                <a:path w="1571625" h="2381250">
                  <a:moveTo>
                    <a:pt x="114300" y="0"/>
                  </a:moveTo>
                  <a:lnTo>
                    <a:pt x="1457325" y="0"/>
                  </a:lnTo>
                  <a:cubicBezTo>
                    <a:pt x="1520451" y="0"/>
                    <a:pt x="1571625" y="51174"/>
                    <a:pt x="1571625" y="114300"/>
                  </a:cubicBezTo>
                  <a:lnTo>
                    <a:pt x="1571625" y="2266950"/>
                  </a:lnTo>
                  <a:cubicBezTo>
                    <a:pt x="1571625" y="2330076"/>
                    <a:pt x="1520451" y="2381250"/>
                    <a:pt x="1457325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spPr>
        </p:sp>
        <p:sp>
          <p:nvSpPr>
            <p:cNvPr id="56" name="TextBox 56"/>
            <p:cNvSpPr txBox="1"/>
            <p:nvPr/>
          </p:nvSpPr>
          <p:spPr>
            <a:xfrm>
              <a:off x="10613469" y="1831181"/>
              <a:ext cx="718661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执行策略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10334625" y="2095500"/>
              <a:ext cx="1285875" cy="9525"/>
            </a:xfrm>
            <a:custGeom>
              <a:avLst/>
              <a:gdLst/>
              <a:ahLst/>
              <a:cxnLst/>
              <a:rect l="l" t="t" r="r" b="b"/>
              <a:pathLst>
                <a:path w="1285875" h="9525">
                  <a:moveTo>
                    <a:pt x="0" y="0"/>
                  </a:moveTo>
                  <a:lnTo>
                    <a:pt x="1285875" y="0"/>
                  </a:lnTo>
                </a:path>
              </a:pathLst>
            </a:custGeom>
            <a:noFill/>
            <a:ln w="19050">
              <a:solidFill>
                <a:srgbClr val="F1F5F9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10325100" y="2276475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spPr>
        </p:sp>
        <p:sp>
          <p:nvSpPr>
            <p:cNvPr id="59" name="TextBox 59"/>
            <p:cNvSpPr txBox="1"/>
            <p:nvPr/>
          </p:nvSpPr>
          <p:spPr>
            <a:xfrm>
              <a:off x="10512742" y="2275999"/>
              <a:ext cx="109382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47857"/>
                  </a:solidFill>
                  <a:latin typeface="Segoe UI"/>
                  <a:ea typeface="Microsoft YaHei"/>
                  <a:cs typeface="Segoe UI"/>
                </a:rPr>
                <a:t>高价值快赢: DO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10325100" y="2657475"/>
              <a:ext cx="114300" cy="1143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spPr>
        </p:sp>
        <p:sp>
          <p:nvSpPr>
            <p:cNvPr id="61" name="TextBox 61"/>
            <p:cNvSpPr txBox="1"/>
            <p:nvPr/>
          </p:nvSpPr>
          <p:spPr>
            <a:xfrm>
              <a:off x="10512742" y="2656999"/>
              <a:ext cx="122091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D4ED8"/>
                  </a:solidFill>
                  <a:latin typeface="Segoe UI"/>
                  <a:ea typeface="Microsoft YaHei"/>
                  <a:cs typeface="Segoe UI"/>
                </a:rPr>
                <a:t>战略项：分期落地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10325100" y="3038475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spPr>
        </p:sp>
        <p:sp>
          <p:nvSpPr>
            <p:cNvPr id="63" name="TextBox 63"/>
            <p:cNvSpPr txBox="1"/>
            <p:nvPr/>
          </p:nvSpPr>
          <p:spPr>
            <a:xfrm>
              <a:off x="10512742" y="3037999"/>
              <a:ext cx="155733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45309"/>
                  </a:solidFill>
                  <a:latin typeface="Segoe UI"/>
                  <a:ea typeface="Microsoft YaHei"/>
                  <a:cs typeface="Segoe UI"/>
                </a:rPr>
                <a:t>机会型补充: DELEGATE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10325100" y="3419475"/>
              <a:ext cx="114300" cy="114300"/>
            </a:xfrm>
            <a:prstGeom prst="ellipse">
              <a:avLst/>
            </a:prstGeom>
            <a:solidFill>
              <a:srgbClr val="F43F5E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spPr>
        </p:sp>
        <p:sp>
          <p:nvSpPr>
            <p:cNvPr id="65" name="TextBox 65"/>
            <p:cNvSpPr txBox="1"/>
            <p:nvPr/>
          </p:nvSpPr>
          <p:spPr>
            <a:xfrm>
              <a:off x="10512742" y="3418999"/>
              <a:ext cx="122091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E123C"/>
                  </a:solidFill>
                  <a:latin typeface="Segoe UI"/>
                  <a:ea typeface="Microsoft YaHei"/>
                  <a:cs typeface="Segoe UI"/>
                </a:rPr>
                <a:t>低收益：暂缓投入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415142" y="3768566"/>
              <a:ext cx="1115317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7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Bubble Size = Cost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559118" y="6562249"/>
            <a:ext cx="2609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Source: 业务访谈、价值评估与架构评审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40767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智能运营闭环流程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8165" y="839152"/>
            <a:ext cx="2490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SOP 标准流程 · 从告警到收益闭环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905000" y="1790700"/>
            <a:ext cx="8143875" cy="3162301"/>
            <a:chOff x="1905000" y="1790700"/>
            <a:chExt cx="8143875" cy="3162301"/>
          </a:xfrm>
        </p:grpSpPr>
        <p:sp>
          <p:nvSpPr>
            <p:cNvPr id="5" name="Line 5"/>
            <p:cNvSpPr/>
            <p:nvPr/>
          </p:nvSpPr>
          <p:spPr>
            <a:xfrm>
              <a:off x="1905000" y="1905000"/>
              <a:ext cx="714375" cy="1"/>
            </a:xfrm>
            <a:prstGeom prst="line">
              <a:avLst/>
            </a:prstGeom>
            <a:noFill/>
            <a:ln w="28575">
              <a:solidFill>
                <a:srgbClr val="64748B"/>
              </a:solidFill>
              <a:tailEnd type="triangle" w="lg" len="lg"/>
            </a:ln>
          </p:spPr>
        </p:sp>
        <p:sp>
          <p:nvSpPr>
            <p:cNvPr id="6" name="Line 6"/>
            <p:cNvSpPr/>
            <p:nvPr/>
          </p:nvSpPr>
          <p:spPr>
            <a:xfrm>
              <a:off x="4381500" y="1905000"/>
              <a:ext cx="714375" cy="1"/>
            </a:xfrm>
            <a:prstGeom prst="line">
              <a:avLst/>
            </a:prstGeom>
            <a:noFill/>
            <a:ln w="28575">
              <a:solidFill>
                <a:srgbClr val="64748B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6667500" y="1905000"/>
              <a:ext cx="904875" cy="1"/>
            </a:xfrm>
            <a:prstGeom prst="line">
              <a:avLst/>
            </a:prstGeom>
            <a:noFill/>
            <a:ln w="28575">
              <a:solidFill>
                <a:srgbClr val="64748B"/>
              </a:solidFill>
              <a:tailEnd type="triangle" w="lg" len="lg"/>
            </a:ln>
          </p:spPr>
        </p:sp>
        <p:sp>
          <p:nvSpPr>
            <p:cNvPr id="8" name="Freeform 8"/>
            <p:cNvSpPr/>
            <p:nvPr/>
          </p:nvSpPr>
          <p:spPr>
            <a:xfrm>
              <a:off x="7000875" y="17907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38100" y="0"/>
                  </a:moveTo>
                  <a:lnTo>
                    <a:pt x="247650" y="0"/>
                  </a:lnTo>
                  <a:cubicBezTo>
                    <a:pt x="268692" y="0"/>
                    <a:pt x="285750" y="17058"/>
                    <a:pt x="285750" y="38100"/>
                  </a:cubicBezTo>
                  <a:lnTo>
                    <a:pt x="285750" y="190500"/>
                  </a:lnTo>
                  <a:cubicBezTo>
                    <a:pt x="285750" y="211542"/>
                    <a:pt x="268692" y="228600"/>
                    <a:pt x="24765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08015" y="1847374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Yes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905500" y="2381250"/>
              <a:ext cx="1" cy="619125"/>
            </a:xfrm>
            <a:prstGeom prst="line">
              <a:avLst/>
            </a:prstGeom>
            <a:noFill/>
            <a:ln w="28575">
              <a:solidFill>
                <a:srgbClr val="F97316"/>
              </a:solidFill>
              <a:tailEnd type="triangle" w="lg" len="lg"/>
            </a:ln>
          </p:spPr>
        </p:sp>
        <p:sp>
          <p:nvSpPr>
            <p:cNvPr id="11" name="Freeform 11"/>
            <p:cNvSpPr/>
            <p:nvPr/>
          </p:nvSpPr>
          <p:spPr>
            <a:xfrm>
              <a:off x="5762625" y="257175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38100" y="0"/>
                  </a:moveTo>
                  <a:lnTo>
                    <a:pt x="247650" y="0"/>
                  </a:lnTo>
                  <a:cubicBezTo>
                    <a:pt x="268692" y="0"/>
                    <a:pt x="285750" y="17058"/>
                    <a:pt x="285750" y="38100"/>
                  </a:cubicBezTo>
                  <a:lnTo>
                    <a:pt x="285750" y="190500"/>
                  </a:lnTo>
                  <a:cubicBezTo>
                    <a:pt x="285750" y="211542"/>
                    <a:pt x="268692" y="228600"/>
                    <a:pt x="24765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10882" y="2628424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No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3524250" y="2333625"/>
              <a:ext cx="1524000" cy="1095375"/>
            </a:xfrm>
            <a:custGeom>
              <a:avLst/>
              <a:gdLst/>
              <a:ahLst/>
              <a:cxnLst/>
              <a:rect l="l" t="t" r="r" b="b"/>
              <a:pathLst>
                <a:path w="1524000" h="1095375">
                  <a:moveTo>
                    <a:pt x="1524000" y="1095375"/>
                  </a:moveTo>
                  <a:lnTo>
                    <a:pt x="0" y="109537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97316"/>
              </a:solidFill>
              <a:custDash>
                <a:ds d="200000" sp="133333"/>
              </a:custDash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8477250" y="2286000"/>
              <a:ext cx="1" cy="714375"/>
            </a:xfrm>
            <a:prstGeom prst="line">
              <a:avLst/>
            </a:prstGeom>
            <a:noFill/>
            <a:ln w="28575">
              <a:solidFill>
                <a:srgbClr val="64748B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8477250" y="3810000"/>
              <a:ext cx="1" cy="714375"/>
            </a:xfrm>
            <a:prstGeom prst="line">
              <a:avLst/>
            </a:prstGeom>
            <a:noFill/>
            <a:ln w="28575">
              <a:solidFill>
                <a:srgbClr val="64748B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9334500" y="4953000"/>
              <a:ext cx="714375" cy="1"/>
            </a:xfrm>
            <a:prstGeom prst="line">
              <a:avLst/>
            </a:prstGeom>
            <a:noFill/>
            <a:ln w="28575">
              <a:solidFill>
                <a:srgbClr val="64748B"/>
              </a:solidFill>
              <a:tailEnd type="triangle" w="lg" len="lg"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71500" y="1428750"/>
            <a:ext cx="10858500" cy="3905250"/>
            <a:chOff x="571500" y="1428750"/>
            <a:chExt cx="10858500" cy="3905250"/>
          </a:xfrm>
        </p:grpSpPr>
        <p:sp>
          <p:nvSpPr>
            <p:cNvPr id="18" name="Freeform 18"/>
            <p:cNvSpPr/>
            <p:nvPr/>
          </p:nvSpPr>
          <p:spPr>
            <a:xfrm>
              <a:off x="571500" y="1524000"/>
              <a:ext cx="1333500" cy="762000"/>
            </a:xfrm>
            <a:custGeom>
              <a:avLst/>
              <a:gdLst/>
              <a:ahLst/>
              <a:cxnLst/>
              <a:rect l="l" t="t" r="r" b="b"/>
              <a:pathLst>
                <a:path w="1333500" h="762000">
                  <a:moveTo>
                    <a:pt x="381000" y="0"/>
                  </a:moveTo>
                  <a:lnTo>
                    <a:pt x="952500" y="0"/>
                  </a:lnTo>
                  <a:cubicBezTo>
                    <a:pt x="1162920" y="0"/>
                    <a:pt x="1333500" y="170580"/>
                    <a:pt x="1333500" y="381000"/>
                  </a:cubicBezTo>
                  <a:lnTo>
                    <a:pt x="1333500" y="381000"/>
                  </a:lnTo>
                  <a:cubicBezTo>
                    <a:pt x="1333500" y="591420"/>
                    <a:pt x="1162920" y="762000"/>
                    <a:pt x="952500" y="762000"/>
                  </a:cubicBezTo>
                  <a:lnTo>
                    <a:pt x="381000" y="762000"/>
                  </a:lnTo>
                  <a:cubicBezTo>
                    <a:pt x="170580" y="762000"/>
                    <a:pt x="0" y="591420"/>
                    <a:pt x="0" y="381000"/>
                  </a:cubicBezTo>
                  <a:lnTo>
                    <a:pt x="0" y="381000"/>
                  </a:ln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334155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936444" y="1740218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Start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6281" y="1979295"/>
              <a:ext cx="6439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Initiation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2667000" y="1524000"/>
              <a:ext cx="1714500" cy="762000"/>
            </a:xfrm>
            <a:custGeom>
              <a:avLst/>
              <a:gdLst/>
              <a:ahLst/>
              <a:cxnLst/>
              <a:rect l="l" t="t" r="r" b="b"/>
              <a:pathLst>
                <a:path w="1714500" h="762000">
                  <a:moveTo>
                    <a:pt x="95250" y="0"/>
                  </a:moveTo>
                  <a:lnTo>
                    <a:pt x="1619250" y="0"/>
                  </a:lnTo>
                  <a:cubicBezTo>
                    <a:pt x="1671855" y="0"/>
                    <a:pt x="1714500" y="42645"/>
                    <a:pt x="1714500" y="95250"/>
                  </a:cubicBezTo>
                  <a:lnTo>
                    <a:pt x="1714500" y="666750"/>
                  </a:lnTo>
                  <a:cubicBezTo>
                    <a:pt x="1714500" y="719355"/>
                    <a:pt x="1671855" y="762000"/>
                    <a:pt x="16192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2823722" y="1719739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需求与事件汇聚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3143250" y="200025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95250" y="0"/>
                  </a:moveTo>
                  <a:lnTo>
                    <a:pt x="666750" y="0"/>
                  </a:lnTo>
                  <a:cubicBezTo>
                    <a:pt x="719355" y="0"/>
                    <a:pt x="762000" y="42645"/>
                    <a:pt x="762000" y="95250"/>
                  </a:cubicBezTo>
                  <a:lnTo>
                    <a:pt x="762000" y="95250"/>
                  </a:lnTo>
                  <a:cubicBezTo>
                    <a:pt x="762000" y="147855"/>
                    <a:pt x="719355" y="190500"/>
                    <a:pt x="6667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D4ED8">
                <a:alpha val="5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243686" y="2036445"/>
              <a:ext cx="5611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BEAFE"/>
                  </a:solidFill>
                  <a:latin typeface="Segoe UI"/>
                  <a:ea typeface="Microsoft YaHei"/>
                  <a:cs typeface="Segoe UI"/>
                </a:rPr>
                <a:t>1-2 Days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143500" y="1428750"/>
              <a:ext cx="1524000" cy="952500"/>
            </a:xfrm>
            <a:custGeom>
              <a:avLst/>
              <a:gdLst/>
              <a:ahLst/>
              <a:cxnLst/>
              <a:rect l="l" t="t" r="r" b="b"/>
              <a:pathLst>
                <a:path w="1524000" h="952500">
                  <a:moveTo>
                    <a:pt x="762000" y="0"/>
                  </a:moveTo>
                  <a:lnTo>
                    <a:pt x="1524000" y="476250"/>
                  </a:lnTo>
                  <a:lnTo>
                    <a:pt x="762000" y="95250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5480809" y="1737360"/>
              <a:ext cx="849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Feasible?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9792" y="1960245"/>
              <a:ext cx="4714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EF3C7"/>
                  </a:solidFill>
                  <a:latin typeface="Segoe UI"/>
                  <a:ea typeface="Microsoft YaHei"/>
                  <a:cs typeface="Segoe UI"/>
                </a:rPr>
                <a:t>Review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620000" y="1524000"/>
              <a:ext cx="1714500" cy="762000"/>
            </a:xfrm>
            <a:custGeom>
              <a:avLst/>
              <a:gdLst/>
              <a:ahLst/>
              <a:cxnLst/>
              <a:rect l="l" t="t" r="r" b="b"/>
              <a:pathLst>
                <a:path w="1714500" h="762000">
                  <a:moveTo>
                    <a:pt x="95250" y="0"/>
                  </a:moveTo>
                  <a:lnTo>
                    <a:pt x="1619250" y="0"/>
                  </a:lnTo>
                  <a:cubicBezTo>
                    <a:pt x="1671855" y="0"/>
                    <a:pt x="1714500" y="42645"/>
                    <a:pt x="1714500" y="95250"/>
                  </a:cubicBezTo>
                  <a:lnTo>
                    <a:pt x="1714500" y="666750"/>
                  </a:lnTo>
                  <a:cubicBezTo>
                    <a:pt x="1714500" y="719355"/>
                    <a:pt x="1671855" y="762000"/>
                    <a:pt x="16192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7874484" y="171973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处置方案设计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8096250" y="200025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95250" y="0"/>
                  </a:moveTo>
                  <a:lnTo>
                    <a:pt x="666750" y="0"/>
                  </a:lnTo>
                  <a:cubicBezTo>
                    <a:pt x="719355" y="0"/>
                    <a:pt x="762000" y="42645"/>
                    <a:pt x="762000" y="95250"/>
                  </a:cubicBezTo>
                  <a:lnTo>
                    <a:pt x="762000" y="95250"/>
                  </a:lnTo>
                  <a:cubicBezTo>
                    <a:pt x="762000" y="147855"/>
                    <a:pt x="719355" y="190500"/>
                    <a:pt x="6667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D4ED8">
                <a:alpha val="5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79434" y="2036445"/>
              <a:ext cx="5956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BEAFE"/>
                  </a:solidFill>
                  <a:latin typeface="Segoe UI"/>
                  <a:ea typeface="Microsoft YaHei"/>
                  <a:cs typeface="Segoe UI"/>
                </a:rPr>
                <a:t>3-5 Days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620000" y="3048000"/>
              <a:ext cx="1714500" cy="762000"/>
            </a:xfrm>
            <a:custGeom>
              <a:avLst/>
              <a:gdLst/>
              <a:ahLst/>
              <a:cxnLst/>
              <a:rect l="l" t="t" r="r" b="b"/>
              <a:pathLst>
                <a:path w="1714500" h="762000">
                  <a:moveTo>
                    <a:pt x="95250" y="0"/>
                  </a:moveTo>
                  <a:lnTo>
                    <a:pt x="1619250" y="0"/>
                  </a:lnTo>
                  <a:cubicBezTo>
                    <a:pt x="1671855" y="0"/>
                    <a:pt x="1714500" y="42645"/>
                    <a:pt x="1714500" y="95250"/>
                  </a:cubicBezTo>
                  <a:lnTo>
                    <a:pt x="1714500" y="666750"/>
                  </a:lnTo>
                  <a:cubicBezTo>
                    <a:pt x="1714500" y="719355"/>
                    <a:pt x="1671855" y="762000"/>
                    <a:pt x="16192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3" name="TextBox 33"/>
            <p:cNvSpPr txBox="1"/>
            <p:nvPr/>
          </p:nvSpPr>
          <p:spPr>
            <a:xfrm>
              <a:off x="7874484" y="324373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策略编排执行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096250" y="352425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95250" y="0"/>
                  </a:moveTo>
                  <a:lnTo>
                    <a:pt x="666750" y="0"/>
                  </a:lnTo>
                  <a:cubicBezTo>
                    <a:pt x="719355" y="0"/>
                    <a:pt x="762000" y="42645"/>
                    <a:pt x="762000" y="95250"/>
                  </a:cubicBezTo>
                  <a:lnTo>
                    <a:pt x="762000" y="95250"/>
                  </a:lnTo>
                  <a:cubicBezTo>
                    <a:pt x="762000" y="147855"/>
                    <a:pt x="719355" y="190500"/>
                    <a:pt x="6667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D4ED8">
                <a:alpha val="5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58732" y="3560445"/>
              <a:ext cx="637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BEAFE"/>
                  </a:solidFill>
                  <a:latin typeface="Segoe UI"/>
                  <a:ea typeface="Microsoft YaHei"/>
                  <a:cs typeface="Segoe UI"/>
                </a:rPr>
                <a:t>7-14 Days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620000" y="4572000"/>
              <a:ext cx="1714500" cy="762000"/>
            </a:xfrm>
            <a:custGeom>
              <a:avLst/>
              <a:gdLst/>
              <a:ahLst/>
              <a:cxnLst/>
              <a:rect l="l" t="t" r="r" b="b"/>
              <a:pathLst>
                <a:path w="1714500" h="762000">
                  <a:moveTo>
                    <a:pt x="95250" y="0"/>
                  </a:moveTo>
                  <a:lnTo>
                    <a:pt x="1619250" y="0"/>
                  </a:lnTo>
                  <a:cubicBezTo>
                    <a:pt x="1671855" y="0"/>
                    <a:pt x="1714500" y="42645"/>
                    <a:pt x="1714500" y="95250"/>
                  </a:cubicBezTo>
                  <a:lnTo>
                    <a:pt x="1714500" y="666750"/>
                  </a:lnTo>
                  <a:cubicBezTo>
                    <a:pt x="1714500" y="719355"/>
                    <a:pt x="1671855" y="762000"/>
                    <a:pt x="16192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7" name="TextBox 37"/>
            <p:cNvSpPr txBox="1"/>
            <p:nvPr/>
          </p:nvSpPr>
          <p:spPr>
            <a:xfrm>
              <a:off x="7776722" y="4767739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效果验证与复盘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8096250" y="504825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95250" y="0"/>
                  </a:moveTo>
                  <a:lnTo>
                    <a:pt x="666750" y="0"/>
                  </a:lnTo>
                  <a:cubicBezTo>
                    <a:pt x="719355" y="0"/>
                    <a:pt x="762000" y="42645"/>
                    <a:pt x="762000" y="95250"/>
                  </a:cubicBezTo>
                  <a:lnTo>
                    <a:pt x="762000" y="95250"/>
                  </a:lnTo>
                  <a:cubicBezTo>
                    <a:pt x="762000" y="147855"/>
                    <a:pt x="719355" y="190500"/>
                    <a:pt x="6667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D4ED8">
                <a:alpha val="5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79434" y="5084445"/>
              <a:ext cx="5956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BEAFE"/>
                  </a:solidFill>
                  <a:latin typeface="Segoe UI"/>
                  <a:ea typeface="Microsoft YaHei"/>
                  <a:cs typeface="Segoe UI"/>
                </a:rPr>
                <a:t>2-3 Days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048250" y="3048000"/>
              <a:ext cx="1714500" cy="762000"/>
            </a:xfrm>
            <a:custGeom>
              <a:avLst/>
              <a:gdLst/>
              <a:ahLst/>
              <a:cxnLst/>
              <a:rect l="l" t="t" r="r" b="b"/>
              <a:pathLst>
                <a:path w="1714500" h="762000">
                  <a:moveTo>
                    <a:pt x="95250" y="0"/>
                  </a:moveTo>
                  <a:lnTo>
                    <a:pt x="1619250" y="0"/>
                  </a:lnTo>
                  <a:cubicBezTo>
                    <a:pt x="1671855" y="0"/>
                    <a:pt x="1714500" y="42645"/>
                    <a:pt x="1714500" y="95250"/>
                  </a:cubicBezTo>
                  <a:lnTo>
                    <a:pt x="1714500" y="666750"/>
                  </a:lnTo>
                  <a:cubicBezTo>
                    <a:pt x="1714500" y="719355"/>
                    <a:pt x="1671855" y="762000"/>
                    <a:pt x="16192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23812">
              <a:solidFill>
                <a:srgbClr val="F97316"/>
              </a:solidFill>
            </a:ln>
            <a:effectLst>
              <a:outerShdw blurRad="9525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41" name="TextBox 41"/>
            <p:cNvSpPr txBox="1"/>
            <p:nvPr/>
          </p:nvSpPr>
          <p:spPr>
            <a:xfrm>
              <a:off x="5498259" y="3243739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C2410C"/>
                  </a:solidFill>
                  <a:latin typeface="Segoe UI"/>
                  <a:ea typeface="Microsoft YaHei"/>
                  <a:cs typeface="Segoe UI"/>
                </a:rPr>
                <a:t>策略复核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476875" y="3524250"/>
              <a:ext cx="857250" cy="190500"/>
            </a:xfrm>
            <a:custGeom>
              <a:avLst/>
              <a:gdLst/>
              <a:ahLst/>
              <a:cxnLst/>
              <a:rect l="l" t="t" r="r" b="b"/>
              <a:pathLst>
                <a:path w="857250" h="190500">
                  <a:moveTo>
                    <a:pt x="95250" y="0"/>
                  </a:moveTo>
                  <a:lnTo>
                    <a:pt x="762000" y="0"/>
                  </a:lnTo>
                  <a:cubicBezTo>
                    <a:pt x="814605" y="0"/>
                    <a:pt x="857250" y="42645"/>
                    <a:pt x="857250" y="95250"/>
                  </a:cubicBezTo>
                  <a:lnTo>
                    <a:pt x="857250" y="95250"/>
                  </a:lnTo>
                  <a:cubicBezTo>
                    <a:pt x="857250" y="147855"/>
                    <a:pt x="814605" y="190500"/>
                    <a:pt x="76200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EDD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73117" y="3560445"/>
              <a:ext cx="8647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9A3412"/>
                  </a:solidFill>
                  <a:latin typeface="Segoe UI"/>
                  <a:ea typeface="Microsoft YaHei"/>
                  <a:cs typeface="Segoe UI"/>
                </a:rPr>
                <a:t>Adjust Scope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10096500" y="4572000"/>
              <a:ext cx="1333500" cy="762000"/>
            </a:xfrm>
            <a:custGeom>
              <a:avLst/>
              <a:gdLst/>
              <a:ahLst/>
              <a:cxnLst/>
              <a:rect l="l" t="t" r="r" b="b"/>
              <a:pathLst>
                <a:path w="1333500" h="762000">
                  <a:moveTo>
                    <a:pt x="381000" y="0"/>
                  </a:moveTo>
                  <a:lnTo>
                    <a:pt x="952500" y="0"/>
                  </a:lnTo>
                  <a:cubicBezTo>
                    <a:pt x="1162920" y="0"/>
                    <a:pt x="1333500" y="170580"/>
                    <a:pt x="1333500" y="381000"/>
                  </a:cubicBezTo>
                  <a:lnTo>
                    <a:pt x="1333500" y="381000"/>
                  </a:lnTo>
                  <a:cubicBezTo>
                    <a:pt x="1333500" y="591420"/>
                    <a:pt x="1162920" y="762000"/>
                    <a:pt x="952500" y="762000"/>
                  </a:cubicBezTo>
                  <a:lnTo>
                    <a:pt x="381000" y="762000"/>
                  </a:lnTo>
                  <a:cubicBezTo>
                    <a:pt x="170580" y="762000"/>
                    <a:pt x="0" y="591420"/>
                    <a:pt x="0" y="381000"/>
                  </a:cubicBezTo>
                  <a:lnTo>
                    <a:pt x="0" y="381000"/>
                  </a:ln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334155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45" name="TextBox 45"/>
            <p:cNvSpPr txBox="1"/>
            <p:nvPr/>
          </p:nvSpPr>
          <p:spPr>
            <a:xfrm>
              <a:off x="10228540" y="47882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闭环与沉淀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75723" y="5027295"/>
              <a:ext cx="7750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Deployment</a:t>
              </a:r>
            </a:p>
          </p:txBody>
        </p:sp>
      </p:grpSp>
      <p:sp>
        <p:nvSpPr>
          <p:cNvPr id="48" name="Freeform 48"/>
          <p:cNvSpPr/>
          <p:nvPr/>
        </p:nvSpPr>
        <p:spPr>
          <a:xfrm>
            <a:off x="571500" y="4381500"/>
            <a:ext cx="1905000" cy="1714500"/>
          </a:xfrm>
          <a:custGeom>
            <a:avLst/>
            <a:gdLst/>
            <a:ahLst/>
            <a:cxnLst/>
            <a:rect l="l" t="t" r="r" b="b"/>
            <a:pathLst>
              <a:path w="1905000" h="1714500">
                <a:moveTo>
                  <a:pt x="95250" y="0"/>
                </a:moveTo>
                <a:lnTo>
                  <a:pt x="1809750" y="0"/>
                </a:lnTo>
                <a:cubicBezTo>
                  <a:pt x="1862355" y="0"/>
                  <a:pt x="1905000" y="42645"/>
                  <a:pt x="1905000" y="95250"/>
                </a:cubicBezTo>
                <a:lnTo>
                  <a:pt x="1905000" y="1619250"/>
                </a:lnTo>
                <a:cubicBezTo>
                  <a:pt x="1905000" y="1671855"/>
                  <a:pt x="1862355" y="1714500"/>
                  <a:pt x="1809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9525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49" name="TextBox 49"/>
          <p:cNvSpPr txBox="1"/>
          <p:nvPr/>
        </p:nvSpPr>
        <p:spPr>
          <a:xfrm>
            <a:off x="1225052" y="4593431"/>
            <a:ext cx="597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Legend</a:t>
            </a:r>
          </a:p>
        </p:txBody>
      </p:sp>
      <p:sp>
        <p:nvSpPr>
          <p:cNvPr id="50" name="Freeform 50"/>
          <p:cNvSpPr/>
          <p:nvPr/>
        </p:nvSpPr>
        <p:spPr>
          <a:xfrm>
            <a:off x="762000" y="4953000"/>
            <a:ext cx="285750" cy="190500"/>
          </a:xfrm>
          <a:custGeom>
            <a:avLst/>
            <a:gdLst/>
            <a:ahLst/>
            <a:cxnLst/>
            <a:rect l="l" t="t" r="r" b="b"/>
            <a:pathLst>
              <a:path w="285750" h="190500">
                <a:moveTo>
                  <a:pt x="38100" y="0"/>
                </a:moveTo>
                <a:lnTo>
                  <a:pt x="247650" y="0"/>
                </a:lnTo>
                <a:cubicBezTo>
                  <a:pt x="268692" y="0"/>
                  <a:pt x="285750" y="17058"/>
                  <a:pt x="285750" y="38100"/>
                </a:cubicBezTo>
                <a:lnTo>
                  <a:pt x="285750" y="152400"/>
                </a:lnTo>
                <a:cubicBezTo>
                  <a:pt x="285750" y="173442"/>
                  <a:pt x="268692" y="190500"/>
                  <a:pt x="24765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178242" y="4990624"/>
            <a:ext cx="9742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Process Step</a:t>
            </a:r>
          </a:p>
        </p:txBody>
      </p:sp>
      <p:sp>
        <p:nvSpPr>
          <p:cNvPr id="52" name="Freeform 52"/>
          <p:cNvSpPr/>
          <p:nvPr/>
        </p:nvSpPr>
        <p:spPr>
          <a:xfrm>
            <a:off x="714375" y="5286375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190500" y="0"/>
                </a:moveTo>
                <a:lnTo>
                  <a:pt x="381000" y="95250"/>
                </a:lnTo>
                <a:lnTo>
                  <a:pt x="190500" y="190500"/>
                </a:lnTo>
                <a:lnTo>
                  <a:pt x="0" y="95250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178242" y="5323999"/>
            <a:ext cx="9816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Decision Node</a:t>
            </a:r>
          </a:p>
        </p:txBody>
      </p:sp>
      <p:sp>
        <p:nvSpPr>
          <p:cNvPr id="54" name="Freeform 54"/>
          <p:cNvSpPr/>
          <p:nvPr/>
        </p:nvSpPr>
        <p:spPr>
          <a:xfrm>
            <a:off x="762000" y="5619750"/>
            <a:ext cx="285750" cy="190500"/>
          </a:xfrm>
          <a:custGeom>
            <a:avLst/>
            <a:gdLst/>
            <a:ahLst/>
            <a:cxnLst/>
            <a:rect l="l" t="t" r="r" b="b"/>
            <a:pathLst>
              <a:path w="285750" h="190500">
                <a:moveTo>
                  <a:pt x="38100" y="0"/>
                </a:moveTo>
                <a:lnTo>
                  <a:pt x="247650" y="0"/>
                </a:lnTo>
                <a:cubicBezTo>
                  <a:pt x="268692" y="0"/>
                  <a:pt x="285750" y="17058"/>
                  <a:pt x="285750" y="38100"/>
                </a:cubicBezTo>
                <a:lnTo>
                  <a:pt x="285750" y="152400"/>
                </a:lnTo>
                <a:cubicBezTo>
                  <a:pt x="285750" y="173442"/>
                  <a:pt x="268692" y="190500"/>
                  <a:pt x="24765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97316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1178242" y="5657374"/>
            <a:ext cx="12283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Exception / Loop</a:t>
            </a:r>
          </a:p>
        </p:txBody>
      </p:sp>
      <p:sp>
        <p:nvSpPr>
          <p:cNvPr id="56" name="Freeform 56"/>
          <p:cNvSpPr/>
          <p:nvPr/>
        </p:nvSpPr>
        <p:spPr>
          <a:xfrm>
            <a:off x="2667000" y="4381500"/>
            <a:ext cx="2286000" cy="1714500"/>
          </a:xfrm>
          <a:custGeom>
            <a:avLst/>
            <a:gdLst/>
            <a:ahLst/>
            <a:cxnLst/>
            <a:rect l="l" t="t" r="r" b="b"/>
            <a:pathLst>
              <a:path w="2286000" h="1714500">
                <a:moveTo>
                  <a:pt x="95250" y="0"/>
                </a:moveTo>
                <a:lnTo>
                  <a:pt x="2190750" y="0"/>
                </a:lnTo>
                <a:cubicBezTo>
                  <a:pt x="2243355" y="0"/>
                  <a:pt x="2286000" y="42645"/>
                  <a:pt x="2286000" y="95250"/>
                </a:cubicBezTo>
                <a:lnTo>
                  <a:pt x="2286000" y="1619250"/>
                </a:lnTo>
                <a:cubicBezTo>
                  <a:pt x="2286000" y="1671855"/>
                  <a:pt x="2243355" y="1714500"/>
                  <a:pt x="2190750" y="1714500"/>
                </a:cubicBezTo>
                <a:lnTo>
                  <a:pt x="95250" y="1714500"/>
                </a:lnTo>
                <a:cubicBezTo>
                  <a:pt x="42645" y="1714500"/>
                  <a:pt x="0" y="1671855"/>
                  <a:pt x="0" y="1619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9525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57" name="TextBox 57"/>
          <p:cNvSpPr txBox="1"/>
          <p:nvPr/>
        </p:nvSpPr>
        <p:spPr>
          <a:xfrm>
            <a:off x="3450669" y="459343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时效指标</a:t>
            </a:r>
          </a:p>
        </p:txBody>
      </p:sp>
      <p:sp>
        <p:nvSpPr>
          <p:cNvPr id="58" name="Line 58"/>
          <p:cNvSpPr/>
          <p:nvPr/>
        </p:nvSpPr>
        <p:spPr>
          <a:xfrm>
            <a:off x="2857500" y="48577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2845118" y="50382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平均闭环时长：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064829" y="5030152"/>
            <a:ext cx="711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6-10 小时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845118" y="532399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关键节点：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660604" y="53159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845118" y="56097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决策闸口：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700859" y="560165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845118" y="589549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当前风险：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427125" y="58874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中低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59118" y="6514624"/>
            <a:ext cx="57662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Process Version: v2.1 | Last Updated: 2025-11-09 | Process Management System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3810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9120" y="312420"/>
            <a:ext cx="578407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Enterprise 智能运营中台分层架构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6265" y="743902"/>
            <a:ext cx="70874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THREE-TIER CAPABILITY STACK WITH UNIFIED OUTPUT AND SHARED FOUNDATIONAL INFRASTRUCTURE</a:t>
            </a:r>
          </a:p>
        </p:txBody>
      </p:sp>
      <p:sp>
        <p:nvSpPr>
          <p:cNvPr id="6" name="Freeform 6"/>
          <p:cNvSpPr/>
          <p:nvPr/>
        </p:nvSpPr>
        <p:spPr>
          <a:xfrm>
            <a:off x="381000" y="1333500"/>
            <a:ext cx="381000" cy="1333500"/>
          </a:xfrm>
          <a:custGeom>
            <a:avLst/>
            <a:gdLst/>
            <a:ahLst/>
            <a:cxnLst/>
            <a:rect l="l" t="t" r="r" b="b"/>
            <a:pathLst>
              <a:path w="381000" h="13335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1257300"/>
                </a:lnTo>
                <a:cubicBezTo>
                  <a:pt x="381000" y="1299384"/>
                  <a:pt x="346884" y="1333500"/>
                  <a:pt x="304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43007" y="1898332"/>
            <a:ext cx="2569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914400" y="1333500"/>
            <a:ext cx="9048750" cy="1333500"/>
          </a:xfrm>
          <a:custGeom>
            <a:avLst/>
            <a:gdLst/>
            <a:ahLst/>
            <a:cxnLst/>
            <a:rect l="l" t="t" r="r" b="b"/>
            <a:pathLst>
              <a:path w="9048750" h="1333500">
                <a:moveTo>
                  <a:pt x="114300" y="0"/>
                </a:moveTo>
                <a:lnTo>
                  <a:pt x="8934450" y="0"/>
                </a:lnTo>
                <a:cubicBezTo>
                  <a:pt x="8997576" y="0"/>
                  <a:pt x="9048750" y="51174"/>
                  <a:pt x="9048750" y="114300"/>
                </a:cubicBezTo>
                <a:lnTo>
                  <a:pt x="9048750" y="1219200"/>
                </a:lnTo>
                <a:cubicBezTo>
                  <a:pt x="9048750" y="1282326"/>
                  <a:pt x="8997576" y="1333500"/>
                  <a:pt x="8934450" y="1333500"/>
                </a:cubicBezTo>
                <a:lnTo>
                  <a:pt x="114300" y="1333500"/>
                </a:lnTo>
                <a:cubicBezTo>
                  <a:pt x="51174" y="1333500"/>
                  <a:pt x="0" y="1282326"/>
                  <a:pt x="0" y="1219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F">
              <a:alpha val="60000"/>
            </a:srgbClr>
          </a:solidFill>
          <a:ln w="14288">
            <a:solidFill>
              <a:srgbClr val="93C5FD"/>
            </a:solidFill>
            <a:custDash>
              <a:ds d="400000" sp="266666"/>
            </a:custDash>
          </a:ln>
        </p:spPr>
      </p:sp>
      <p:sp>
        <p:nvSpPr>
          <p:cNvPr id="9" name="TextBox 9"/>
          <p:cNvSpPr txBox="1"/>
          <p:nvPr/>
        </p:nvSpPr>
        <p:spPr>
          <a:xfrm>
            <a:off x="3460222" y="1475899"/>
            <a:ext cx="39571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APP LAYER · USER INTERFACES &amp; EXTERNAL ACCESS POINTS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85850" y="1752600"/>
            <a:ext cx="2095500" cy="783431"/>
            <a:chOff x="1085850" y="1752600"/>
            <a:chExt cx="2095500" cy="783431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1085850" y="1752600"/>
              <a:ext cx="2095500" cy="781050"/>
            </a:xfrm>
            <a:custGeom>
              <a:avLst/>
              <a:gdLst/>
              <a:ahLst/>
              <a:cxnLst/>
              <a:rect l="l" t="t" r="r" b="b"/>
              <a:pathLst>
                <a:path w="2095500" h="7810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704850"/>
                  </a:lnTo>
                  <a:cubicBezTo>
                    <a:pt x="2095500" y="746934"/>
                    <a:pt x="2061384" y="781050"/>
                    <a:pt x="2019300" y="781050"/>
                  </a:cubicBezTo>
                  <a:lnTo>
                    <a:pt x="76200" y="781050"/>
                  </a:lnTo>
                  <a:cubicBezTo>
                    <a:pt x="34116" y="781050"/>
                    <a:pt x="0" y="746934"/>
                    <a:pt x="0" y="704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1" name="Freeform 11"/>
            <p:cNvSpPr/>
            <p:nvPr/>
          </p:nvSpPr>
          <p:spPr>
            <a:xfrm>
              <a:off x="1200150" y="18859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76200" y="0"/>
                  </a:moveTo>
                  <a:lnTo>
                    <a:pt x="266700" y="0"/>
                  </a:lnTo>
                  <a:cubicBezTo>
                    <a:pt x="308784" y="0"/>
                    <a:pt x="342900" y="34116"/>
                    <a:pt x="342900" y="76200"/>
                  </a:cubicBezTo>
                  <a:lnTo>
                    <a:pt x="342900" y="266700"/>
                  </a:lnTo>
                  <a:cubicBezTo>
                    <a:pt x="342900" y="308784"/>
                    <a:pt x="308784" y="342900"/>
                    <a:pt x="2667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1287351" y="1985010"/>
              <a:ext cx="168497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B82F6"/>
                  </a:solidFill>
                  <a:latin typeface="Segoe UI"/>
                  <a:ea typeface="Microsoft YaHei"/>
                  <a:cs typeface="Segoe UI"/>
                </a:rPr>
                <a:t>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43062" y="1916906"/>
              <a:ext cx="1020574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Web Console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45920" y="2093595"/>
              <a:ext cx="671541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React SPA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200150" y="23241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89672" y="2368391"/>
              <a:ext cx="1780127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HTTPS &amp; WebSocket interfaces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295650" y="1752600"/>
            <a:ext cx="2095500" cy="783431"/>
            <a:chOff x="3295650" y="1752600"/>
            <a:chExt cx="2095500" cy="783431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8" name="Freeform 18"/>
            <p:cNvSpPr/>
            <p:nvPr/>
          </p:nvSpPr>
          <p:spPr>
            <a:xfrm>
              <a:off x="3295650" y="1752600"/>
              <a:ext cx="2095500" cy="781050"/>
            </a:xfrm>
            <a:custGeom>
              <a:avLst/>
              <a:gdLst/>
              <a:ahLst/>
              <a:cxnLst/>
              <a:rect l="l" t="t" r="r" b="b"/>
              <a:pathLst>
                <a:path w="2095500" h="7810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704850"/>
                  </a:lnTo>
                  <a:cubicBezTo>
                    <a:pt x="2095500" y="746934"/>
                    <a:pt x="2061384" y="781050"/>
                    <a:pt x="2019300" y="781050"/>
                  </a:cubicBezTo>
                  <a:lnTo>
                    <a:pt x="76200" y="781050"/>
                  </a:lnTo>
                  <a:cubicBezTo>
                    <a:pt x="34116" y="781050"/>
                    <a:pt x="0" y="746934"/>
                    <a:pt x="0" y="704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9" name="Freeform 19"/>
            <p:cNvSpPr/>
            <p:nvPr/>
          </p:nvSpPr>
          <p:spPr>
            <a:xfrm>
              <a:off x="3409950" y="18859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76200" y="0"/>
                  </a:moveTo>
                  <a:lnTo>
                    <a:pt x="266700" y="0"/>
                  </a:lnTo>
                  <a:cubicBezTo>
                    <a:pt x="308784" y="0"/>
                    <a:pt x="342900" y="34116"/>
                    <a:pt x="342900" y="76200"/>
                  </a:cubicBezTo>
                  <a:lnTo>
                    <a:pt x="342900" y="266700"/>
                  </a:lnTo>
                  <a:cubicBezTo>
                    <a:pt x="342900" y="308784"/>
                    <a:pt x="308784" y="342900"/>
                    <a:pt x="2667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3497151" y="1985010"/>
              <a:ext cx="168497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B82F6"/>
                  </a:solidFill>
                  <a:latin typeface="Segoe UI"/>
                  <a:ea typeface="Microsoft YaHei"/>
                  <a:cs typeface="Segoe UI"/>
                </a:rPr>
                <a:t>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52862" y="1916906"/>
              <a:ext cx="882557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Mobile App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55720" y="2093595"/>
              <a:ext cx="89927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iOS / Android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409950" y="23241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99472" y="2368391"/>
              <a:ext cx="1629513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Native HTTP/2 client access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505450" y="1752600"/>
            <a:ext cx="2095500" cy="783431"/>
            <a:chOff x="5505450" y="1752600"/>
            <a:chExt cx="2095500" cy="783431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6" name="Freeform 26"/>
            <p:cNvSpPr/>
            <p:nvPr/>
          </p:nvSpPr>
          <p:spPr>
            <a:xfrm>
              <a:off x="5505450" y="1752600"/>
              <a:ext cx="2095500" cy="781050"/>
            </a:xfrm>
            <a:custGeom>
              <a:avLst/>
              <a:gdLst/>
              <a:ahLst/>
              <a:cxnLst/>
              <a:rect l="l" t="t" r="r" b="b"/>
              <a:pathLst>
                <a:path w="2095500" h="7810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704850"/>
                  </a:lnTo>
                  <a:cubicBezTo>
                    <a:pt x="2095500" y="746934"/>
                    <a:pt x="2061384" y="781050"/>
                    <a:pt x="2019300" y="781050"/>
                  </a:cubicBezTo>
                  <a:lnTo>
                    <a:pt x="76200" y="781050"/>
                  </a:lnTo>
                  <a:cubicBezTo>
                    <a:pt x="34116" y="781050"/>
                    <a:pt x="0" y="746934"/>
                    <a:pt x="0" y="704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7" name="Freeform 27"/>
            <p:cNvSpPr/>
            <p:nvPr/>
          </p:nvSpPr>
          <p:spPr>
            <a:xfrm>
              <a:off x="5619750" y="18859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76200" y="0"/>
                  </a:moveTo>
                  <a:lnTo>
                    <a:pt x="266700" y="0"/>
                  </a:lnTo>
                  <a:cubicBezTo>
                    <a:pt x="308784" y="0"/>
                    <a:pt x="342900" y="34116"/>
                    <a:pt x="342900" y="76200"/>
                  </a:cubicBezTo>
                  <a:lnTo>
                    <a:pt x="342900" y="266700"/>
                  </a:lnTo>
                  <a:cubicBezTo>
                    <a:pt x="342900" y="308784"/>
                    <a:pt x="308784" y="342900"/>
                    <a:pt x="2667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5706951" y="1985010"/>
              <a:ext cx="168497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B82F6"/>
                  </a:solidFill>
                  <a:latin typeface="Segoe UI"/>
                  <a:ea typeface="Microsoft YaHei"/>
                  <a:cs typeface="Segoe UI"/>
                </a:rPr>
                <a:t>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62662" y="1916906"/>
              <a:ext cx="735913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Open 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65520" y="2093595"/>
              <a:ext cx="816459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API Gateway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5619750" y="23241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09272" y="2368391"/>
              <a:ext cx="1713857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REST &amp; GraphQL for partners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715250" y="1752600"/>
            <a:ext cx="2095500" cy="783431"/>
            <a:chOff x="7715250" y="1752600"/>
            <a:chExt cx="2095500" cy="783431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34" name="Freeform 34"/>
            <p:cNvSpPr/>
            <p:nvPr/>
          </p:nvSpPr>
          <p:spPr>
            <a:xfrm>
              <a:off x="7715250" y="1752600"/>
              <a:ext cx="2095500" cy="781050"/>
            </a:xfrm>
            <a:custGeom>
              <a:avLst/>
              <a:gdLst/>
              <a:ahLst/>
              <a:cxnLst/>
              <a:rect l="l" t="t" r="r" b="b"/>
              <a:pathLst>
                <a:path w="2095500" h="7810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704850"/>
                  </a:lnTo>
                  <a:cubicBezTo>
                    <a:pt x="2095500" y="746934"/>
                    <a:pt x="2061384" y="781050"/>
                    <a:pt x="2019300" y="781050"/>
                  </a:cubicBezTo>
                  <a:lnTo>
                    <a:pt x="76200" y="781050"/>
                  </a:lnTo>
                  <a:cubicBezTo>
                    <a:pt x="34116" y="781050"/>
                    <a:pt x="0" y="746934"/>
                    <a:pt x="0" y="704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5" name="Freeform 35"/>
            <p:cNvSpPr/>
            <p:nvPr/>
          </p:nvSpPr>
          <p:spPr>
            <a:xfrm>
              <a:off x="7829550" y="18859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76200" y="0"/>
                  </a:moveTo>
                  <a:lnTo>
                    <a:pt x="266700" y="0"/>
                  </a:lnTo>
                  <a:cubicBezTo>
                    <a:pt x="308784" y="0"/>
                    <a:pt x="342900" y="34116"/>
                    <a:pt x="342900" y="76200"/>
                  </a:cubicBezTo>
                  <a:lnTo>
                    <a:pt x="342900" y="266700"/>
                  </a:lnTo>
                  <a:cubicBezTo>
                    <a:pt x="342900" y="308784"/>
                    <a:pt x="308784" y="342900"/>
                    <a:pt x="2667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6" name="TextBox 36"/>
            <p:cNvSpPr txBox="1"/>
            <p:nvPr/>
          </p:nvSpPr>
          <p:spPr>
            <a:xfrm>
              <a:off x="7935154" y="1985010"/>
              <a:ext cx="131693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B82F6"/>
                  </a:solidFill>
                  <a:latin typeface="Segoe UI"/>
                  <a:ea typeface="Microsoft YaHei"/>
                  <a:cs typeface="Segoe UI"/>
                </a:rPr>
                <a:t>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72462" y="1916906"/>
              <a:ext cx="753166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CLI Tools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75320" y="2093595"/>
              <a:ext cx="50592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DevOps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829550" y="23241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19072" y="2368391"/>
              <a:ext cx="1737955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Command-line automation &amp; CI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381000" y="2819400"/>
            <a:ext cx="381000" cy="1333500"/>
          </a:xfrm>
          <a:custGeom>
            <a:avLst/>
            <a:gdLst/>
            <a:ahLst/>
            <a:cxnLst/>
            <a:rect l="l" t="t" r="r" b="b"/>
            <a:pathLst>
              <a:path w="381000" h="13335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1257300"/>
                </a:lnTo>
                <a:cubicBezTo>
                  <a:pt x="381000" y="1299384"/>
                  <a:pt x="346884" y="1333500"/>
                  <a:pt x="304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11378" y="3384232"/>
            <a:ext cx="3202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  <p:sp>
        <p:nvSpPr>
          <p:cNvPr id="44" name="Freeform 44"/>
          <p:cNvSpPr/>
          <p:nvPr/>
        </p:nvSpPr>
        <p:spPr>
          <a:xfrm>
            <a:off x="914400" y="2819400"/>
            <a:ext cx="9048750" cy="1333500"/>
          </a:xfrm>
          <a:custGeom>
            <a:avLst/>
            <a:gdLst/>
            <a:ahLst/>
            <a:cxnLst/>
            <a:rect l="l" t="t" r="r" b="b"/>
            <a:pathLst>
              <a:path w="9048750" h="1333500">
                <a:moveTo>
                  <a:pt x="114300" y="0"/>
                </a:moveTo>
                <a:lnTo>
                  <a:pt x="8934450" y="0"/>
                </a:lnTo>
                <a:cubicBezTo>
                  <a:pt x="8997576" y="0"/>
                  <a:pt x="9048750" y="51174"/>
                  <a:pt x="9048750" y="114300"/>
                </a:cubicBezTo>
                <a:lnTo>
                  <a:pt x="9048750" y="1219200"/>
                </a:lnTo>
                <a:cubicBezTo>
                  <a:pt x="9048750" y="1282326"/>
                  <a:pt x="8997576" y="1333500"/>
                  <a:pt x="8934450" y="1333500"/>
                </a:cubicBezTo>
                <a:lnTo>
                  <a:pt x="114300" y="1333500"/>
                </a:lnTo>
                <a:cubicBezTo>
                  <a:pt x="51174" y="1333500"/>
                  <a:pt x="0" y="1282326"/>
                  <a:pt x="0" y="1219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EF2FF">
              <a:alpha val="60000"/>
            </a:srgbClr>
          </a:solidFill>
          <a:ln w="14288">
            <a:solidFill>
              <a:srgbClr val="A5B4FC"/>
            </a:solidFill>
            <a:custDash>
              <a:ds d="400000" sp="266666"/>
            </a:custDash>
          </a:ln>
        </p:spPr>
      </p:sp>
      <p:sp>
        <p:nvSpPr>
          <p:cNvPr id="45" name="TextBox 45"/>
          <p:cNvSpPr txBox="1"/>
          <p:nvPr/>
        </p:nvSpPr>
        <p:spPr>
          <a:xfrm>
            <a:off x="3475174" y="2961799"/>
            <a:ext cx="39272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4F46E5"/>
                </a:solidFill>
                <a:latin typeface="Segoe UI"/>
                <a:ea typeface="Microsoft YaHei"/>
                <a:cs typeface="Segoe UI"/>
              </a:rPr>
              <a:t>SERVICE LAYER · CORE BUSINESS LOGIC &amp; ORCHESTRATION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085850" y="3238500"/>
            <a:ext cx="2095500" cy="783431"/>
            <a:chOff x="1085850" y="3238500"/>
            <a:chExt cx="2095500" cy="783431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46" name="Freeform 46"/>
            <p:cNvSpPr/>
            <p:nvPr/>
          </p:nvSpPr>
          <p:spPr>
            <a:xfrm>
              <a:off x="1085850" y="3238500"/>
              <a:ext cx="2095500" cy="781050"/>
            </a:xfrm>
            <a:custGeom>
              <a:avLst/>
              <a:gdLst/>
              <a:ahLst/>
              <a:cxnLst/>
              <a:rect l="l" t="t" r="r" b="b"/>
              <a:pathLst>
                <a:path w="2095500" h="7810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704850"/>
                  </a:lnTo>
                  <a:cubicBezTo>
                    <a:pt x="2095500" y="746934"/>
                    <a:pt x="2061384" y="781050"/>
                    <a:pt x="2019300" y="781050"/>
                  </a:cubicBezTo>
                  <a:lnTo>
                    <a:pt x="76200" y="781050"/>
                  </a:lnTo>
                  <a:cubicBezTo>
                    <a:pt x="34116" y="781050"/>
                    <a:pt x="0" y="746934"/>
                    <a:pt x="0" y="704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7" name="Freeform 47"/>
            <p:cNvSpPr/>
            <p:nvPr/>
          </p:nvSpPr>
          <p:spPr>
            <a:xfrm>
              <a:off x="1200150" y="33718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76200" y="0"/>
                  </a:moveTo>
                  <a:lnTo>
                    <a:pt x="266700" y="0"/>
                  </a:lnTo>
                  <a:cubicBezTo>
                    <a:pt x="308784" y="0"/>
                    <a:pt x="342900" y="34116"/>
                    <a:pt x="342900" y="76200"/>
                  </a:cubicBezTo>
                  <a:lnTo>
                    <a:pt x="342900" y="266700"/>
                  </a:lnTo>
                  <a:cubicBezTo>
                    <a:pt x="342900" y="308784"/>
                    <a:pt x="308784" y="342900"/>
                    <a:pt x="2667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EF2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8" name="TextBox 48"/>
            <p:cNvSpPr txBox="1"/>
            <p:nvPr/>
          </p:nvSpPr>
          <p:spPr>
            <a:xfrm>
              <a:off x="1305754" y="3470910"/>
              <a:ext cx="131693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366F1"/>
                  </a:solidFill>
                  <a:latin typeface="Segoe UI"/>
                  <a:ea typeface="Microsoft YaHei"/>
                  <a:cs typeface="Segoe UI"/>
                </a:rPr>
                <a:t>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43062" y="3402806"/>
              <a:ext cx="1080957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Core Routing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645920" y="3579495"/>
              <a:ext cx="816459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API Gateway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1200150" y="38100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89672" y="3854291"/>
              <a:ext cx="1798201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Traffic control &amp; rate limiting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295650" y="3238500"/>
            <a:ext cx="2095500" cy="783431"/>
            <a:chOff x="3295650" y="3238500"/>
            <a:chExt cx="2095500" cy="783431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54" name="Freeform 54"/>
            <p:cNvSpPr/>
            <p:nvPr/>
          </p:nvSpPr>
          <p:spPr>
            <a:xfrm>
              <a:off x="3295650" y="3238500"/>
              <a:ext cx="2095500" cy="781050"/>
            </a:xfrm>
            <a:custGeom>
              <a:avLst/>
              <a:gdLst/>
              <a:ahLst/>
              <a:cxnLst/>
              <a:rect l="l" t="t" r="r" b="b"/>
              <a:pathLst>
                <a:path w="2095500" h="7810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704850"/>
                  </a:lnTo>
                  <a:cubicBezTo>
                    <a:pt x="2095500" y="746934"/>
                    <a:pt x="2061384" y="781050"/>
                    <a:pt x="2019300" y="781050"/>
                  </a:cubicBezTo>
                  <a:lnTo>
                    <a:pt x="76200" y="781050"/>
                  </a:lnTo>
                  <a:cubicBezTo>
                    <a:pt x="34116" y="781050"/>
                    <a:pt x="0" y="746934"/>
                    <a:pt x="0" y="704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5" name="Freeform 55"/>
            <p:cNvSpPr/>
            <p:nvPr/>
          </p:nvSpPr>
          <p:spPr>
            <a:xfrm>
              <a:off x="3409950" y="33718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76200" y="0"/>
                  </a:moveTo>
                  <a:lnTo>
                    <a:pt x="266700" y="0"/>
                  </a:lnTo>
                  <a:cubicBezTo>
                    <a:pt x="308784" y="0"/>
                    <a:pt x="342900" y="34116"/>
                    <a:pt x="342900" y="76200"/>
                  </a:cubicBezTo>
                  <a:lnTo>
                    <a:pt x="342900" y="266700"/>
                  </a:lnTo>
                  <a:cubicBezTo>
                    <a:pt x="342900" y="308784"/>
                    <a:pt x="308784" y="342900"/>
                    <a:pt x="2667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EF2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6" name="TextBox 56"/>
            <p:cNvSpPr txBox="1"/>
            <p:nvPr/>
          </p:nvSpPr>
          <p:spPr>
            <a:xfrm>
              <a:off x="3497151" y="3470910"/>
              <a:ext cx="168497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366F1"/>
                  </a:solidFill>
                  <a:latin typeface="Segoe UI"/>
                  <a:ea typeface="Microsoft YaHei"/>
                  <a:cs typeface="Segoe UI"/>
                </a:rPr>
                <a:t>M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852862" y="3402806"/>
              <a:ext cx="1210348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Microservices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855720" y="3579495"/>
              <a:ext cx="857864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Domain Logic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3409950" y="38100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399472" y="3854291"/>
              <a:ext cx="1792176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Independent business services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505450" y="3238500"/>
            <a:ext cx="2095500" cy="783431"/>
            <a:chOff x="5505450" y="3238500"/>
            <a:chExt cx="2095500" cy="783431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62" name="Freeform 62"/>
            <p:cNvSpPr/>
            <p:nvPr/>
          </p:nvSpPr>
          <p:spPr>
            <a:xfrm>
              <a:off x="5505450" y="3238500"/>
              <a:ext cx="2095500" cy="781050"/>
            </a:xfrm>
            <a:custGeom>
              <a:avLst/>
              <a:gdLst/>
              <a:ahLst/>
              <a:cxnLst/>
              <a:rect l="l" t="t" r="r" b="b"/>
              <a:pathLst>
                <a:path w="2095500" h="7810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704850"/>
                  </a:lnTo>
                  <a:cubicBezTo>
                    <a:pt x="2095500" y="746934"/>
                    <a:pt x="2061384" y="781050"/>
                    <a:pt x="2019300" y="781050"/>
                  </a:cubicBezTo>
                  <a:lnTo>
                    <a:pt x="76200" y="781050"/>
                  </a:lnTo>
                  <a:cubicBezTo>
                    <a:pt x="34116" y="781050"/>
                    <a:pt x="0" y="746934"/>
                    <a:pt x="0" y="704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3" name="Freeform 63"/>
            <p:cNvSpPr/>
            <p:nvPr/>
          </p:nvSpPr>
          <p:spPr>
            <a:xfrm>
              <a:off x="5619750" y="33718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76200" y="0"/>
                  </a:moveTo>
                  <a:lnTo>
                    <a:pt x="266700" y="0"/>
                  </a:lnTo>
                  <a:cubicBezTo>
                    <a:pt x="308784" y="0"/>
                    <a:pt x="342900" y="34116"/>
                    <a:pt x="342900" y="76200"/>
                  </a:cubicBezTo>
                  <a:lnTo>
                    <a:pt x="342900" y="266700"/>
                  </a:lnTo>
                  <a:cubicBezTo>
                    <a:pt x="342900" y="308784"/>
                    <a:pt x="308784" y="342900"/>
                    <a:pt x="2667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EF2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4" name="TextBox 64"/>
            <p:cNvSpPr txBox="1"/>
            <p:nvPr/>
          </p:nvSpPr>
          <p:spPr>
            <a:xfrm>
              <a:off x="5748357" y="3470910"/>
              <a:ext cx="85687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366F1"/>
                  </a:solidFill>
                  <a:latin typeface="Segoe UI"/>
                  <a:ea typeface="Microsoft YaHei"/>
                  <a:cs typeface="Segoe UI"/>
                </a:rPr>
                <a:t>I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62662" y="3402806"/>
              <a:ext cx="977444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IAM Service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65520" y="3579495"/>
              <a:ext cx="1057989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Auth &amp; Security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5619750" y="38100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609272" y="3854291"/>
              <a:ext cx="1484924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Centralized SSO and RBAC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715250" y="3238500"/>
            <a:ext cx="2095500" cy="783431"/>
            <a:chOff x="7715250" y="3238500"/>
            <a:chExt cx="2095500" cy="783431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70" name="Freeform 70"/>
            <p:cNvSpPr/>
            <p:nvPr/>
          </p:nvSpPr>
          <p:spPr>
            <a:xfrm>
              <a:off x="7715250" y="3238500"/>
              <a:ext cx="2095500" cy="781050"/>
            </a:xfrm>
            <a:custGeom>
              <a:avLst/>
              <a:gdLst/>
              <a:ahLst/>
              <a:cxnLst/>
              <a:rect l="l" t="t" r="r" b="b"/>
              <a:pathLst>
                <a:path w="2095500" h="7810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704850"/>
                  </a:lnTo>
                  <a:cubicBezTo>
                    <a:pt x="2095500" y="746934"/>
                    <a:pt x="2061384" y="781050"/>
                    <a:pt x="2019300" y="781050"/>
                  </a:cubicBezTo>
                  <a:lnTo>
                    <a:pt x="76200" y="781050"/>
                  </a:lnTo>
                  <a:cubicBezTo>
                    <a:pt x="34116" y="781050"/>
                    <a:pt x="0" y="746934"/>
                    <a:pt x="0" y="704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1" name="Freeform 71"/>
            <p:cNvSpPr/>
            <p:nvPr/>
          </p:nvSpPr>
          <p:spPr>
            <a:xfrm>
              <a:off x="7829550" y="33718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76200" y="0"/>
                  </a:moveTo>
                  <a:lnTo>
                    <a:pt x="266700" y="0"/>
                  </a:lnTo>
                  <a:cubicBezTo>
                    <a:pt x="308784" y="0"/>
                    <a:pt x="342900" y="34116"/>
                    <a:pt x="342900" y="76200"/>
                  </a:cubicBezTo>
                  <a:lnTo>
                    <a:pt x="342900" y="266700"/>
                  </a:lnTo>
                  <a:cubicBezTo>
                    <a:pt x="342900" y="308784"/>
                    <a:pt x="308784" y="342900"/>
                    <a:pt x="2667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EF2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2" name="TextBox 72"/>
            <p:cNvSpPr txBox="1"/>
            <p:nvPr/>
          </p:nvSpPr>
          <p:spPr>
            <a:xfrm>
              <a:off x="7935154" y="3470910"/>
              <a:ext cx="131693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366F1"/>
                  </a:solidFill>
                  <a:latin typeface="Segoe UI"/>
                  <a:ea typeface="Microsoft YaHei"/>
                  <a:cs typeface="Segoe UI"/>
                </a:rPr>
                <a:t>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72462" y="3402806"/>
              <a:ext cx="839426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Event Bus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75320" y="3579495"/>
              <a:ext cx="1030386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Message Queue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7829550" y="38100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819072" y="3854291"/>
              <a:ext cx="1756029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Kafka-based async decoupling</a:t>
              </a:r>
            </a:p>
          </p:txBody>
        </p:sp>
      </p:grpSp>
      <p:sp>
        <p:nvSpPr>
          <p:cNvPr id="78" name="Freeform 78"/>
          <p:cNvSpPr/>
          <p:nvPr/>
        </p:nvSpPr>
        <p:spPr>
          <a:xfrm>
            <a:off x="381000" y="4305300"/>
            <a:ext cx="381000" cy="1333500"/>
          </a:xfrm>
          <a:custGeom>
            <a:avLst/>
            <a:gdLst/>
            <a:ahLst/>
            <a:cxnLst/>
            <a:rect l="l" t="t" r="r" b="b"/>
            <a:pathLst>
              <a:path w="381000" h="13335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1257300"/>
                </a:lnTo>
                <a:cubicBezTo>
                  <a:pt x="381000" y="1299384"/>
                  <a:pt x="346884" y="1333500"/>
                  <a:pt x="304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8B5CF6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411378" y="4870132"/>
            <a:ext cx="3202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  <p:sp>
        <p:nvSpPr>
          <p:cNvPr id="80" name="Freeform 80"/>
          <p:cNvSpPr/>
          <p:nvPr/>
        </p:nvSpPr>
        <p:spPr>
          <a:xfrm>
            <a:off x="914400" y="4305300"/>
            <a:ext cx="9048750" cy="1333500"/>
          </a:xfrm>
          <a:custGeom>
            <a:avLst/>
            <a:gdLst/>
            <a:ahLst/>
            <a:cxnLst/>
            <a:rect l="l" t="t" r="r" b="b"/>
            <a:pathLst>
              <a:path w="9048750" h="1333500">
                <a:moveTo>
                  <a:pt x="114300" y="0"/>
                </a:moveTo>
                <a:lnTo>
                  <a:pt x="8934450" y="0"/>
                </a:lnTo>
                <a:cubicBezTo>
                  <a:pt x="8997576" y="0"/>
                  <a:pt x="9048750" y="51174"/>
                  <a:pt x="9048750" y="114300"/>
                </a:cubicBezTo>
                <a:lnTo>
                  <a:pt x="9048750" y="1219200"/>
                </a:lnTo>
                <a:cubicBezTo>
                  <a:pt x="9048750" y="1282326"/>
                  <a:pt x="8997576" y="1333500"/>
                  <a:pt x="8934450" y="1333500"/>
                </a:cubicBezTo>
                <a:lnTo>
                  <a:pt x="114300" y="1333500"/>
                </a:lnTo>
                <a:cubicBezTo>
                  <a:pt x="51174" y="1333500"/>
                  <a:pt x="0" y="1282326"/>
                  <a:pt x="0" y="1219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F3FF">
              <a:alpha val="60000"/>
            </a:srgbClr>
          </a:solidFill>
          <a:ln w="14288">
            <a:solidFill>
              <a:srgbClr val="C4B5FD"/>
            </a:solidFill>
            <a:custDash>
              <a:ds d="400000" sp="266666"/>
            </a:custDash>
          </a:ln>
        </p:spPr>
      </p:sp>
      <p:sp>
        <p:nvSpPr>
          <p:cNvPr id="81" name="TextBox 81"/>
          <p:cNvSpPr txBox="1"/>
          <p:nvPr/>
        </p:nvSpPr>
        <p:spPr>
          <a:xfrm>
            <a:off x="3706928" y="4447699"/>
            <a:ext cx="34636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DATA LAYER · PERSISTENT STORAGE &amp; CAPABILITIES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1085850" y="4724400"/>
            <a:ext cx="2857500" cy="783431"/>
            <a:chOff x="1085850" y="4724400"/>
            <a:chExt cx="2857500" cy="783431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82" name="Freeform 82"/>
            <p:cNvSpPr/>
            <p:nvPr/>
          </p:nvSpPr>
          <p:spPr>
            <a:xfrm>
              <a:off x="1085850" y="4724400"/>
              <a:ext cx="2857500" cy="781050"/>
            </a:xfrm>
            <a:custGeom>
              <a:avLst/>
              <a:gdLst/>
              <a:ahLst/>
              <a:cxnLst/>
              <a:rect l="l" t="t" r="r" b="b"/>
              <a:pathLst>
                <a:path w="2857500" h="781050">
                  <a:moveTo>
                    <a:pt x="76200" y="0"/>
                  </a:moveTo>
                  <a:lnTo>
                    <a:pt x="2781300" y="0"/>
                  </a:lnTo>
                  <a:cubicBezTo>
                    <a:pt x="2823384" y="0"/>
                    <a:pt x="2857500" y="34116"/>
                    <a:pt x="2857500" y="76200"/>
                  </a:cubicBezTo>
                  <a:lnTo>
                    <a:pt x="2857500" y="704850"/>
                  </a:lnTo>
                  <a:cubicBezTo>
                    <a:pt x="2857500" y="746934"/>
                    <a:pt x="2823384" y="781050"/>
                    <a:pt x="2781300" y="781050"/>
                  </a:cubicBezTo>
                  <a:lnTo>
                    <a:pt x="76200" y="781050"/>
                  </a:lnTo>
                  <a:cubicBezTo>
                    <a:pt x="34116" y="781050"/>
                    <a:pt x="0" y="746934"/>
                    <a:pt x="0" y="704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3" name="Freeform 83"/>
            <p:cNvSpPr/>
            <p:nvPr/>
          </p:nvSpPr>
          <p:spPr>
            <a:xfrm>
              <a:off x="1200150" y="48577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76200" y="0"/>
                  </a:moveTo>
                  <a:lnTo>
                    <a:pt x="266700" y="0"/>
                  </a:lnTo>
                  <a:cubicBezTo>
                    <a:pt x="308784" y="0"/>
                    <a:pt x="342900" y="34116"/>
                    <a:pt x="342900" y="76200"/>
                  </a:cubicBezTo>
                  <a:lnTo>
                    <a:pt x="342900" y="266700"/>
                  </a:lnTo>
                  <a:cubicBezTo>
                    <a:pt x="342900" y="308784"/>
                    <a:pt x="308784" y="342900"/>
                    <a:pt x="2667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3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4" name="TextBox 84"/>
            <p:cNvSpPr txBox="1"/>
            <p:nvPr/>
          </p:nvSpPr>
          <p:spPr>
            <a:xfrm>
              <a:off x="1305754" y="4956810"/>
              <a:ext cx="131693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5CF6"/>
                  </a:solidFill>
                  <a:latin typeface="Segoe UI"/>
                  <a:ea typeface="Microsoft YaHei"/>
                  <a:cs typeface="Segoe UI"/>
                </a:rPr>
                <a:t>R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643062" y="4888706"/>
              <a:ext cx="1089583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Relational DB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645920" y="5065395"/>
              <a:ext cx="80955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PostgreSQL</a:t>
              </a:r>
            </a:p>
          </p:txBody>
        </p:sp>
        <p:sp>
          <p:nvSpPr>
            <p:cNvPr id="87" name="Line 87"/>
            <p:cNvSpPr/>
            <p:nvPr/>
          </p:nvSpPr>
          <p:spPr>
            <a:xfrm>
              <a:off x="1200150" y="529590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189672" y="5340191"/>
              <a:ext cx="1954840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ACID compliant core data storage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4095750" y="4724400"/>
            <a:ext cx="2857500" cy="783431"/>
            <a:chOff x="4095750" y="4724400"/>
            <a:chExt cx="2857500" cy="783431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90" name="Freeform 90"/>
            <p:cNvSpPr/>
            <p:nvPr/>
          </p:nvSpPr>
          <p:spPr>
            <a:xfrm>
              <a:off x="4095750" y="4724400"/>
              <a:ext cx="2857500" cy="781050"/>
            </a:xfrm>
            <a:custGeom>
              <a:avLst/>
              <a:gdLst/>
              <a:ahLst/>
              <a:cxnLst/>
              <a:rect l="l" t="t" r="r" b="b"/>
              <a:pathLst>
                <a:path w="2857500" h="781050">
                  <a:moveTo>
                    <a:pt x="76200" y="0"/>
                  </a:moveTo>
                  <a:lnTo>
                    <a:pt x="2781300" y="0"/>
                  </a:lnTo>
                  <a:cubicBezTo>
                    <a:pt x="2823384" y="0"/>
                    <a:pt x="2857500" y="34116"/>
                    <a:pt x="2857500" y="76200"/>
                  </a:cubicBezTo>
                  <a:lnTo>
                    <a:pt x="2857500" y="704850"/>
                  </a:lnTo>
                  <a:cubicBezTo>
                    <a:pt x="2857500" y="746934"/>
                    <a:pt x="2823384" y="781050"/>
                    <a:pt x="2781300" y="781050"/>
                  </a:cubicBezTo>
                  <a:lnTo>
                    <a:pt x="76200" y="781050"/>
                  </a:lnTo>
                  <a:cubicBezTo>
                    <a:pt x="34116" y="781050"/>
                    <a:pt x="0" y="746934"/>
                    <a:pt x="0" y="704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1" name="Freeform 91"/>
            <p:cNvSpPr/>
            <p:nvPr/>
          </p:nvSpPr>
          <p:spPr>
            <a:xfrm>
              <a:off x="4210050" y="48577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76200" y="0"/>
                  </a:moveTo>
                  <a:lnTo>
                    <a:pt x="266700" y="0"/>
                  </a:lnTo>
                  <a:cubicBezTo>
                    <a:pt x="308784" y="0"/>
                    <a:pt x="342900" y="34116"/>
                    <a:pt x="342900" y="76200"/>
                  </a:cubicBezTo>
                  <a:lnTo>
                    <a:pt x="342900" y="266700"/>
                  </a:lnTo>
                  <a:cubicBezTo>
                    <a:pt x="342900" y="308784"/>
                    <a:pt x="308784" y="342900"/>
                    <a:pt x="2667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3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2" name="TextBox 92"/>
            <p:cNvSpPr txBox="1"/>
            <p:nvPr/>
          </p:nvSpPr>
          <p:spPr>
            <a:xfrm>
              <a:off x="4315654" y="4956810"/>
              <a:ext cx="131693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5CF6"/>
                  </a:solidFill>
                  <a:latin typeface="Segoe UI"/>
                  <a:ea typeface="Microsoft YaHei"/>
                  <a:cs typeface="Segoe UI"/>
                </a:rPr>
                <a:t>C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652962" y="4888706"/>
              <a:ext cx="1029200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Cache Layer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655820" y="5065395"/>
              <a:ext cx="90617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Redis Cluster</a:t>
              </a:r>
            </a:p>
          </p:txBody>
        </p:sp>
        <p:sp>
          <p:nvSpPr>
            <p:cNvPr id="95" name="Line 95"/>
            <p:cNvSpPr/>
            <p:nvPr/>
          </p:nvSpPr>
          <p:spPr>
            <a:xfrm>
              <a:off x="4210050" y="529590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4199572" y="5340191"/>
              <a:ext cx="1888569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Sub-millisecond hot data access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105650" y="4724400"/>
            <a:ext cx="2705100" cy="783431"/>
            <a:chOff x="7105650" y="4724400"/>
            <a:chExt cx="2705100" cy="783431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98" name="Freeform 98"/>
            <p:cNvSpPr/>
            <p:nvPr/>
          </p:nvSpPr>
          <p:spPr>
            <a:xfrm>
              <a:off x="7105650" y="4724400"/>
              <a:ext cx="2705100" cy="781050"/>
            </a:xfrm>
            <a:custGeom>
              <a:avLst/>
              <a:gdLst/>
              <a:ahLst/>
              <a:cxnLst/>
              <a:rect l="l" t="t" r="r" b="b"/>
              <a:pathLst>
                <a:path w="2705100" h="781050">
                  <a:moveTo>
                    <a:pt x="76200" y="0"/>
                  </a:moveTo>
                  <a:lnTo>
                    <a:pt x="2628900" y="0"/>
                  </a:lnTo>
                  <a:cubicBezTo>
                    <a:pt x="2670984" y="0"/>
                    <a:pt x="2705100" y="34116"/>
                    <a:pt x="2705100" y="76200"/>
                  </a:cubicBezTo>
                  <a:lnTo>
                    <a:pt x="2705100" y="704850"/>
                  </a:lnTo>
                  <a:cubicBezTo>
                    <a:pt x="2705100" y="746934"/>
                    <a:pt x="2670984" y="781050"/>
                    <a:pt x="2628900" y="781050"/>
                  </a:cubicBezTo>
                  <a:lnTo>
                    <a:pt x="76200" y="781050"/>
                  </a:lnTo>
                  <a:cubicBezTo>
                    <a:pt x="34116" y="781050"/>
                    <a:pt x="0" y="746934"/>
                    <a:pt x="0" y="704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9" name="Freeform 99"/>
            <p:cNvSpPr/>
            <p:nvPr/>
          </p:nvSpPr>
          <p:spPr>
            <a:xfrm>
              <a:off x="7219950" y="48577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76200" y="0"/>
                  </a:moveTo>
                  <a:lnTo>
                    <a:pt x="266700" y="0"/>
                  </a:lnTo>
                  <a:cubicBezTo>
                    <a:pt x="308784" y="0"/>
                    <a:pt x="342900" y="34116"/>
                    <a:pt x="342900" y="76200"/>
                  </a:cubicBezTo>
                  <a:lnTo>
                    <a:pt x="342900" y="266700"/>
                  </a:lnTo>
                  <a:cubicBezTo>
                    <a:pt x="342900" y="308784"/>
                    <a:pt x="308784" y="342900"/>
                    <a:pt x="2667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5F3FF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00" name="TextBox 100"/>
            <p:cNvSpPr txBox="1"/>
            <p:nvPr/>
          </p:nvSpPr>
          <p:spPr>
            <a:xfrm>
              <a:off x="7307151" y="4956810"/>
              <a:ext cx="168497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5CF6"/>
                  </a:solidFill>
                  <a:latin typeface="Segoe UI"/>
                  <a:ea typeface="Microsoft YaHei"/>
                  <a:cs typeface="Segoe UI"/>
                </a:rPr>
                <a:t>O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662862" y="4888706"/>
              <a:ext cx="1305235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Object Storage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665720" y="5065395"/>
              <a:ext cx="933774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S3 Compatible</a:t>
              </a:r>
            </a:p>
          </p:txBody>
        </p:sp>
        <p:sp>
          <p:nvSpPr>
            <p:cNvPr id="103" name="Line 103"/>
            <p:cNvSpPr/>
            <p:nvPr/>
          </p:nvSpPr>
          <p:spPr>
            <a:xfrm>
              <a:off x="7219950" y="52959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209472" y="5340191"/>
              <a:ext cx="1623489" cy="167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Scalable unstructured data</a:t>
              </a:r>
            </a:p>
          </p:txBody>
        </p:sp>
      </p:grpSp>
      <p:sp>
        <p:nvSpPr>
          <p:cNvPr id="106" name="Freeform 106"/>
          <p:cNvSpPr/>
          <p:nvPr/>
        </p:nvSpPr>
        <p:spPr>
          <a:xfrm>
            <a:off x="11430000" y="1333500"/>
            <a:ext cx="381000" cy="4305300"/>
          </a:xfrm>
          <a:custGeom>
            <a:avLst/>
            <a:gdLst/>
            <a:ahLst/>
            <a:cxnLst/>
            <a:rect l="l" t="t" r="r" b="b"/>
            <a:pathLst>
              <a:path w="381000" h="43053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4229100"/>
                </a:lnTo>
                <a:cubicBezTo>
                  <a:pt x="381000" y="4271184"/>
                  <a:pt x="346884" y="4305300"/>
                  <a:pt x="304800" y="4305300"/>
                </a:cubicBezTo>
                <a:lnTo>
                  <a:pt x="76200" y="4305300"/>
                </a:lnTo>
                <a:cubicBezTo>
                  <a:pt x="34116" y="4305300"/>
                  <a:pt x="0" y="4271184"/>
                  <a:pt x="0" y="4229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11460378" y="3384232"/>
            <a:ext cx="3202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04</a:t>
            </a:r>
          </a:p>
        </p:txBody>
      </p:sp>
      <p:sp>
        <p:nvSpPr>
          <p:cNvPr id="108" name="Freeform 108"/>
          <p:cNvSpPr/>
          <p:nvPr/>
        </p:nvSpPr>
        <p:spPr>
          <a:xfrm>
            <a:off x="10153650" y="1333500"/>
            <a:ext cx="1181100" cy="4305300"/>
          </a:xfrm>
          <a:custGeom>
            <a:avLst/>
            <a:gdLst/>
            <a:ahLst/>
            <a:cxnLst/>
            <a:rect l="l" t="t" r="r" b="b"/>
            <a:pathLst>
              <a:path w="1181100" h="4305300">
                <a:moveTo>
                  <a:pt x="114300" y="0"/>
                </a:moveTo>
                <a:lnTo>
                  <a:pt x="1066800" y="0"/>
                </a:lnTo>
                <a:cubicBezTo>
                  <a:pt x="1129926" y="0"/>
                  <a:pt x="1181100" y="51174"/>
                  <a:pt x="1181100" y="114300"/>
                </a:cubicBezTo>
                <a:lnTo>
                  <a:pt x="1181100" y="4191000"/>
                </a:lnTo>
                <a:cubicBezTo>
                  <a:pt x="1181100" y="4254126"/>
                  <a:pt x="1129926" y="4305300"/>
                  <a:pt x="1066800" y="4305300"/>
                </a:cubicBezTo>
                <a:lnTo>
                  <a:pt x="114300" y="4305300"/>
                </a:lnTo>
                <a:cubicBezTo>
                  <a:pt x="51174" y="4305300"/>
                  <a:pt x="0" y="4254126"/>
                  <a:pt x="0" y="4191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CFDF5">
              <a:alpha val="60000"/>
            </a:srgbClr>
          </a:solidFill>
          <a:ln w="14288">
            <a:solidFill>
              <a:srgbClr val="6EE7B7"/>
            </a:solidFill>
            <a:custDash>
              <a:ds d="400000" sp="266666"/>
            </a:custDash>
          </a:ln>
        </p:spPr>
      </p:sp>
      <p:sp>
        <p:nvSpPr>
          <p:cNvPr id="109" name="TextBox 109"/>
          <p:cNvSpPr txBox="1"/>
          <p:nvPr/>
        </p:nvSpPr>
        <p:spPr>
          <a:xfrm>
            <a:off x="10470160" y="1475899"/>
            <a:ext cx="5480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OUTPUT</a:t>
            </a:r>
          </a:p>
        </p:txBody>
      </p:sp>
      <p:grpSp>
        <p:nvGrpSpPr>
          <p:cNvPr id="112" name="Group 112"/>
          <p:cNvGrpSpPr/>
          <p:nvPr/>
        </p:nvGrpSpPr>
        <p:grpSpPr>
          <a:xfrm>
            <a:off x="10270412" y="1771650"/>
            <a:ext cx="947576" cy="361950"/>
            <a:chOff x="10270412" y="1771650"/>
            <a:chExt cx="947576" cy="3619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10" name="Freeform 110"/>
            <p:cNvSpPr/>
            <p:nvPr/>
          </p:nvSpPr>
          <p:spPr>
            <a:xfrm>
              <a:off x="10306050" y="1771650"/>
              <a:ext cx="876300" cy="361950"/>
            </a:xfrm>
            <a:custGeom>
              <a:avLst/>
              <a:gdLst/>
              <a:ahLst/>
              <a:cxnLst/>
              <a:rect l="l" t="t" r="r" b="b"/>
              <a:pathLst>
                <a:path w="876300" h="361950">
                  <a:moveTo>
                    <a:pt x="57150" y="0"/>
                  </a:moveTo>
                  <a:lnTo>
                    <a:pt x="819150" y="0"/>
                  </a:lnTo>
                  <a:cubicBezTo>
                    <a:pt x="850713" y="0"/>
                    <a:pt x="876300" y="25587"/>
                    <a:pt x="876300" y="57150"/>
                  </a:cubicBezTo>
                  <a:lnTo>
                    <a:pt x="876300" y="304800"/>
                  </a:lnTo>
                  <a:cubicBezTo>
                    <a:pt x="876300" y="336363"/>
                    <a:pt x="850713" y="361950"/>
                    <a:pt x="819150" y="361950"/>
                  </a:cubicBezTo>
                  <a:lnTo>
                    <a:pt x="57150" y="361950"/>
                  </a:lnTo>
                  <a:cubicBezTo>
                    <a:pt x="25587" y="361950"/>
                    <a:pt x="0" y="336363"/>
                    <a:pt x="0" y="3048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A7F3D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11" name="TextBox 111"/>
            <p:cNvSpPr txBox="1"/>
            <p:nvPr/>
          </p:nvSpPr>
          <p:spPr>
            <a:xfrm>
              <a:off x="10270412" y="1903095"/>
              <a:ext cx="947576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5F46"/>
                  </a:solidFill>
                  <a:latin typeface="Segoe UI"/>
                  <a:ea typeface="Microsoft YaHei"/>
                  <a:cs typeface="Segoe UI"/>
                </a:rPr>
                <a:t>Unified Portal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0306050" y="2400300"/>
            <a:ext cx="876300" cy="361950"/>
            <a:chOff x="10306050" y="2400300"/>
            <a:chExt cx="876300" cy="3619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13" name="Freeform 113"/>
            <p:cNvSpPr/>
            <p:nvPr/>
          </p:nvSpPr>
          <p:spPr>
            <a:xfrm>
              <a:off x="10306050" y="2400300"/>
              <a:ext cx="876300" cy="361950"/>
            </a:xfrm>
            <a:custGeom>
              <a:avLst/>
              <a:gdLst/>
              <a:ahLst/>
              <a:cxnLst/>
              <a:rect l="l" t="t" r="r" b="b"/>
              <a:pathLst>
                <a:path w="876300" h="361950">
                  <a:moveTo>
                    <a:pt x="57150" y="0"/>
                  </a:moveTo>
                  <a:lnTo>
                    <a:pt x="819150" y="0"/>
                  </a:lnTo>
                  <a:cubicBezTo>
                    <a:pt x="850713" y="0"/>
                    <a:pt x="876300" y="25587"/>
                    <a:pt x="876300" y="57150"/>
                  </a:cubicBezTo>
                  <a:lnTo>
                    <a:pt x="876300" y="304800"/>
                  </a:lnTo>
                  <a:cubicBezTo>
                    <a:pt x="876300" y="336363"/>
                    <a:pt x="850713" y="361950"/>
                    <a:pt x="819150" y="361950"/>
                  </a:cubicBezTo>
                  <a:lnTo>
                    <a:pt x="57150" y="361950"/>
                  </a:lnTo>
                  <a:cubicBezTo>
                    <a:pt x="25587" y="361950"/>
                    <a:pt x="0" y="336363"/>
                    <a:pt x="0" y="3048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A7F3D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14" name="TextBox 114"/>
            <p:cNvSpPr txBox="1"/>
            <p:nvPr/>
          </p:nvSpPr>
          <p:spPr>
            <a:xfrm>
              <a:off x="10432582" y="2531745"/>
              <a:ext cx="623235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5F46"/>
                  </a:solidFill>
                  <a:latin typeface="Segoe UI"/>
                  <a:ea typeface="Microsoft YaHei"/>
                  <a:cs typeface="Segoe UI"/>
                </a:rPr>
                <a:t>Open SDK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0306050" y="3028950"/>
            <a:ext cx="876300" cy="361950"/>
            <a:chOff x="10306050" y="3028950"/>
            <a:chExt cx="876300" cy="3619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16" name="Freeform 116"/>
            <p:cNvSpPr/>
            <p:nvPr/>
          </p:nvSpPr>
          <p:spPr>
            <a:xfrm>
              <a:off x="10306050" y="3028950"/>
              <a:ext cx="876300" cy="361950"/>
            </a:xfrm>
            <a:custGeom>
              <a:avLst/>
              <a:gdLst/>
              <a:ahLst/>
              <a:cxnLst/>
              <a:rect l="l" t="t" r="r" b="b"/>
              <a:pathLst>
                <a:path w="876300" h="361950">
                  <a:moveTo>
                    <a:pt x="57150" y="0"/>
                  </a:moveTo>
                  <a:lnTo>
                    <a:pt x="819150" y="0"/>
                  </a:lnTo>
                  <a:cubicBezTo>
                    <a:pt x="850713" y="0"/>
                    <a:pt x="876300" y="25587"/>
                    <a:pt x="876300" y="57150"/>
                  </a:cubicBezTo>
                  <a:lnTo>
                    <a:pt x="876300" y="304800"/>
                  </a:lnTo>
                  <a:cubicBezTo>
                    <a:pt x="876300" y="336363"/>
                    <a:pt x="850713" y="361950"/>
                    <a:pt x="819150" y="361950"/>
                  </a:cubicBezTo>
                  <a:lnTo>
                    <a:pt x="57150" y="361950"/>
                  </a:lnTo>
                  <a:cubicBezTo>
                    <a:pt x="25587" y="361950"/>
                    <a:pt x="0" y="336363"/>
                    <a:pt x="0" y="3048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A7F3D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17" name="TextBox 117"/>
            <p:cNvSpPr txBox="1"/>
            <p:nvPr/>
          </p:nvSpPr>
          <p:spPr>
            <a:xfrm>
              <a:off x="10335970" y="3160395"/>
              <a:ext cx="816459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5F46"/>
                  </a:solidFill>
                  <a:latin typeface="Segoe UI"/>
                  <a:ea typeface="Microsoft YaHei"/>
                  <a:cs typeface="Segoe UI"/>
                </a:rPr>
                <a:t>Ops Console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0306050" y="3657600"/>
            <a:ext cx="876300" cy="361950"/>
            <a:chOff x="10306050" y="3657600"/>
            <a:chExt cx="876300" cy="3619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19" name="Freeform 119"/>
            <p:cNvSpPr/>
            <p:nvPr/>
          </p:nvSpPr>
          <p:spPr>
            <a:xfrm>
              <a:off x="10306050" y="3657600"/>
              <a:ext cx="876300" cy="361950"/>
            </a:xfrm>
            <a:custGeom>
              <a:avLst/>
              <a:gdLst/>
              <a:ahLst/>
              <a:cxnLst/>
              <a:rect l="l" t="t" r="r" b="b"/>
              <a:pathLst>
                <a:path w="876300" h="361950">
                  <a:moveTo>
                    <a:pt x="57150" y="0"/>
                  </a:moveTo>
                  <a:lnTo>
                    <a:pt x="819150" y="0"/>
                  </a:lnTo>
                  <a:cubicBezTo>
                    <a:pt x="850713" y="0"/>
                    <a:pt x="876300" y="25587"/>
                    <a:pt x="876300" y="57150"/>
                  </a:cubicBezTo>
                  <a:lnTo>
                    <a:pt x="876300" y="304800"/>
                  </a:lnTo>
                  <a:cubicBezTo>
                    <a:pt x="876300" y="336363"/>
                    <a:pt x="850713" y="361950"/>
                    <a:pt x="819150" y="361950"/>
                  </a:cubicBezTo>
                  <a:lnTo>
                    <a:pt x="57150" y="361950"/>
                  </a:lnTo>
                  <a:cubicBezTo>
                    <a:pt x="25587" y="361950"/>
                    <a:pt x="0" y="336363"/>
                    <a:pt x="0" y="3048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A7F3D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20" name="TextBox 120"/>
            <p:cNvSpPr txBox="1"/>
            <p:nvPr/>
          </p:nvSpPr>
          <p:spPr>
            <a:xfrm>
              <a:off x="10318718" y="3789045"/>
              <a:ext cx="850964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5F46"/>
                  </a:solidFill>
                  <a:latin typeface="Segoe UI"/>
                  <a:ea typeface="Microsoft YaHei"/>
                  <a:cs typeface="Segoe UI"/>
                </a:rPr>
                <a:t>Data Market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0306050" y="4286250"/>
            <a:ext cx="876300" cy="361950"/>
            <a:chOff x="10306050" y="4286250"/>
            <a:chExt cx="876300" cy="3619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22" name="Freeform 122"/>
            <p:cNvSpPr/>
            <p:nvPr/>
          </p:nvSpPr>
          <p:spPr>
            <a:xfrm>
              <a:off x="10306050" y="4286250"/>
              <a:ext cx="876300" cy="361950"/>
            </a:xfrm>
            <a:custGeom>
              <a:avLst/>
              <a:gdLst/>
              <a:ahLst/>
              <a:cxnLst/>
              <a:rect l="l" t="t" r="r" b="b"/>
              <a:pathLst>
                <a:path w="876300" h="361950">
                  <a:moveTo>
                    <a:pt x="57150" y="0"/>
                  </a:moveTo>
                  <a:lnTo>
                    <a:pt x="819150" y="0"/>
                  </a:lnTo>
                  <a:cubicBezTo>
                    <a:pt x="850713" y="0"/>
                    <a:pt x="876300" y="25587"/>
                    <a:pt x="876300" y="57150"/>
                  </a:cubicBezTo>
                  <a:lnTo>
                    <a:pt x="876300" y="304800"/>
                  </a:lnTo>
                  <a:cubicBezTo>
                    <a:pt x="876300" y="336363"/>
                    <a:pt x="850713" y="361950"/>
                    <a:pt x="819150" y="361950"/>
                  </a:cubicBezTo>
                  <a:lnTo>
                    <a:pt x="57150" y="361950"/>
                  </a:lnTo>
                  <a:cubicBezTo>
                    <a:pt x="25587" y="361950"/>
                    <a:pt x="0" y="336363"/>
                    <a:pt x="0" y="3048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A7F3D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23" name="TextBox 123"/>
            <p:cNvSpPr txBox="1"/>
            <p:nvPr/>
          </p:nvSpPr>
          <p:spPr>
            <a:xfrm>
              <a:off x="10415330" y="4417695"/>
              <a:ext cx="657739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5F46"/>
                  </a:solidFill>
                  <a:latin typeface="Segoe UI"/>
                  <a:ea typeface="Microsoft YaHei"/>
                  <a:cs typeface="Segoe UI"/>
                </a:rPr>
                <a:t>Webhooks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0306050" y="4914900"/>
            <a:ext cx="876300" cy="361950"/>
            <a:chOff x="10306050" y="4914900"/>
            <a:chExt cx="876300" cy="3619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25" name="Freeform 125"/>
            <p:cNvSpPr/>
            <p:nvPr/>
          </p:nvSpPr>
          <p:spPr>
            <a:xfrm>
              <a:off x="10306050" y="4914900"/>
              <a:ext cx="876300" cy="361950"/>
            </a:xfrm>
            <a:custGeom>
              <a:avLst/>
              <a:gdLst/>
              <a:ahLst/>
              <a:cxnLst/>
              <a:rect l="l" t="t" r="r" b="b"/>
              <a:pathLst>
                <a:path w="876300" h="361950">
                  <a:moveTo>
                    <a:pt x="57150" y="0"/>
                  </a:moveTo>
                  <a:lnTo>
                    <a:pt x="819150" y="0"/>
                  </a:lnTo>
                  <a:cubicBezTo>
                    <a:pt x="850713" y="0"/>
                    <a:pt x="876300" y="25587"/>
                    <a:pt x="876300" y="57150"/>
                  </a:cubicBezTo>
                  <a:lnTo>
                    <a:pt x="876300" y="304800"/>
                  </a:lnTo>
                  <a:cubicBezTo>
                    <a:pt x="876300" y="336363"/>
                    <a:pt x="850713" y="361950"/>
                    <a:pt x="819150" y="361950"/>
                  </a:cubicBezTo>
                  <a:lnTo>
                    <a:pt x="57150" y="361950"/>
                  </a:lnTo>
                  <a:cubicBezTo>
                    <a:pt x="25587" y="361950"/>
                    <a:pt x="0" y="336363"/>
                    <a:pt x="0" y="3048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A7F3D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26" name="TextBox 126"/>
            <p:cNvSpPr txBox="1"/>
            <p:nvPr/>
          </p:nvSpPr>
          <p:spPr>
            <a:xfrm>
              <a:off x="10349772" y="5046345"/>
              <a:ext cx="788856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5F46"/>
                  </a:solidFill>
                  <a:latin typeface="Segoe UI"/>
                  <a:ea typeface="Microsoft YaHei"/>
                  <a:cs typeface="Segoe UI"/>
                </a:rPr>
                <a:t>Partner API</a:t>
              </a:r>
            </a:p>
          </p:txBody>
        </p:sp>
      </p:grpSp>
      <p:sp>
        <p:nvSpPr>
          <p:cNvPr id="128" name="Freeform 128"/>
          <p:cNvSpPr/>
          <p:nvPr/>
        </p:nvSpPr>
        <p:spPr>
          <a:xfrm>
            <a:off x="381000" y="5791200"/>
            <a:ext cx="381000" cy="762000"/>
          </a:xfrm>
          <a:custGeom>
            <a:avLst/>
            <a:gdLst/>
            <a:ahLst/>
            <a:cxnLst/>
            <a:rect l="l" t="t" r="r" b="b"/>
            <a:pathLst>
              <a:path w="381000" h="7620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685800"/>
                </a:lnTo>
                <a:cubicBezTo>
                  <a:pt x="381000" y="727884"/>
                  <a:pt x="346884" y="762000"/>
                  <a:pt x="304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129" name="TextBox 129"/>
          <p:cNvSpPr txBox="1"/>
          <p:nvPr/>
        </p:nvSpPr>
        <p:spPr>
          <a:xfrm>
            <a:off x="411378" y="6051232"/>
            <a:ext cx="3202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05</a:t>
            </a:r>
          </a:p>
        </p:txBody>
      </p:sp>
      <p:sp>
        <p:nvSpPr>
          <p:cNvPr id="130" name="Freeform 130"/>
          <p:cNvSpPr/>
          <p:nvPr/>
        </p:nvSpPr>
        <p:spPr>
          <a:xfrm>
            <a:off x="914400" y="5791200"/>
            <a:ext cx="10896600" cy="762000"/>
          </a:xfrm>
          <a:custGeom>
            <a:avLst/>
            <a:gdLst/>
            <a:ahLst/>
            <a:cxnLst/>
            <a:rect l="l" t="t" r="r" b="b"/>
            <a:pathLst>
              <a:path w="10896600" h="762000">
                <a:moveTo>
                  <a:pt x="114300" y="0"/>
                </a:moveTo>
                <a:lnTo>
                  <a:pt x="10782300" y="0"/>
                </a:lnTo>
                <a:cubicBezTo>
                  <a:pt x="10845426" y="0"/>
                  <a:pt x="10896600" y="51174"/>
                  <a:pt x="10896600" y="114300"/>
                </a:cubicBezTo>
                <a:lnTo>
                  <a:pt x="10896600" y="647700"/>
                </a:lnTo>
                <a:cubicBezTo>
                  <a:pt x="10896600" y="710826"/>
                  <a:pt x="10845426" y="762000"/>
                  <a:pt x="107823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 w="14288">
            <a:solidFill>
              <a:srgbClr val="CBD5E1"/>
            </a:solidFill>
            <a:custDash>
              <a:ds d="400000" sp="266666"/>
            </a:custDash>
          </a:ln>
        </p:spPr>
      </p:sp>
      <p:sp>
        <p:nvSpPr>
          <p:cNvPr id="131" name="TextBox 131"/>
          <p:cNvSpPr txBox="1"/>
          <p:nvPr/>
        </p:nvSpPr>
        <p:spPr>
          <a:xfrm>
            <a:off x="4719216" y="5903595"/>
            <a:ext cx="32869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FOUNDATION · CROSS-CUTTING SHARED CAPABILITIES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1104900" y="6096000"/>
            <a:ext cx="1371600" cy="323850"/>
          </a:xfrm>
          <a:custGeom>
            <a:avLst/>
            <a:gdLst/>
            <a:ahLst/>
            <a:cxnLst/>
            <a:rect l="l" t="t" r="r" b="b"/>
            <a:pathLst>
              <a:path w="1371600" h="323850">
                <a:moveTo>
                  <a:pt x="57150" y="0"/>
                </a:moveTo>
                <a:lnTo>
                  <a:pt x="1314450" y="0"/>
                </a:lnTo>
                <a:cubicBezTo>
                  <a:pt x="1346013" y="0"/>
                  <a:pt x="1371600" y="25587"/>
                  <a:pt x="1371600" y="57150"/>
                </a:cubicBezTo>
                <a:lnTo>
                  <a:pt x="1371600" y="266700"/>
                </a:lnTo>
                <a:cubicBezTo>
                  <a:pt x="1371600" y="298263"/>
                  <a:pt x="1346013" y="323850"/>
                  <a:pt x="13144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33" name="TextBox 133"/>
          <p:cNvSpPr txBox="1"/>
          <p:nvPr/>
        </p:nvSpPr>
        <p:spPr>
          <a:xfrm>
            <a:off x="1244453" y="6208395"/>
            <a:ext cx="10924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Log Aggregation</a:t>
            </a:r>
          </a:p>
        </p:txBody>
      </p:sp>
      <p:sp>
        <p:nvSpPr>
          <p:cNvPr id="134" name="Freeform 134"/>
          <p:cNvSpPr/>
          <p:nvPr/>
        </p:nvSpPr>
        <p:spPr>
          <a:xfrm>
            <a:off x="2590800" y="6096000"/>
            <a:ext cx="1371600" cy="323850"/>
          </a:xfrm>
          <a:custGeom>
            <a:avLst/>
            <a:gdLst/>
            <a:ahLst/>
            <a:cxnLst/>
            <a:rect l="l" t="t" r="r" b="b"/>
            <a:pathLst>
              <a:path w="1371600" h="323850">
                <a:moveTo>
                  <a:pt x="57150" y="0"/>
                </a:moveTo>
                <a:lnTo>
                  <a:pt x="1314450" y="0"/>
                </a:lnTo>
                <a:cubicBezTo>
                  <a:pt x="1346013" y="0"/>
                  <a:pt x="1371600" y="25587"/>
                  <a:pt x="1371600" y="57150"/>
                </a:cubicBezTo>
                <a:lnTo>
                  <a:pt x="1371600" y="266700"/>
                </a:lnTo>
                <a:cubicBezTo>
                  <a:pt x="1371600" y="298263"/>
                  <a:pt x="1346013" y="323850"/>
                  <a:pt x="13144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35" name="TextBox 135"/>
          <p:cNvSpPr txBox="1"/>
          <p:nvPr/>
        </p:nvSpPr>
        <p:spPr>
          <a:xfrm>
            <a:off x="2699299" y="6208395"/>
            <a:ext cx="11546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Metrics &amp; Alarms</a:t>
            </a:r>
          </a:p>
        </p:txBody>
      </p:sp>
      <p:sp>
        <p:nvSpPr>
          <p:cNvPr id="136" name="Freeform 136"/>
          <p:cNvSpPr/>
          <p:nvPr/>
        </p:nvSpPr>
        <p:spPr>
          <a:xfrm>
            <a:off x="4076700" y="6096000"/>
            <a:ext cx="1371600" cy="323850"/>
          </a:xfrm>
          <a:custGeom>
            <a:avLst/>
            <a:gdLst/>
            <a:ahLst/>
            <a:cxnLst/>
            <a:rect l="l" t="t" r="r" b="b"/>
            <a:pathLst>
              <a:path w="1371600" h="323850">
                <a:moveTo>
                  <a:pt x="57150" y="0"/>
                </a:moveTo>
                <a:lnTo>
                  <a:pt x="1314450" y="0"/>
                </a:lnTo>
                <a:cubicBezTo>
                  <a:pt x="1346013" y="0"/>
                  <a:pt x="1371600" y="25587"/>
                  <a:pt x="1371600" y="57150"/>
                </a:cubicBezTo>
                <a:lnTo>
                  <a:pt x="1371600" y="266700"/>
                </a:lnTo>
                <a:cubicBezTo>
                  <a:pt x="1371600" y="298263"/>
                  <a:pt x="1346013" y="323850"/>
                  <a:pt x="13144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37" name="TextBox 137"/>
          <p:cNvSpPr txBox="1"/>
          <p:nvPr/>
        </p:nvSpPr>
        <p:spPr>
          <a:xfrm>
            <a:off x="4098938" y="6208395"/>
            <a:ext cx="13271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Distributed Tracing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5562600" y="6096000"/>
            <a:ext cx="1371600" cy="323850"/>
          </a:xfrm>
          <a:custGeom>
            <a:avLst/>
            <a:gdLst/>
            <a:ahLst/>
            <a:cxnLst/>
            <a:rect l="l" t="t" r="r" b="b"/>
            <a:pathLst>
              <a:path w="1371600" h="323850">
                <a:moveTo>
                  <a:pt x="57150" y="0"/>
                </a:moveTo>
                <a:lnTo>
                  <a:pt x="1314450" y="0"/>
                </a:lnTo>
                <a:cubicBezTo>
                  <a:pt x="1346013" y="0"/>
                  <a:pt x="1371600" y="25587"/>
                  <a:pt x="1371600" y="57150"/>
                </a:cubicBezTo>
                <a:lnTo>
                  <a:pt x="1371600" y="266700"/>
                </a:lnTo>
                <a:cubicBezTo>
                  <a:pt x="1371600" y="298263"/>
                  <a:pt x="1346013" y="323850"/>
                  <a:pt x="13144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39" name="TextBox 139"/>
          <p:cNvSpPr txBox="1"/>
          <p:nvPr/>
        </p:nvSpPr>
        <p:spPr>
          <a:xfrm>
            <a:off x="5778063" y="6208395"/>
            <a:ext cx="9406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Config Center</a:t>
            </a:r>
          </a:p>
        </p:txBody>
      </p:sp>
      <p:sp>
        <p:nvSpPr>
          <p:cNvPr id="140" name="Freeform 140"/>
          <p:cNvSpPr/>
          <p:nvPr/>
        </p:nvSpPr>
        <p:spPr>
          <a:xfrm>
            <a:off x="7048500" y="6096000"/>
            <a:ext cx="1371600" cy="323850"/>
          </a:xfrm>
          <a:custGeom>
            <a:avLst/>
            <a:gdLst/>
            <a:ahLst/>
            <a:cxnLst/>
            <a:rect l="l" t="t" r="r" b="b"/>
            <a:pathLst>
              <a:path w="1371600" h="323850">
                <a:moveTo>
                  <a:pt x="57150" y="0"/>
                </a:moveTo>
                <a:lnTo>
                  <a:pt x="1314450" y="0"/>
                </a:lnTo>
                <a:cubicBezTo>
                  <a:pt x="1346013" y="0"/>
                  <a:pt x="1371600" y="25587"/>
                  <a:pt x="1371600" y="57150"/>
                </a:cubicBezTo>
                <a:lnTo>
                  <a:pt x="1371600" y="266700"/>
                </a:lnTo>
                <a:cubicBezTo>
                  <a:pt x="1371600" y="298263"/>
                  <a:pt x="1346013" y="323850"/>
                  <a:pt x="13144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1" name="TextBox 141"/>
          <p:cNvSpPr txBox="1"/>
          <p:nvPr/>
        </p:nvSpPr>
        <p:spPr>
          <a:xfrm>
            <a:off x="7236359" y="6208395"/>
            <a:ext cx="9958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CI / CD Pipeline</a:t>
            </a:r>
          </a:p>
        </p:txBody>
      </p:sp>
      <p:sp>
        <p:nvSpPr>
          <p:cNvPr id="142" name="Freeform 142"/>
          <p:cNvSpPr/>
          <p:nvPr/>
        </p:nvSpPr>
        <p:spPr>
          <a:xfrm>
            <a:off x="8534400" y="6096000"/>
            <a:ext cx="1371600" cy="323850"/>
          </a:xfrm>
          <a:custGeom>
            <a:avLst/>
            <a:gdLst/>
            <a:ahLst/>
            <a:cxnLst/>
            <a:rect l="l" t="t" r="r" b="b"/>
            <a:pathLst>
              <a:path w="1371600" h="323850">
                <a:moveTo>
                  <a:pt x="57150" y="0"/>
                </a:moveTo>
                <a:lnTo>
                  <a:pt x="1314450" y="0"/>
                </a:lnTo>
                <a:cubicBezTo>
                  <a:pt x="1346013" y="0"/>
                  <a:pt x="1371600" y="25587"/>
                  <a:pt x="1371600" y="57150"/>
                </a:cubicBezTo>
                <a:lnTo>
                  <a:pt x="1371600" y="266700"/>
                </a:lnTo>
                <a:cubicBezTo>
                  <a:pt x="1371600" y="298263"/>
                  <a:pt x="1346013" y="323850"/>
                  <a:pt x="13144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3" name="TextBox 143"/>
          <p:cNvSpPr txBox="1"/>
          <p:nvPr/>
        </p:nvSpPr>
        <p:spPr>
          <a:xfrm>
            <a:off x="8670503" y="6208395"/>
            <a:ext cx="10993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Security &amp; Audit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10020300" y="6096000"/>
            <a:ext cx="1371600" cy="323850"/>
          </a:xfrm>
          <a:custGeom>
            <a:avLst/>
            <a:gdLst/>
            <a:ahLst/>
            <a:cxnLst/>
            <a:rect l="l" t="t" r="r" b="b"/>
            <a:pathLst>
              <a:path w="1371600" h="323850">
                <a:moveTo>
                  <a:pt x="57150" y="0"/>
                </a:moveTo>
                <a:lnTo>
                  <a:pt x="1314450" y="0"/>
                </a:lnTo>
                <a:cubicBezTo>
                  <a:pt x="1346013" y="0"/>
                  <a:pt x="1371600" y="25587"/>
                  <a:pt x="1371600" y="57150"/>
                </a:cubicBezTo>
                <a:lnTo>
                  <a:pt x="1371600" y="266700"/>
                </a:lnTo>
                <a:cubicBezTo>
                  <a:pt x="1371600" y="298263"/>
                  <a:pt x="1346013" y="323850"/>
                  <a:pt x="13144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5" name="TextBox 145"/>
          <p:cNvSpPr txBox="1"/>
          <p:nvPr/>
        </p:nvSpPr>
        <p:spPr>
          <a:xfrm>
            <a:off x="10242664" y="6208395"/>
            <a:ext cx="926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Resource Mgt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312420"/>
            <a:ext cx="392544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2025 三阶段实施路线图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8165" y="743902"/>
            <a:ext cx="29733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ANNUAL ROADMAP · SIX KEY MILESTONES</a:t>
            </a:r>
          </a:p>
        </p:txBody>
      </p:sp>
      <p:sp>
        <p:nvSpPr>
          <p:cNvPr id="5" name="Line 5"/>
          <p:cNvSpPr/>
          <p:nvPr/>
        </p:nvSpPr>
        <p:spPr>
          <a:xfrm>
            <a:off x="1714500" y="1095375"/>
            <a:ext cx="9525" cy="5476875"/>
          </a:xfrm>
          <a:custGeom>
            <a:avLst/>
            <a:gdLst/>
            <a:ahLst/>
            <a:cxnLst/>
            <a:rect l="l" t="t" r="r" b="b"/>
            <a:pathLst>
              <a:path w="9525" h="5476875">
                <a:moveTo>
                  <a:pt x="0" y="0"/>
                </a:moveTo>
                <a:lnTo>
                  <a:pt x="0" y="5476875"/>
                </a:lnTo>
              </a:path>
            </a:pathLst>
          </a:custGeom>
          <a:noFill/>
          <a:ln w="38100" cap="rnd">
            <a:solidFill>
              <a:srgbClr val="E2E8F0"/>
            </a:solidFill>
          </a:ln>
        </p:spPr>
      </p:sp>
      <p:sp>
        <p:nvSpPr>
          <p:cNvPr id="6" name="Line 6"/>
          <p:cNvSpPr/>
          <p:nvPr/>
        </p:nvSpPr>
        <p:spPr>
          <a:xfrm>
            <a:off x="1714500" y="1095375"/>
            <a:ext cx="9525" cy="2333625"/>
          </a:xfrm>
          <a:custGeom>
            <a:avLst/>
            <a:gdLst/>
            <a:ahLst/>
            <a:cxnLst/>
            <a:rect l="l" t="t" r="r" b="b"/>
            <a:pathLst>
              <a:path w="9525" h="2333625">
                <a:moveTo>
                  <a:pt x="0" y="0"/>
                </a:moveTo>
                <a:lnTo>
                  <a:pt x="0" y="2333625"/>
                </a:lnTo>
              </a:path>
            </a:pathLst>
          </a:custGeom>
          <a:noFill/>
          <a:ln w="38100" cap="rnd">
            <a:gradFill>
              <a:gsLst>
                <a:gs pos="0">
                  <a:srgbClr val="10B981"/>
                </a:gs>
                <a:gs pos="100000">
                  <a:srgbClr val="3B82F6"/>
                </a:gs>
              </a:gsLst>
              <a:lin ang="5400000" scaled="1"/>
            </a:gradFill>
          </a:ln>
        </p:spPr>
      </p:sp>
      <p:sp>
        <p:nvSpPr>
          <p:cNvPr id="7" name="TextBox 7"/>
          <p:cNvSpPr txBox="1"/>
          <p:nvPr/>
        </p:nvSpPr>
        <p:spPr>
          <a:xfrm>
            <a:off x="843794" y="1363028"/>
            <a:ext cx="5982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2025 Q1</a:t>
            </a:r>
          </a:p>
        </p:txBody>
      </p:sp>
      <p:sp>
        <p:nvSpPr>
          <p:cNvPr id="8" name="Ellipse 8"/>
          <p:cNvSpPr/>
          <p:nvPr/>
        </p:nvSpPr>
        <p:spPr>
          <a:xfrm>
            <a:off x="1562100" y="1276350"/>
            <a:ext cx="304800" cy="30480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1657350" y="1381125"/>
            <a:ext cx="114300" cy="85725"/>
          </a:xfrm>
          <a:custGeom>
            <a:avLst/>
            <a:gdLst/>
            <a:ahLst/>
            <a:cxnLst/>
            <a:rect l="l" t="t" r="r" b="b"/>
            <a:pathLst>
              <a:path w="114300" h="85725">
                <a:moveTo>
                  <a:pt x="0" y="47625"/>
                </a:moveTo>
                <a:lnTo>
                  <a:pt x="38100" y="85725"/>
                </a:lnTo>
                <a:lnTo>
                  <a:pt x="114300" y="0"/>
                </a:lnTo>
              </a:path>
            </a:pathLst>
          </a:custGeom>
          <a:noFill/>
          <a:ln w="23812" cap="rnd">
            <a:solidFill>
              <a:srgbClr val="FFFFFF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2000250" y="1095375"/>
            <a:ext cx="4572000" cy="666750"/>
          </a:xfrm>
          <a:custGeom>
            <a:avLst/>
            <a:gdLst/>
            <a:ahLst/>
            <a:cxnLst/>
            <a:rect l="l" t="t" r="r" b="b"/>
            <a:pathLst>
              <a:path w="4572000" h="66675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571500"/>
                </a:lnTo>
                <a:cubicBezTo>
                  <a:pt x="4572000" y="624105"/>
                  <a:pt x="4529355" y="666750"/>
                  <a:pt x="4476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11" name="Line 11"/>
          <p:cNvSpPr/>
          <p:nvPr/>
        </p:nvSpPr>
        <p:spPr>
          <a:xfrm>
            <a:off x="2038350" y="1238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38100" cap="rnd">
            <a:solidFill>
              <a:srgbClr val="10B98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223135" y="1203960"/>
            <a:ext cx="26712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Organizational Restructuring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25992" y="1437799"/>
            <a:ext cx="5236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Complete divisional reform and establish three independent business units.</a:t>
            </a:r>
          </a:p>
        </p:txBody>
      </p:sp>
      <p:sp>
        <p:nvSpPr>
          <p:cNvPr id="14" name="Freeform 14"/>
          <p:cNvSpPr/>
          <p:nvPr/>
        </p:nvSpPr>
        <p:spPr>
          <a:xfrm>
            <a:off x="5572125" y="1190625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1FAE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651843" y="1253966"/>
            <a:ext cx="697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64E3B"/>
                </a:solidFill>
                <a:latin typeface="Segoe UI"/>
                <a:ea typeface="Microsoft YaHei"/>
                <a:cs typeface="Segoe UI"/>
              </a:rPr>
              <a:t>COMPLETED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6926" y="2363152"/>
            <a:ext cx="7351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End of Q1</a:t>
            </a:r>
          </a:p>
        </p:txBody>
      </p:sp>
      <p:sp>
        <p:nvSpPr>
          <p:cNvPr id="17" name="Ellipse 17"/>
          <p:cNvSpPr/>
          <p:nvPr/>
        </p:nvSpPr>
        <p:spPr>
          <a:xfrm>
            <a:off x="1562100" y="2276475"/>
            <a:ext cx="304800" cy="30480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1657350" y="2381250"/>
            <a:ext cx="114300" cy="85725"/>
          </a:xfrm>
          <a:custGeom>
            <a:avLst/>
            <a:gdLst/>
            <a:ahLst/>
            <a:cxnLst/>
            <a:rect l="l" t="t" r="r" b="b"/>
            <a:pathLst>
              <a:path w="114300" h="85725">
                <a:moveTo>
                  <a:pt x="0" y="47625"/>
                </a:moveTo>
                <a:lnTo>
                  <a:pt x="38100" y="85725"/>
                </a:lnTo>
                <a:lnTo>
                  <a:pt x="114300" y="0"/>
                </a:lnTo>
              </a:path>
            </a:pathLst>
          </a:custGeom>
          <a:noFill/>
          <a:ln w="23812" cap="rnd">
            <a:solidFill>
              <a:srgbClr val="FFFFFF"/>
            </a:solidFill>
          </a:ln>
        </p:spPr>
      </p:sp>
      <p:sp>
        <p:nvSpPr>
          <p:cNvPr id="19" name="Freeform 19"/>
          <p:cNvSpPr/>
          <p:nvPr/>
        </p:nvSpPr>
        <p:spPr>
          <a:xfrm>
            <a:off x="2000250" y="2095500"/>
            <a:ext cx="4572000" cy="666750"/>
          </a:xfrm>
          <a:custGeom>
            <a:avLst/>
            <a:gdLst/>
            <a:ahLst/>
            <a:cxnLst/>
            <a:rect l="l" t="t" r="r" b="b"/>
            <a:pathLst>
              <a:path w="4572000" h="66675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571500"/>
                </a:lnTo>
                <a:cubicBezTo>
                  <a:pt x="4572000" y="624105"/>
                  <a:pt x="4529355" y="666750"/>
                  <a:pt x="4476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20" name="Line 20"/>
          <p:cNvSpPr/>
          <p:nvPr/>
        </p:nvSpPr>
        <p:spPr>
          <a:xfrm>
            <a:off x="2038350" y="223837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38100" cap="rnd">
            <a:solidFill>
              <a:srgbClr val="10B981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223135" y="2204085"/>
            <a:ext cx="20823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Series A Funding Closed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25992" y="2437924"/>
            <a:ext cx="42041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Secured $50M in Series A funding, reaching $300M valuation.</a:t>
            </a:r>
          </a:p>
        </p:txBody>
      </p:sp>
      <p:sp>
        <p:nvSpPr>
          <p:cNvPr id="23" name="Freeform 23"/>
          <p:cNvSpPr/>
          <p:nvPr/>
        </p:nvSpPr>
        <p:spPr>
          <a:xfrm>
            <a:off x="5572125" y="2190750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1FAE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651843" y="2254091"/>
            <a:ext cx="697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64E3B"/>
                </a:solidFill>
                <a:latin typeface="Segoe UI"/>
                <a:ea typeface="Microsoft YaHei"/>
                <a:cs typeface="Segoe UI"/>
              </a:rPr>
              <a:t>COMPLETED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3539" y="3363278"/>
            <a:ext cx="6385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3B82F6"/>
                </a:solidFill>
                <a:latin typeface="Segoe UI"/>
                <a:ea typeface="Microsoft YaHei"/>
                <a:cs typeface="Segoe UI"/>
              </a:rPr>
              <a:t>2025 Q2</a:t>
            </a:r>
          </a:p>
        </p:txBody>
      </p:sp>
      <p:sp>
        <p:nvSpPr>
          <p:cNvPr id="26" name="Ellipse 26"/>
          <p:cNvSpPr/>
          <p:nvPr/>
        </p:nvSpPr>
        <p:spPr>
          <a:xfrm>
            <a:off x="1562100" y="3276600"/>
            <a:ext cx="304800" cy="304800"/>
          </a:xfrm>
          <a:prstGeom prst="ellipse">
            <a:avLst/>
          </a:prstGeom>
          <a:solidFill>
            <a:srgbClr val="EFF6FF"/>
          </a:solidFill>
          <a:ln w="33338">
            <a:solidFill>
              <a:srgbClr val="3B82F6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1657350" y="3371850"/>
            <a:ext cx="114300" cy="1143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2000250" y="3095625"/>
            <a:ext cx="4572000" cy="666750"/>
          </a:xfrm>
          <a:custGeom>
            <a:avLst/>
            <a:gdLst/>
            <a:ahLst/>
            <a:cxnLst/>
            <a:rect l="l" t="t" r="r" b="b"/>
            <a:pathLst>
              <a:path w="4572000" h="66675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571500"/>
                </a:lnTo>
                <a:cubicBezTo>
                  <a:pt x="4572000" y="624105"/>
                  <a:pt x="4529355" y="666750"/>
                  <a:pt x="4476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BFDBFE"/>
            </a:solidFill>
          </a:ln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29" name="Line 29"/>
          <p:cNvSpPr/>
          <p:nvPr/>
        </p:nvSpPr>
        <p:spPr>
          <a:xfrm>
            <a:off x="2038350" y="32385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38100" cap="rnd">
            <a:solidFill>
              <a:srgbClr val="3B82F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2223135" y="3204210"/>
            <a:ext cx="18615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Product V2.0 Launch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25992" y="3438049"/>
            <a:ext cx="5492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Integrate AI engine, launch smart recommendations and automated workflows.</a:t>
            </a:r>
          </a:p>
        </p:txBody>
      </p:sp>
      <p:sp>
        <p:nvSpPr>
          <p:cNvPr id="32" name="Freeform 32"/>
          <p:cNvSpPr/>
          <p:nvPr/>
        </p:nvSpPr>
        <p:spPr>
          <a:xfrm>
            <a:off x="5572125" y="3190875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626540" y="3254216"/>
            <a:ext cx="7484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IN PROGRESS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03539" y="4363402"/>
            <a:ext cx="6385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2025 Q3</a:t>
            </a:r>
          </a:p>
        </p:txBody>
      </p:sp>
      <p:sp>
        <p:nvSpPr>
          <p:cNvPr id="35" name="Ellipse 35"/>
          <p:cNvSpPr/>
          <p:nvPr/>
        </p:nvSpPr>
        <p:spPr>
          <a:xfrm>
            <a:off x="1581150" y="4295775"/>
            <a:ext cx="266700" cy="266700"/>
          </a:xfrm>
          <a:prstGeom prst="ellipse">
            <a:avLst/>
          </a:prstGeom>
          <a:solidFill>
            <a:srgbClr val="F8FAFC"/>
          </a:solidFill>
          <a:ln w="33338">
            <a:solidFill>
              <a:srgbClr val="CBD5E1"/>
            </a:solidFill>
          </a:ln>
        </p:spPr>
      </p:sp>
      <p:sp>
        <p:nvSpPr>
          <p:cNvPr id="36" name="Ellipse 36"/>
          <p:cNvSpPr/>
          <p:nvPr/>
        </p:nvSpPr>
        <p:spPr>
          <a:xfrm>
            <a:off x="1666875" y="4381500"/>
            <a:ext cx="95250" cy="9525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2000250" y="4095750"/>
            <a:ext cx="4572000" cy="666750"/>
          </a:xfrm>
          <a:custGeom>
            <a:avLst/>
            <a:gdLst/>
            <a:ahLst/>
            <a:cxnLst/>
            <a:rect l="l" t="t" r="r" b="b"/>
            <a:pathLst>
              <a:path w="4572000" h="66675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571500"/>
                </a:lnTo>
                <a:cubicBezTo>
                  <a:pt x="4572000" y="624105"/>
                  <a:pt x="4529355" y="666750"/>
                  <a:pt x="4476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38" name="Line 38"/>
          <p:cNvSpPr/>
          <p:nvPr/>
        </p:nvSpPr>
        <p:spPr>
          <a:xfrm>
            <a:off x="2038350" y="42386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38100" cap="rnd">
            <a:solidFill>
              <a:srgbClr val="94A3B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223135" y="4204335"/>
            <a:ext cx="21651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Global Market Expansion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225992" y="4438174"/>
            <a:ext cx="45601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Pilot operations in SEA region to validate localization strategies.</a:t>
            </a:r>
          </a:p>
        </p:txBody>
      </p:sp>
      <p:sp>
        <p:nvSpPr>
          <p:cNvPr id="41" name="Freeform 41"/>
          <p:cNvSpPr/>
          <p:nvPr/>
        </p:nvSpPr>
        <p:spPr>
          <a:xfrm>
            <a:off x="5572125" y="4191000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746730" y="4254341"/>
            <a:ext cx="5080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PLANNED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03539" y="5363528"/>
            <a:ext cx="6385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2025 Q4</a:t>
            </a:r>
          </a:p>
        </p:txBody>
      </p:sp>
      <p:sp>
        <p:nvSpPr>
          <p:cNvPr id="44" name="Ellipse 44"/>
          <p:cNvSpPr/>
          <p:nvPr/>
        </p:nvSpPr>
        <p:spPr>
          <a:xfrm>
            <a:off x="1581150" y="5295900"/>
            <a:ext cx="266700" cy="266700"/>
          </a:xfrm>
          <a:prstGeom prst="ellipse">
            <a:avLst/>
          </a:prstGeom>
          <a:solidFill>
            <a:srgbClr val="F8FAFC"/>
          </a:solidFill>
          <a:ln w="33338">
            <a:solidFill>
              <a:srgbClr val="CBD5E1"/>
            </a:solidFill>
          </a:ln>
        </p:spPr>
      </p:sp>
      <p:sp>
        <p:nvSpPr>
          <p:cNvPr id="45" name="Ellipse 45"/>
          <p:cNvSpPr/>
          <p:nvPr/>
        </p:nvSpPr>
        <p:spPr>
          <a:xfrm>
            <a:off x="1666875" y="5381625"/>
            <a:ext cx="95250" cy="9525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46" name="Freeform 46"/>
          <p:cNvSpPr/>
          <p:nvPr/>
        </p:nvSpPr>
        <p:spPr>
          <a:xfrm>
            <a:off x="2000250" y="5095875"/>
            <a:ext cx="4572000" cy="666750"/>
          </a:xfrm>
          <a:custGeom>
            <a:avLst/>
            <a:gdLst/>
            <a:ahLst/>
            <a:cxnLst/>
            <a:rect l="l" t="t" r="r" b="b"/>
            <a:pathLst>
              <a:path w="4572000" h="66675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571500"/>
                </a:lnTo>
                <a:cubicBezTo>
                  <a:pt x="4572000" y="624105"/>
                  <a:pt x="4529355" y="666750"/>
                  <a:pt x="4476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47" name="Line 47"/>
          <p:cNvSpPr/>
          <p:nvPr/>
        </p:nvSpPr>
        <p:spPr>
          <a:xfrm>
            <a:off x="2038350" y="52387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38100" cap="rnd">
            <a:solidFill>
              <a:srgbClr val="94A3B8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2223135" y="5204460"/>
            <a:ext cx="16314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Series B Initiation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225992" y="5438299"/>
            <a:ext cx="45886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Target $1B valuation, build capital reserves for scaled expansion.</a:t>
            </a:r>
          </a:p>
        </p:txBody>
      </p:sp>
      <p:sp>
        <p:nvSpPr>
          <p:cNvPr id="50" name="Freeform 50"/>
          <p:cNvSpPr/>
          <p:nvPr/>
        </p:nvSpPr>
        <p:spPr>
          <a:xfrm>
            <a:off x="5572125" y="5191125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746730" y="5254466"/>
            <a:ext cx="5080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PLANNED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21753" y="6363652"/>
            <a:ext cx="9203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End of 2025</a:t>
            </a:r>
          </a:p>
        </p:txBody>
      </p:sp>
      <p:sp>
        <p:nvSpPr>
          <p:cNvPr id="53" name="Ellipse 53"/>
          <p:cNvSpPr/>
          <p:nvPr/>
        </p:nvSpPr>
        <p:spPr>
          <a:xfrm>
            <a:off x="1581150" y="6296025"/>
            <a:ext cx="266700" cy="266700"/>
          </a:xfrm>
          <a:prstGeom prst="ellipse">
            <a:avLst/>
          </a:prstGeom>
          <a:solidFill>
            <a:srgbClr val="F8FAFC"/>
          </a:solidFill>
          <a:ln w="33338">
            <a:solidFill>
              <a:srgbClr val="CBD5E1"/>
            </a:solidFill>
          </a:ln>
        </p:spPr>
      </p:sp>
      <p:sp>
        <p:nvSpPr>
          <p:cNvPr id="54" name="Ellipse 54"/>
          <p:cNvSpPr/>
          <p:nvPr/>
        </p:nvSpPr>
        <p:spPr>
          <a:xfrm>
            <a:off x="1666875" y="6381750"/>
            <a:ext cx="95250" cy="9525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55" name="Freeform 55"/>
          <p:cNvSpPr/>
          <p:nvPr/>
        </p:nvSpPr>
        <p:spPr>
          <a:xfrm>
            <a:off x="2000250" y="6096000"/>
            <a:ext cx="4572000" cy="666750"/>
          </a:xfrm>
          <a:custGeom>
            <a:avLst/>
            <a:gdLst/>
            <a:ahLst/>
            <a:cxnLst/>
            <a:rect l="l" t="t" r="r" b="b"/>
            <a:pathLst>
              <a:path w="4572000" h="666750">
                <a:moveTo>
                  <a:pt x="95250" y="0"/>
                </a:moveTo>
                <a:lnTo>
                  <a:pt x="4476750" y="0"/>
                </a:lnTo>
                <a:cubicBezTo>
                  <a:pt x="4529355" y="0"/>
                  <a:pt x="4572000" y="42645"/>
                  <a:pt x="4572000" y="95250"/>
                </a:cubicBezTo>
                <a:lnTo>
                  <a:pt x="4572000" y="571500"/>
                </a:lnTo>
                <a:cubicBezTo>
                  <a:pt x="4572000" y="624105"/>
                  <a:pt x="4529355" y="666750"/>
                  <a:pt x="4476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56" name="Line 56"/>
          <p:cNvSpPr/>
          <p:nvPr/>
        </p:nvSpPr>
        <p:spPr>
          <a:xfrm>
            <a:off x="2038350" y="623887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38100" cap="rnd">
            <a:solidFill>
              <a:srgbClr val="94A3B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2223135" y="6204585"/>
            <a:ext cx="21743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Annual Targets Achieved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225992" y="6438424"/>
            <a:ext cx="41970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Reach 5M+ Active Users and $150M Annual Recurring Revenue.</a:t>
            </a:r>
          </a:p>
        </p:txBody>
      </p:sp>
      <p:sp>
        <p:nvSpPr>
          <p:cNvPr id="59" name="Freeform 59"/>
          <p:cNvSpPr/>
          <p:nvPr/>
        </p:nvSpPr>
        <p:spPr>
          <a:xfrm>
            <a:off x="5572125" y="6191250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746730" y="6254591"/>
            <a:ext cx="5080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475569"/>
                </a:solidFill>
                <a:latin typeface="Segoe UI"/>
                <a:ea typeface="Microsoft YaHei"/>
                <a:cs typeface="Segoe UI"/>
              </a:rPr>
              <a:t>PLANNED</a:t>
            </a:r>
          </a:p>
        </p:txBody>
      </p:sp>
      <p:sp>
        <p:nvSpPr>
          <p:cNvPr id="61" name="Freeform 61"/>
          <p:cNvSpPr/>
          <p:nvPr/>
        </p:nvSpPr>
        <p:spPr>
          <a:xfrm>
            <a:off x="6953250" y="1095375"/>
            <a:ext cx="4667250" cy="5619750"/>
          </a:xfrm>
          <a:custGeom>
            <a:avLst/>
            <a:gdLst/>
            <a:ahLst/>
            <a:cxnLst/>
            <a:rect l="l" t="t" r="r" b="b"/>
            <a:pathLst>
              <a:path w="4667250" h="5619750">
                <a:moveTo>
                  <a:pt x="152400" y="0"/>
                </a:moveTo>
                <a:lnTo>
                  <a:pt x="4514850" y="0"/>
                </a:lnTo>
                <a:cubicBezTo>
                  <a:pt x="4599018" y="0"/>
                  <a:pt x="4667250" y="68232"/>
                  <a:pt x="4667250" y="152400"/>
                </a:cubicBezTo>
                <a:lnTo>
                  <a:pt x="4667250" y="5467350"/>
                </a:lnTo>
                <a:cubicBezTo>
                  <a:pt x="4667250" y="5551518"/>
                  <a:pt x="4599018" y="5619750"/>
                  <a:pt x="4514850" y="5619750"/>
                </a:cubicBezTo>
                <a:lnTo>
                  <a:pt x="152400" y="5619750"/>
                </a:lnTo>
                <a:cubicBezTo>
                  <a:pt x="68232" y="5619750"/>
                  <a:pt x="0" y="5551518"/>
                  <a:pt x="0" y="5467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62" name="TextBox 62"/>
          <p:cNvSpPr txBox="1"/>
          <p:nvPr/>
        </p:nvSpPr>
        <p:spPr>
          <a:xfrm>
            <a:off x="8125912" y="1330642"/>
            <a:ext cx="23219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Annual Core Objectives</a:t>
            </a:r>
          </a:p>
        </p:txBody>
      </p:sp>
      <p:sp>
        <p:nvSpPr>
          <p:cNvPr id="63" name="Line 63"/>
          <p:cNvSpPr/>
          <p:nvPr/>
        </p:nvSpPr>
        <p:spPr>
          <a:xfrm>
            <a:off x="6953250" y="16383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19050">
            <a:solidFill>
              <a:srgbClr val="F1F5F9"/>
            </a:solidFill>
          </a:ln>
        </p:spPr>
      </p:sp>
      <p:sp>
        <p:nvSpPr>
          <p:cNvPr id="64" name="Freeform 64"/>
          <p:cNvSpPr/>
          <p:nvPr/>
        </p:nvSpPr>
        <p:spPr>
          <a:xfrm>
            <a:off x="7239000" y="1809750"/>
            <a:ext cx="4095750" cy="714375"/>
          </a:xfrm>
          <a:custGeom>
            <a:avLst/>
            <a:gdLst/>
            <a:ahLst/>
            <a:cxnLst/>
            <a:rect l="l" t="t" r="r" b="b"/>
            <a:pathLst>
              <a:path w="4095750" h="714375">
                <a:moveTo>
                  <a:pt x="95250" y="0"/>
                </a:moveTo>
                <a:lnTo>
                  <a:pt x="4000500" y="0"/>
                </a:lnTo>
                <a:cubicBezTo>
                  <a:pt x="4053105" y="0"/>
                  <a:pt x="4095750" y="42645"/>
                  <a:pt x="4095750" y="95250"/>
                </a:cubicBezTo>
                <a:lnTo>
                  <a:pt x="4095750" y="619125"/>
                </a:lnTo>
                <a:cubicBezTo>
                  <a:pt x="4095750" y="671730"/>
                  <a:pt x="4053105" y="714375"/>
                  <a:pt x="4000500" y="714375"/>
                </a:cubicBezTo>
                <a:lnTo>
                  <a:pt x="95250" y="714375"/>
                </a:lnTo>
                <a:cubicBezTo>
                  <a:pt x="42645" y="714375"/>
                  <a:pt x="0" y="671730"/>
                  <a:pt x="0" y="6191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65" name="Line 65"/>
          <p:cNvSpPr/>
          <p:nvPr/>
        </p:nvSpPr>
        <p:spPr>
          <a:xfrm>
            <a:off x="7277100" y="1952625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76200" cap="rnd">
            <a:solidFill>
              <a:srgbClr val="3B82F6"/>
            </a:solidFill>
          </a:ln>
        </p:spPr>
      </p:sp>
      <p:sp>
        <p:nvSpPr>
          <p:cNvPr id="66" name="Ellipse 66"/>
          <p:cNvSpPr/>
          <p:nvPr/>
        </p:nvSpPr>
        <p:spPr>
          <a:xfrm>
            <a:off x="7524750" y="1976438"/>
            <a:ext cx="381000" cy="381000"/>
          </a:xfrm>
          <a:prstGeom prst="ellipse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7632942" y="2076450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$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069580" y="1887855"/>
            <a:ext cx="9228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$150M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082915" y="2229802"/>
            <a:ext cx="25707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Annual Recurring Revenue Target</a:t>
            </a:r>
          </a:p>
        </p:txBody>
      </p:sp>
      <p:sp>
        <p:nvSpPr>
          <p:cNvPr id="70" name="Freeform 70"/>
          <p:cNvSpPr/>
          <p:nvPr/>
        </p:nvSpPr>
        <p:spPr>
          <a:xfrm>
            <a:off x="7239000" y="2667000"/>
            <a:ext cx="4095750" cy="714375"/>
          </a:xfrm>
          <a:custGeom>
            <a:avLst/>
            <a:gdLst/>
            <a:ahLst/>
            <a:cxnLst/>
            <a:rect l="l" t="t" r="r" b="b"/>
            <a:pathLst>
              <a:path w="4095750" h="714375">
                <a:moveTo>
                  <a:pt x="95250" y="0"/>
                </a:moveTo>
                <a:lnTo>
                  <a:pt x="4000500" y="0"/>
                </a:lnTo>
                <a:cubicBezTo>
                  <a:pt x="4053105" y="0"/>
                  <a:pt x="4095750" y="42645"/>
                  <a:pt x="4095750" y="95250"/>
                </a:cubicBezTo>
                <a:lnTo>
                  <a:pt x="4095750" y="619125"/>
                </a:lnTo>
                <a:cubicBezTo>
                  <a:pt x="4095750" y="671730"/>
                  <a:pt x="4053105" y="714375"/>
                  <a:pt x="4000500" y="714375"/>
                </a:cubicBezTo>
                <a:lnTo>
                  <a:pt x="95250" y="714375"/>
                </a:lnTo>
                <a:cubicBezTo>
                  <a:pt x="42645" y="714375"/>
                  <a:pt x="0" y="671730"/>
                  <a:pt x="0" y="6191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71" name="Line 71"/>
          <p:cNvSpPr/>
          <p:nvPr/>
        </p:nvSpPr>
        <p:spPr>
          <a:xfrm>
            <a:off x="7277100" y="2809875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76200" cap="rnd">
            <a:solidFill>
              <a:srgbClr val="10B981"/>
            </a:solidFill>
          </a:ln>
        </p:spPr>
      </p:sp>
      <p:sp>
        <p:nvSpPr>
          <p:cNvPr id="72" name="Ellipse 72"/>
          <p:cNvSpPr/>
          <p:nvPr/>
        </p:nvSpPr>
        <p:spPr>
          <a:xfrm>
            <a:off x="7524750" y="2833688"/>
            <a:ext cx="381000" cy="3810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7632942" y="2933700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U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069580" y="2745105"/>
            <a:ext cx="8262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5.0M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082915" y="3087052"/>
            <a:ext cx="19025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Active Registered Users</a:t>
            </a:r>
          </a:p>
        </p:txBody>
      </p:sp>
      <p:sp>
        <p:nvSpPr>
          <p:cNvPr id="76" name="Freeform 76"/>
          <p:cNvSpPr/>
          <p:nvPr/>
        </p:nvSpPr>
        <p:spPr>
          <a:xfrm>
            <a:off x="7239000" y="3524250"/>
            <a:ext cx="4095750" cy="714375"/>
          </a:xfrm>
          <a:custGeom>
            <a:avLst/>
            <a:gdLst/>
            <a:ahLst/>
            <a:cxnLst/>
            <a:rect l="l" t="t" r="r" b="b"/>
            <a:pathLst>
              <a:path w="4095750" h="714375">
                <a:moveTo>
                  <a:pt x="95250" y="0"/>
                </a:moveTo>
                <a:lnTo>
                  <a:pt x="4000500" y="0"/>
                </a:lnTo>
                <a:cubicBezTo>
                  <a:pt x="4053105" y="0"/>
                  <a:pt x="4095750" y="42645"/>
                  <a:pt x="4095750" y="95250"/>
                </a:cubicBezTo>
                <a:lnTo>
                  <a:pt x="4095750" y="619125"/>
                </a:lnTo>
                <a:cubicBezTo>
                  <a:pt x="4095750" y="671730"/>
                  <a:pt x="4053105" y="714375"/>
                  <a:pt x="4000500" y="714375"/>
                </a:cubicBezTo>
                <a:lnTo>
                  <a:pt x="95250" y="714375"/>
                </a:lnTo>
                <a:cubicBezTo>
                  <a:pt x="42645" y="714375"/>
                  <a:pt x="0" y="671730"/>
                  <a:pt x="0" y="6191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95250" dist="28575" dir="5400000" algn="ctr" rotWithShape="0">
              <a:srgbClr val="0F172A">
                <a:alpha val="4500"/>
              </a:srgbClr>
            </a:outerShdw>
          </a:effectLst>
        </p:spPr>
      </p:sp>
      <p:sp>
        <p:nvSpPr>
          <p:cNvPr id="77" name="Line 77"/>
          <p:cNvSpPr/>
          <p:nvPr/>
        </p:nvSpPr>
        <p:spPr>
          <a:xfrm>
            <a:off x="7277100" y="3667125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76200" cap="rnd">
            <a:solidFill>
              <a:srgbClr val="F59E0B"/>
            </a:solidFill>
          </a:ln>
        </p:spPr>
      </p:sp>
      <p:sp>
        <p:nvSpPr>
          <p:cNvPr id="78" name="Ellipse 78"/>
          <p:cNvSpPr/>
          <p:nvPr/>
        </p:nvSpPr>
        <p:spPr>
          <a:xfrm>
            <a:off x="7524750" y="3690938"/>
            <a:ext cx="381000" cy="3810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7632942" y="3790950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D97706"/>
                </a:solidFill>
                <a:latin typeface="Segoe UI"/>
                <a:ea typeface="Microsoft YaHei"/>
                <a:cs typeface="Segoe UI"/>
              </a:rPr>
              <a:t>+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069580" y="3602355"/>
            <a:ext cx="7618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300+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082915" y="3944302"/>
            <a:ext cx="24258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End-of-Year Headcount Target</a:t>
            </a:r>
          </a:p>
        </p:txBody>
      </p:sp>
      <p:sp>
        <p:nvSpPr>
          <p:cNvPr id="82" name="Line 82"/>
          <p:cNvSpPr/>
          <p:nvPr/>
        </p:nvSpPr>
        <p:spPr>
          <a:xfrm>
            <a:off x="7239000" y="4429125"/>
            <a:ext cx="4095750" cy="9525"/>
          </a:xfrm>
          <a:custGeom>
            <a:avLst/>
            <a:gdLst/>
            <a:ahLst/>
            <a:cxnLst/>
            <a:rect l="l" t="t" r="r" b="b"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7223760" y="4585335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Key Strategic Initiatives</a:t>
            </a:r>
          </a:p>
        </p:txBody>
      </p:sp>
      <p:sp>
        <p:nvSpPr>
          <p:cNvPr id="84" name="Freeform 84"/>
          <p:cNvSpPr/>
          <p:nvPr/>
        </p:nvSpPr>
        <p:spPr>
          <a:xfrm>
            <a:off x="7239000" y="4857750"/>
            <a:ext cx="4095750" cy="381000"/>
          </a:xfrm>
          <a:custGeom>
            <a:avLst/>
            <a:gdLst/>
            <a:ahLst/>
            <a:cxnLst/>
            <a:rect l="l" t="t" r="r" b="b"/>
            <a:pathLst>
              <a:path w="4095750" h="381000">
                <a:moveTo>
                  <a:pt x="76200" y="0"/>
                </a:moveTo>
                <a:lnTo>
                  <a:pt x="4019550" y="0"/>
                </a:lnTo>
                <a:cubicBezTo>
                  <a:pt x="4061634" y="0"/>
                  <a:pt x="4095750" y="34116"/>
                  <a:pt x="4095750" y="76200"/>
                </a:cubicBezTo>
                <a:lnTo>
                  <a:pt x="4095750" y="304800"/>
                </a:lnTo>
                <a:cubicBezTo>
                  <a:pt x="4095750" y="346884"/>
                  <a:pt x="4061634" y="381000"/>
                  <a:pt x="401955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5" name="Ellipse 85"/>
          <p:cNvSpPr/>
          <p:nvPr/>
        </p:nvSpPr>
        <p:spPr>
          <a:xfrm>
            <a:off x="7362825" y="4933950"/>
            <a:ext cx="228600" cy="22860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7444992" y="4989195"/>
            <a:ext cx="642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4F46E5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701915" y="4982528"/>
            <a:ext cx="29089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Product-Led Growth (PLG) Expansion</a:t>
            </a:r>
          </a:p>
        </p:txBody>
      </p:sp>
      <p:sp>
        <p:nvSpPr>
          <p:cNvPr id="88" name="Freeform 88"/>
          <p:cNvSpPr/>
          <p:nvPr/>
        </p:nvSpPr>
        <p:spPr>
          <a:xfrm>
            <a:off x="7239000" y="5314950"/>
            <a:ext cx="4095750" cy="381000"/>
          </a:xfrm>
          <a:custGeom>
            <a:avLst/>
            <a:gdLst/>
            <a:ahLst/>
            <a:cxnLst/>
            <a:rect l="l" t="t" r="r" b="b"/>
            <a:pathLst>
              <a:path w="4095750" h="381000">
                <a:moveTo>
                  <a:pt x="76200" y="0"/>
                </a:moveTo>
                <a:lnTo>
                  <a:pt x="4019550" y="0"/>
                </a:lnTo>
                <a:cubicBezTo>
                  <a:pt x="4061634" y="0"/>
                  <a:pt x="4095750" y="34116"/>
                  <a:pt x="4095750" y="76200"/>
                </a:cubicBezTo>
                <a:lnTo>
                  <a:pt x="4095750" y="304800"/>
                </a:lnTo>
                <a:cubicBezTo>
                  <a:pt x="4095750" y="346884"/>
                  <a:pt x="4061634" y="381000"/>
                  <a:pt x="401955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9" name="Ellipse 89"/>
          <p:cNvSpPr/>
          <p:nvPr/>
        </p:nvSpPr>
        <p:spPr>
          <a:xfrm>
            <a:off x="7362825" y="5391150"/>
            <a:ext cx="228600" cy="2286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7427740" y="5446395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701915" y="5439728"/>
            <a:ext cx="24419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Enterprise Account Acquisition</a:t>
            </a:r>
          </a:p>
        </p:txBody>
      </p:sp>
      <p:sp>
        <p:nvSpPr>
          <p:cNvPr id="92" name="Freeform 92"/>
          <p:cNvSpPr/>
          <p:nvPr/>
        </p:nvSpPr>
        <p:spPr>
          <a:xfrm>
            <a:off x="7239000" y="5772150"/>
            <a:ext cx="4095750" cy="381000"/>
          </a:xfrm>
          <a:custGeom>
            <a:avLst/>
            <a:gdLst/>
            <a:ahLst/>
            <a:cxnLst/>
            <a:rect l="l" t="t" r="r" b="b"/>
            <a:pathLst>
              <a:path w="4095750" h="381000">
                <a:moveTo>
                  <a:pt x="76200" y="0"/>
                </a:moveTo>
                <a:lnTo>
                  <a:pt x="4019550" y="0"/>
                </a:lnTo>
                <a:cubicBezTo>
                  <a:pt x="4061634" y="0"/>
                  <a:pt x="4095750" y="34116"/>
                  <a:pt x="4095750" y="76200"/>
                </a:cubicBezTo>
                <a:lnTo>
                  <a:pt x="4095750" y="304800"/>
                </a:lnTo>
                <a:cubicBezTo>
                  <a:pt x="4095750" y="346884"/>
                  <a:pt x="4061634" y="381000"/>
                  <a:pt x="401955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3" name="Ellipse 93"/>
          <p:cNvSpPr/>
          <p:nvPr/>
        </p:nvSpPr>
        <p:spPr>
          <a:xfrm>
            <a:off x="7362825" y="5848350"/>
            <a:ext cx="228600" cy="2286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7427740" y="5903595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97706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701915" y="5896928"/>
            <a:ext cx="22487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Global Market PMF Validation</a:t>
            </a:r>
          </a:p>
        </p:txBody>
      </p:sp>
      <p:sp>
        <p:nvSpPr>
          <p:cNvPr id="96" name="Freeform 96"/>
          <p:cNvSpPr/>
          <p:nvPr/>
        </p:nvSpPr>
        <p:spPr>
          <a:xfrm>
            <a:off x="7239000" y="6229350"/>
            <a:ext cx="4095750" cy="381000"/>
          </a:xfrm>
          <a:custGeom>
            <a:avLst/>
            <a:gdLst/>
            <a:ahLst/>
            <a:cxnLst/>
            <a:rect l="l" t="t" r="r" b="b"/>
            <a:pathLst>
              <a:path w="4095750" h="381000">
                <a:moveTo>
                  <a:pt x="76200" y="0"/>
                </a:moveTo>
                <a:lnTo>
                  <a:pt x="4019550" y="0"/>
                </a:lnTo>
                <a:cubicBezTo>
                  <a:pt x="4061634" y="0"/>
                  <a:pt x="4095750" y="34116"/>
                  <a:pt x="4095750" y="76200"/>
                </a:cubicBezTo>
                <a:lnTo>
                  <a:pt x="4095750" y="304800"/>
                </a:lnTo>
                <a:cubicBezTo>
                  <a:pt x="4095750" y="346884"/>
                  <a:pt x="4061634" y="381000"/>
                  <a:pt x="401955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7" name="Ellipse 97"/>
          <p:cNvSpPr/>
          <p:nvPr/>
        </p:nvSpPr>
        <p:spPr>
          <a:xfrm>
            <a:off x="7362825" y="6305550"/>
            <a:ext cx="228600" cy="228600"/>
          </a:xfrm>
          <a:prstGeom prst="ellipse">
            <a:avLst/>
          </a:prstGeom>
          <a:solidFill>
            <a:srgbClr val="FFE4E6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7427740" y="6360795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11D48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7701915" y="6354128"/>
            <a:ext cx="24339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AI Technical Moat Construction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461595" y="217170"/>
            <a:ext cx="5268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Annual Budget Allocation 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81750" y="640556"/>
            <a:ext cx="5428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2025 FY · TOTAL BUDGET: $100M · ZERO-LOSS SANKEY DISTRIBUTION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8709" y="990124"/>
            <a:ext cx="11685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REVENUE SOURCE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7489" y="990124"/>
            <a:ext cx="8770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DEPARTMENT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61896" y="990124"/>
            <a:ext cx="9742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EXPENSE TYPE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905000" y="1774031"/>
            <a:ext cx="8382000" cy="4214813"/>
            <a:chOff x="1905000" y="1774031"/>
            <a:chExt cx="8382000" cy="4214813"/>
          </a:xfrm>
        </p:grpSpPr>
        <p:sp>
          <p:nvSpPr>
            <p:cNvPr id="8" name="Freeform 8"/>
            <p:cNvSpPr/>
            <p:nvPr/>
          </p:nvSpPr>
          <p:spPr>
            <a:xfrm>
              <a:off x="1905000" y="1774031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cubicBezTo>
                    <a:pt x="1714500" y="0"/>
                    <a:pt x="1714500" y="0"/>
                    <a:pt x="3429000" y="0"/>
                  </a:cubicBezTo>
                </a:path>
              </a:pathLst>
            </a:custGeom>
            <a:noFill/>
            <a:ln w="1071562">
              <a:gradFill>
                <a:gsLst>
                  <a:gs pos="0">
                    <a:srgbClr val="3B82F6">
                      <a:alpha val="45000"/>
                    </a:srgbClr>
                  </a:gs>
                  <a:gs pos="100000">
                    <a:srgbClr val="8B5CF6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905000" y="2631281"/>
              <a:ext cx="3429000" cy="619125"/>
            </a:xfrm>
            <a:custGeom>
              <a:avLst/>
              <a:gdLst/>
              <a:ahLst/>
              <a:cxnLst/>
              <a:rect l="l" t="t" r="r" b="b"/>
              <a:pathLst>
                <a:path w="3429000" h="619125">
                  <a:moveTo>
                    <a:pt x="0" y="0"/>
                  </a:moveTo>
                  <a:cubicBezTo>
                    <a:pt x="1714500" y="0"/>
                    <a:pt x="1714500" y="619125"/>
                    <a:pt x="3429000" y="619125"/>
                  </a:cubicBezTo>
                </a:path>
              </a:pathLst>
            </a:custGeom>
            <a:noFill/>
            <a:ln w="642938">
              <a:gradFill>
                <a:gsLst>
                  <a:gs pos="0">
                    <a:srgbClr val="3B82F6">
                      <a:alpha val="45000"/>
                    </a:srgbClr>
                  </a:gs>
                  <a:gs pos="100000">
                    <a:srgbClr val="F43F5E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05000" y="3274219"/>
              <a:ext cx="3429000" cy="1452562"/>
            </a:xfrm>
            <a:custGeom>
              <a:avLst/>
              <a:gdLst/>
              <a:ahLst/>
              <a:cxnLst/>
              <a:rect l="l" t="t" r="r" b="b"/>
              <a:pathLst>
                <a:path w="3429000" h="1452562">
                  <a:moveTo>
                    <a:pt x="0" y="0"/>
                  </a:moveTo>
                  <a:cubicBezTo>
                    <a:pt x="1714500" y="0"/>
                    <a:pt x="1714500" y="1452562"/>
                    <a:pt x="3429000" y="1452562"/>
                  </a:cubicBezTo>
                </a:path>
              </a:pathLst>
            </a:custGeom>
            <a:noFill/>
            <a:ln w="642938">
              <a:gradFill>
                <a:gsLst>
                  <a:gs pos="0">
                    <a:srgbClr val="3B82F6">
                      <a:alpha val="45000"/>
                    </a:srgbClr>
                  </a:gs>
                  <a:gs pos="100000">
                    <a:srgbClr val="F59E0B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05000" y="3702844"/>
              <a:ext cx="3429000" cy="2071688"/>
            </a:xfrm>
            <a:custGeom>
              <a:avLst/>
              <a:gdLst/>
              <a:ahLst/>
              <a:cxnLst/>
              <a:rect l="l" t="t" r="r" b="b"/>
              <a:pathLst>
                <a:path w="3429000" h="2071688">
                  <a:moveTo>
                    <a:pt x="0" y="0"/>
                  </a:moveTo>
                  <a:cubicBezTo>
                    <a:pt x="1714500" y="0"/>
                    <a:pt x="1714500" y="2071688"/>
                    <a:pt x="3429000" y="2071688"/>
                  </a:cubicBezTo>
                </a:path>
              </a:pathLst>
            </a:custGeom>
            <a:noFill/>
            <a:ln w="214312">
              <a:gradFill>
                <a:gsLst>
                  <a:gs pos="0">
                    <a:srgbClr val="3B82F6">
                      <a:alpha val="45000"/>
                    </a:srgbClr>
                  </a:gs>
                  <a:gs pos="100000">
                    <a:srgbClr val="64748B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905000" y="2524125"/>
              <a:ext cx="3429000" cy="1690688"/>
            </a:xfrm>
            <a:custGeom>
              <a:avLst/>
              <a:gdLst/>
              <a:ahLst/>
              <a:cxnLst/>
              <a:rect l="l" t="t" r="r" b="b"/>
              <a:pathLst>
                <a:path w="3429000" h="1690688">
                  <a:moveTo>
                    <a:pt x="0" y="1690688"/>
                  </a:moveTo>
                  <a:cubicBezTo>
                    <a:pt x="1714500" y="1690688"/>
                    <a:pt x="1714500" y="0"/>
                    <a:pt x="3429000" y="0"/>
                  </a:cubicBezTo>
                </a:path>
              </a:pathLst>
            </a:custGeom>
            <a:noFill/>
            <a:ln w="428625">
              <a:gradFill>
                <a:gsLst>
                  <a:gs pos="0">
                    <a:srgbClr val="10B981">
                      <a:alpha val="45000"/>
                    </a:srgbClr>
                  </a:gs>
                  <a:gs pos="100000">
                    <a:srgbClr val="8B5CF6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905000" y="3786188"/>
              <a:ext cx="3429000" cy="857250"/>
            </a:xfrm>
            <a:custGeom>
              <a:avLst/>
              <a:gdLst/>
              <a:ahLst/>
              <a:cxnLst/>
              <a:rect l="l" t="t" r="r" b="b"/>
              <a:pathLst>
                <a:path w="3429000" h="857250">
                  <a:moveTo>
                    <a:pt x="0" y="857250"/>
                  </a:moveTo>
                  <a:cubicBezTo>
                    <a:pt x="1714500" y="857250"/>
                    <a:pt x="1714500" y="0"/>
                    <a:pt x="3429000" y="0"/>
                  </a:cubicBezTo>
                </a:path>
              </a:pathLst>
            </a:custGeom>
            <a:noFill/>
            <a:ln w="428625">
              <a:gradFill>
                <a:gsLst>
                  <a:gs pos="0">
                    <a:srgbClr val="10B981">
                      <a:alpha val="45000"/>
                    </a:srgbClr>
                  </a:gs>
                  <a:gs pos="100000">
                    <a:srgbClr val="F43F5E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05000" y="5072062"/>
              <a:ext cx="3429000" cy="190500"/>
            </a:xfrm>
            <a:custGeom>
              <a:avLst/>
              <a:gdLst/>
              <a:ahLst/>
              <a:cxnLst/>
              <a:rect l="l" t="t" r="r" b="b"/>
              <a:pathLst>
                <a:path w="3429000" h="190500">
                  <a:moveTo>
                    <a:pt x="0" y="0"/>
                  </a:moveTo>
                  <a:cubicBezTo>
                    <a:pt x="1714500" y="0"/>
                    <a:pt x="1714500" y="190500"/>
                    <a:pt x="3429000" y="190500"/>
                  </a:cubicBezTo>
                </a:path>
              </a:pathLst>
            </a:custGeom>
            <a:noFill/>
            <a:ln w="428625">
              <a:gradFill>
                <a:gsLst>
                  <a:gs pos="0">
                    <a:srgbClr val="10B981">
                      <a:alpha val="45000"/>
                    </a:srgbClr>
                  </a:gs>
                  <a:gs pos="100000">
                    <a:srgbClr val="F59E0B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905000" y="4107656"/>
              <a:ext cx="3429000" cy="1476375"/>
            </a:xfrm>
            <a:custGeom>
              <a:avLst/>
              <a:gdLst/>
              <a:ahLst/>
              <a:cxnLst/>
              <a:rect l="l" t="t" r="r" b="b"/>
              <a:pathLst>
                <a:path w="3429000" h="1476375">
                  <a:moveTo>
                    <a:pt x="0" y="1476375"/>
                  </a:moveTo>
                  <a:cubicBezTo>
                    <a:pt x="1714500" y="1476375"/>
                    <a:pt x="1714500" y="0"/>
                    <a:pt x="3429000" y="0"/>
                  </a:cubicBezTo>
                </a:path>
              </a:pathLst>
            </a:custGeom>
            <a:noFill/>
            <a:ln w="214312">
              <a:gradFill>
                <a:gsLst>
                  <a:gs pos="0">
                    <a:srgbClr val="6366F1">
                      <a:alpha val="45000"/>
                    </a:srgbClr>
                  </a:gs>
                  <a:gs pos="100000">
                    <a:srgbClr val="F43F5E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905000" y="5798344"/>
              <a:ext cx="3429000" cy="190500"/>
            </a:xfrm>
            <a:custGeom>
              <a:avLst/>
              <a:gdLst/>
              <a:ahLst/>
              <a:cxnLst/>
              <a:rect l="l" t="t" r="r" b="b"/>
              <a:pathLst>
                <a:path w="3429000" h="190500">
                  <a:moveTo>
                    <a:pt x="0" y="0"/>
                  </a:moveTo>
                  <a:cubicBezTo>
                    <a:pt x="1714500" y="0"/>
                    <a:pt x="1714500" y="190500"/>
                    <a:pt x="3429000" y="190500"/>
                  </a:cubicBezTo>
                </a:path>
              </a:pathLst>
            </a:custGeom>
            <a:noFill/>
            <a:ln w="214312">
              <a:gradFill>
                <a:gsLst>
                  <a:gs pos="0">
                    <a:srgbClr val="6366F1">
                      <a:alpha val="45000"/>
                    </a:srgbClr>
                  </a:gs>
                  <a:gs pos="100000">
                    <a:srgbClr val="64748B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858000" y="18383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cubicBezTo>
                    <a:pt x="1714500" y="0"/>
                    <a:pt x="1714500" y="0"/>
                    <a:pt x="3429000" y="0"/>
                  </a:cubicBezTo>
                </a:path>
              </a:pathLst>
            </a:custGeom>
            <a:noFill/>
            <a:ln w="1200150">
              <a:gradFill>
                <a:gsLst>
                  <a:gs pos="0">
                    <a:srgbClr val="8B5CF6">
                      <a:alpha val="45000"/>
                    </a:srgbClr>
                  </a:gs>
                  <a:gs pos="100000">
                    <a:srgbClr val="0EA5E9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858000" y="2588419"/>
              <a:ext cx="3429000" cy="2181225"/>
            </a:xfrm>
            <a:custGeom>
              <a:avLst/>
              <a:gdLst/>
              <a:ahLst/>
              <a:cxnLst/>
              <a:rect l="l" t="t" r="r" b="b"/>
              <a:pathLst>
                <a:path w="3429000" h="2181225">
                  <a:moveTo>
                    <a:pt x="0" y="0"/>
                  </a:moveTo>
                  <a:cubicBezTo>
                    <a:pt x="1714500" y="0"/>
                    <a:pt x="1714500" y="2181225"/>
                    <a:pt x="3429000" y="2181225"/>
                  </a:cubicBezTo>
                </a:path>
              </a:pathLst>
            </a:custGeom>
            <a:noFill/>
            <a:ln w="300038">
              <a:gradFill>
                <a:gsLst>
                  <a:gs pos="0">
                    <a:srgbClr val="8B5CF6">
                      <a:alpha val="45000"/>
                    </a:srgbClr>
                  </a:gs>
                  <a:gs pos="100000">
                    <a:srgbClr val="14B8A6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858000" y="2652712"/>
              <a:ext cx="3429000" cy="490538"/>
            </a:xfrm>
            <a:custGeom>
              <a:avLst/>
              <a:gdLst/>
              <a:ahLst/>
              <a:cxnLst/>
              <a:rect l="l" t="t" r="r" b="b"/>
              <a:pathLst>
                <a:path w="3429000" h="490538">
                  <a:moveTo>
                    <a:pt x="0" y="490538"/>
                  </a:moveTo>
                  <a:cubicBezTo>
                    <a:pt x="1714500" y="490538"/>
                    <a:pt x="1714500" y="0"/>
                    <a:pt x="3429000" y="0"/>
                  </a:cubicBezTo>
                </a:path>
              </a:pathLst>
            </a:custGeom>
            <a:noFill/>
            <a:ln w="428625">
              <a:gradFill>
                <a:gsLst>
                  <a:gs pos="0">
                    <a:srgbClr val="F43F5E">
                      <a:alpha val="45000"/>
                    </a:srgbClr>
                  </a:gs>
                  <a:gs pos="100000">
                    <a:srgbClr val="0EA5E9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858000" y="3786188"/>
              <a:ext cx="3429000" cy="214312"/>
            </a:xfrm>
            <a:custGeom>
              <a:avLst/>
              <a:gdLst/>
              <a:ahLst/>
              <a:cxnLst/>
              <a:rect l="l" t="t" r="r" b="b"/>
              <a:pathLst>
                <a:path w="3429000" h="214312">
                  <a:moveTo>
                    <a:pt x="0" y="0"/>
                  </a:moveTo>
                  <a:cubicBezTo>
                    <a:pt x="1714500" y="0"/>
                    <a:pt x="1714500" y="214312"/>
                    <a:pt x="3429000" y="214312"/>
                  </a:cubicBezTo>
                </a:path>
              </a:pathLst>
            </a:custGeom>
            <a:noFill/>
            <a:ln w="857250">
              <a:gradFill>
                <a:gsLst>
                  <a:gs pos="0">
                    <a:srgbClr val="F43F5E">
                      <a:alpha val="45000"/>
                    </a:srgbClr>
                  </a:gs>
                  <a:gs pos="100000">
                    <a:srgbClr val="EC4899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858000" y="3081338"/>
              <a:ext cx="3429000" cy="1538288"/>
            </a:xfrm>
            <a:custGeom>
              <a:avLst/>
              <a:gdLst/>
              <a:ahLst/>
              <a:cxnLst/>
              <a:rect l="l" t="t" r="r" b="b"/>
              <a:pathLst>
                <a:path w="3429000" h="1538288">
                  <a:moveTo>
                    <a:pt x="0" y="1538288"/>
                  </a:moveTo>
                  <a:cubicBezTo>
                    <a:pt x="1714500" y="1538288"/>
                    <a:pt x="1714500" y="0"/>
                    <a:pt x="3429000" y="0"/>
                  </a:cubicBezTo>
                </a:path>
              </a:pathLst>
            </a:custGeom>
            <a:noFill/>
            <a:ln w="428625">
              <a:gradFill>
                <a:gsLst>
                  <a:gs pos="0">
                    <a:srgbClr val="F59E0B">
                      <a:alpha val="45000"/>
                    </a:srgbClr>
                  </a:gs>
                  <a:gs pos="100000">
                    <a:srgbClr val="0EA5E9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858000" y="5112544"/>
              <a:ext cx="3429000" cy="85725"/>
            </a:xfrm>
            <a:custGeom>
              <a:avLst/>
              <a:gdLst/>
              <a:ahLst/>
              <a:cxnLst/>
              <a:rect l="l" t="t" r="r" b="b"/>
              <a:pathLst>
                <a:path w="3429000" h="85725">
                  <a:moveTo>
                    <a:pt x="0" y="0"/>
                  </a:moveTo>
                  <a:cubicBezTo>
                    <a:pt x="1714500" y="0"/>
                    <a:pt x="1714500" y="85725"/>
                    <a:pt x="3429000" y="85725"/>
                  </a:cubicBezTo>
                </a:path>
              </a:pathLst>
            </a:custGeom>
            <a:noFill/>
            <a:ln w="557212">
              <a:gradFill>
                <a:gsLst>
                  <a:gs pos="0">
                    <a:srgbClr val="F59E0B">
                      <a:alpha val="45000"/>
                    </a:srgbClr>
                  </a:gs>
                  <a:gs pos="100000">
                    <a:srgbClr val="14B8A6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858000" y="5424488"/>
              <a:ext cx="3429000" cy="285750"/>
            </a:xfrm>
            <a:custGeom>
              <a:avLst/>
              <a:gdLst/>
              <a:ahLst/>
              <a:cxnLst/>
              <a:rect l="l" t="t" r="r" b="b"/>
              <a:pathLst>
                <a:path w="3429000" h="285750">
                  <a:moveTo>
                    <a:pt x="0" y="0"/>
                  </a:moveTo>
                  <a:cubicBezTo>
                    <a:pt x="1714500" y="0"/>
                    <a:pt x="1714500" y="285750"/>
                    <a:pt x="3429000" y="285750"/>
                  </a:cubicBezTo>
                </a:path>
              </a:pathLst>
            </a:custGeom>
            <a:noFill/>
            <a:ln w="85725">
              <a:gradFill>
                <a:gsLst>
                  <a:gs pos="0">
                    <a:srgbClr val="F59E0B">
                      <a:alpha val="45000"/>
                    </a:srgbClr>
                  </a:gs>
                  <a:gs pos="100000">
                    <a:srgbClr val="78716C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858000" y="3338512"/>
              <a:ext cx="3429000" cy="2371725"/>
            </a:xfrm>
            <a:custGeom>
              <a:avLst/>
              <a:gdLst/>
              <a:ahLst/>
              <a:cxnLst/>
              <a:rect l="l" t="t" r="r" b="b"/>
              <a:pathLst>
                <a:path w="3429000" h="2371725">
                  <a:moveTo>
                    <a:pt x="0" y="2371725"/>
                  </a:moveTo>
                  <a:cubicBezTo>
                    <a:pt x="1714500" y="2371725"/>
                    <a:pt x="1714500" y="0"/>
                    <a:pt x="3429000" y="0"/>
                  </a:cubicBezTo>
                </a:path>
              </a:pathLst>
            </a:custGeom>
            <a:noFill/>
            <a:ln w="85725">
              <a:gradFill>
                <a:gsLst>
                  <a:gs pos="0">
                    <a:srgbClr val="64748B">
                      <a:alpha val="45000"/>
                    </a:srgbClr>
                  </a:gs>
                  <a:gs pos="100000">
                    <a:srgbClr val="0EA5E9">
                      <a:alpha val="45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858000" y="59245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cubicBezTo>
                    <a:pt x="1714500" y="0"/>
                    <a:pt x="1714500" y="0"/>
                    <a:pt x="3429000" y="0"/>
                  </a:cubicBezTo>
                </a:path>
              </a:pathLst>
            </a:custGeom>
            <a:noFill/>
            <a:ln w="342900">
              <a:gradFill>
                <a:gsLst>
                  <a:gs pos="0">
                    <a:srgbClr val="64748B">
                      <a:alpha val="45000"/>
                    </a:srgbClr>
                  </a:gs>
                  <a:gs pos="100000">
                    <a:srgbClr val="78716C">
                      <a:alpha val="4500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381000" y="1238250"/>
            <a:ext cx="1524000" cy="4667250"/>
            <a:chOff x="381000" y="1238250"/>
            <a:chExt cx="1524000" cy="4667250"/>
          </a:xfrm>
          <a:effectLst>
            <a:outerShdw blurRad="57150" dist="19050" dir="5400000" algn="ctr" rotWithShape="0">
              <a:srgbClr val="0F172A">
                <a:alpha val="1125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381000" y="1238250"/>
              <a:ext cx="1524000" cy="2571750"/>
            </a:xfrm>
            <a:custGeom>
              <a:avLst/>
              <a:gdLst/>
              <a:ahLst/>
              <a:cxnLst/>
              <a:rect l="l" t="t" r="r" b="b"/>
              <a:pathLst>
                <a:path w="1524000" h="257175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2533650"/>
                  </a:lnTo>
                  <a:cubicBezTo>
                    <a:pt x="1524000" y="2554692"/>
                    <a:pt x="1506942" y="2571750"/>
                    <a:pt x="1485900" y="2571750"/>
                  </a:cubicBezTo>
                  <a:lnTo>
                    <a:pt x="38100" y="2571750"/>
                  </a:lnTo>
                  <a:cubicBezTo>
                    <a:pt x="17058" y="2571750"/>
                    <a:pt x="0" y="2554692"/>
                    <a:pt x="0" y="2533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515884" y="2299335"/>
              <a:ext cx="1254233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Product Sales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407" y="2488882"/>
              <a:ext cx="649186" cy="3352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$60M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381000" y="4000500"/>
              <a:ext cx="1524000" cy="1285875"/>
            </a:xfrm>
            <a:custGeom>
              <a:avLst/>
              <a:gdLst/>
              <a:ahLst/>
              <a:cxnLst/>
              <a:rect l="l" t="t" r="r" b="b"/>
              <a:pathLst>
                <a:path w="1524000" h="1285875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1247775"/>
                  </a:lnTo>
                  <a:cubicBezTo>
                    <a:pt x="1524000" y="1268817"/>
                    <a:pt x="1506942" y="1285875"/>
                    <a:pt x="1485900" y="1285875"/>
                  </a:cubicBezTo>
                  <a:lnTo>
                    <a:pt x="38100" y="1285875"/>
                  </a:lnTo>
                  <a:cubicBezTo>
                    <a:pt x="17058" y="1285875"/>
                    <a:pt x="0" y="1268817"/>
                    <a:pt x="0" y="12477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</p:sp>
        <p:sp>
          <p:nvSpPr>
            <p:cNvPr id="31" name="TextBox 31"/>
            <p:cNvSpPr txBox="1"/>
            <p:nvPr/>
          </p:nvSpPr>
          <p:spPr>
            <a:xfrm>
              <a:off x="414671" y="4442460"/>
              <a:ext cx="1456658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Service Revenue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407" y="4632008"/>
              <a:ext cx="649186" cy="3352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$30M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381000" y="5476875"/>
              <a:ext cx="1524000" cy="428625"/>
            </a:xfrm>
            <a:custGeom>
              <a:avLst/>
              <a:gdLst/>
              <a:ahLst/>
              <a:cxnLst/>
              <a:rect l="l" t="t" r="r" b="b"/>
              <a:pathLst>
                <a:path w="1524000" h="428625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90525"/>
                  </a:lnTo>
                  <a:cubicBezTo>
                    <a:pt x="1524000" y="411567"/>
                    <a:pt x="1506942" y="428625"/>
                    <a:pt x="1485900" y="428625"/>
                  </a:cubicBezTo>
                  <a:lnTo>
                    <a:pt x="38100" y="428625"/>
                  </a:lnTo>
                  <a:cubicBezTo>
                    <a:pt x="17058" y="428625"/>
                    <a:pt x="0" y="411567"/>
                    <a:pt x="0" y="3905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</p:sp>
        <p:sp>
          <p:nvSpPr>
            <p:cNvPr id="34" name="TextBox 34"/>
            <p:cNvSpPr txBox="1"/>
            <p:nvPr/>
          </p:nvSpPr>
          <p:spPr>
            <a:xfrm>
              <a:off x="447252" y="5622131"/>
              <a:ext cx="1391495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Investment $10M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94062" y="1238250"/>
            <a:ext cx="1603877" cy="4857750"/>
            <a:chOff x="5294062" y="1238250"/>
            <a:chExt cx="1603877" cy="4857750"/>
          </a:xfrm>
          <a:effectLst>
            <a:outerShdw blurRad="57150" dist="19050" dir="5400000" algn="ctr" rotWithShape="0">
              <a:srgbClr val="0F172A">
                <a:alpha val="11250"/>
              </a:srgbClr>
            </a:outerShdw>
          </a:effectLst>
        </p:grpSpPr>
        <p:sp>
          <p:nvSpPr>
            <p:cNvPr id="36" name="Freeform 36"/>
            <p:cNvSpPr/>
            <p:nvPr/>
          </p:nvSpPr>
          <p:spPr>
            <a:xfrm>
              <a:off x="5334000" y="1238250"/>
              <a:ext cx="1524000" cy="1500188"/>
            </a:xfrm>
            <a:custGeom>
              <a:avLst/>
              <a:gdLst/>
              <a:ahLst/>
              <a:cxnLst/>
              <a:rect l="l" t="t" r="r" b="b"/>
              <a:pathLst>
                <a:path w="1524000" h="1500188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1462088"/>
                  </a:lnTo>
                  <a:cubicBezTo>
                    <a:pt x="1524000" y="1483130"/>
                    <a:pt x="1506942" y="1500188"/>
                    <a:pt x="1485900" y="1500188"/>
                  </a:cubicBezTo>
                  <a:lnTo>
                    <a:pt x="38100" y="1500188"/>
                  </a:lnTo>
                  <a:cubicBezTo>
                    <a:pt x="17058" y="1500188"/>
                    <a:pt x="0" y="1483130"/>
                    <a:pt x="0" y="1462088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</p:sp>
        <p:sp>
          <p:nvSpPr>
            <p:cNvPr id="37" name="TextBox 37"/>
            <p:cNvSpPr txBox="1"/>
            <p:nvPr/>
          </p:nvSpPr>
          <p:spPr>
            <a:xfrm>
              <a:off x="5928941" y="1794510"/>
              <a:ext cx="334118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R&amp;D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71407" y="1984058"/>
              <a:ext cx="649186" cy="3352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$35M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5334000" y="2928938"/>
              <a:ext cx="1524000" cy="1285875"/>
            </a:xfrm>
            <a:custGeom>
              <a:avLst/>
              <a:gdLst/>
              <a:ahLst/>
              <a:cxnLst/>
              <a:rect l="l" t="t" r="r" b="b"/>
              <a:pathLst>
                <a:path w="1524000" h="1285875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1247775"/>
                  </a:lnTo>
                  <a:cubicBezTo>
                    <a:pt x="1524000" y="1268817"/>
                    <a:pt x="1506942" y="1285875"/>
                    <a:pt x="1485900" y="1285875"/>
                  </a:cubicBezTo>
                  <a:lnTo>
                    <a:pt x="38100" y="1285875"/>
                  </a:lnTo>
                  <a:cubicBezTo>
                    <a:pt x="17058" y="1285875"/>
                    <a:pt x="0" y="1268817"/>
                    <a:pt x="0" y="12477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5294062" y="3375660"/>
              <a:ext cx="1603877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Sales &amp; Marketing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71407" y="3565208"/>
              <a:ext cx="649186" cy="3352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$30M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334000" y="4405312"/>
              <a:ext cx="1524000" cy="1071562"/>
            </a:xfrm>
            <a:custGeom>
              <a:avLst/>
              <a:gdLst/>
              <a:ahLst/>
              <a:cxnLst/>
              <a:rect l="l" t="t" r="r" b="b"/>
              <a:pathLst>
                <a:path w="1524000" h="1071562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1033462"/>
                  </a:lnTo>
                  <a:cubicBezTo>
                    <a:pt x="1524000" y="1054505"/>
                    <a:pt x="1506942" y="1071562"/>
                    <a:pt x="1485900" y="1071562"/>
                  </a:cubicBezTo>
                  <a:lnTo>
                    <a:pt x="38100" y="1071562"/>
                  </a:lnTo>
                  <a:cubicBezTo>
                    <a:pt x="17058" y="1071562"/>
                    <a:pt x="0" y="1054505"/>
                    <a:pt x="0" y="1033462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5579297" y="4747260"/>
              <a:ext cx="1033405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Operations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71407" y="4936808"/>
              <a:ext cx="649186" cy="3352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$25M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5334000" y="5667375"/>
              <a:ext cx="1524000" cy="428625"/>
            </a:xfrm>
            <a:custGeom>
              <a:avLst/>
              <a:gdLst/>
              <a:ahLst/>
              <a:cxnLst/>
              <a:rect l="l" t="t" r="r" b="b"/>
              <a:pathLst>
                <a:path w="1524000" h="428625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90525"/>
                  </a:lnTo>
                  <a:cubicBezTo>
                    <a:pt x="1524000" y="411567"/>
                    <a:pt x="1506942" y="428625"/>
                    <a:pt x="1485900" y="428625"/>
                  </a:cubicBezTo>
                  <a:lnTo>
                    <a:pt x="38100" y="428625"/>
                  </a:lnTo>
                  <a:cubicBezTo>
                    <a:pt x="17058" y="428625"/>
                    <a:pt x="0" y="411567"/>
                    <a:pt x="0" y="3905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</p:sp>
        <p:sp>
          <p:nvSpPr>
            <p:cNvPr id="46" name="TextBox 46"/>
            <p:cNvSpPr txBox="1"/>
            <p:nvPr/>
          </p:nvSpPr>
          <p:spPr>
            <a:xfrm>
              <a:off x="5637469" y="5812631"/>
              <a:ext cx="917061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Admin $10M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287000" y="1238250"/>
            <a:ext cx="1524000" cy="4857750"/>
            <a:chOff x="10287000" y="1238250"/>
            <a:chExt cx="1524000" cy="4857750"/>
          </a:xfrm>
          <a:effectLst>
            <a:outerShdw blurRad="57150" dist="19050" dir="5400000" algn="ctr" rotWithShape="0">
              <a:srgbClr val="0F172A">
                <a:alpha val="11250"/>
              </a:srgbClr>
            </a:outerShdw>
          </a:effectLst>
        </p:grpSpPr>
        <p:sp>
          <p:nvSpPr>
            <p:cNvPr id="48" name="Freeform 48"/>
            <p:cNvSpPr/>
            <p:nvPr/>
          </p:nvSpPr>
          <p:spPr>
            <a:xfrm>
              <a:off x="10287000" y="1238250"/>
              <a:ext cx="1524000" cy="2143125"/>
            </a:xfrm>
            <a:custGeom>
              <a:avLst/>
              <a:gdLst/>
              <a:ahLst/>
              <a:cxnLst/>
              <a:rect l="l" t="t" r="r" b="b"/>
              <a:pathLst>
                <a:path w="1524000" h="2143125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2105025"/>
                  </a:lnTo>
                  <a:cubicBezTo>
                    <a:pt x="1524000" y="2126067"/>
                    <a:pt x="1506942" y="2143125"/>
                    <a:pt x="1485900" y="2143125"/>
                  </a:cubicBezTo>
                  <a:lnTo>
                    <a:pt x="38100" y="2143125"/>
                  </a:lnTo>
                  <a:cubicBezTo>
                    <a:pt x="17058" y="2143125"/>
                    <a:pt x="0" y="2126067"/>
                    <a:pt x="0" y="21050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EA5E9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</p:sp>
        <p:sp>
          <p:nvSpPr>
            <p:cNvPr id="49" name="TextBox 49"/>
            <p:cNvSpPr txBox="1"/>
            <p:nvPr/>
          </p:nvSpPr>
          <p:spPr>
            <a:xfrm>
              <a:off x="10601306" y="2108835"/>
              <a:ext cx="895388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Personnel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24407" y="2298382"/>
              <a:ext cx="649186" cy="3352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$50M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0287000" y="3571875"/>
              <a:ext cx="1524000" cy="857250"/>
            </a:xfrm>
            <a:custGeom>
              <a:avLst/>
              <a:gdLst/>
              <a:ahLst/>
              <a:cxnLst/>
              <a:rect l="l" t="t" r="r" b="b"/>
              <a:pathLst>
                <a:path w="1524000" h="85725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819150"/>
                  </a:lnTo>
                  <a:cubicBezTo>
                    <a:pt x="1524000" y="840192"/>
                    <a:pt x="1506942" y="857250"/>
                    <a:pt x="1485900" y="857250"/>
                  </a:cubicBezTo>
                  <a:lnTo>
                    <a:pt x="38100" y="857250"/>
                  </a:lnTo>
                  <a:cubicBezTo>
                    <a:pt x="17058" y="857250"/>
                    <a:pt x="0" y="840192"/>
                    <a:pt x="0" y="819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C4899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</p:sp>
        <p:sp>
          <p:nvSpPr>
            <p:cNvPr id="52" name="TextBox 52"/>
            <p:cNvSpPr txBox="1"/>
            <p:nvPr/>
          </p:nvSpPr>
          <p:spPr>
            <a:xfrm>
              <a:off x="10582904" y="3804285"/>
              <a:ext cx="932193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Marketing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753916" y="4010025"/>
              <a:ext cx="590169" cy="3048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$20M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10287000" y="4619625"/>
              <a:ext cx="1524000" cy="857250"/>
            </a:xfrm>
            <a:custGeom>
              <a:avLst/>
              <a:gdLst/>
              <a:ahLst/>
              <a:cxnLst/>
              <a:rect l="l" t="t" r="r" b="b"/>
              <a:pathLst>
                <a:path w="1524000" h="857250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819150"/>
                  </a:lnTo>
                  <a:cubicBezTo>
                    <a:pt x="1524000" y="840192"/>
                    <a:pt x="1506942" y="857250"/>
                    <a:pt x="1485900" y="857250"/>
                  </a:cubicBezTo>
                  <a:lnTo>
                    <a:pt x="38100" y="857250"/>
                  </a:lnTo>
                  <a:cubicBezTo>
                    <a:pt x="17058" y="857250"/>
                    <a:pt x="0" y="840192"/>
                    <a:pt x="0" y="8191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4B8A6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</p:sp>
        <p:sp>
          <p:nvSpPr>
            <p:cNvPr id="55" name="TextBox 55"/>
            <p:cNvSpPr txBox="1"/>
            <p:nvPr/>
          </p:nvSpPr>
          <p:spPr>
            <a:xfrm>
              <a:off x="10348274" y="4852035"/>
              <a:ext cx="1401451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Infrastructure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753916" y="5057775"/>
              <a:ext cx="590169" cy="3048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$20M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10287000" y="5667375"/>
              <a:ext cx="1524000" cy="428625"/>
            </a:xfrm>
            <a:custGeom>
              <a:avLst/>
              <a:gdLst/>
              <a:ahLst/>
              <a:cxnLst/>
              <a:rect l="l" t="t" r="r" b="b"/>
              <a:pathLst>
                <a:path w="1524000" h="428625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390525"/>
                  </a:lnTo>
                  <a:cubicBezTo>
                    <a:pt x="1524000" y="411567"/>
                    <a:pt x="1506942" y="428625"/>
                    <a:pt x="1485900" y="428625"/>
                  </a:cubicBezTo>
                  <a:lnTo>
                    <a:pt x="38100" y="428625"/>
                  </a:lnTo>
                  <a:cubicBezTo>
                    <a:pt x="17058" y="428625"/>
                    <a:pt x="0" y="411567"/>
                    <a:pt x="0" y="3905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78716C"/>
            </a:solidFill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10568904" y="5812631"/>
              <a:ext cx="960191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Other $10M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81000" y="6238875"/>
            <a:ext cx="11430000" cy="476250"/>
            <a:chOff x="381000" y="6238875"/>
            <a:chExt cx="11430000" cy="476250"/>
          </a:xfrm>
        </p:grpSpPr>
        <p:sp>
          <p:nvSpPr>
            <p:cNvPr id="60" name="Freeform 60"/>
            <p:cNvSpPr/>
            <p:nvPr/>
          </p:nvSpPr>
          <p:spPr>
            <a:xfrm>
              <a:off x="381000" y="6238875"/>
              <a:ext cx="11430000" cy="476250"/>
            </a:xfrm>
            <a:custGeom>
              <a:avLst/>
              <a:gdLst/>
              <a:ahLst/>
              <a:cxnLst/>
              <a:rect l="l" t="t" r="r" b="b"/>
              <a:pathLst>
                <a:path w="11430000" h="4762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0050"/>
                  </a:lnTo>
                  <a:cubicBezTo>
                    <a:pt x="11430000" y="442134"/>
                    <a:pt x="11395884" y="476250"/>
                    <a:pt x="11353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11250"/>
                </a:srgbClr>
              </a:outerShdw>
            </a:effectLst>
          </p:spPr>
        </p:sp>
        <p:sp>
          <p:nvSpPr>
            <p:cNvPr id="61" name="TextBox 61"/>
            <p:cNvSpPr txBox="1"/>
            <p:nvPr/>
          </p:nvSpPr>
          <p:spPr>
            <a:xfrm>
              <a:off x="1055586" y="6419374"/>
              <a:ext cx="936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Total Budget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179870" y="6388418"/>
              <a:ext cx="5932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$100M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3048000" y="63341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03896" y="6419374"/>
              <a:ext cx="9742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Largest Dept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639844" y="6388418"/>
              <a:ext cx="1007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5CF6"/>
                  </a:solidFill>
                  <a:latin typeface="Segoe UI"/>
                  <a:ea typeface="Microsoft YaHei"/>
                  <a:cs typeface="Segoe UI"/>
                </a:rPr>
                <a:t>R&amp;D (35%)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5905500" y="63341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02513" y="6419374"/>
              <a:ext cx="891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Top Expense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72130" y="6388418"/>
              <a:ext cx="16387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EA5E9"/>
                  </a:solidFill>
                  <a:latin typeface="Segoe UI"/>
                  <a:ea typeface="Microsoft YaHei"/>
                  <a:cs typeface="Segoe UI"/>
                </a:rPr>
                <a:t>Personnel (50%)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8953500" y="63341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44925" y="6419374"/>
              <a:ext cx="13031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Operational Ratio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956309" y="6388418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25%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41972" y="301466"/>
            <a:ext cx="7332564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结论：先做快赢+底座，12周形成可量化收益。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1175385" y="3410902"/>
            <a:ext cx="98412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建议采用“2周评估、4周试点、6周推广”节奏推进。每页文本密度控制在 3-5 行关键句，避免长段堆砌；图表页统一结论先行并给出可执行动作。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31025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综合来源：业务访谈、生产系统、工单平台、财务系统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52500" y="952500"/>
            <a:ext cx="10287000" cy="4953000"/>
            <a:chOff x="952500" y="952500"/>
            <a:chExt cx="10287000" cy="4953000"/>
          </a:xfrm>
        </p:grpSpPr>
        <p:sp>
          <p:nvSpPr>
            <p:cNvPr id="4" name="Line 4"/>
            <p:cNvSpPr/>
            <p:nvPr/>
          </p:nvSpPr>
          <p:spPr>
            <a:xfrm>
              <a:off x="190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1905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3429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52500" y="4953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4464663" y="2213610"/>
            <a:ext cx="326267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14" name="Line 14"/>
          <p:cNvSpPr/>
          <p:nvPr/>
        </p:nvSpPr>
        <p:spPr>
          <a:xfrm>
            <a:off x="4762500" y="30480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D4AF3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629150" y="3441382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高质量成片对照版（精修）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4191000"/>
            <a:ext cx="3810000" cy="952500"/>
          </a:xfrm>
          <a:custGeom>
            <a:avLst/>
            <a:gdLst/>
            <a:ahLst/>
            <a:cxnLst/>
            <a:rect l="l" t="t" r="r" b="b"/>
            <a:pathLst>
              <a:path w="3810000" h="952500">
                <a:moveTo>
                  <a:pt x="76200" y="0"/>
                </a:moveTo>
                <a:lnTo>
                  <a:pt x="3733800" y="0"/>
                </a:lnTo>
                <a:cubicBezTo>
                  <a:pt x="3775884" y="0"/>
                  <a:pt x="3810000" y="34116"/>
                  <a:pt x="3810000" y="76200"/>
                </a:cubicBezTo>
                <a:lnTo>
                  <a:pt x="3810000" y="876300"/>
                </a:lnTo>
                <a:cubicBezTo>
                  <a:pt x="3810000" y="918384"/>
                  <a:pt x="3775884" y="952500"/>
                  <a:pt x="3733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123840" y="4537710"/>
            <a:ext cx="19443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PPT Master Native QA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38584" y="48396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ops@example.com</a:t>
            </a:r>
          </a:p>
        </p:txBody>
      </p:sp>
      <p:sp>
        <p:nvSpPr>
          <p:cNvPr id="19" name="Line 19"/>
          <p:cNvSpPr/>
          <p:nvPr/>
        </p:nvSpPr>
        <p:spPr>
          <a:xfrm>
            <a:off x="1905000" y="609600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022187" y="6387941"/>
            <a:ext cx="21476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 · 2026 HQ Refined Deck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
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png" ContentType="image/png"/>
  <Default Extension="jpg" ContentType="image/jpeg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notesSlides/_rels/notesSlide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.xml"/>
</Relationships>
</file>

<file path=ppt/notesSlides/_rels/notesSlide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.xml"/>
</Relationships>
</file>

<file path=ppt/notesSlides/_rels/notesSlide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3.xml"/>
</Relationships>
</file>

<file path=ppt/notesSlides/_rels/notesSlide4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4.xml"/>
</Relationships>
</file>

<file path=ppt/notesSlides/_rels/notesSlide5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5.xml"/>
</Relationships>
</file>

<file path=ppt/notesSlides/_rels/notesSlide6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6.xml"/>
</Relationships>
</file>

<file path=ppt/notesSlides/_rels/notesSlide7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7.xml"/>
</Relationships>
</file>

<file path=ppt/notesSlides/_rels/notesSlide8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8.xml"/>
</Relationships>
</file>

<file path=ppt/notesSlides/_rels/notesSlide9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9.xml"/>
</Relationships>
</file>

<file path=ppt/notesSlides/_rels/notesSlide10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0.xml"/>
</Relationships>
</file>

<file path=ppt/notesSlides/_rels/notesSlide1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1.xml"/>
</Relationships>
</file>

<file path=ppt/notesSlides/_rels/notesSlide1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2.xml"/>
</Relationships>
</file>

<file path=ppt/notesSlides/_rels/notesSlide1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3.xml"/>
</Relationships>
</file>

<file path=ppt/notesSlides/_rels/notesSlide14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4.xml"/>
</Relationships>
</file>

<file path=ppt/notesSlides/_rels/notesSlide15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5.xml"/>
</Relationships>
</file>

<file path=ppt/notesSlides/_rels/notesSlide16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6.xml"/>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• 封面页：说明主题“中海油数智平台建设与经营价值汇报”与汇报范围。</a:t>
            </a:r>
          </a:p>
          <a:p>
            <a:r>
              <a:rPr lang="zh-CN" dirty="0"/>
              <a:t>• 建议时长：60-90秒，突出“问题-举措-成效-计划”。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• 目录页：按三大章节展开汇报。</a:t>
            </a:r>
          </a:p>
          <a:p>
            <a:r>
              <a:rPr lang="zh-CN" dirty="0"/>
              <a:t>• 建议时长：60-90秒，突出“问题-举措-成效-计划”。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• 章节页：01 战略背景与关键问题。</a:t>
            </a:r>
          </a:p>
          <a:p>
            <a:r>
              <a:rPr lang="zh-CN" dirty="0"/>
              <a:t>• 建议时长：60-90秒，突出“问题-举措-成效-计划”。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• 内容页：外部趋势与建设窗口期（布局=atlas_triplet，图表=line_chart.svg），突出关键指标与执行建议。</a:t>
            </a:r>
          </a:p>
          <a:p>
            <a:r>
              <a:rPr lang="zh-CN" dirty="0"/>
              <a:t>• 建议时长：60-90秒，突出“问题-举措-成效-计划”。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• 内容页：现状痛点拆解与优先级矩阵（布局=dual_phase，图表=process_flow.svg），突出关键指标与执行建议。</a:t>
            </a:r>
          </a:p>
          <a:p>
            <a:r>
              <a:rPr lang="zh-CN" dirty="0"/>
              <a:t>• 建议时长：60-90秒，突出“问题-举措-成效-计划”。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• 章节页：02 能力架构与实施路径。</a:t>
            </a:r>
          </a:p>
          <a:p>
            <a:r>
              <a:rPr lang="zh-CN" dirty="0"/>
              <a:t>• 建议时长：60-90秒，突出“问题-举措-成效-计划”。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• 内容页：总体架构：数据底座-智能引擎-业务应用（布局=process，图表=layered_architecture.svg），突出关键指标与执行建议。</a:t>
            </a:r>
          </a:p>
          <a:p>
            <a:r>
              <a:rPr lang="zh-CN" dirty="0"/>
              <a:t>• 建议时长：60-90秒，突出“问题-举措-成效-计划”。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• 内容页：端到端流程与交付闭环（布局=dual_phase，图表=process_flow.svg），突出关键指标与执行建议。</a:t>
            </a:r>
          </a:p>
          <a:p>
            <a:r>
              <a:rPr lang="zh-CN" dirty="0"/>
              <a:t>• 建议时长：60-90秒，突出“问题-举措-成效-计划”。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• 章节页：03 试点成效与经营价值。</a:t>
            </a:r>
          </a:p>
          <a:p>
            <a:r>
              <a:rPr lang="zh-CN" dirty="0"/>
              <a:t>• 建议时长：60-90秒，突出“问题-举措-成效-计划”。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• 内容页：效率与质量趋势看板（布局=atlas_triplet，图表=line_chart.svg），突出关键指标与执行建议。</a:t>
            </a:r>
          </a:p>
          <a:p>
            <a:r>
              <a:rPr lang="zh-CN" dirty="0"/>
              <a:t>• 建议时长：60-90秒，突出“问题-举措-成效-计划”。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• 内容页：经营价值对比：投入与产出（布局=milestone_dashboard，图表=kpi_cards.svg），突出关键指标与执行建议。</a:t>
            </a:r>
          </a:p>
          <a:p>
            <a:r>
              <a:rPr lang="zh-CN" dirty="0"/>
              <a:t>• 建议时长：60-90秒，突出“问题-举措-成效-计划”。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• 内容页：典型场景案例：勘探开发协同（布局=process，图表=layered_architecture.svg），突出关键指标与执行建议。</a:t>
            </a:r>
          </a:p>
          <a:p>
            <a:r>
              <a:rPr lang="zh-CN" dirty="0"/>
              <a:t>• 建议时长：60-90秒，突出“问题-举措-成效-计划”。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• 章节页：04 规模化推广与治理保障。</a:t>
            </a:r>
          </a:p>
          <a:p>
            <a:r>
              <a:rPr lang="zh-CN" dirty="0"/>
              <a:t>• 建议时长：60-90秒，突出“问题-举措-成效-计划”。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• 内容页：三阶段路线图与里程碑（布局=timeline，图表=gantt_chart.svg），突出关键指标与执行建议。</a:t>
            </a:r>
          </a:p>
          <a:p>
            <a:r>
              <a:rPr lang="zh-CN" dirty="0"/>
              <a:t>• 建议时长：60-90秒，突出“问题-举措-成效-计划”。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• 内容页：治理机制与风险控制（布局=dual_phase，图表=process_flow.svg），突出关键指标与执行建议。</a:t>
            </a:r>
          </a:p>
          <a:p>
            <a:r>
              <a:rPr lang="zh-CN" dirty="0"/>
              <a:t>• 建议时长：60-90秒，突出“问题-举措-成效-计划”。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• 结尾页：总结结论并给出下一步行动建议。</a:t>
            </a:r>
          </a:p>
          <a:p>
            <a:r>
              <a:rPr lang="zh-CN" dirty="0"/>
              <a:t>• 建议时长：60-90秒，突出“问题-举措-成效-计划”。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s1_img1.png"/>
  <Relationship Id="rId3" Type="http://schemas.openxmlformats.org/officeDocument/2006/relationships/image" Target="../media/s1_img2.png"/>
  <Relationship Id="rId4" Type="http://schemas.openxmlformats.org/officeDocument/2006/relationships/notesSlide" Target="../notesSlides/notesSlide1.xml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s2_img1.png"/>
  <Relationship Id="rId3" Type="http://schemas.openxmlformats.org/officeDocument/2006/relationships/notesSlide" Target="../notesSlides/notesSlide2.xml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s3_img1.png"/>
  <Relationship Id="rId3" Type="http://schemas.openxmlformats.org/officeDocument/2006/relationships/notesSlide" Target="../notesSlides/notesSlide3.xml"/>
</Relationships>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s4_img1.png"/>
  <Relationship Id="rId3" Type="http://schemas.openxmlformats.org/officeDocument/2006/relationships/notesSlide" Target="../notesSlides/notesSlide4.xml"/>
</Relationships>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s4_img1.png"/>
  <Relationship Id="rId3" Type="http://schemas.openxmlformats.org/officeDocument/2006/relationships/notesSlide" Target="../notesSlides/notesSlide5.xml"/>
</Relationships>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s3_img1.png"/>
  <Relationship Id="rId3" Type="http://schemas.openxmlformats.org/officeDocument/2006/relationships/notesSlide" Target="../notesSlides/notesSlide6.xml"/>
</Relationships>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s4_img1.png"/>
  <Relationship Id="rId3" Type="http://schemas.openxmlformats.org/officeDocument/2006/relationships/notesSlide" Target="../notesSlides/notesSlide7.xml"/>
</Relationships>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s4_img1.png"/>
  <Relationship Id="rId3" Type="http://schemas.openxmlformats.org/officeDocument/2006/relationships/notesSlide" Target="../notesSlides/notesSlide8.xml"/>
</Relationships>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s3_img1.png"/>
  <Relationship Id="rId3" Type="http://schemas.openxmlformats.org/officeDocument/2006/relationships/notesSlide" Target="../notesSlides/notesSlide9.xml"/>
</Relationships>
</file>

<file path=ppt/slides/_rels/slide1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s4_img1.png"/>
  <Relationship Id="rId3" Type="http://schemas.openxmlformats.org/officeDocument/2006/relationships/notesSlide" Target="../notesSlides/notesSlide10.xml"/>
</Relationships>
</file>

<file path=ppt/slides/_rels/slide1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s4_img1.png"/>
  <Relationship Id="rId3" Type="http://schemas.openxmlformats.org/officeDocument/2006/relationships/notesSlide" Target="../notesSlides/notesSlide11.xml"/>
</Relationships>
</file>

<file path=ppt/slides/_rels/slide1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s4_img1.png"/>
  <Relationship Id="rId3" Type="http://schemas.openxmlformats.org/officeDocument/2006/relationships/notesSlide" Target="../notesSlides/notesSlide12.xml"/>
</Relationships>
</file>

<file path=ppt/slides/_rels/slide1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s3_img1.png"/>
  <Relationship Id="rId3" Type="http://schemas.openxmlformats.org/officeDocument/2006/relationships/notesSlide" Target="../notesSlides/notesSlide13.xml"/>
</Relationships>
</file>

<file path=ppt/slides/_rels/slide1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s4_img1.png"/>
  <Relationship Id="rId3" Type="http://schemas.openxmlformats.org/officeDocument/2006/relationships/notesSlide" Target="../notesSlides/notesSlide14.xml"/>
</Relationships>
</file>

<file path=ppt/slides/_rels/slide1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s4_img1.png"/>
  <Relationship Id="rId3" Type="http://schemas.openxmlformats.org/officeDocument/2006/relationships/notesSlide" Target="../notesSlides/notesSlide15.xml"/>
</Relationships>
</file>

<file path=ppt/slides/_rels/slide1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s16_img1.png"/>
  <Relationship Id="rId3" Type="http://schemas.openxmlformats.org/officeDocument/2006/relationships/notesSlide" Target="../notesSlides/notesSlide16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300" y="247650"/>
            <a:ext cx="1390650" cy="419100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662940" y="3025140"/>
            <a:ext cx="11899392" cy="975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480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中海油数智平台建设与经营价值汇报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83895" y="3755708"/>
            <a:ext cx="8775097" cy="640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150" b="1" dirty="0">
                <a:solidFill>
                  <a:srgbClr val="EAF2F9"/>
                </a:solidFill>
                <a:latin typeface="Microsoft YaHei"/>
                <a:ea typeface="Microsoft YaHei"/>
                <a:cs typeface="Microsoft YaHei"/>
              </a:rPr>
              <a:t>受控脚本 + 内容自适应版式渲染（16页）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95325" y="4291012"/>
            <a:ext cx="5643562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dirty="0">
                <a:solidFill>
                  <a:srgbClr val="DDEAF6"/>
                </a:solidFill>
                <a:latin typeface="Microsoft YaHei"/>
                <a:ea typeface="Microsoft YaHei"/>
                <a:cs typeface="Microsoft YaHei"/>
              </a:rPr>
              <a:t>汇报单位：中海油研究总院数智研究院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695325" y="4672012"/>
            <a:ext cx="3507581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dirty="0">
                <a:solidFill>
                  <a:srgbClr val="DDEAF6"/>
                </a:solidFill>
                <a:latin typeface="Microsoft YaHei"/>
                <a:ea typeface="Microsoft YaHei"/>
                <a:cs typeface="Microsoft YaHei"/>
              </a:rPr>
              <a:t>汇报日期：2026-05-03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5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5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3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4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7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  <p:bldP spid="6" grpId="0"/>
      <p:bldP spid="7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72" y="0"/>
            <a:ext cx="12174855" cy="6858000"/>
          </a:xfrm>
          <a:prstGeom prst="rect">
            <a:avLst/>
          </a:prstGeom>
        </p:spPr>
      </p:pic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6000"/>
            </a:srgbClr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 rot="5400000">
            <a:off x="104394" y="1642110"/>
            <a:ext cx="3765042" cy="1097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5400" dirty="0">
                <a:solidFill>
                  <a:srgbClr val="E3E8ED"/>
                </a:solidFill>
                <a:latin typeface="Arial"/>
                <a:ea typeface="Microsoft YaHei"/>
                <a:cs typeface="Arial"/>
              </a:rPr>
              <a:t>CONTENTS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2008680" y="2415540"/>
            <a:ext cx="1126141" cy="1280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6300" b="1" dirty="0">
                <a:solidFill>
                  <a:srgbClr val="004C8B"/>
                </a:solidFill>
                <a:latin typeface="Microsoft YaHei"/>
                <a:ea typeface="Microsoft YaHei"/>
                <a:cs typeface="Microsoft YaHei"/>
              </a:rPr>
              <a:t>目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2008680" y="3320415"/>
            <a:ext cx="1126141" cy="1280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6300" b="1" dirty="0">
                <a:solidFill>
                  <a:srgbClr val="004C8B"/>
                </a:solidFill>
                <a:latin typeface="Microsoft YaHei"/>
                <a:ea typeface="Microsoft YaHei"/>
                <a:cs typeface="Microsoft YaHei"/>
              </a:rPr>
              <a:t>录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4417695" y="1974532"/>
            <a:ext cx="724236" cy="944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4650" b="1" dirty="0">
                <a:solidFill>
                  <a:srgbClr val="004C8B"/>
                </a:solidFill>
                <a:latin typeface="Arial"/>
                <a:ea typeface="Microsoft YaHei"/>
                <a:cs typeface="Arial"/>
              </a:rPr>
              <a:t>01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5661660" y="2023110"/>
            <a:ext cx="5903405" cy="8534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4200" b="1" dirty="0">
                <a:solidFill>
                  <a:srgbClr val="004C8B"/>
                </a:solidFill>
                <a:latin typeface="Microsoft YaHei"/>
                <a:ea typeface="Microsoft YaHei"/>
                <a:cs typeface="Microsoft YaHei"/>
              </a:rPr>
              <a:t>战略背景与关键问题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4417695" y="2927032"/>
            <a:ext cx="902508" cy="944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4650" b="1" dirty="0">
                <a:solidFill>
                  <a:srgbClr val="004C8B"/>
                </a:solidFill>
                <a:latin typeface="Arial"/>
                <a:ea typeface="Microsoft YaHei"/>
                <a:cs typeface="Arial"/>
              </a:rPr>
              <a:t>02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5661660" y="2975610"/>
            <a:ext cx="5903405" cy="8534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4200" b="1" dirty="0">
                <a:solidFill>
                  <a:srgbClr val="004C8B"/>
                </a:solidFill>
                <a:latin typeface="Microsoft YaHei"/>
                <a:ea typeface="Microsoft YaHei"/>
                <a:cs typeface="Microsoft YaHei"/>
              </a:rPr>
              <a:t>能力架构与实施路径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4417695" y="3879532"/>
            <a:ext cx="902508" cy="944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4650" b="1" dirty="0">
                <a:solidFill>
                  <a:srgbClr val="004C8B"/>
                </a:solidFill>
                <a:latin typeface="Arial"/>
                <a:ea typeface="Microsoft YaHei"/>
                <a:cs typeface="Arial"/>
              </a:rPr>
              <a:t>03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5661660" y="3928110"/>
            <a:ext cx="5903405" cy="8534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4200" b="1" dirty="0">
                <a:solidFill>
                  <a:srgbClr val="004C8B"/>
                </a:solidFill>
                <a:latin typeface="Microsoft YaHei"/>
                <a:ea typeface="Microsoft YaHei"/>
                <a:cs typeface="Microsoft YaHei"/>
              </a:rPr>
              <a:t>试点成效与经营价值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72" y="0"/>
            <a:ext cx="12099608" cy="6858000"/>
          </a:xfrm>
          <a:prstGeom prst="rect">
            <a:avLst/>
          </a:prstGeom>
        </p:spPr>
      </p:pic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4000"/>
            </a:srgbClr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231590" y="1868805"/>
            <a:ext cx="1728821" cy="22555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100" b="1" dirty="0">
                <a:solidFill>
                  <a:srgbClr val="004C8B"/>
                </a:solidFill>
                <a:latin typeface="Arial"/>
                <a:ea typeface="Microsoft YaHei"/>
                <a:cs typeface="Arial"/>
              </a:rPr>
              <a:t>01</a:t>
            </a:r>
          </a:p>
        </p:txBody>
      </p:sp>
      <p:sp>
        <p:nvSpPr>
          <p:cNvPr id="5" name="Line 5"/>
          <p:cNvSpPr/>
          <p:nvPr/>
        </p:nvSpPr>
        <p:spPr>
          <a:xfrm>
            <a:off x="3981450" y="3638550"/>
            <a:ext cx="1524000" cy="9525"/>
          </a:xfrm>
          <a:custGeom>
            <a:avLst/>
            <a:gdLst/>
            <a:ahLst/>
            <a:cxnLst/>
            <a:rect l="l" t="t" r="r" b="b"/>
            <a:pathLst>
              <a:path w="1524000" h="9525">
                <a:moveTo>
                  <a:pt x="0" y="0"/>
                </a:moveTo>
                <a:lnTo>
                  <a:pt x="1524000" y="0"/>
                </a:lnTo>
              </a:path>
            </a:pathLst>
          </a:custGeom>
          <a:noFill/>
          <a:ln w="38100">
            <a:solidFill>
              <a:srgbClr val="0074CC"/>
            </a:solidFill>
          </a:ln>
        </p:spPr>
      </p:sp>
      <p:sp>
        <p:nvSpPr>
          <p:cNvPr id="6" name="Line 6"/>
          <p:cNvSpPr/>
          <p:nvPr/>
        </p:nvSpPr>
        <p:spPr>
          <a:xfrm>
            <a:off x="5505450" y="3638550"/>
            <a:ext cx="1181100" cy="9525"/>
          </a:xfrm>
          <a:custGeom>
            <a:avLst/>
            <a:gdLst/>
            <a:ahLst/>
            <a:cxnLst/>
            <a:rect l="l" t="t" r="r" b="b"/>
            <a:pathLst>
              <a:path w="1181100" h="9525">
                <a:moveTo>
                  <a:pt x="0" y="0"/>
                </a:moveTo>
                <a:lnTo>
                  <a:pt x="1181100" y="0"/>
                </a:lnTo>
              </a:path>
            </a:pathLst>
          </a:custGeom>
          <a:noFill/>
          <a:ln w="38100">
            <a:solidFill>
              <a:srgbClr val="DE002B"/>
            </a:solidFill>
          </a:ln>
        </p:spPr>
      </p:sp>
      <p:sp>
        <p:nvSpPr>
          <p:cNvPr id="7" name="Line 7"/>
          <p:cNvSpPr/>
          <p:nvPr/>
        </p:nvSpPr>
        <p:spPr>
          <a:xfrm>
            <a:off x="6686550" y="3638550"/>
            <a:ext cx="1524000" cy="9525"/>
          </a:xfrm>
          <a:custGeom>
            <a:avLst/>
            <a:gdLst/>
            <a:ahLst/>
            <a:cxnLst/>
            <a:rect l="l" t="t" r="r" b="b"/>
            <a:pathLst>
              <a:path w="1524000" h="9525">
                <a:moveTo>
                  <a:pt x="0" y="0"/>
                </a:moveTo>
                <a:lnTo>
                  <a:pt x="1524000" y="0"/>
                </a:lnTo>
              </a:path>
            </a:pathLst>
          </a:custGeom>
          <a:noFill/>
          <a:ln w="38100">
            <a:solidFill>
              <a:srgbClr val="0074CC"/>
            </a:solidFill>
          </a:ln>
        </p:spPr>
      </p:sp>
      <p:sp>
        <p:nvSpPr>
          <p:cNvPr id="8" name="TextBox 8"/>
          <p:cNvSpPr txBox="1"/>
          <p:nvPr/>
        </p:nvSpPr>
        <p:spPr>
          <a:xfrm>
            <a:off x="1879282" y="4095750"/>
            <a:ext cx="8433435" cy="1219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6000" b="1" dirty="0">
                <a:solidFill>
                  <a:srgbClr val="004C8B"/>
                </a:solidFill>
                <a:latin typeface="Microsoft YaHei"/>
                <a:ea typeface="Microsoft YaHei"/>
                <a:cs typeface="Microsoft YaHei"/>
              </a:rPr>
              <a:t>战略背景与关键问题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4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5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3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2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27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400"/>
                            </p:stCondLst>
                            <p:childTnLst>
                              <p:par>
                                <p:cTn id="29" presetID="2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31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  <p:bldP spid="6" grpId="0"/>
      <p:bldP spid="7" grpId="0"/>
      <p:bldP spid="8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55" y="0"/>
            <a:ext cx="12151042" cy="6858000"/>
          </a:xfrm>
          <a:prstGeom prst="rect">
            <a:avLst/>
          </a:prstGeom>
        </p:spPr>
      </p:pic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4000"/>
            </a:srgbClr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346710" y="489585"/>
            <a:ext cx="4209098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004C8B"/>
                </a:solidFill>
                <a:latin typeface="Microsoft YaHei"/>
                <a:ea typeface="Microsoft YaHei"/>
                <a:cs typeface="Microsoft YaHei"/>
              </a:rPr>
              <a:t>外部趋势与建设窗口期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358140" y="1120140"/>
            <a:ext cx="12467272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004C8B"/>
                </a:solidFill>
                <a:latin typeface="Microsoft YaHei"/>
                <a:ea typeface="Microsoft YaHei"/>
                <a:cs typeface="Microsoft YaHei"/>
              </a:rPr>
              <a:t>行业进入数智一体化深水区，管理层关注效率、质量、风险三重目标，需建立统一平台承接趋势变化。</a:t>
            </a:r>
          </a:p>
        </p:txBody>
      </p:sp>
      <p:sp>
        <p:nvSpPr>
          <p:cNvPr id="6" name="Freeform 6"/>
          <p:cNvSpPr/>
          <p:nvPr/>
        </p:nvSpPr>
        <p:spPr>
          <a:xfrm>
            <a:off x="400050" y="1562100"/>
            <a:ext cx="11391900" cy="4762500"/>
          </a:xfrm>
          <a:custGeom>
            <a:avLst/>
            <a:gdLst/>
            <a:ahLst/>
            <a:cxnLst/>
            <a:rect l="l" t="t" r="r" b="b"/>
            <a:pathLst>
              <a:path w="11391900" h="4762500">
                <a:moveTo>
                  <a:pt x="171450" y="0"/>
                </a:moveTo>
                <a:lnTo>
                  <a:pt x="11220450" y="0"/>
                </a:lnTo>
                <a:cubicBezTo>
                  <a:pt x="11315139" y="0"/>
                  <a:pt x="11391900" y="76761"/>
                  <a:pt x="11391900" y="171450"/>
                </a:cubicBezTo>
                <a:lnTo>
                  <a:pt x="11391900" y="4591050"/>
                </a:lnTo>
                <a:cubicBezTo>
                  <a:pt x="11391900" y="4685739"/>
                  <a:pt x="11315139" y="4762500"/>
                  <a:pt x="11220450" y="4762500"/>
                </a:cubicBezTo>
                <a:lnTo>
                  <a:pt x="171450" y="4762500"/>
                </a:lnTo>
                <a:cubicBezTo>
                  <a:pt x="76761" y="4762500"/>
                  <a:pt x="0" y="4685739"/>
                  <a:pt x="0" y="4591050"/>
                </a:cubicBezTo>
                <a:lnTo>
                  <a:pt x="0" y="171450"/>
                </a:lnTo>
                <a:cubicBezTo>
                  <a:pt x="0" y="76761"/>
                  <a:pt x="76761" y="0"/>
                  <a:pt x="171450" y="0"/>
                </a:cubicBezTo>
                <a:close/>
              </a:path>
            </a:pathLst>
          </a:custGeom>
          <a:solidFill>
            <a:srgbClr val="FFFFFF">
              <a:alpha val="90000"/>
            </a:srgbClr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697230" y="1830705"/>
            <a:ext cx="2887294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1D4E79"/>
                </a:solidFill>
                <a:latin typeface="Microsoft YaHei"/>
                <a:ea typeface="Microsoft YaHei"/>
                <a:cs typeface="Microsoft YaHei"/>
              </a:rPr>
              <a:t>① Deepwater Atlas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4183380" y="1830705"/>
            <a:ext cx="2887294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2C7BC0"/>
                </a:solidFill>
                <a:latin typeface="Microsoft YaHei"/>
                <a:ea typeface="Microsoft YaHei"/>
                <a:cs typeface="Microsoft YaHei"/>
              </a:rPr>
              <a:t>② Deepwater Titan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898130" y="1830705"/>
            <a:ext cx="1615235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4CB3E6"/>
                </a:solidFill>
                <a:latin typeface="Microsoft YaHei"/>
                <a:ea typeface="Microsoft YaHei"/>
                <a:cs typeface="Microsoft YaHei"/>
              </a:rPr>
              <a:t>③ 核心参数</a:t>
            </a:r>
          </a:p>
        </p:txBody>
      </p:sp>
      <p:sp>
        <p:nvSpPr>
          <p:cNvPr id="10" name="Line 10"/>
          <p:cNvSpPr/>
          <p:nvPr/>
        </p:nvSpPr>
        <p:spPr>
          <a:xfrm>
            <a:off x="2857500" y="1952625"/>
            <a:ext cx="895350" cy="9525"/>
          </a:xfrm>
          <a:custGeom>
            <a:avLst/>
            <a:gdLst/>
            <a:ahLst/>
            <a:cxnLst/>
            <a:rect l="l" t="t" r="r" b="b"/>
            <a:pathLst>
              <a:path w="895350" h="9525">
                <a:moveTo>
                  <a:pt x="0" y="0"/>
                </a:moveTo>
                <a:lnTo>
                  <a:pt x="895350" y="0"/>
                </a:lnTo>
              </a:path>
            </a:pathLst>
          </a:custGeom>
          <a:noFill/>
          <a:ln w="38100">
            <a:solidFill>
              <a:srgbClr val="2C7BC0"/>
            </a:solidFill>
          </a:ln>
        </p:spPr>
      </p:sp>
      <p:sp>
        <p:nvSpPr>
          <p:cNvPr id="11" name="Line 11"/>
          <p:cNvSpPr/>
          <p:nvPr/>
        </p:nvSpPr>
        <p:spPr>
          <a:xfrm>
            <a:off x="6610350" y="1952625"/>
            <a:ext cx="857250" cy="9525"/>
          </a:xfrm>
          <a:custGeom>
            <a:avLst/>
            <a:gdLst/>
            <a:ahLst/>
            <a:cxnLst/>
            <a:rect l="l" t="t" r="r" b="b"/>
            <a:pathLst>
              <a:path w="857250" h="9525">
                <a:moveTo>
                  <a:pt x="0" y="0"/>
                </a:moveTo>
                <a:lnTo>
                  <a:pt x="857250" y="0"/>
                </a:lnTo>
              </a:path>
            </a:pathLst>
          </a:custGeom>
          <a:noFill/>
          <a:ln w="38100">
            <a:solidFill>
              <a:srgbClr val="4CB3E6"/>
            </a:solidFill>
          </a:ln>
        </p:spPr>
      </p:sp>
      <p:sp>
        <p:nvSpPr>
          <p:cNvPr id="12" name="Freeform 12"/>
          <p:cNvSpPr/>
          <p:nvPr/>
        </p:nvSpPr>
        <p:spPr>
          <a:xfrm>
            <a:off x="514350" y="2247900"/>
            <a:ext cx="3524250" cy="1809750"/>
          </a:xfrm>
          <a:custGeom>
            <a:avLst/>
            <a:gdLst/>
            <a:ahLst/>
            <a:cxnLst/>
            <a:rect l="l" t="t" r="r" b="b"/>
            <a:pathLst>
              <a:path w="3524250" h="1809750">
                <a:moveTo>
                  <a:pt x="114300" y="0"/>
                </a:moveTo>
                <a:lnTo>
                  <a:pt x="3409950" y="0"/>
                </a:lnTo>
                <a:cubicBezTo>
                  <a:pt x="3473076" y="0"/>
                  <a:pt x="3524250" y="51174"/>
                  <a:pt x="3524250" y="114300"/>
                </a:cubicBezTo>
                <a:lnTo>
                  <a:pt x="3524250" y="1695450"/>
                </a:lnTo>
                <a:cubicBezTo>
                  <a:pt x="3524250" y="1758576"/>
                  <a:pt x="3473076" y="1809750"/>
                  <a:pt x="3409950" y="1809750"/>
                </a:cubicBezTo>
                <a:lnTo>
                  <a:pt x="114300" y="1809750"/>
                </a:lnTo>
                <a:cubicBezTo>
                  <a:pt x="51174" y="1809750"/>
                  <a:pt x="0" y="1758576"/>
                  <a:pt x="0" y="169545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2C7BC0"/>
            </a:solidFill>
          </a:ln>
        </p:spPr>
      </p:sp>
      <p:sp>
        <p:nvSpPr>
          <p:cNvPr id="13" name="Freeform 13"/>
          <p:cNvSpPr/>
          <p:nvPr/>
        </p:nvSpPr>
        <p:spPr>
          <a:xfrm>
            <a:off x="514350" y="2247900"/>
            <a:ext cx="3524250" cy="400050"/>
          </a:xfrm>
          <a:custGeom>
            <a:avLst/>
            <a:gdLst/>
            <a:ahLst/>
            <a:cxnLst/>
            <a:rect l="l" t="t" r="r" b="b"/>
            <a:pathLst>
              <a:path w="3524250" h="400050">
                <a:moveTo>
                  <a:pt x="114300" y="0"/>
                </a:moveTo>
                <a:lnTo>
                  <a:pt x="3409950" y="0"/>
                </a:lnTo>
                <a:cubicBezTo>
                  <a:pt x="3473076" y="0"/>
                  <a:pt x="3524250" y="51174"/>
                  <a:pt x="3524250" y="114300"/>
                </a:cubicBezTo>
                <a:lnTo>
                  <a:pt x="3524250" y="285750"/>
                </a:lnTo>
                <a:cubicBezTo>
                  <a:pt x="3524250" y="348876"/>
                  <a:pt x="3473076" y="400050"/>
                  <a:pt x="3409950" y="400050"/>
                </a:cubicBezTo>
                <a:lnTo>
                  <a:pt x="114300" y="400050"/>
                </a:lnTo>
                <a:cubicBezTo>
                  <a:pt x="51174" y="400050"/>
                  <a:pt x="0" y="348876"/>
                  <a:pt x="0" y="28575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18366B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849630" y="2306955"/>
            <a:ext cx="2613560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Deepwater Atlas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97230" y="2878455"/>
            <a:ext cx="4607909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dirty="0">
                <a:solidFill>
                  <a:srgbClr val="0F3E68"/>
                </a:solidFill>
                <a:latin typeface="Microsoft YaHei"/>
                <a:ea typeface="Microsoft YaHei"/>
                <a:cs typeface="Microsoft YaHei"/>
              </a:rPr>
              <a:t>· 趋势：业务增长与风险约束并行</a:t>
            </a:r>
          </a:p>
        </p:txBody>
      </p:sp>
      <p:sp>
        <p:nvSpPr>
          <p:cNvPr id="16" name="Freeform 16"/>
          <p:cNvSpPr/>
          <p:nvPr/>
        </p:nvSpPr>
        <p:spPr>
          <a:xfrm>
            <a:off x="4133850" y="2247900"/>
            <a:ext cx="3524250" cy="1809750"/>
          </a:xfrm>
          <a:custGeom>
            <a:avLst/>
            <a:gdLst/>
            <a:ahLst/>
            <a:cxnLst/>
            <a:rect l="l" t="t" r="r" b="b"/>
            <a:pathLst>
              <a:path w="3524250" h="1809750">
                <a:moveTo>
                  <a:pt x="114300" y="0"/>
                </a:moveTo>
                <a:lnTo>
                  <a:pt x="3409950" y="0"/>
                </a:lnTo>
                <a:cubicBezTo>
                  <a:pt x="3473076" y="0"/>
                  <a:pt x="3524250" y="51174"/>
                  <a:pt x="3524250" y="114300"/>
                </a:cubicBezTo>
                <a:lnTo>
                  <a:pt x="3524250" y="1695450"/>
                </a:lnTo>
                <a:cubicBezTo>
                  <a:pt x="3524250" y="1758576"/>
                  <a:pt x="3473076" y="1809750"/>
                  <a:pt x="3409950" y="1809750"/>
                </a:cubicBezTo>
                <a:lnTo>
                  <a:pt x="114300" y="1809750"/>
                </a:lnTo>
                <a:cubicBezTo>
                  <a:pt x="51174" y="1809750"/>
                  <a:pt x="0" y="1758576"/>
                  <a:pt x="0" y="169545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2C7BC0"/>
            </a:solidFill>
          </a:ln>
        </p:spPr>
      </p:sp>
      <p:sp>
        <p:nvSpPr>
          <p:cNvPr id="17" name="Freeform 17"/>
          <p:cNvSpPr/>
          <p:nvPr/>
        </p:nvSpPr>
        <p:spPr>
          <a:xfrm>
            <a:off x="4133850" y="2247900"/>
            <a:ext cx="3524250" cy="400050"/>
          </a:xfrm>
          <a:custGeom>
            <a:avLst/>
            <a:gdLst/>
            <a:ahLst/>
            <a:cxnLst/>
            <a:rect l="l" t="t" r="r" b="b"/>
            <a:pathLst>
              <a:path w="3524250" h="400050">
                <a:moveTo>
                  <a:pt x="114300" y="0"/>
                </a:moveTo>
                <a:lnTo>
                  <a:pt x="3409950" y="0"/>
                </a:lnTo>
                <a:cubicBezTo>
                  <a:pt x="3473076" y="0"/>
                  <a:pt x="3524250" y="51174"/>
                  <a:pt x="3524250" y="114300"/>
                </a:cubicBezTo>
                <a:lnTo>
                  <a:pt x="3524250" y="285750"/>
                </a:lnTo>
                <a:cubicBezTo>
                  <a:pt x="3524250" y="348876"/>
                  <a:pt x="3473076" y="400050"/>
                  <a:pt x="3409950" y="400050"/>
                </a:cubicBezTo>
                <a:lnTo>
                  <a:pt x="114300" y="400050"/>
                </a:lnTo>
                <a:cubicBezTo>
                  <a:pt x="51174" y="400050"/>
                  <a:pt x="0" y="348876"/>
                  <a:pt x="0" y="28575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3D74B8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4469130" y="2306955"/>
            <a:ext cx="2613560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Deepwater Titan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4316730" y="2878455"/>
            <a:ext cx="5221319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dirty="0">
                <a:solidFill>
                  <a:srgbClr val="0F3E68"/>
                </a:solidFill>
                <a:latin typeface="Microsoft YaHei"/>
                <a:ea typeface="Microsoft YaHei"/>
                <a:cs typeface="Microsoft YaHei"/>
              </a:rPr>
              <a:t>· 对比：传统模式周期长、协同成本高</a:t>
            </a:r>
          </a:p>
        </p:txBody>
      </p:sp>
      <p:sp>
        <p:nvSpPr>
          <p:cNvPr id="20" name="Freeform 20"/>
          <p:cNvSpPr/>
          <p:nvPr/>
        </p:nvSpPr>
        <p:spPr>
          <a:xfrm>
            <a:off x="7753350" y="2247900"/>
            <a:ext cx="3905250" cy="1809750"/>
          </a:xfrm>
          <a:custGeom>
            <a:avLst/>
            <a:gdLst/>
            <a:ahLst/>
            <a:cxnLst/>
            <a:rect l="l" t="t" r="r" b="b"/>
            <a:pathLst>
              <a:path w="3905250" h="1809750">
                <a:moveTo>
                  <a:pt x="114300" y="0"/>
                </a:moveTo>
                <a:lnTo>
                  <a:pt x="3790950" y="0"/>
                </a:lnTo>
                <a:cubicBezTo>
                  <a:pt x="3854076" y="0"/>
                  <a:pt x="3905250" y="51174"/>
                  <a:pt x="3905250" y="114300"/>
                </a:cubicBezTo>
                <a:lnTo>
                  <a:pt x="3905250" y="1695450"/>
                </a:lnTo>
                <a:cubicBezTo>
                  <a:pt x="3905250" y="1758576"/>
                  <a:pt x="3854076" y="1809750"/>
                  <a:pt x="3790950" y="1809750"/>
                </a:cubicBezTo>
                <a:lnTo>
                  <a:pt x="114300" y="1809750"/>
                </a:lnTo>
                <a:cubicBezTo>
                  <a:pt x="51174" y="1809750"/>
                  <a:pt x="0" y="1758576"/>
                  <a:pt x="0" y="169545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5BB6E4"/>
            </a:solidFill>
          </a:ln>
        </p:spPr>
      </p:sp>
      <p:sp>
        <p:nvSpPr>
          <p:cNvPr id="21" name="Freeform 21"/>
          <p:cNvSpPr/>
          <p:nvPr/>
        </p:nvSpPr>
        <p:spPr>
          <a:xfrm>
            <a:off x="7753350" y="2247900"/>
            <a:ext cx="3905250" cy="400050"/>
          </a:xfrm>
          <a:custGeom>
            <a:avLst/>
            <a:gdLst/>
            <a:ahLst/>
            <a:cxnLst/>
            <a:rect l="l" t="t" r="r" b="b"/>
            <a:pathLst>
              <a:path w="3905250" h="400050">
                <a:moveTo>
                  <a:pt x="114300" y="0"/>
                </a:moveTo>
                <a:lnTo>
                  <a:pt x="3790950" y="0"/>
                </a:lnTo>
                <a:cubicBezTo>
                  <a:pt x="3854076" y="0"/>
                  <a:pt x="3905250" y="51174"/>
                  <a:pt x="3905250" y="114300"/>
                </a:cubicBezTo>
                <a:lnTo>
                  <a:pt x="3905250" y="285750"/>
                </a:lnTo>
                <a:cubicBezTo>
                  <a:pt x="3905250" y="348876"/>
                  <a:pt x="3854076" y="400050"/>
                  <a:pt x="3790950" y="400050"/>
                </a:cubicBezTo>
                <a:lnTo>
                  <a:pt x="114300" y="400050"/>
                </a:lnTo>
                <a:cubicBezTo>
                  <a:pt x="51174" y="400050"/>
                  <a:pt x="0" y="348876"/>
                  <a:pt x="0" y="28575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69C0EA"/>
          </a:solidFill>
          <a:ln>
            <a:noFill/>
          </a:ln>
        </p:spPr>
      </p:sp>
      <p:sp>
        <p:nvSpPr>
          <p:cNvPr id="22" name="TextBox 22"/>
          <p:cNvSpPr txBox="1"/>
          <p:nvPr/>
        </p:nvSpPr>
        <p:spPr>
          <a:xfrm>
            <a:off x="8088630" y="2306955"/>
            <a:ext cx="1985581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核心参数指标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7936230" y="2878455"/>
            <a:ext cx="4914614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dirty="0">
                <a:solidFill>
                  <a:srgbClr val="0F3E68"/>
                </a:solidFill>
                <a:latin typeface="Microsoft YaHei"/>
                <a:ea typeface="Microsoft YaHei"/>
                <a:cs typeface="Microsoft YaHei"/>
              </a:rPr>
              <a:t>· 目标：形成统一数据与智能体底座</a:t>
            </a:r>
          </a:p>
        </p:txBody>
      </p:sp>
      <p:sp>
        <p:nvSpPr>
          <p:cNvPr id="24" name="Freeform 24"/>
          <p:cNvSpPr/>
          <p:nvPr/>
        </p:nvSpPr>
        <p:spPr>
          <a:xfrm>
            <a:off x="533400" y="4267200"/>
            <a:ext cx="11125200" cy="762000"/>
          </a:xfrm>
          <a:custGeom>
            <a:avLst/>
            <a:gdLst/>
            <a:ahLst/>
            <a:cxnLst/>
            <a:rect l="l" t="t" r="r" b="b"/>
            <a:pathLst>
              <a:path w="11125200" h="762000">
                <a:moveTo>
                  <a:pt x="95250" y="0"/>
                </a:moveTo>
                <a:lnTo>
                  <a:pt x="11029950" y="0"/>
                </a:lnTo>
                <a:cubicBezTo>
                  <a:pt x="11082555" y="0"/>
                  <a:pt x="11125200" y="42645"/>
                  <a:pt x="11125200" y="95250"/>
                </a:cubicBezTo>
                <a:lnTo>
                  <a:pt x="11125200" y="666750"/>
                </a:lnTo>
                <a:cubicBezTo>
                  <a:pt x="11125200" y="719355"/>
                  <a:pt x="11082555" y="762000"/>
                  <a:pt x="11029950" y="762000"/>
                </a:cubicBezTo>
                <a:lnTo>
                  <a:pt x="95250" y="762000"/>
                </a:lnTo>
                <a:cubicBezTo>
                  <a:pt x="42645" y="762000"/>
                  <a:pt x="0" y="719355"/>
                  <a:pt x="0" y="66675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F8FBFF"/>
          </a:solidFill>
          <a:ln w="9525">
            <a:solidFill>
              <a:srgbClr val="2C7BC0"/>
            </a:solidFill>
          </a:ln>
        </p:spPr>
      </p:sp>
      <p:sp>
        <p:nvSpPr>
          <p:cNvPr id="25" name="Freeform 25"/>
          <p:cNvSpPr/>
          <p:nvPr/>
        </p:nvSpPr>
        <p:spPr>
          <a:xfrm>
            <a:off x="11220450" y="4362450"/>
            <a:ext cx="361950" cy="339328"/>
          </a:xfrm>
          <a:custGeom>
            <a:avLst/>
            <a:gdLst/>
            <a:ahLst/>
            <a:cxnLst/>
            <a:rect l="l" t="t" r="r" b="b"/>
            <a:pathLst>
              <a:path w="361950" h="339328">
                <a:moveTo>
                  <a:pt x="361950" y="339328"/>
                </a:moveTo>
                <a:lnTo>
                  <a:pt x="0" y="339328"/>
                </a:lnTo>
                <a:lnTo>
                  <a:pt x="0" y="271462"/>
                </a:lnTo>
                <a:lnTo>
                  <a:pt x="158353" y="0"/>
                </a:lnTo>
                <a:lnTo>
                  <a:pt x="203597" y="0"/>
                </a:lnTo>
                <a:lnTo>
                  <a:pt x="361950" y="271462"/>
                </a:lnTo>
                <a:lnTo>
                  <a:pt x="361950" y="339328"/>
                </a:lnTo>
                <a:close/>
              </a:path>
            </a:pathLst>
          </a:custGeom>
          <a:solidFill>
            <a:srgbClr val="4A8E3B"/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1019175" y="4462462"/>
            <a:ext cx="14844712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dirty="0">
                <a:solidFill>
                  <a:srgbClr val="1D4E79"/>
                </a:solidFill>
                <a:latin typeface="Microsoft YaHei"/>
                <a:ea typeface="Microsoft YaHei"/>
                <a:cs typeface="Microsoft YaHei"/>
              </a:rPr>
              <a:t>行业进入数智一体化深水区，管理层关注效率、质量、风险三重目标，需建立统一平台承接趋势变化。</a:t>
            </a:r>
          </a:p>
        </p:txBody>
      </p:sp>
      <p:sp>
        <p:nvSpPr>
          <p:cNvPr id="27" name="Freeform 27"/>
          <p:cNvSpPr/>
          <p:nvPr/>
        </p:nvSpPr>
        <p:spPr>
          <a:xfrm>
            <a:off x="533400" y="5162550"/>
            <a:ext cx="3429000" cy="1028700"/>
          </a:xfrm>
          <a:custGeom>
            <a:avLst/>
            <a:gdLst/>
            <a:ahLst/>
            <a:cxnLst/>
            <a:rect l="l" t="t" r="r" b="b"/>
            <a:pathLst>
              <a:path w="3429000" h="1028700">
                <a:moveTo>
                  <a:pt x="95250" y="0"/>
                </a:moveTo>
                <a:lnTo>
                  <a:pt x="3333750" y="0"/>
                </a:lnTo>
                <a:cubicBezTo>
                  <a:pt x="3386355" y="0"/>
                  <a:pt x="3429000" y="42645"/>
                  <a:pt x="3429000" y="95250"/>
                </a:cubicBezTo>
                <a:lnTo>
                  <a:pt x="3429000" y="933450"/>
                </a:lnTo>
                <a:cubicBezTo>
                  <a:pt x="3429000" y="986055"/>
                  <a:pt x="3386355" y="1028700"/>
                  <a:pt x="3333750" y="1028700"/>
                </a:cubicBezTo>
                <a:lnTo>
                  <a:pt x="95250" y="1028700"/>
                </a:lnTo>
                <a:cubicBezTo>
                  <a:pt x="42645" y="1028700"/>
                  <a:pt x="0" y="986055"/>
                  <a:pt x="0" y="93345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18366B"/>
          </a:solidFill>
          <a:ln>
            <a:noFill/>
          </a:ln>
        </p:spPr>
      </p:sp>
      <p:sp>
        <p:nvSpPr>
          <p:cNvPr id="28" name="Freeform 28"/>
          <p:cNvSpPr/>
          <p:nvPr/>
        </p:nvSpPr>
        <p:spPr>
          <a:xfrm>
            <a:off x="4248150" y="5162550"/>
            <a:ext cx="3429000" cy="1028700"/>
          </a:xfrm>
          <a:custGeom>
            <a:avLst/>
            <a:gdLst/>
            <a:ahLst/>
            <a:cxnLst/>
            <a:rect l="l" t="t" r="r" b="b"/>
            <a:pathLst>
              <a:path w="3429000" h="1028700">
                <a:moveTo>
                  <a:pt x="95250" y="0"/>
                </a:moveTo>
                <a:lnTo>
                  <a:pt x="3333750" y="0"/>
                </a:lnTo>
                <a:cubicBezTo>
                  <a:pt x="3386355" y="0"/>
                  <a:pt x="3429000" y="42645"/>
                  <a:pt x="3429000" y="95250"/>
                </a:cubicBezTo>
                <a:lnTo>
                  <a:pt x="3429000" y="933450"/>
                </a:lnTo>
                <a:cubicBezTo>
                  <a:pt x="3429000" y="986055"/>
                  <a:pt x="3386355" y="1028700"/>
                  <a:pt x="3333750" y="1028700"/>
                </a:cubicBezTo>
                <a:lnTo>
                  <a:pt x="95250" y="1028700"/>
                </a:lnTo>
                <a:cubicBezTo>
                  <a:pt x="42645" y="1028700"/>
                  <a:pt x="0" y="986055"/>
                  <a:pt x="0" y="93345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3D74B8"/>
          </a:solidFill>
          <a:ln>
            <a:noFill/>
          </a:ln>
        </p:spPr>
      </p:sp>
      <p:sp>
        <p:nvSpPr>
          <p:cNvPr id="29" name="Freeform 29"/>
          <p:cNvSpPr/>
          <p:nvPr/>
        </p:nvSpPr>
        <p:spPr>
          <a:xfrm>
            <a:off x="7962900" y="5162550"/>
            <a:ext cx="3695700" cy="1028700"/>
          </a:xfrm>
          <a:custGeom>
            <a:avLst/>
            <a:gdLst/>
            <a:ahLst/>
            <a:cxnLst/>
            <a:rect l="l" t="t" r="r" b="b"/>
            <a:pathLst>
              <a:path w="3695700" h="1028700">
                <a:moveTo>
                  <a:pt x="95250" y="0"/>
                </a:moveTo>
                <a:lnTo>
                  <a:pt x="3600450" y="0"/>
                </a:lnTo>
                <a:cubicBezTo>
                  <a:pt x="3653055" y="0"/>
                  <a:pt x="3695700" y="42645"/>
                  <a:pt x="3695700" y="95250"/>
                </a:cubicBezTo>
                <a:lnTo>
                  <a:pt x="3695700" y="933450"/>
                </a:lnTo>
                <a:cubicBezTo>
                  <a:pt x="3695700" y="986055"/>
                  <a:pt x="3653055" y="1028700"/>
                  <a:pt x="3600450" y="1028700"/>
                </a:cubicBezTo>
                <a:lnTo>
                  <a:pt x="95250" y="1028700"/>
                </a:lnTo>
                <a:cubicBezTo>
                  <a:pt x="42645" y="1028700"/>
                  <a:pt x="0" y="986055"/>
                  <a:pt x="0" y="93345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69C0EA"/>
          </a:solidFill>
          <a:ln>
            <a:noFill/>
          </a:ln>
        </p:spPr>
      </p:sp>
      <p:sp>
        <p:nvSpPr>
          <p:cNvPr id="30" name="TextBox 30"/>
          <p:cNvSpPr txBox="1"/>
          <p:nvPr/>
        </p:nvSpPr>
        <p:spPr>
          <a:xfrm>
            <a:off x="1621429" y="5172075"/>
            <a:ext cx="1252942" cy="914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45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96%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4991136" y="5172075"/>
            <a:ext cx="1943029" cy="914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45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$60万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9029009" y="5172075"/>
            <a:ext cx="1563481" cy="914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45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22项</a:t>
            </a:r>
          </a:p>
        </p:txBody>
      </p:sp>
      <p:sp>
        <p:nvSpPr>
          <p:cNvPr id="33" name="Freeform 33"/>
          <p:cNvSpPr/>
          <p:nvPr/>
        </p:nvSpPr>
        <p:spPr>
          <a:xfrm>
            <a:off x="8877300" y="5334000"/>
            <a:ext cx="2781300" cy="914400"/>
          </a:xfrm>
          <a:custGeom>
            <a:avLst/>
            <a:gdLst/>
            <a:ahLst/>
            <a:cxnLst/>
            <a:rect l="l" t="t" r="r" b="b"/>
            <a:pathLst>
              <a:path w="2781300" h="914400">
                <a:moveTo>
                  <a:pt x="95250" y="0"/>
                </a:moveTo>
                <a:lnTo>
                  <a:pt x="2686050" y="0"/>
                </a:lnTo>
                <a:cubicBezTo>
                  <a:pt x="2738655" y="0"/>
                  <a:pt x="2781300" y="42645"/>
                  <a:pt x="2781300" y="95250"/>
                </a:cubicBezTo>
                <a:lnTo>
                  <a:pt x="2781300" y="819150"/>
                </a:lnTo>
                <a:cubicBezTo>
                  <a:pt x="2781300" y="871755"/>
                  <a:pt x="2738655" y="914400"/>
                  <a:pt x="2686050" y="914400"/>
                </a:cubicBezTo>
                <a:lnTo>
                  <a:pt x="95250" y="914400"/>
                </a:lnTo>
                <a:cubicBezTo>
                  <a:pt x="42645" y="914400"/>
                  <a:pt x="0" y="871755"/>
                  <a:pt x="0" y="81915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FFFFFF">
              <a:alpha val="90000"/>
            </a:srgbClr>
          </a:solidFill>
          <a:ln w="9525">
            <a:solidFill>
              <a:srgbClr val="C9D9ED"/>
            </a:solidFill>
          </a:ln>
        </p:spPr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55" y="0"/>
            <a:ext cx="12151042" cy="6858000"/>
          </a:xfrm>
          <a:prstGeom prst="rect">
            <a:avLst/>
          </a:prstGeom>
        </p:spPr>
      </p:pic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4000"/>
            </a:srgbClr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346710" y="489585"/>
            <a:ext cx="5037201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004C8B"/>
                </a:solidFill>
                <a:latin typeface="Microsoft YaHei"/>
                <a:ea typeface="Microsoft YaHei"/>
                <a:cs typeface="Microsoft YaHei"/>
              </a:rPr>
              <a:t>现状痛点拆解与优先级矩阵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358140" y="1120140"/>
            <a:ext cx="11639169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004C8B"/>
                </a:solidFill>
                <a:latin typeface="Microsoft YaHei"/>
                <a:ea typeface="Microsoft YaHei"/>
                <a:cs typeface="Microsoft YaHei"/>
              </a:rPr>
              <a:t>从数据、流程、组织三维拆解痛点，按影响度与实施复杂度建立优先级矩阵，明确首批突破口。</a:t>
            </a:r>
          </a:p>
        </p:txBody>
      </p:sp>
      <p:sp>
        <p:nvSpPr>
          <p:cNvPr id="6" name="Freeform 6"/>
          <p:cNvSpPr/>
          <p:nvPr/>
        </p:nvSpPr>
        <p:spPr>
          <a:xfrm>
            <a:off x="400050" y="1562100"/>
            <a:ext cx="11391900" cy="4762500"/>
          </a:xfrm>
          <a:custGeom>
            <a:avLst/>
            <a:gdLst/>
            <a:ahLst/>
            <a:cxnLst/>
            <a:rect l="l" t="t" r="r" b="b"/>
            <a:pathLst>
              <a:path w="11391900" h="4762500">
                <a:moveTo>
                  <a:pt x="171450" y="0"/>
                </a:moveTo>
                <a:lnTo>
                  <a:pt x="11220450" y="0"/>
                </a:lnTo>
                <a:cubicBezTo>
                  <a:pt x="11315139" y="0"/>
                  <a:pt x="11391900" y="76761"/>
                  <a:pt x="11391900" y="171450"/>
                </a:cubicBezTo>
                <a:lnTo>
                  <a:pt x="11391900" y="4591050"/>
                </a:lnTo>
                <a:cubicBezTo>
                  <a:pt x="11391900" y="4685739"/>
                  <a:pt x="11315139" y="4762500"/>
                  <a:pt x="11220450" y="4762500"/>
                </a:cubicBezTo>
                <a:lnTo>
                  <a:pt x="171450" y="4762500"/>
                </a:lnTo>
                <a:cubicBezTo>
                  <a:pt x="76761" y="4762500"/>
                  <a:pt x="0" y="4685739"/>
                  <a:pt x="0" y="4591050"/>
                </a:cubicBezTo>
                <a:lnTo>
                  <a:pt x="0" y="171450"/>
                </a:lnTo>
                <a:cubicBezTo>
                  <a:pt x="0" y="76761"/>
                  <a:pt x="76761" y="0"/>
                  <a:pt x="171450" y="0"/>
                </a:cubicBezTo>
                <a:close/>
              </a:path>
            </a:pathLst>
          </a:custGeom>
          <a:solidFill>
            <a:srgbClr val="F7FBFF">
              <a:alpha val="96000"/>
            </a:srgbClr>
          </a:solidFill>
          <a:ln>
            <a:noFill/>
          </a:ln>
        </p:spPr>
      </p:sp>
      <p:sp>
        <p:nvSpPr>
          <p:cNvPr id="7" name="Freeform 7"/>
          <p:cNvSpPr/>
          <p:nvPr/>
        </p:nvSpPr>
        <p:spPr>
          <a:xfrm>
            <a:off x="533400" y="1733550"/>
            <a:ext cx="5543550" cy="2038350"/>
          </a:xfrm>
          <a:custGeom>
            <a:avLst/>
            <a:gdLst/>
            <a:ahLst/>
            <a:cxnLst/>
            <a:rect l="l" t="t" r="r" b="b"/>
            <a:pathLst>
              <a:path w="5543550" h="2038350">
                <a:moveTo>
                  <a:pt x="114300" y="0"/>
                </a:moveTo>
                <a:lnTo>
                  <a:pt x="5429250" y="0"/>
                </a:lnTo>
                <a:cubicBezTo>
                  <a:pt x="5492376" y="0"/>
                  <a:pt x="5543550" y="51174"/>
                  <a:pt x="5543550" y="114300"/>
                </a:cubicBezTo>
                <a:lnTo>
                  <a:pt x="5543550" y="1924050"/>
                </a:lnTo>
                <a:cubicBezTo>
                  <a:pt x="5543550" y="1987176"/>
                  <a:pt x="5492376" y="2038350"/>
                  <a:pt x="5429250" y="2038350"/>
                </a:cubicBezTo>
                <a:lnTo>
                  <a:pt x="114300" y="2038350"/>
                </a:lnTo>
                <a:cubicBezTo>
                  <a:pt x="51174" y="2038350"/>
                  <a:pt x="0" y="1987176"/>
                  <a:pt x="0" y="192405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2C7BC0"/>
            </a:solidFill>
          </a:ln>
        </p:spPr>
      </p:sp>
      <p:sp>
        <p:nvSpPr>
          <p:cNvPr id="8" name="Freeform 8"/>
          <p:cNvSpPr/>
          <p:nvPr/>
        </p:nvSpPr>
        <p:spPr>
          <a:xfrm>
            <a:off x="6210300" y="1733550"/>
            <a:ext cx="5448300" cy="2038350"/>
          </a:xfrm>
          <a:custGeom>
            <a:avLst/>
            <a:gdLst/>
            <a:ahLst/>
            <a:cxnLst/>
            <a:rect l="l" t="t" r="r" b="b"/>
            <a:pathLst>
              <a:path w="5448300" h="2038350">
                <a:moveTo>
                  <a:pt x="114300" y="0"/>
                </a:moveTo>
                <a:lnTo>
                  <a:pt x="5334000" y="0"/>
                </a:lnTo>
                <a:cubicBezTo>
                  <a:pt x="5397126" y="0"/>
                  <a:pt x="5448300" y="51174"/>
                  <a:pt x="5448300" y="114300"/>
                </a:cubicBezTo>
                <a:lnTo>
                  <a:pt x="5448300" y="1924050"/>
                </a:lnTo>
                <a:cubicBezTo>
                  <a:pt x="5448300" y="1987176"/>
                  <a:pt x="5397126" y="2038350"/>
                  <a:pt x="5334000" y="2038350"/>
                </a:cubicBezTo>
                <a:lnTo>
                  <a:pt x="114300" y="2038350"/>
                </a:lnTo>
                <a:cubicBezTo>
                  <a:pt x="51174" y="2038350"/>
                  <a:pt x="0" y="1987176"/>
                  <a:pt x="0" y="192405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3D74B8"/>
            </a:solidFill>
          </a:ln>
        </p:spPr>
      </p:sp>
      <p:sp>
        <p:nvSpPr>
          <p:cNvPr id="9" name="Freeform 9"/>
          <p:cNvSpPr/>
          <p:nvPr/>
        </p:nvSpPr>
        <p:spPr>
          <a:xfrm>
            <a:off x="533400" y="1733550"/>
            <a:ext cx="5543550" cy="495300"/>
          </a:xfrm>
          <a:custGeom>
            <a:avLst/>
            <a:gdLst/>
            <a:ahLst/>
            <a:cxnLst/>
            <a:rect l="l" t="t" r="r" b="b"/>
            <a:pathLst>
              <a:path w="5543550" h="495300">
                <a:moveTo>
                  <a:pt x="114300" y="0"/>
                </a:moveTo>
                <a:lnTo>
                  <a:pt x="5429250" y="0"/>
                </a:lnTo>
                <a:cubicBezTo>
                  <a:pt x="5492376" y="0"/>
                  <a:pt x="5543550" y="51174"/>
                  <a:pt x="5543550" y="114300"/>
                </a:cubicBezTo>
                <a:lnTo>
                  <a:pt x="5543550" y="381000"/>
                </a:lnTo>
                <a:cubicBezTo>
                  <a:pt x="5543550" y="444126"/>
                  <a:pt x="5492376" y="495300"/>
                  <a:pt x="5429250" y="495300"/>
                </a:cubicBezTo>
                <a:lnTo>
                  <a:pt x="114300" y="495300"/>
                </a:lnTo>
                <a:cubicBezTo>
                  <a:pt x="51174" y="495300"/>
                  <a:pt x="0" y="444126"/>
                  <a:pt x="0" y="38100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18366B"/>
          </a:solidFill>
          <a:ln>
            <a:noFill/>
          </a:ln>
        </p:spPr>
      </p:sp>
      <p:sp>
        <p:nvSpPr>
          <p:cNvPr id="10" name="Freeform 10"/>
          <p:cNvSpPr/>
          <p:nvPr/>
        </p:nvSpPr>
        <p:spPr>
          <a:xfrm>
            <a:off x="6210300" y="1733550"/>
            <a:ext cx="5448300" cy="495300"/>
          </a:xfrm>
          <a:custGeom>
            <a:avLst/>
            <a:gdLst/>
            <a:ahLst/>
            <a:cxnLst/>
            <a:rect l="l" t="t" r="r" b="b"/>
            <a:pathLst>
              <a:path w="5448300" h="495300">
                <a:moveTo>
                  <a:pt x="114300" y="0"/>
                </a:moveTo>
                <a:lnTo>
                  <a:pt x="5334000" y="0"/>
                </a:lnTo>
                <a:cubicBezTo>
                  <a:pt x="5397126" y="0"/>
                  <a:pt x="5448300" y="51174"/>
                  <a:pt x="5448300" y="114300"/>
                </a:cubicBezTo>
                <a:lnTo>
                  <a:pt x="5448300" y="381000"/>
                </a:lnTo>
                <a:cubicBezTo>
                  <a:pt x="5448300" y="444126"/>
                  <a:pt x="5397126" y="495300"/>
                  <a:pt x="5334000" y="495300"/>
                </a:cubicBezTo>
                <a:lnTo>
                  <a:pt x="114300" y="495300"/>
                </a:lnTo>
                <a:cubicBezTo>
                  <a:pt x="51174" y="495300"/>
                  <a:pt x="0" y="444126"/>
                  <a:pt x="0" y="38100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3D74B8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699135" y="1723072"/>
            <a:ext cx="5457651" cy="7010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45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一期 — 自营超深水气田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6376035" y="1723072"/>
            <a:ext cx="4928585" cy="7010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45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二期 — 深水高压气田</a:t>
            </a:r>
          </a:p>
        </p:txBody>
      </p:sp>
      <p:sp>
        <p:nvSpPr>
          <p:cNvPr id="13" name="Freeform 13"/>
          <p:cNvSpPr/>
          <p:nvPr/>
        </p:nvSpPr>
        <p:spPr>
          <a:xfrm>
            <a:off x="742950" y="2400300"/>
            <a:ext cx="1600200" cy="685800"/>
          </a:xfrm>
          <a:custGeom>
            <a:avLst/>
            <a:gdLst/>
            <a:ahLst/>
            <a:cxnLst/>
            <a:rect l="l" t="t" r="r" b="b"/>
            <a:pathLst>
              <a:path w="1600200" h="685800">
                <a:moveTo>
                  <a:pt x="114300" y="0"/>
                </a:moveTo>
                <a:lnTo>
                  <a:pt x="1485900" y="0"/>
                </a:lnTo>
                <a:cubicBezTo>
                  <a:pt x="1549026" y="0"/>
                  <a:pt x="1600200" y="51174"/>
                  <a:pt x="1600200" y="114300"/>
                </a:cubicBezTo>
                <a:lnTo>
                  <a:pt x="1600200" y="571500"/>
                </a:lnTo>
                <a:cubicBezTo>
                  <a:pt x="1600200" y="634626"/>
                  <a:pt x="1549026" y="685800"/>
                  <a:pt x="1485900" y="685800"/>
                </a:cubicBezTo>
                <a:lnTo>
                  <a:pt x="114300" y="685800"/>
                </a:lnTo>
                <a:cubicBezTo>
                  <a:pt x="51174" y="685800"/>
                  <a:pt x="0" y="634626"/>
                  <a:pt x="0" y="57150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18366B"/>
          </a:solidFill>
          <a:ln>
            <a:noFill/>
          </a:ln>
        </p:spPr>
      </p:sp>
      <p:sp>
        <p:nvSpPr>
          <p:cNvPr id="14" name="Freeform 14"/>
          <p:cNvSpPr/>
          <p:nvPr/>
        </p:nvSpPr>
        <p:spPr>
          <a:xfrm>
            <a:off x="2457450" y="2400300"/>
            <a:ext cx="1600200" cy="685800"/>
          </a:xfrm>
          <a:custGeom>
            <a:avLst/>
            <a:gdLst/>
            <a:ahLst/>
            <a:cxnLst/>
            <a:rect l="l" t="t" r="r" b="b"/>
            <a:pathLst>
              <a:path w="1600200" h="685800">
                <a:moveTo>
                  <a:pt x="114300" y="0"/>
                </a:moveTo>
                <a:lnTo>
                  <a:pt x="1485900" y="0"/>
                </a:lnTo>
                <a:cubicBezTo>
                  <a:pt x="1549026" y="0"/>
                  <a:pt x="1600200" y="51174"/>
                  <a:pt x="1600200" y="114300"/>
                </a:cubicBezTo>
                <a:lnTo>
                  <a:pt x="1600200" y="571500"/>
                </a:lnTo>
                <a:cubicBezTo>
                  <a:pt x="1600200" y="634626"/>
                  <a:pt x="1549026" y="685800"/>
                  <a:pt x="1485900" y="685800"/>
                </a:cubicBezTo>
                <a:lnTo>
                  <a:pt x="114300" y="685800"/>
                </a:lnTo>
                <a:cubicBezTo>
                  <a:pt x="51174" y="685800"/>
                  <a:pt x="0" y="634626"/>
                  <a:pt x="0" y="57150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3D74B8"/>
          </a:solidFill>
          <a:ln>
            <a:noFill/>
          </a:ln>
        </p:spPr>
      </p:sp>
      <p:sp>
        <p:nvSpPr>
          <p:cNvPr id="15" name="Freeform 15"/>
          <p:cNvSpPr/>
          <p:nvPr/>
        </p:nvSpPr>
        <p:spPr>
          <a:xfrm>
            <a:off x="4171950" y="2400300"/>
            <a:ext cx="1695450" cy="685800"/>
          </a:xfrm>
          <a:custGeom>
            <a:avLst/>
            <a:gdLst/>
            <a:ahLst/>
            <a:cxnLst/>
            <a:rect l="l" t="t" r="r" b="b"/>
            <a:pathLst>
              <a:path w="1695450" h="685800">
                <a:moveTo>
                  <a:pt x="114300" y="0"/>
                </a:moveTo>
                <a:lnTo>
                  <a:pt x="1581150" y="0"/>
                </a:lnTo>
                <a:cubicBezTo>
                  <a:pt x="1644276" y="0"/>
                  <a:pt x="1695450" y="51174"/>
                  <a:pt x="1695450" y="114300"/>
                </a:cubicBezTo>
                <a:lnTo>
                  <a:pt x="1695450" y="571500"/>
                </a:lnTo>
                <a:cubicBezTo>
                  <a:pt x="1695450" y="634626"/>
                  <a:pt x="1644276" y="685800"/>
                  <a:pt x="1581150" y="685800"/>
                </a:cubicBezTo>
                <a:lnTo>
                  <a:pt x="114300" y="685800"/>
                </a:lnTo>
                <a:cubicBezTo>
                  <a:pt x="51174" y="685800"/>
                  <a:pt x="0" y="634626"/>
                  <a:pt x="0" y="57150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BF5A24"/>
          </a:solidFill>
          <a:ln>
            <a:noFill/>
          </a:ln>
        </p:spPr>
      </p:sp>
      <p:sp>
        <p:nvSpPr>
          <p:cNvPr id="16" name="TextBox 16"/>
          <p:cNvSpPr txBox="1"/>
          <p:nvPr/>
        </p:nvSpPr>
        <p:spPr>
          <a:xfrm>
            <a:off x="482364" y="2439352"/>
            <a:ext cx="2121372" cy="8229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40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1500+m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2119229" y="2439352"/>
            <a:ext cx="2276642" cy="8229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40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5000+m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4182368" y="2439352"/>
            <a:ext cx="1655564" cy="8229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40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138°C</a:t>
            </a:r>
          </a:p>
        </p:txBody>
      </p:sp>
      <p:sp>
        <p:nvSpPr>
          <p:cNvPr id="19" name="Freeform 19"/>
          <p:cNvSpPr/>
          <p:nvPr/>
        </p:nvSpPr>
        <p:spPr>
          <a:xfrm>
            <a:off x="6419850" y="2400300"/>
            <a:ext cx="2457450" cy="514350"/>
          </a:xfrm>
          <a:custGeom>
            <a:avLst/>
            <a:gdLst/>
            <a:ahLst/>
            <a:cxnLst/>
            <a:rect l="l" t="t" r="r" b="b"/>
            <a:pathLst>
              <a:path w="2457450" h="514350">
                <a:moveTo>
                  <a:pt x="95250" y="0"/>
                </a:moveTo>
                <a:lnTo>
                  <a:pt x="2362200" y="0"/>
                </a:lnTo>
                <a:cubicBezTo>
                  <a:pt x="2414805" y="0"/>
                  <a:pt x="2457450" y="42645"/>
                  <a:pt x="2457450" y="95250"/>
                </a:cubicBezTo>
                <a:lnTo>
                  <a:pt x="2457450" y="419100"/>
                </a:lnTo>
                <a:cubicBezTo>
                  <a:pt x="2457450" y="471705"/>
                  <a:pt x="2414805" y="514350"/>
                  <a:pt x="2362200" y="514350"/>
                </a:cubicBezTo>
                <a:lnTo>
                  <a:pt x="95250" y="514350"/>
                </a:lnTo>
                <a:cubicBezTo>
                  <a:pt x="42645" y="514350"/>
                  <a:pt x="0" y="471705"/>
                  <a:pt x="0" y="41910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18366B"/>
          </a:solidFill>
          <a:ln>
            <a:noFill/>
          </a:ln>
        </p:spPr>
      </p:sp>
      <p:sp>
        <p:nvSpPr>
          <p:cNvPr id="20" name="Freeform 20"/>
          <p:cNvSpPr/>
          <p:nvPr/>
        </p:nvSpPr>
        <p:spPr>
          <a:xfrm>
            <a:off x="9010650" y="2400300"/>
            <a:ext cx="2457450" cy="514350"/>
          </a:xfrm>
          <a:custGeom>
            <a:avLst/>
            <a:gdLst/>
            <a:ahLst/>
            <a:cxnLst/>
            <a:rect l="l" t="t" r="r" b="b"/>
            <a:pathLst>
              <a:path w="2457450" h="514350">
                <a:moveTo>
                  <a:pt x="95250" y="0"/>
                </a:moveTo>
                <a:lnTo>
                  <a:pt x="2362200" y="0"/>
                </a:lnTo>
                <a:cubicBezTo>
                  <a:pt x="2414805" y="0"/>
                  <a:pt x="2457450" y="42645"/>
                  <a:pt x="2457450" y="95250"/>
                </a:cubicBezTo>
                <a:lnTo>
                  <a:pt x="2457450" y="419100"/>
                </a:lnTo>
                <a:cubicBezTo>
                  <a:pt x="2457450" y="471705"/>
                  <a:pt x="2414805" y="514350"/>
                  <a:pt x="2362200" y="514350"/>
                </a:cubicBezTo>
                <a:lnTo>
                  <a:pt x="95250" y="514350"/>
                </a:lnTo>
                <a:cubicBezTo>
                  <a:pt x="42645" y="514350"/>
                  <a:pt x="0" y="471705"/>
                  <a:pt x="0" y="41910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4A8E3B"/>
          </a:solidFill>
          <a:ln>
            <a:noFill/>
          </a:ln>
        </p:spPr>
      </p:sp>
      <p:sp>
        <p:nvSpPr>
          <p:cNvPr id="21" name="TextBox 21"/>
          <p:cNvSpPr txBox="1"/>
          <p:nvPr/>
        </p:nvSpPr>
        <p:spPr>
          <a:xfrm>
            <a:off x="7136041" y="2357438"/>
            <a:ext cx="1044119" cy="762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37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30%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9621530" y="2357438"/>
            <a:ext cx="1216640" cy="762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37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100%</a:t>
            </a:r>
          </a:p>
        </p:txBody>
      </p:sp>
      <p:sp>
        <p:nvSpPr>
          <p:cNvPr id="23" name="Freeform 23"/>
          <p:cNvSpPr/>
          <p:nvPr/>
        </p:nvSpPr>
        <p:spPr>
          <a:xfrm>
            <a:off x="533400" y="3981450"/>
            <a:ext cx="11125200" cy="2209800"/>
          </a:xfrm>
          <a:custGeom>
            <a:avLst/>
            <a:gdLst/>
            <a:ahLst/>
            <a:cxnLst/>
            <a:rect l="l" t="t" r="r" b="b"/>
            <a:pathLst>
              <a:path w="11125200" h="2209800">
                <a:moveTo>
                  <a:pt x="114300" y="0"/>
                </a:moveTo>
                <a:lnTo>
                  <a:pt x="11010900" y="0"/>
                </a:lnTo>
                <a:cubicBezTo>
                  <a:pt x="11074026" y="0"/>
                  <a:pt x="11125200" y="51174"/>
                  <a:pt x="11125200" y="114300"/>
                </a:cubicBezTo>
                <a:lnTo>
                  <a:pt x="11125200" y="2095500"/>
                </a:lnTo>
                <a:cubicBezTo>
                  <a:pt x="11125200" y="2158626"/>
                  <a:pt x="11074026" y="2209800"/>
                  <a:pt x="11010900" y="2209800"/>
                </a:cubicBezTo>
                <a:lnTo>
                  <a:pt x="114300" y="2209800"/>
                </a:lnTo>
                <a:cubicBezTo>
                  <a:pt x="51174" y="2209800"/>
                  <a:pt x="0" y="2158626"/>
                  <a:pt x="0" y="209550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DCE8F5"/>
            </a:solidFill>
          </a:ln>
        </p:spPr>
      </p:sp>
      <p:sp>
        <p:nvSpPr>
          <p:cNvPr id="24" name="TextBox 24"/>
          <p:cNvSpPr txBox="1"/>
          <p:nvPr/>
        </p:nvSpPr>
        <p:spPr>
          <a:xfrm>
            <a:off x="3842004" y="3992880"/>
            <a:ext cx="4507992" cy="7315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3600" b="1" dirty="0">
                <a:solidFill>
                  <a:srgbClr val="18366B"/>
                </a:solidFill>
                <a:latin typeface="Microsoft YaHei"/>
                <a:ea typeface="Microsoft YaHei"/>
                <a:cs typeface="Microsoft YaHei"/>
              </a:rPr>
              <a:t>攻克核心技术难题</a:t>
            </a:r>
          </a:p>
        </p:txBody>
      </p:sp>
      <p:sp>
        <p:nvSpPr>
          <p:cNvPr id="25" name="Freeform 25"/>
          <p:cNvSpPr/>
          <p:nvPr/>
        </p:nvSpPr>
        <p:spPr>
          <a:xfrm>
            <a:off x="781050" y="4648200"/>
            <a:ext cx="2000250" cy="1314450"/>
          </a:xfrm>
          <a:custGeom>
            <a:avLst/>
            <a:gdLst/>
            <a:ahLst/>
            <a:cxnLst/>
            <a:rect l="l" t="t" r="r" b="b"/>
            <a:pathLst>
              <a:path w="2000250" h="1314450">
                <a:moveTo>
                  <a:pt x="114300" y="0"/>
                </a:moveTo>
                <a:lnTo>
                  <a:pt x="1885950" y="0"/>
                </a:lnTo>
                <a:cubicBezTo>
                  <a:pt x="1949076" y="0"/>
                  <a:pt x="2000250" y="51174"/>
                  <a:pt x="2000250" y="114300"/>
                </a:cubicBezTo>
                <a:lnTo>
                  <a:pt x="2000250" y="1200150"/>
                </a:lnTo>
                <a:cubicBezTo>
                  <a:pt x="2000250" y="1263276"/>
                  <a:pt x="1949076" y="1314450"/>
                  <a:pt x="1885950" y="1314450"/>
                </a:cubicBezTo>
                <a:lnTo>
                  <a:pt x="114300" y="1314450"/>
                </a:lnTo>
                <a:cubicBezTo>
                  <a:pt x="51174" y="1314450"/>
                  <a:pt x="0" y="1263276"/>
                  <a:pt x="0" y="120015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2C7BC0"/>
            </a:solidFill>
          </a:ln>
        </p:spPr>
      </p:sp>
      <p:sp>
        <p:nvSpPr>
          <p:cNvPr id="26" name="Freeform 26"/>
          <p:cNvSpPr/>
          <p:nvPr/>
        </p:nvSpPr>
        <p:spPr>
          <a:xfrm>
            <a:off x="2933700" y="4648200"/>
            <a:ext cx="2000250" cy="1314450"/>
          </a:xfrm>
          <a:custGeom>
            <a:avLst/>
            <a:gdLst/>
            <a:ahLst/>
            <a:cxnLst/>
            <a:rect l="l" t="t" r="r" b="b"/>
            <a:pathLst>
              <a:path w="2000250" h="1314450">
                <a:moveTo>
                  <a:pt x="114300" y="0"/>
                </a:moveTo>
                <a:lnTo>
                  <a:pt x="1885950" y="0"/>
                </a:lnTo>
                <a:cubicBezTo>
                  <a:pt x="1949076" y="0"/>
                  <a:pt x="2000250" y="51174"/>
                  <a:pt x="2000250" y="114300"/>
                </a:cubicBezTo>
                <a:lnTo>
                  <a:pt x="2000250" y="1200150"/>
                </a:lnTo>
                <a:cubicBezTo>
                  <a:pt x="2000250" y="1263276"/>
                  <a:pt x="1949076" y="1314450"/>
                  <a:pt x="1885950" y="1314450"/>
                </a:cubicBezTo>
                <a:lnTo>
                  <a:pt x="114300" y="1314450"/>
                </a:lnTo>
                <a:cubicBezTo>
                  <a:pt x="51174" y="1314450"/>
                  <a:pt x="0" y="1263276"/>
                  <a:pt x="0" y="120015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3D74B8"/>
            </a:solidFill>
          </a:ln>
        </p:spPr>
      </p:sp>
      <p:sp>
        <p:nvSpPr>
          <p:cNvPr id="27" name="Freeform 27"/>
          <p:cNvSpPr/>
          <p:nvPr/>
        </p:nvSpPr>
        <p:spPr>
          <a:xfrm>
            <a:off x="5086350" y="4648200"/>
            <a:ext cx="2000250" cy="1314450"/>
          </a:xfrm>
          <a:custGeom>
            <a:avLst/>
            <a:gdLst/>
            <a:ahLst/>
            <a:cxnLst/>
            <a:rect l="l" t="t" r="r" b="b"/>
            <a:pathLst>
              <a:path w="2000250" h="1314450">
                <a:moveTo>
                  <a:pt x="114300" y="0"/>
                </a:moveTo>
                <a:lnTo>
                  <a:pt x="1885950" y="0"/>
                </a:lnTo>
                <a:cubicBezTo>
                  <a:pt x="1949076" y="0"/>
                  <a:pt x="2000250" y="51174"/>
                  <a:pt x="2000250" y="114300"/>
                </a:cubicBezTo>
                <a:lnTo>
                  <a:pt x="2000250" y="1200150"/>
                </a:lnTo>
                <a:cubicBezTo>
                  <a:pt x="2000250" y="1263276"/>
                  <a:pt x="1949076" y="1314450"/>
                  <a:pt x="1885950" y="1314450"/>
                </a:cubicBezTo>
                <a:lnTo>
                  <a:pt x="114300" y="1314450"/>
                </a:lnTo>
                <a:cubicBezTo>
                  <a:pt x="51174" y="1314450"/>
                  <a:pt x="0" y="1263276"/>
                  <a:pt x="0" y="120015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69C0EA"/>
            </a:solidFill>
          </a:ln>
        </p:spPr>
      </p:sp>
      <p:sp>
        <p:nvSpPr>
          <p:cNvPr id="28" name="Freeform 28"/>
          <p:cNvSpPr/>
          <p:nvPr/>
        </p:nvSpPr>
        <p:spPr>
          <a:xfrm>
            <a:off x="7239000" y="4648200"/>
            <a:ext cx="2000250" cy="1314450"/>
          </a:xfrm>
          <a:custGeom>
            <a:avLst/>
            <a:gdLst/>
            <a:ahLst/>
            <a:cxnLst/>
            <a:rect l="l" t="t" r="r" b="b"/>
            <a:pathLst>
              <a:path w="2000250" h="1314450">
                <a:moveTo>
                  <a:pt x="114300" y="0"/>
                </a:moveTo>
                <a:lnTo>
                  <a:pt x="1885950" y="0"/>
                </a:lnTo>
                <a:cubicBezTo>
                  <a:pt x="1949076" y="0"/>
                  <a:pt x="2000250" y="51174"/>
                  <a:pt x="2000250" y="114300"/>
                </a:cubicBezTo>
                <a:lnTo>
                  <a:pt x="2000250" y="1200150"/>
                </a:lnTo>
                <a:cubicBezTo>
                  <a:pt x="2000250" y="1263276"/>
                  <a:pt x="1949076" y="1314450"/>
                  <a:pt x="1885950" y="1314450"/>
                </a:cubicBezTo>
                <a:lnTo>
                  <a:pt x="114300" y="1314450"/>
                </a:lnTo>
                <a:cubicBezTo>
                  <a:pt x="51174" y="1314450"/>
                  <a:pt x="0" y="1263276"/>
                  <a:pt x="0" y="120015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4A8E3B"/>
            </a:solidFill>
          </a:ln>
        </p:spPr>
      </p:sp>
      <p:sp>
        <p:nvSpPr>
          <p:cNvPr id="29" name="Freeform 29"/>
          <p:cNvSpPr/>
          <p:nvPr/>
        </p:nvSpPr>
        <p:spPr>
          <a:xfrm>
            <a:off x="9391650" y="4648200"/>
            <a:ext cx="2000250" cy="1314450"/>
          </a:xfrm>
          <a:custGeom>
            <a:avLst/>
            <a:gdLst/>
            <a:ahLst/>
            <a:cxnLst/>
            <a:rect l="l" t="t" r="r" b="b"/>
            <a:pathLst>
              <a:path w="2000250" h="1314450">
                <a:moveTo>
                  <a:pt x="114300" y="0"/>
                </a:moveTo>
                <a:lnTo>
                  <a:pt x="1885950" y="0"/>
                </a:lnTo>
                <a:cubicBezTo>
                  <a:pt x="1949076" y="0"/>
                  <a:pt x="2000250" y="51174"/>
                  <a:pt x="2000250" y="114300"/>
                </a:cubicBezTo>
                <a:lnTo>
                  <a:pt x="2000250" y="1200150"/>
                </a:lnTo>
                <a:cubicBezTo>
                  <a:pt x="2000250" y="1263276"/>
                  <a:pt x="1949076" y="1314450"/>
                  <a:pt x="1885950" y="1314450"/>
                </a:cubicBezTo>
                <a:lnTo>
                  <a:pt x="114300" y="1314450"/>
                </a:lnTo>
                <a:cubicBezTo>
                  <a:pt x="51174" y="1314450"/>
                  <a:pt x="0" y="1263276"/>
                  <a:pt x="0" y="120015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F07035"/>
            </a:solidFill>
          </a:ln>
        </p:spPr>
      </p:sp>
      <p:grpSp>
        <p:nvGrpSpPr>
          <p:cNvPr id="34" name="Group 34"/>
          <p:cNvGrpSpPr/>
          <p:nvPr/>
        </p:nvGrpSpPr>
        <p:grpSpPr>
          <a:xfrm>
            <a:off x="1581150" y="4855369"/>
            <a:ext cx="266700" cy="233362"/>
            <a:chOff x="1581150" y="4855369"/>
            <a:chExt cx="266700" cy="233362"/>
          </a:xfrm>
        </p:grpSpPr>
        <p:sp>
          <p:nvSpPr>
            <p:cNvPr id="30" name="Freeform 30"/>
            <p:cNvSpPr/>
            <p:nvPr/>
          </p:nvSpPr>
          <p:spPr>
            <a:xfrm>
              <a:off x="1631156" y="4855369"/>
              <a:ext cx="83344" cy="83344"/>
            </a:xfrm>
            <a:custGeom>
              <a:avLst/>
              <a:gdLst/>
              <a:ahLst/>
              <a:cxnLst/>
              <a:rect l="l" t="t" r="r" b="b"/>
              <a:pathLst>
                <a:path w="83344" h="83344">
                  <a:moveTo>
                    <a:pt x="83344" y="41672"/>
                  </a:moveTo>
                  <a:cubicBezTo>
                    <a:pt x="83344" y="64687"/>
                    <a:pt x="64687" y="83344"/>
                    <a:pt x="41672" y="83344"/>
                  </a:cubicBezTo>
                  <a:cubicBezTo>
                    <a:pt x="18657" y="83344"/>
                    <a:pt x="0" y="64687"/>
                    <a:pt x="0" y="41672"/>
                  </a:cubicBezTo>
                  <a:cubicBezTo>
                    <a:pt x="0" y="18657"/>
                    <a:pt x="18657" y="0"/>
                    <a:pt x="41672" y="0"/>
                  </a:cubicBezTo>
                  <a:cubicBezTo>
                    <a:pt x="64687" y="0"/>
                    <a:pt x="83344" y="18657"/>
                    <a:pt x="83344" y="41672"/>
                  </a:cubicBezTo>
                  <a:close/>
                </a:path>
              </a:pathLst>
            </a:custGeom>
            <a:solidFill>
              <a:srgbClr val="18366B"/>
            </a:solidFill>
            <a:ln>
              <a:noFill/>
            </a:ln>
          </p:spPr>
        </p:sp>
        <p:sp>
          <p:nvSpPr>
            <p:cNvPr id="31" name="Freeform 31"/>
            <p:cNvSpPr/>
            <p:nvPr/>
          </p:nvSpPr>
          <p:spPr>
            <a:xfrm>
              <a:off x="1581150" y="4972050"/>
              <a:ext cx="133350" cy="116681"/>
            </a:xfrm>
            <a:custGeom>
              <a:avLst/>
              <a:gdLst/>
              <a:ahLst/>
              <a:cxnLst/>
              <a:rect l="l" t="t" r="r" b="b"/>
              <a:pathLst>
                <a:path w="133350" h="116681">
                  <a:moveTo>
                    <a:pt x="50006" y="0"/>
                  </a:moveTo>
                  <a:cubicBezTo>
                    <a:pt x="22389" y="0"/>
                    <a:pt x="0" y="22389"/>
                    <a:pt x="0" y="50006"/>
                  </a:cubicBezTo>
                  <a:lnTo>
                    <a:pt x="0" y="116681"/>
                  </a:lnTo>
                  <a:lnTo>
                    <a:pt x="133350" y="116681"/>
                  </a:lnTo>
                  <a:lnTo>
                    <a:pt x="133350" y="0"/>
                  </a:lnTo>
                  <a:lnTo>
                    <a:pt x="50006" y="0"/>
                  </a:lnTo>
                  <a:close/>
                </a:path>
              </a:pathLst>
            </a:custGeom>
            <a:solidFill>
              <a:srgbClr val="18366B"/>
            </a:solidFill>
            <a:ln>
              <a:noFill/>
            </a:ln>
          </p:spPr>
        </p:sp>
        <p:sp>
          <p:nvSpPr>
            <p:cNvPr id="32" name="Freeform 32"/>
            <p:cNvSpPr/>
            <p:nvPr/>
          </p:nvSpPr>
          <p:spPr>
            <a:xfrm>
              <a:off x="1747838" y="4972050"/>
              <a:ext cx="100012" cy="116681"/>
            </a:xfrm>
            <a:custGeom>
              <a:avLst/>
              <a:gdLst/>
              <a:ahLst/>
              <a:cxnLst/>
              <a:rect l="l" t="t" r="r" b="b"/>
              <a:pathLst>
                <a:path w="100012" h="116681">
                  <a:moveTo>
                    <a:pt x="50006" y="0"/>
                  </a:moveTo>
                  <a:lnTo>
                    <a:pt x="0" y="0"/>
                  </a:lnTo>
                  <a:lnTo>
                    <a:pt x="0" y="116681"/>
                  </a:lnTo>
                  <a:lnTo>
                    <a:pt x="100012" y="116681"/>
                  </a:lnTo>
                  <a:lnTo>
                    <a:pt x="100012" y="50006"/>
                  </a:lnTo>
                  <a:cubicBezTo>
                    <a:pt x="100012" y="22389"/>
                    <a:pt x="77625" y="0"/>
                    <a:pt x="50006" y="0"/>
                  </a:cubicBezTo>
                  <a:close/>
                </a:path>
              </a:pathLst>
            </a:custGeom>
            <a:solidFill>
              <a:srgbClr val="18366B"/>
            </a:solidFill>
            <a:ln>
              <a:noFill/>
            </a:ln>
          </p:spPr>
        </p:sp>
        <p:sp>
          <p:nvSpPr>
            <p:cNvPr id="33" name="Freeform 33"/>
            <p:cNvSpPr/>
            <p:nvPr/>
          </p:nvSpPr>
          <p:spPr>
            <a:xfrm>
              <a:off x="1747838" y="4872038"/>
              <a:ext cx="66675" cy="66675"/>
            </a:xfrm>
            <a:custGeom>
              <a:avLst/>
              <a:gdLst/>
              <a:ahLst/>
              <a:cxnLst/>
              <a:rect l="l" t="t" r="r" b="b"/>
              <a:pathLst>
                <a:path w="66675" h="66675">
                  <a:moveTo>
                    <a:pt x="33338" y="66675"/>
                  </a:moveTo>
                  <a:cubicBezTo>
                    <a:pt x="51750" y="66675"/>
                    <a:pt x="66675" y="51749"/>
                    <a:pt x="66675" y="33338"/>
                  </a:cubicBezTo>
                  <a:cubicBezTo>
                    <a:pt x="66675" y="14926"/>
                    <a:pt x="51750" y="0"/>
                    <a:pt x="33338" y="0"/>
                  </a:cubicBezTo>
                  <a:cubicBezTo>
                    <a:pt x="14925" y="0"/>
                    <a:pt x="0" y="14926"/>
                    <a:pt x="0" y="33338"/>
                  </a:cubicBezTo>
                  <a:cubicBezTo>
                    <a:pt x="0" y="51749"/>
                    <a:pt x="14925" y="66675"/>
                    <a:pt x="33338" y="66675"/>
                  </a:cubicBezTo>
                  <a:close/>
                </a:path>
              </a:pathLst>
            </a:custGeom>
            <a:solidFill>
              <a:srgbClr val="18366B"/>
            </a:solidFill>
            <a:ln>
              <a:noFill/>
            </a:ln>
          </p:spPr>
        </p:sp>
      </p:grpSp>
      <p:grpSp>
        <p:nvGrpSpPr>
          <p:cNvPr id="38" name="Group 38"/>
          <p:cNvGrpSpPr/>
          <p:nvPr/>
        </p:nvGrpSpPr>
        <p:grpSpPr>
          <a:xfrm>
            <a:off x="3767138" y="4838700"/>
            <a:ext cx="200025" cy="266700"/>
            <a:chOff x="3767138" y="4838700"/>
            <a:chExt cx="200025" cy="266700"/>
          </a:xfrm>
        </p:grpSpPr>
        <p:sp>
          <p:nvSpPr>
            <p:cNvPr id="35" name="Freeform 35"/>
            <p:cNvSpPr/>
            <p:nvPr/>
          </p:nvSpPr>
          <p:spPr>
            <a:xfrm>
              <a:off x="3767138" y="4945380"/>
              <a:ext cx="200025" cy="76676"/>
            </a:xfrm>
            <a:custGeom>
              <a:avLst/>
              <a:gdLst/>
              <a:ahLst/>
              <a:cxnLst/>
              <a:rect l="l" t="t" r="r" b="b"/>
              <a:pathLst>
                <a:path w="200025" h="76676">
                  <a:moveTo>
                    <a:pt x="185642" y="8504"/>
                  </a:moveTo>
                  <a:cubicBezTo>
                    <a:pt x="190330" y="6159"/>
                    <a:pt x="195229" y="3330"/>
                    <a:pt x="200025" y="0"/>
                  </a:cubicBezTo>
                  <a:lnTo>
                    <a:pt x="200025" y="26670"/>
                  </a:lnTo>
                  <a:cubicBezTo>
                    <a:pt x="200025" y="54287"/>
                    <a:pt x="155248" y="76676"/>
                    <a:pt x="100012" y="76676"/>
                  </a:cubicBezTo>
                  <a:cubicBezTo>
                    <a:pt x="44777" y="76676"/>
                    <a:pt x="0" y="54287"/>
                    <a:pt x="0" y="26670"/>
                  </a:cubicBezTo>
                  <a:lnTo>
                    <a:pt x="0" y="0"/>
                  </a:lnTo>
                  <a:cubicBezTo>
                    <a:pt x="4796" y="3330"/>
                    <a:pt x="9694" y="6159"/>
                    <a:pt x="14384" y="8504"/>
                  </a:cubicBezTo>
                  <a:cubicBezTo>
                    <a:pt x="38021" y="20322"/>
                    <a:pt x="68342" y="26670"/>
                    <a:pt x="100012" y="26670"/>
                  </a:cubicBezTo>
                  <a:cubicBezTo>
                    <a:pt x="131683" y="26670"/>
                    <a:pt x="162004" y="20322"/>
                    <a:pt x="185642" y="8504"/>
                  </a:cubicBezTo>
                  <a:close/>
                </a:path>
              </a:pathLst>
            </a:custGeom>
            <a:solidFill>
              <a:srgbClr val="3D74B8"/>
            </a:solidFill>
            <a:ln>
              <a:noFill/>
            </a:ln>
          </p:spPr>
        </p:sp>
        <p:sp>
          <p:nvSpPr>
            <p:cNvPr id="36" name="Freeform 36"/>
            <p:cNvSpPr/>
            <p:nvPr/>
          </p:nvSpPr>
          <p:spPr>
            <a:xfrm>
              <a:off x="3767138" y="5028724"/>
              <a:ext cx="200025" cy="76676"/>
            </a:xfrm>
            <a:custGeom>
              <a:avLst/>
              <a:gdLst/>
              <a:ahLst/>
              <a:cxnLst/>
              <a:rect l="l" t="t" r="r" b="b"/>
              <a:pathLst>
                <a:path w="200025" h="76676">
                  <a:moveTo>
                    <a:pt x="0" y="0"/>
                  </a:moveTo>
                  <a:lnTo>
                    <a:pt x="0" y="26670"/>
                  </a:lnTo>
                  <a:cubicBezTo>
                    <a:pt x="0" y="54288"/>
                    <a:pt x="44777" y="76676"/>
                    <a:pt x="100012" y="76676"/>
                  </a:cubicBezTo>
                  <a:cubicBezTo>
                    <a:pt x="155248" y="76676"/>
                    <a:pt x="200025" y="54288"/>
                    <a:pt x="200025" y="26670"/>
                  </a:cubicBezTo>
                  <a:lnTo>
                    <a:pt x="200025" y="0"/>
                  </a:lnTo>
                  <a:cubicBezTo>
                    <a:pt x="195229" y="3330"/>
                    <a:pt x="190330" y="6159"/>
                    <a:pt x="185642" y="8504"/>
                  </a:cubicBezTo>
                  <a:cubicBezTo>
                    <a:pt x="162004" y="20323"/>
                    <a:pt x="131683" y="26670"/>
                    <a:pt x="100012" y="26670"/>
                  </a:cubicBezTo>
                  <a:cubicBezTo>
                    <a:pt x="68342" y="26670"/>
                    <a:pt x="38021" y="20323"/>
                    <a:pt x="14384" y="8504"/>
                  </a:cubicBezTo>
                  <a:cubicBezTo>
                    <a:pt x="9694" y="6159"/>
                    <a:pt x="4796" y="3330"/>
                    <a:pt x="0" y="0"/>
                  </a:cubicBezTo>
                  <a:close/>
                </a:path>
              </a:pathLst>
            </a:custGeom>
            <a:solidFill>
              <a:srgbClr val="3D74B8"/>
            </a:solidFill>
            <a:ln>
              <a:noFill/>
            </a:ln>
          </p:spPr>
        </p:sp>
        <p:sp>
          <p:nvSpPr>
            <p:cNvPr id="37" name="Freeform 37"/>
            <p:cNvSpPr/>
            <p:nvPr/>
          </p:nvSpPr>
          <p:spPr>
            <a:xfrm>
              <a:off x="3767138" y="4838700"/>
              <a:ext cx="200025" cy="100012"/>
            </a:xfrm>
            <a:custGeom>
              <a:avLst/>
              <a:gdLst/>
              <a:ahLst/>
              <a:cxnLst/>
              <a:rect l="l" t="t" r="r" b="b"/>
              <a:pathLst>
                <a:path w="200025" h="100012">
                  <a:moveTo>
                    <a:pt x="100012" y="0"/>
                  </a:moveTo>
                  <a:cubicBezTo>
                    <a:pt x="155248" y="0"/>
                    <a:pt x="200025" y="22389"/>
                    <a:pt x="200025" y="50006"/>
                  </a:cubicBezTo>
                  <a:cubicBezTo>
                    <a:pt x="200025" y="77624"/>
                    <a:pt x="155248" y="100012"/>
                    <a:pt x="100012" y="100012"/>
                  </a:cubicBezTo>
                  <a:cubicBezTo>
                    <a:pt x="44777" y="100012"/>
                    <a:pt x="0" y="77624"/>
                    <a:pt x="0" y="50006"/>
                  </a:cubicBezTo>
                  <a:cubicBezTo>
                    <a:pt x="0" y="22389"/>
                    <a:pt x="44777" y="0"/>
                    <a:pt x="100012" y="0"/>
                  </a:cubicBezTo>
                  <a:close/>
                </a:path>
              </a:pathLst>
            </a:custGeom>
            <a:solidFill>
              <a:srgbClr val="3D74B8"/>
            </a:solidFill>
            <a:ln>
              <a:noFill/>
            </a:ln>
          </p:spPr>
        </p:sp>
      </p:grpSp>
      <p:sp>
        <p:nvSpPr>
          <p:cNvPr id="39" name="Freeform 39"/>
          <p:cNvSpPr/>
          <p:nvPr/>
        </p:nvSpPr>
        <p:spPr>
          <a:xfrm>
            <a:off x="5886450" y="4888706"/>
            <a:ext cx="266700" cy="166688"/>
          </a:xfrm>
          <a:custGeom>
            <a:avLst/>
            <a:gdLst/>
            <a:ahLst/>
            <a:cxnLst/>
            <a:rect l="l" t="t" r="r" b="b"/>
            <a:pathLst>
              <a:path w="266700" h="166688">
                <a:moveTo>
                  <a:pt x="100013" y="100012"/>
                </a:moveTo>
                <a:lnTo>
                  <a:pt x="100013" y="166688"/>
                </a:lnTo>
                <a:lnTo>
                  <a:pt x="83344" y="166688"/>
                </a:lnTo>
                <a:lnTo>
                  <a:pt x="0" y="83344"/>
                </a:lnTo>
                <a:lnTo>
                  <a:pt x="83344" y="0"/>
                </a:lnTo>
                <a:lnTo>
                  <a:pt x="100013" y="0"/>
                </a:lnTo>
                <a:lnTo>
                  <a:pt x="100013" y="66675"/>
                </a:lnTo>
                <a:lnTo>
                  <a:pt x="166688" y="66675"/>
                </a:lnTo>
                <a:lnTo>
                  <a:pt x="166688" y="0"/>
                </a:lnTo>
                <a:lnTo>
                  <a:pt x="183356" y="0"/>
                </a:lnTo>
                <a:lnTo>
                  <a:pt x="266700" y="83344"/>
                </a:lnTo>
                <a:lnTo>
                  <a:pt x="183356" y="166688"/>
                </a:lnTo>
                <a:lnTo>
                  <a:pt x="166688" y="166688"/>
                </a:lnTo>
                <a:lnTo>
                  <a:pt x="166688" y="100012"/>
                </a:lnTo>
                <a:lnTo>
                  <a:pt x="100013" y="100012"/>
                </a:lnTo>
                <a:close/>
              </a:path>
            </a:pathLst>
          </a:custGeom>
          <a:solidFill>
            <a:srgbClr val="69C0EA"/>
          </a:solidFill>
          <a:ln>
            <a:noFill/>
          </a:ln>
        </p:spPr>
      </p:sp>
      <p:grpSp>
        <p:nvGrpSpPr>
          <p:cNvPr id="42" name="Group 42"/>
          <p:cNvGrpSpPr/>
          <p:nvPr/>
        </p:nvGrpSpPr>
        <p:grpSpPr>
          <a:xfrm>
            <a:off x="8055769" y="4855369"/>
            <a:ext cx="233362" cy="233362"/>
            <a:chOff x="8055769" y="4855369"/>
            <a:chExt cx="233362" cy="233362"/>
          </a:xfrm>
        </p:grpSpPr>
        <p:sp>
          <p:nvSpPr>
            <p:cNvPr id="40" name="Freeform 40"/>
            <p:cNvSpPr/>
            <p:nvPr/>
          </p:nvSpPr>
          <p:spPr>
            <a:xfrm>
              <a:off x="8055769" y="4855369"/>
              <a:ext cx="233362" cy="146084"/>
            </a:xfrm>
            <a:custGeom>
              <a:avLst/>
              <a:gdLst/>
              <a:ahLst/>
              <a:cxnLst/>
              <a:rect l="l" t="t" r="r" b="b"/>
              <a:pathLst>
                <a:path w="233362" h="146084">
                  <a:moveTo>
                    <a:pt x="233362" y="0"/>
                  </a:moveTo>
                  <a:lnTo>
                    <a:pt x="0" y="0"/>
                  </a:lnTo>
                  <a:lnTo>
                    <a:pt x="0" y="100012"/>
                  </a:lnTo>
                  <a:lnTo>
                    <a:pt x="39704" y="100012"/>
                  </a:lnTo>
                  <a:lnTo>
                    <a:pt x="64707" y="50006"/>
                  </a:lnTo>
                  <a:lnTo>
                    <a:pt x="101980" y="50006"/>
                  </a:lnTo>
                  <a:lnTo>
                    <a:pt x="150019" y="146084"/>
                  </a:lnTo>
                  <a:lnTo>
                    <a:pt x="173055" y="100012"/>
                  </a:lnTo>
                  <a:lnTo>
                    <a:pt x="233362" y="100012"/>
                  </a:lnTo>
                  <a:lnTo>
                    <a:pt x="233362" y="0"/>
                  </a:lnTo>
                  <a:close/>
                </a:path>
              </a:pathLst>
            </a:custGeom>
            <a:solidFill>
              <a:srgbClr val="4A8E3B"/>
            </a:solidFill>
            <a:ln>
              <a:noFill/>
            </a:ln>
          </p:spPr>
        </p:sp>
        <p:sp>
          <p:nvSpPr>
            <p:cNvPr id="41" name="Freeform 41"/>
            <p:cNvSpPr/>
            <p:nvPr/>
          </p:nvSpPr>
          <p:spPr>
            <a:xfrm>
              <a:off x="8055769" y="4942647"/>
              <a:ext cx="233362" cy="146084"/>
            </a:xfrm>
            <a:custGeom>
              <a:avLst/>
              <a:gdLst/>
              <a:ahLst/>
              <a:cxnLst/>
              <a:rect l="l" t="t" r="r" b="b"/>
              <a:pathLst>
                <a:path w="233362" h="146084">
                  <a:moveTo>
                    <a:pt x="233362" y="46071"/>
                  </a:moveTo>
                  <a:lnTo>
                    <a:pt x="193658" y="46071"/>
                  </a:lnTo>
                  <a:lnTo>
                    <a:pt x="168654" y="96078"/>
                  </a:lnTo>
                  <a:lnTo>
                    <a:pt x="131383" y="96078"/>
                  </a:lnTo>
                  <a:lnTo>
                    <a:pt x="83344" y="0"/>
                  </a:lnTo>
                  <a:lnTo>
                    <a:pt x="60308" y="46071"/>
                  </a:lnTo>
                  <a:lnTo>
                    <a:pt x="0" y="46071"/>
                  </a:lnTo>
                  <a:lnTo>
                    <a:pt x="0" y="146084"/>
                  </a:lnTo>
                  <a:lnTo>
                    <a:pt x="233362" y="146084"/>
                  </a:lnTo>
                  <a:lnTo>
                    <a:pt x="233362" y="46071"/>
                  </a:lnTo>
                  <a:close/>
                </a:path>
              </a:pathLst>
            </a:custGeom>
            <a:solidFill>
              <a:srgbClr val="4A8E3B"/>
            </a:solidFill>
            <a:ln>
              <a:noFill/>
            </a:ln>
          </p:spPr>
        </p:sp>
      </p:grpSp>
      <p:grpSp>
        <p:nvGrpSpPr>
          <p:cNvPr id="46" name="Group 46"/>
          <p:cNvGrpSpPr/>
          <p:nvPr/>
        </p:nvGrpSpPr>
        <p:grpSpPr>
          <a:xfrm>
            <a:off x="10192464" y="4839415"/>
            <a:ext cx="265269" cy="261103"/>
            <a:chOff x="10192464" y="4839415"/>
            <a:chExt cx="265269" cy="261103"/>
          </a:xfrm>
        </p:grpSpPr>
        <p:sp>
          <p:nvSpPr>
            <p:cNvPr id="43" name="Freeform 43"/>
            <p:cNvSpPr/>
            <p:nvPr/>
          </p:nvSpPr>
          <p:spPr>
            <a:xfrm>
              <a:off x="10192464" y="4839415"/>
              <a:ext cx="65245" cy="65245"/>
            </a:xfrm>
            <a:custGeom>
              <a:avLst/>
              <a:gdLst/>
              <a:ahLst/>
              <a:cxnLst/>
              <a:rect l="l" t="t" r="r" b="b"/>
              <a:pathLst>
                <a:path w="65245" h="65245">
                  <a:moveTo>
                    <a:pt x="65245" y="23573"/>
                  </a:moveTo>
                  <a:lnTo>
                    <a:pt x="23573" y="65245"/>
                  </a:lnTo>
                  <a:lnTo>
                    <a:pt x="0" y="41672"/>
                  </a:lnTo>
                  <a:lnTo>
                    <a:pt x="41672" y="0"/>
                  </a:lnTo>
                  <a:lnTo>
                    <a:pt x="65245" y="23573"/>
                  </a:lnTo>
                  <a:close/>
                </a:path>
              </a:pathLst>
            </a:custGeom>
            <a:solidFill>
              <a:srgbClr val="F07035"/>
            </a:solidFill>
            <a:ln>
              <a:noFill/>
            </a:ln>
          </p:spPr>
        </p:sp>
        <p:sp>
          <p:nvSpPr>
            <p:cNvPr id="44" name="Freeform 44"/>
            <p:cNvSpPr/>
            <p:nvPr/>
          </p:nvSpPr>
          <p:spPr>
            <a:xfrm>
              <a:off x="10196631" y="4872038"/>
              <a:ext cx="256935" cy="228480"/>
            </a:xfrm>
            <a:custGeom>
              <a:avLst/>
              <a:gdLst/>
              <a:ahLst/>
              <a:cxnLst/>
              <a:rect l="l" t="t" r="r" b="b"/>
              <a:pathLst>
                <a:path w="256935" h="228480">
                  <a:moveTo>
                    <a:pt x="236815" y="108347"/>
                  </a:moveTo>
                  <a:cubicBezTo>
                    <a:pt x="236815" y="130103"/>
                    <a:pt x="230402" y="150362"/>
                    <a:pt x="219364" y="167335"/>
                  </a:cubicBezTo>
                  <a:lnTo>
                    <a:pt x="256935" y="204907"/>
                  </a:lnTo>
                  <a:lnTo>
                    <a:pt x="233362" y="228480"/>
                  </a:lnTo>
                  <a:lnTo>
                    <a:pt x="197083" y="192202"/>
                  </a:lnTo>
                  <a:cubicBezTo>
                    <a:pt x="178399" y="207509"/>
                    <a:pt x="154506" y="216693"/>
                    <a:pt x="128467" y="216693"/>
                  </a:cubicBezTo>
                  <a:cubicBezTo>
                    <a:pt x="102429" y="216693"/>
                    <a:pt x="78536" y="207509"/>
                    <a:pt x="59851" y="192202"/>
                  </a:cubicBezTo>
                  <a:lnTo>
                    <a:pt x="23573" y="228480"/>
                  </a:lnTo>
                  <a:lnTo>
                    <a:pt x="0" y="204907"/>
                  </a:lnTo>
                  <a:lnTo>
                    <a:pt x="37571" y="167335"/>
                  </a:lnTo>
                  <a:cubicBezTo>
                    <a:pt x="26533" y="150362"/>
                    <a:pt x="20120" y="130103"/>
                    <a:pt x="20120" y="108347"/>
                  </a:cubicBezTo>
                  <a:cubicBezTo>
                    <a:pt x="20120" y="48509"/>
                    <a:pt x="68629" y="0"/>
                    <a:pt x="128467" y="0"/>
                  </a:cubicBezTo>
                  <a:cubicBezTo>
                    <a:pt x="188305" y="0"/>
                    <a:pt x="236815" y="48509"/>
                    <a:pt x="236815" y="108347"/>
                  </a:cubicBezTo>
                  <a:close/>
                  <a:moveTo>
                    <a:pt x="111800" y="50006"/>
                  </a:moveTo>
                  <a:lnTo>
                    <a:pt x="111800" y="123585"/>
                  </a:lnTo>
                  <a:lnTo>
                    <a:pt x="150020" y="161805"/>
                  </a:lnTo>
                  <a:lnTo>
                    <a:pt x="173593" y="138232"/>
                  </a:lnTo>
                  <a:lnTo>
                    <a:pt x="145137" y="109776"/>
                  </a:lnTo>
                  <a:lnTo>
                    <a:pt x="145137" y="50006"/>
                  </a:lnTo>
                  <a:lnTo>
                    <a:pt x="111800" y="50006"/>
                  </a:lnTo>
                  <a:close/>
                </a:path>
              </a:pathLst>
            </a:custGeom>
            <a:solidFill>
              <a:srgbClr val="F07035"/>
            </a:solidFill>
            <a:ln>
              <a:noFill/>
            </a:ln>
          </p:spPr>
        </p:sp>
        <p:sp>
          <p:nvSpPr>
            <p:cNvPr id="45" name="Freeform 45"/>
            <p:cNvSpPr/>
            <p:nvPr/>
          </p:nvSpPr>
          <p:spPr>
            <a:xfrm>
              <a:off x="10392488" y="4839415"/>
              <a:ext cx="65245" cy="65245"/>
            </a:xfrm>
            <a:custGeom>
              <a:avLst/>
              <a:gdLst/>
              <a:ahLst/>
              <a:cxnLst/>
              <a:rect l="l" t="t" r="r" b="b"/>
              <a:pathLst>
                <a:path w="65245" h="65245">
                  <a:moveTo>
                    <a:pt x="41672" y="65245"/>
                  </a:moveTo>
                  <a:lnTo>
                    <a:pt x="0" y="23573"/>
                  </a:lnTo>
                  <a:lnTo>
                    <a:pt x="23573" y="0"/>
                  </a:lnTo>
                  <a:lnTo>
                    <a:pt x="65245" y="41672"/>
                  </a:lnTo>
                  <a:lnTo>
                    <a:pt x="41672" y="65245"/>
                  </a:lnTo>
                  <a:close/>
                </a:path>
              </a:pathLst>
            </a:custGeom>
            <a:solidFill>
              <a:srgbClr val="F07035"/>
            </a:solidFill>
            <a:ln>
              <a:noFill/>
            </a:ln>
          </p:spPr>
        </p:sp>
      </p:grpSp>
      <p:sp>
        <p:nvSpPr>
          <p:cNvPr id="47" name="TextBox 47"/>
          <p:cNvSpPr txBox="1"/>
          <p:nvPr/>
        </p:nvSpPr>
        <p:spPr>
          <a:xfrm>
            <a:off x="775049" y="5051108"/>
            <a:ext cx="2012252" cy="640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3150" b="1" dirty="0">
                <a:solidFill>
                  <a:srgbClr val="18366B"/>
                </a:solidFill>
                <a:latin typeface="Microsoft YaHei"/>
                <a:ea typeface="Microsoft YaHei"/>
                <a:cs typeface="Microsoft YaHei"/>
              </a:rPr>
              <a:t>安全钻井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2927699" y="5051108"/>
            <a:ext cx="2012252" cy="640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3150" b="1" dirty="0">
                <a:solidFill>
                  <a:srgbClr val="18366B"/>
                </a:solidFill>
                <a:latin typeface="Microsoft YaHei"/>
                <a:ea typeface="Microsoft YaHei"/>
                <a:cs typeface="Microsoft YaHei"/>
              </a:rPr>
              <a:t>井筒完整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5080349" y="5051108"/>
            <a:ext cx="2012252" cy="640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3150" b="1" dirty="0">
                <a:solidFill>
                  <a:srgbClr val="18366B"/>
                </a:solidFill>
                <a:latin typeface="Microsoft YaHei"/>
                <a:ea typeface="Microsoft YaHei"/>
                <a:cs typeface="Microsoft YaHei"/>
              </a:rPr>
              <a:t>储层保护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7232999" y="5051108"/>
            <a:ext cx="2012252" cy="640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3150" b="1" dirty="0">
                <a:solidFill>
                  <a:srgbClr val="18366B"/>
                </a:solidFill>
                <a:latin typeface="Microsoft YaHei"/>
                <a:ea typeface="Microsoft YaHei"/>
                <a:cs typeface="Microsoft YaHei"/>
              </a:rPr>
              <a:t>高效防砂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9385649" y="5051108"/>
            <a:ext cx="2012252" cy="640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3150" b="1" dirty="0">
                <a:solidFill>
                  <a:srgbClr val="18366B"/>
                </a:solidFill>
                <a:latin typeface="Microsoft YaHei"/>
                <a:ea typeface="Microsoft YaHei"/>
                <a:cs typeface="Microsoft YaHei"/>
              </a:rPr>
              <a:t>智能完井</a:t>
            </a:r>
          </a:p>
        </p:txBody>
      </p:sp>
      <p:sp>
        <p:nvSpPr>
          <p:cNvPr id="52" name="Freeform 52"/>
          <p:cNvSpPr/>
          <p:nvPr/>
        </p:nvSpPr>
        <p:spPr>
          <a:xfrm>
            <a:off x="8877300" y="5334000"/>
            <a:ext cx="2781300" cy="914400"/>
          </a:xfrm>
          <a:custGeom>
            <a:avLst/>
            <a:gdLst/>
            <a:ahLst/>
            <a:cxnLst/>
            <a:rect l="l" t="t" r="r" b="b"/>
            <a:pathLst>
              <a:path w="2781300" h="914400">
                <a:moveTo>
                  <a:pt x="95250" y="0"/>
                </a:moveTo>
                <a:lnTo>
                  <a:pt x="2686050" y="0"/>
                </a:lnTo>
                <a:cubicBezTo>
                  <a:pt x="2738655" y="0"/>
                  <a:pt x="2781300" y="42645"/>
                  <a:pt x="2781300" y="95250"/>
                </a:cubicBezTo>
                <a:lnTo>
                  <a:pt x="2781300" y="819150"/>
                </a:lnTo>
                <a:cubicBezTo>
                  <a:pt x="2781300" y="871755"/>
                  <a:pt x="2738655" y="914400"/>
                  <a:pt x="2686050" y="914400"/>
                </a:cubicBezTo>
                <a:lnTo>
                  <a:pt x="95250" y="914400"/>
                </a:lnTo>
                <a:cubicBezTo>
                  <a:pt x="42645" y="914400"/>
                  <a:pt x="0" y="871755"/>
                  <a:pt x="0" y="81915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FFFFFF">
              <a:alpha val="90000"/>
            </a:srgbClr>
          </a:solidFill>
          <a:ln w="9525">
            <a:solidFill>
              <a:srgbClr val="C9D9ED"/>
            </a:solidFill>
          </a:ln>
        </p:spPr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72" y="0"/>
            <a:ext cx="12099608" cy="6858000"/>
          </a:xfrm>
          <a:prstGeom prst="rect">
            <a:avLst/>
          </a:prstGeom>
        </p:spPr>
      </p:pic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4000"/>
            </a:srgbClr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018813" y="1868805"/>
            <a:ext cx="2154374" cy="22555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100" b="1" dirty="0">
                <a:solidFill>
                  <a:srgbClr val="004C8B"/>
                </a:solidFill>
                <a:latin typeface="Arial"/>
                <a:ea typeface="Microsoft YaHei"/>
                <a:cs typeface="Arial"/>
              </a:rPr>
              <a:t>02</a:t>
            </a:r>
          </a:p>
        </p:txBody>
      </p:sp>
      <p:sp>
        <p:nvSpPr>
          <p:cNvPr id="5" name="Line 5"/>
          <p:cNvSpPr/>
          <p:nvPr/>
        </p:nvSpPr>
        <p:spPr>
          <a:xfrm>
            <a:off x="3981450" y="3638550"/>
            <a:ext cx="1524000" cy="9525"/>
          </a:xfrm>
          <a:custGeom>
            <a:avLst/>
            <a:gdLst/>
            <a:ahLst/>
            <a:cxnLst/>
            <a:rect l="l" t="t" r="r" b="b"/>
            <a:pathLst>
              <a:path w="1524000" h="9525">
                <a:moveTo>
                  <a:pt x="0" y="0"/>
                </a:moveTo>
                <a:lnTo>
                  <a:pt x="1524000" y="0"/>
                </a:lnTo>
              </a:path>
            </a:pathLst>
          </a:custGeom>
          <a:noFill/>
          <a:ln w="38100">
            <a:solidFill>
              <a:srgbClr val="0074CC"/>
            </a:solidFill>
          </a:ln>
        </p:spPr>
      </p:sp>
      <p:sp>
        <p:nvSpPr>
          <p:cNvPr id="6" name="Line 6"/>
          <p:cNvSpPr/>
          <p:nvPr/>
        </p:nvSpPr>
        <p:spPr>
          <a:xfrm>
            <a:off x="5505450" y="3638550"/>
            <a:ext cx="1181100" cy="9525"/>
          </a:xfrm>
          <a:custGeom>
            <a:avLst/>
            <a:gdLst/>
            <a:ahLst/>
            <a:cxnLst/>
            <a:rect l="l" t="t" r="r" b="b"/>
            <a:pathLst>
              <a:path w="1181100" h="9525">
                <a:moveTo>
                  <a:pt x="0" y="0"/>
                </a:moveTo>
                <a:lnTo>
                  <a:pt x="1181100" y="0"/>
                </a:lnTo>
              </a:path>
            </a:pathLst>
          </a:custGeom>
          <a:noFill/>
          <a:ln w="38100">
            <a:solidFill>
              <a:srgbClr val="DE002B"/>
            </a:solidFill>
          </a:ln>
        </p:spPr>
      </p:sp>
      <p:sp>
        <p:nvSpPr>
          <p:cNvPr id="7" name="Line 7"/>
          <p:cNvSpPr/>
          <p:nvPr/>
        </p:nvSpPr>
        <p:spPr>
          <a:xfrm>
            <a:off x="6686550" y="3638550"/>
            <a:ext cx="1524000" cy="9525"/>
          </a:xfrm>
          <a:custGeom>
            <a:avLst/>
            <a:gdLst/>
            <a:ahLst/>
            <a:cxnLst/>
            <a:rect l="l" t="t" r="r" b="b"/>
            <a:pathLst>
              <a:path w="1524000" h="9525">
                <a:moveTo>
                  <a:pt x="0" y="0"/>
                </a:moveTo>
                <a:lnTo>
                  <a:pt x="1524000" y="0"/>
                </a:lnTo>
              </a:path>
            </a:pathLst>
          </a:custGeom>
          <a:noFill/>
          <a:ln w="38100">
            <a:solidFill>
              <a:srgbClr val="0074CC"/>
            </a:solidFill>
          </a:ln>
        </p:spPr>
      </p:sp>
      <p:sp>
        <p:nvSpPr>
          <p:cNvPr id="8" name="TextBox 8"/>
          <p:cNvSpPr txBox="1"/>
          <p:nvPr/>
        </p:nvSpPr>
        <p:spPr>
          <a:xfrm>
            <a:off x="1879282" y="4095750"/>
            <a:ext cx="8433435" cy="1219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6000" b="1" dirty="0">
                <a:solidFill>
                  <a:srgbClr val="004C8B"/>
                </a:solidFill>
                <a:latin typeface="Microsoft YaHei"/>
                <a:ea typeface="Microsoft YaHei"/>
                <a:cs typeface="Microsoft YaHei"/>
              </a:rPr>
              <a:t>能力架构与实施路径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5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etch(across)">
                                      <p:cBhvr>
                                        <p:cTn id="15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1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3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27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400"/>
                            </p:stCondLst>
                            <p:childTnLst>
                              <p:par>
                                <p:cTn id="2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  <p:bldP spid="6" grpId="0"/>
      <p:bldP spid="7" grpId="0"/>
      <p:bldP spid="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55" y="0"/>
            <a:ext cx="12151042" cy="6858000"/>
          </a:xfrm>
          <a:prstGeom prst="rect">
            <a:avLst/>
          </a:prstGeom>
        </p:spPr>
      </p:pic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4000"/>
            </a:srgbClr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346710" y="489585"/>
            <a:ext cx="7562917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004C8B"/>
                </a:solidFill>
                <a:latin typeface="Microsoft YaHei"/>
                <a:ea typeface="Microsoft YaHei"/>
                <a:cs typeface="Microsoft YaHei"/>
              </a:rPr>
              <a:t>总体架构：数据底座-智能引擎-业务应用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358140" y="1120140"/>
            <a:ext cx="12467272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004C8B"/>
                </a:solidFill>
                <a:latin typeface="Microsoft YaHei"/>
                <a:ea typeface="Microsoft YaHei"/>
                <a:cs typeface="Microsoft YaHei"/>
              </a:rPr>
              <a:t>采用分层架构：数据底座统一汇聚，智能体引擎负责编排推理，业务应用面向调研、分析、报告生产。</a:t>
            </a:r>
          </a:p>
        </p:txBody>
      </p:sp>
      <p:sp>
        <p:nvSpPr>
          <p:cNvPr id="6" name="Freeform 6"/>
          <p:cNvSpPr/>
          <p:nvPr/>
        </p:nvSpPr>
        <p:spPr>
          <a:xfrm>
            <a:off x="495300" y="1562100"/>
            <a:ext cx="11201400" cy="4876800"/>
          </a:xfrm>
          <a:custGeom>
            <a:avLst/>
            <a:gdLst/>
            <a:ahLst/>
            <a:cxnLst/>
            <a:rect l="l" t="t" r="r" b="b"/>
            <a:pathLst>
              <a:path w="11201400" h="4876800">
                <a:moveTo>
                  <a:pt x="152400" y="0"/>
                </a:moveTo>
                <a:lnTo>
                  <a:pt x="11049000" y="0"/>
                </a:lnTo>
                <a:cubicBezTo>
                  <a:pt x="11133168" y="0"/>
                  <a:pt x="11201400" y="68232"/>
                  <a:pt x="11201400" y="152400"/>
                </a:cubicBezTo>
                <a:lnTo>
                  <a:pt x="11201400" y="4724400"/>
                </a:lnTo>
                <a:cubicBezTo>
                  <a:pt x="11201400" y="4808568"/>
                  <a:pt x="11133168" y="4876800"/>
                  <a:pt x="11049000" y="4876800"/>
                </a:cubicBezTo>
                <a:lnTo>
                  <a:pt x="152400" y="4876800"/>
                </a:lnTo>
                <a:cubicBezTo>
                  <a:pt x="68232" y="4876800"/>
                  <a:pt x="0" y="4808568"/>
                  <a:pt x="0" y="4724400"/>
                </a:cubicBezTo>
                <a:lnTo>
                  <a:pt x="0" y="152400"/>
                </a:lnTo>
                <a:cubicBezTo>
                  <a:pt x="0" y="68232"/>
                  <a:pt x="68232" y="0"/>
                  <a:pt x="152400" y="0"/>
                </a:cubicBezTo>
                <a:close/>
              </a:path>
            </a:pathLst>
          </a:custGeom>
          <a:solidFill>
            <a:srgbClr val="FFFFFF">
              <a:alpha val="78000"/>
            </a:srgbClr>
          </a:solidFill>
          <a:ln>
            <a:noFill/>
          </a:ln>
        </p:spPr>
      </p:sp>
      <p:sp>
        <p:nvSpPr>
          <p:cNvPr id="7" name="Freeform 7"/>
          <p:cNvSpPr/>
          <p:nvPr/>
        </p:nvSpPr>
        <p:spPr>
          <a:xfrm>
            <a:off x="742950" y="1724025"/>
            <a:ext cx="4953000" cy="419100"/>
          </a:xfrm>
          <a:custGeom>
            <a:avLst/>
            <a:gdLst/>
            <a:ahLst/>
            <a:cxnLst/>
            <a:rect l="l" t="t" r="r" b="b"/>
            <a:pathLst>
              <a:path w="4953000" h="419100">
                <a:moveTo>
                  <a:pt x="76200" y="0"/>
                </a:moveTo>
                <a:lnTo>
                  <a:pt x="4876800" y="0"/>
                </a:lnTo>
                <a:cubicBezTo>
                  <a:pt x="4918884" y="0"/>
                  <a:pt x="4953000" y="34116"/>
                  <a:pt x="4953000" y="76200"/>
                </a:cubicBezTo>
                <a:lnTo>
                  <a:pt x="4953000" y="342900"/>
                </a:lnTo>
                <a:cubicBezTo>
                  <a:pt x="4953000" y="384984"/>
                  <a:pt x="4918884" y="419100"/>
                  <a:pt x="4876800" y="419100"/>
                </a:cubicBezTo>
                <a:lnTo>
                  <a:pt x="76200" y="419100"/>
                </a:lnTo>
                <a:cubicBezTo>
                  <a:pt x="34116" y="419100"/>
                  <a:pt x="0" y="384984"/>
                  <a:pt x="0" y="3429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FFFFF">
              <a:alpha val="82000"/>
            </a:srgbClr>
          </a:solidFill>
          <a:ln>
            <a:noFill/>
          </a:ln>
        </p:spPr>
      </p:sp>
      <p:grpSp>
        <p:nvGrpSpPr>
          <p:cNvPr id="11" name="Group 11"/>
          <p:cNvGrpSpPr/>
          <p:nvPr/>
        </p:nvGrpSpPr>
        <p:grpSpPr>
          <a:xfrm>
            <a:off x="866775" y="1781175"/>
            <a:ext cx="171450" cy="228600"/>
            <a:chOff x="866775" y="1781175"/>
            <a:chExt cx="171450" cy="228600"/>
          </a:xfrm>
        </p:grpSpPr>
        <p:sp>
          <p:nvSpPr>
            <p:cNvPr id="8" name="Freeform 8"/>
            <p:cNvSpPr/>
            <p:nvPr/>
          </p:nvSpPr>
          <p:spPr>
            <a:xfrm>
              <a:off x="866775" y="1872615"/>
              <a:ext cx="171450" cy="65722"/>
            </a:xfrm>
            <a:custGeom>
              <a:avLst/>
              <a:gdLst/>
              <a:ahLst/>
              <a:cxnLst/>
              <a:rect l="l" t="t" r="r" b="b"/>
              <a:pathLst>
                <a:path w="171450" h="65722">
                  <a:moveTo>
                    <a:pt x="159121" y="7289"/>
                  </a:moveTo>
                  <a:cubicBezTo>
                    <a:pt x="163140" y="5279"/>
                    <a:pt x="167339" y="2855"/>
                    <a:pt x="171450" y="0"/>
                  </a:cubicBezTo>
                  <a:lnTo>
                    <a:pt x="171450" y="22860"/>
                  </a:lnTo>
                  <a:cubicBezTo>
                    <a:pt x="171450" y="46532"/>
                    <a:pt x="133069" y="65722"/>
                    <a:pt x="85725" y="65722"/>
                  </a:cubicBezTo>
                  <a:cubicBezTo>
                    <a:pt x="38380" y="65722"/>
                    <a:pt x="0" y="46532"/>
                    <a:pt x="0" y="22860"/>
                  </a:cubicBezTo>
                  <a:lnTo>
                    <a:pt x="0" y="0"/>
                  </a:lnTo>
                  <a:cubicBezTo>
                    <a:pt x="4111" y="2855"/>
                    <a:pt x="8309" y="5279"/>
                    <a:pt x="12329" y="7289"/>
                  </a:cubicBezTo>
                  <a:cubicBezTo>
                    <a:pt x="32589" y="17419"/>
                    <a:pt x="58578" y="22860"/>
                    <a:pt x="85725" y="22860"/>
                  </a:cubicBezTo>
                  <a:cubicBezTo>
                    <a:pt x="112872" y="22860"/>
                    <a:pt x="138860" y="17419"/>
                    <a:pt x="159121" y="7289"/>
                  </a:cubicBezTo>
                  <a:close/>
                </a:path>
              </a:pathLst>
            </a:custGeom>
            <a:solidFill>
              <a:srgbClr val="0074CC"/>
            </a:solidFill>
            <a:ln>
              <a:noFill/>
            </a:ln>
          </p:spPr>
        </p:sp>
        <p:sp>
          <p:nvSpPr>
            <p:cNvPr id="9" name="Freeform 9"/>
            <p:cNvSpPr/>
            <p:nvPr/>
          </p:nvSpPr>
          <p:spPr>
            <a:xfrm>
              <a:off x="866775" y="1944052"/>
              <a:ext cx="171450" cy="65723"/>
            </a:xfrm>
            <a:custGeom>
              <a:avLst/>
              <a:gdLst/>
              <a:ahLst/>
              <a:cxnLst/>
              <a:rect l="l" t="t" r="r" b="b"/>
              <a:pathLst>
                <a:path w="171450" h="65723">
                  <a:moveTo>
                    <a:pt x="0" y="0"/>
                  </a:moveTo>
                  <a:lnTo>
                    <a:pt x="0" y="22860"/>
                  </a:lnTo>
                  <a:cubicBezTo>
                    <a:pt x="0" y="46533"/>
                    <a:pt x="38380" y="65723"/>
                    <a:pt x="85725" y="65723"/>
                  </a:cubicBezTo>
                  <a:cubicBezTo>
                    <a:pt x="133069" y="65723"/>
                    <a:pt x="171450" y="46533"/>
                    <a:pt x="171450" y="22860"/>
                  </a:cubicBezTo>
                  <a:lnTo>
                    <a:pt x="171450" y="0"/>
                  </a:lnTo>
                  <a:cubicBezTo>
                    <a:pt x="167339" y="2855"/>
                    <a:pt x="163140" y="5279"/>
                    <a:pt x="159121" y="7289"/>
                  </a:cubicBezTo>
                  <a:cubicBezTo>
                    <a:pt x="138860" y="17419"/>
                    <a:pt x="112872" y="22860"/>
                    <a:pt x="85725" y="22860"/>
                  </a:cubicBezTo>
                  <a:cubicBezTo>
                    <a:pt x="58578" y="22860"/>
                    <a:pt x="32589" y="17419"/>
                    <a:pt x="12329" y="7289"/>
                  </a:cubicBezTo>
                  <a:cubicBezTo>
                    <a:pt x="8309" y="5279"/>
                    <a:pt x="4111" y="2855"/>
                    <a:pt x="0" y="0"/>
                  </a:cubicBezTo>
                  <a:close/>
                </a:path>
              </a:pathLst>
            </a:custGeom>
            <a:solidFill>
              <a:srgbClr val="0074CC"/>
            </a:solidFill>
            <a:ln>
              <a:noFill/>
            </a:ln>
          </p:spPr>
        </p:sp>
        <p:sp>
          <p:nvSpPr>
            <p:cNvPr id="10" name="Freeform 10"/>
            <p:cNvSpPr/>
            <p:nvPr/>
          </p:nvSpPr>
          <p:spPr>
            <a:xfrm>
              <a:off x="866775" y="1781175"/>
              <a:ext cx="171450" cy="85725"/>
            </a:xfrm>
            <a:custGeom>
              <a:avLst/>
              <a:gdLst/>
              <a:ahLst/>
              <a:cxnLst/>
              <a:rect l="l" t="t" r="r" b="b"/>
              <a:pathLst>
                <a:path w="171450" h="85725">
                  <a:moveTo>
                    <a:pt x="85725" y="0"/>
                  </a:moveTo>
                  <a:cubicBezTo>
                    <a:pt x="133069" y="0"/>
                    <a:pt x="171450" y="19190"/>
                    <a:pt x="171450" y="42862"/>
                  </a:cubicBezTo>
                  <a:cubicBezTo>
                    <a:pt x="171450" y="66535"/>
                    <a:pt x="133069" y="85725"/>
                    <a:pt x="85725" y="85725"/>
                  </a:cubicBezTo>
                  <a:cubicBezTo>
                    <a:pt x="38380" y="85725"/>
                    <a:pt x="0" y="66535"/>
                    <a:pt x="0" y="42862"/>
                  </a:cubicBezTo>
                  <a:cubicBezTo>
                    <a:pt x="0" y="19190"/>
                    <a:pt x="38380" y="0"/>
                    <a:pt x="85725" y="0"/>
                  </a:cubicBezTo>
                  <a:close/>
                </a:path>
              </a:pathLst>
            </a:custGeom>
            <a:solidFill>
              <a:srgbClr val="0074CC"/>
            </a:solidFill>
            <a:ln>
              <a:noFill/>
            </a:ln>
          </p:spPr>
        </p:sp>
      </p:grpSp>
      <p:sp>
        <p:nvSpPr>
          <p:cNvPr id="12" name="TextBox 12"/>
          <p:cNvSpPr txBox="1"/>
          <p:nvPr/>
        </p:nvSpPr>
        <p:spPr>
          <a:xfrm>
            <a:off x="1139190" y="1758315"/>
            <a:ext cx="3463290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0F3E68"/>
                </a:solidFill>
                <a:latin typeface="Microsoft YaHei"/>
                <a:ea typeface="Microsoft YaHei"/>
                <a:cs typeface="Microsoft YaHei"/>
              </a:rPr>
              <a:t>架构：分层清晰、模块可扩展</a:t>
            </a:r>
          </a:p>
        </p:txBody>
      </p:sp>
      <p:sp>
        <p:nvSpPr>
          <p:cNvPr id="13" name="Freeform 13"/>
          <p:cNvSpPr/>
          <p:nvPr/>
        </p:nvSpPr>
        <p:spPr>
          <a:xfrm>
            <a:off x="742950" y="2333625"/>
            <a:ext cx="4953000" cy="419100"/>
          </a:xfrm>
          <a:custGeom>
            <a:avLst/>
            <a:gdLst/>
            <a:ahLst/>
            <a:cxnLst/>
            <a:rect l="l" t="t" r="r" b="b"/>
            <a:pathLst>
              <a:path w="4953000" h="419100">
                <a:moveTo>
                  <a:pt x="76200" y="0"/>
                </a:moveTo>
                <a:lnTo>
                  <a:pt x="4876800" y="0"/>
                </a:lnTo>
                <a:cubicBezTo>
                  <a:pt x="4918884" y="0"/>
                  <a:pt x="4953000" y="34116"/>
                  <a:pt x="4953000" y="76200"/>
                </a:cubicBezTo>
                <a:lnTo>
                  <a:pt x="4953000" y="342900"/>
                </a:lnTo>
                <a:cubicBezTo>
                  <a:pt x="4953000" y="384984"/>
                  <a:pt x="4918884" y="419100"/>
                  <a:pt x="4876800" y="419100"/>
                </a:cubicBezTo>
                <a:lnTo>
                  <a:pt x="76200" y="419100"/>
                </a:lnTo>
                <a:cubicBezTo>
                  <a:pt x="34116" y="419100"/>
                  <a:pt x="0" y="384984"/>
                  <a:pt x="0" y="3429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FFFFF">
              <a:alpha val="82000"/>
            </a:srgbClr>
          </a:solidFill>
          <a:ln>
            <a:noFill/>
          </a:ln>
        </p:spPr>
      </p:sp>
      <p:grpSp>
        <p:nvGrpSpPr>
          <p:cNvPr id="19" name="Group 19"/>
          <p:cNvGrpSpPr/>
          <p:nvPr/>
        </p:nvGrpSpPr>
        <p:grpSpPr>
          <a:xfrm>
            <a:off x="838200" y="2390775"/>
            <a:ext cx="228600" cy="228600"/>
            <a:chOff x="838200" y="2390775"/>
            <a:chExt cx="228600" cy="228600"/>
          </a:xfrm>
        </p:grpSpPr>
        <p:sp>
          <p:nvSpPr>
            <p:cNvPr id="14" name="Freeform 14"/>
            <p:cNvSpPr/>
            <p:nvPr/>
          </p:nvSpPr>
          <p:spPr>
            <a:xfrm>
              <a:off x="952500" y="2390775"/>
              <a:ext cx="100012" cy="100012"/>
            </a:xfrm>
            <a:custGeom>
              <a:avLst/>
              <a:gdLst/>
              <a:ahLst/>
              <a:cxnLst/>
              <a:rect l="l" t="t" r="r" b="b"/>
              <a:pathLst>
                <a:path w="100012" h="100012">
                  <a:moveTo>
                    <a:pt x="0" y="42862"/>
                  </a:moveTo>
                  <a:lnTo>
                    <a:pt x="35719" y="35719"/>
                  </a:lnTo>
                  <a:lnTo>
                    <a:pt x="42862" y="0"/>
                  </a:lnTo>
                  <a:lnTo>
                    <a:pt x="57150" y="0"/>
                  </a:lnTo>
                  <a:lnTo>
                    <a:pt x="64294" y="35719"/>
                  </a:lnTo>
                  <a:lnTo>
                    <a:pt x="100012" y="42862"/>
                  </a:lnTo>
                  <a:lnTo>
                    <a:pt x="100012" y="57150"/>
                  </a:lnTo>
                  <a:lnTo>
                    <a:pt x="64294" y="64294"/>
                  </a:lnTo>
                  <a:lnTo>
                    <a:pt x="57150" y="100012"/>
                  </a:lnTo>
                  <a:lnTo>
                    <a:pt x="42862" y="100012"/>
                  </a:lnTo>
                  <a:lnTo>
                    <a:pt x="35719" y="64294"/>
                  </a:lnTo>
                  <a:lnTo>
                    <a:pt x="0" y="57150"/>
                  </a:lnTo>
                  <a:lnTo>
                    <a:pt x="0" y="42862"/>
                  </a:lnTo>
                  <a:close/>
                </a:path>
              </a:pathLst>
            </a:custGeom>
            <a:solidFill>
              <a:srgbClr val="0074CC"/>
            </a:solidFill>
            <a:ln>
              <a:noFill/>
            </a:ln>
          </p:spPr>
        </p:sp>
        <p:sp>
          <p:nvSpPr>
            <p:cNvPr id="15" name="Freeform 15"/>
            <p:cNvSpPr/>
            <p:nvPr/>
          </p:nvSpPr>
          <p:spPr>
            <a:xfrm>
              <a:off x="838200" y="2462212"/>
              <a:ext cx="157162" cy="157162"/>
            </a:xfrm>
            <a:custGeom>
              <a:avLst/>
              <a:gdLst/>
              <a:ahLst/>
              <a:cxnLst/>
              <a:rect l="l" t="t" r="r" b="b"/>
              <a:pathLst>
                <a:path w="157162" h="157162">
                  <a:moveTo>
                    <a:pt x="0" y="85725"/>
                  </a:moveTo>
                  <a:lnTo>
                    <a:pt x="0" y="71438"/>
                  </a:lnTo>
                  <a:lnTo>
                    <a:pt x="57150" y="57150"/>
                  </a:lnTo>
                  <a:lnTo>
                    <a:pt x="71438" y="0"/>
                  </a:lnTo>
                  <a:lnTo>
                    <a:pt x="85725" y="0"/>
                  </a:lnTo>
                  <a:lnTo>
                    <a:pt x="100012" y="57150"/>
                  </a:lnTo>
                  <a:lnTo>
                    <a:pt x="157162" y="71438"/>
                  </a:lnTo>
                  <a:lnTo>
                    <a:pt x="157162" y="85725"/>
                  </a:lnTo>
                  <a:lnTo>
                    <a:pt x="100012" y="100012"/>
                  </a:lnTo>
                  <a:lnTo>
                    <a:pt x="85725" y="157162"/>
                  </a:lnTo>
                  <a:lnTo>
                    <a:pt x="71438" y="157162"/>
                  </a:lnTo>
                  <a:lnTo>
                    <a:pt x="57150" y="100012"/>
                  </a:lnTo>
                  <a:lnTo>
                    <a:pt x="0" y="85725"/>
                  </a:lnTo>
                  <a:close/>
                </a:path>
              </a:pathLst>
            </a:custGeom>
            <a:solidFill>
              <a:srgbClr val="0074CC"/>
            </a:solidFill>
            <a:ln>
              <a:noFill/>
            </a:ln>
          </p:spPr>
        </p:sp>
        <p:sp>
          <p:nvSpPr>
            <p:cNvPr id="16" name="Freeform 16"/>
            <p:cNvSpPr/>
            <p:nvPr/>
          </p:nvSpPr>
          <p:spPr>
            <a:xfrm>
              <a:off x="852488" y="2397919"/>
              <a:ext cx="42862" cy="42862"/>
            </a:xfrm>
            <a:custGeom>
              <a:avLst/>
              <a:gdLst/>
              <a:ahLst/>
              <a:cxnLst/>
              <a:rect l="l" t="t" r="r" b="b"/>
              <a:pathLst>
                <a:path w="42862" h="42862">
                  <a:moveTo>
                    <a:pt x="0" y="21431"/>
                  </a:moveTo>
                  <a:lnTo>
                    <a:pt x="21431" y="0"/>
                  </a:lnTo>
                  <a:lnTo>
                    <a:pt x="42862" y="21431"/>
                  </a:lnTo>
                  <a:lnTo>
                    <a:pt x="21431" y="42862"/>
                  </a:lnTo>
                  <a:lnTo>
                    <a:pt x="0" y="21431"/>
                  </a:lnTo>
                  <a:close/>
                </a:path>
              </a:pathLst>
            </a:custGeom>
            <a:solidFill>
              <a:srgbClr val="0074CC"/>
            </a:solidFill>
            <a:ln>
              <a:noFill/>
            </a:ln>
          </p:spPr>
        </p:sp>
        <p:sp>
          <p:nvSpPr>
            <p:cNvPr id="17" name="Freeform 17"/>
            <p:cNvSpPr/>
            <p:nvPr/>
          </p:nvSpPr>
          <p:spPr>
            <a:xfrm>
              <a:off x="995362" y="2562225"/>
              <a:ext cx="57150" cy="57150"/>
            </a:xfrm>
            <a:custGeom>
              <a:avLst/>
              <a:gdLst/>
              <a:ahLst/>
              <a:cxnLst/>
              <a:rect l="l" t="t" r="r" b="b"/>
              <a:pathLst>
                <a:path w="57150" h="57150">
                  <a:moveTo>
                    <a:pt x="57150" y="28575"/>
                  </a:moveTo>
                  <a:lnTo>
                    <a:pt x="28575" y="0"/>
                  </a:lnTo>
                  <a:lnTo>
                    <a:pt x="0" y="28575"/>
                  </a:lnTo>
                  <a:lnTo>
                    <a:pt x="28575" y="57150"/>
                  </a:lnTo>
                  <a:lnTo>
                    <a:pt x="57150" y="28575"/>
                  </a:lnTo>
                  <a:close/>
                </a:path>
              </a:pathLst>
            </a:custGeom>
            <a:solidFill>
              <a:srgbClr val="0074CC"/>
            </a:solidFill>
            <a:ln>
              <a:noFill/>
            </a:ln>
          </p:spPr>
        </p:sp>
        <p:sp>
          <p:nvSpPr>
            <p:cNvPr id="18" name="Freeform 18"/>
            <p:cNvSpPr/>
            <p:nvPr/>
          </p:nvSpPr>
          <p:spPr>
            <a:xfrm>
              <a:off x="1038225" y="2505075"/>
              <a:ext cx="28575" cy="28575"/>
            </a:xfrm>
            <a:custGeom>
              <a:avLst/>
              <a:gdLst/>
              <a:ahLst/>
              <a:cxnLst/>
              <a:rect l="l" t="t" r="r" b="b"/>
              <a:pathLst>
                <a:path w="28575" h="28575">
                  <a:moveTo>
                    <a:pt x="14288" y="28575"/>
                  </a:moveTo>
                  <a:cubicBezTo>
                    <a:pt x="22178" y="28575"/>
                    <a:pt x="28575" y="22178"/>
                    <a:pt x="28575" y="14288"/>
                  </a:cubicBezTo>
                  <a:cubicBezTo>
                    <a:pt x="28575" y="6397"/>
                    <a:pt x="22178" y="0"/>
                    <a:pt x="14288" y="0"/>
                  </a:cubicBezTo>
                  <a:cubicBezTo>
                    <a:pt x="6397" y="0"/>
                    <a:pt x="0" y="6397"/>
                    <a:pt x="0" y="14288"/>
                  </a:cubicBezTo>
                  <a:cubicBezTo>
                    <a:pt x="0" y="22178"/>
                    <a:pt x="6397" y="28575"/>
                    <a:pt x="14288" y="28575"/>
                  </a:cubicBezTo>
                  <a:close/>
                </a:path>
              </a:pathLst>
            </a:custGeom>
            <a:solidFill>
              <a:srgbClr val="0074CC"/>
            </a:solidFill>
            <a:ln>
              <a:noFill/>
            </a:ln>
          </p:spPr>
        </p:sp>
      </p:grpSp>
      <p:sp>
        <p:nvSpPr>
          <p:cNvPr id="20" name="TextBox 20"/>
          <p:cNvSpPr txBox="1"/>
          <p:nvPr/>
        </p:nvSpPr>
        <p:spPr>
          <a:xfrm>
            <a:off x="1139190" y="2367915"/>
            <a:ext cx="3463290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0F3E68"/>
                </a:solidFill>
                <a:latin typeface="Microsoft YaHei"/>
                <a:ea typeface="Microsoft YaHei"/>
                <a:cs typeface="Microsoft YaHei"/>
              </a:rPr>
              <a:t>能力：统一检索、分析、生成</a:t>
            </a:r>
          </a:p>
        </p:txBody>
      </p:sp>
      <p:sp>
        <p:nvSpPr>
          <p:cNvPr id="21" name="Freeform 21"/>
          <p:cNvSpPr/>
          <p:nvPr/>
        </p:nvSpPr>
        <p:spPr>
          <a:xfrm>
            <a:off x="742950" y="2943225"/>
            <a:ext cx="4953000" cy="419100"/>
          </a:xfrm>
          <a:custGeom>
            <a:avLst/>
            <a:gdLst/>
            <a:ahLst/>
            <a:cxnLst/>
            <a:rect l="l" t="t" r="r" b="b"/>
            <a:pathLst>
              <a:path w="4953000" h="419100">
                <a:moveTo>
                  <a:pt x="76200" y="0"/>
                </a:moveTo>
                <a:lnTo>
                  <a:pt x="4876800" y="0"/>
                </a:lnTo>
                <a:cubicBezTo>
                  <a:pt x="4918884" y="0"/>
                  <a:pt x="4953000" y="34116"/>
                  <a:pt x="4953000" y="76200"/>
                </a:cubicBezTo>
                <a:lnTo>
                  <a:pt x="4953000" y="342900"/>
                </a:lnTo>
                <a:cubicBezTo>
                  <a:pt x="4953000" y="384984"/>
                  <a:pt x="4918884" y="419100"/>
                  <a:pt x="4876800" y="419100"/>
                </a:cubicBezTo>
                <a:lnTo>
                  <a:pt x="76200" y="419100"/>
                </a:lnTo>
                <a:cubicBezTo>
                  <a:pt x="34116" y="419100"/>
                  <a:pt x="0" y="384984"/>
                  <a:pt x="0" y="3429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FFFFF">
              <a:alpha val="82000"/>
            </a:srgbClr>
          </a:solidFill>
          <a:ln>
            <a:noFill/>
          </a:ln>
        </p:spPr>
      </p:sp>
      <p:grpSp>
        <p:nvGrpSpPr>
          <p:cNvPr id="24" name="Group 24"/>
          <p:cNvGrpSpPr/>
          <p:nvPr/>
        </p:nvGrpSpPr>
        <p:grpSpPr>
          <a:xfrm>
            <a:off x="852488" y="3014662"/>
            <a:ext cx="200025" cy="200026"/>
            <a:chOff x="852488" y="3014662"/>
            <a:chExt cx="200025" cy="200026"/>
          </a:xfrm>
        </p:grpSpPr>
        <p:sp>
          <p:nvSpPr>
            <p:cNvPr id="22" name="Freeform 22"/>
            <p:cNvSpPr/>
            <p:nvPr/>
          </p:nvSpPr>
          <p:spPr>
            <a:xfrm>
              <a:off x="852488" y="3014662"/>
              <a:ext cx="200025" cy="125215"/>
            </a:xfrm>
            <a:custGeom>
              <a:avLst/>
              <a:gdLst/>
              <a:ahLst/>
              <a:cxnLst/>
              <a:rect l="l" t="t" r="r" b="b"/>
              <a:pathLst>
                <a:path w="200025" h="125215">
                  <a:moveTo>
                    <a:pt x="200025" y="0"/>
                  </a:moveTo>
                  <a:lnTo>
                    <a:pt x="0" y="0"/>
                  </a:lnTo>
                  <a:lnTo>
                    <a:pt x="0" y="85725"/>
                  </a:lnTo>
                  <a:lnTo>
                    <a:pt x="34032" y="85725"/>
                  </a:lnTo>
                  <a:lnTo>
                    <a:pt x="55464" y="42862"/>
                  </a:lnTo>
                  <a:lnTo>
                    <a:pt x="87411" y="42862"/>
                  </a:lnTo>
                  <a:lnTo>
                    <a:pt x="128588" y="125215"/>
                  </a:lnTo>
                  <a:lnTo>
                    <a:pt x="148333" y="85725"/>
                  </a:lnTo>
                  <a:lnTo>
                    <a:pt x="200025" y="85725"/>
                  </a:lnTo>
                  <a:lnTo>
                    <a:pt x="200025" y="0"/>
                  </a:lnTo>
                  <a:close/>
                </a:path>
              </a:pathLst>
            </a:custGeom>
            <a:solidFill>
              <a:srgbClr val="0074CC"/>
            </a:solidFill>
            <a:ln>
              <a:noFill/>
            </a:ln>
          </p:spPr>
        </p:sp>
        <p:sp>
          <p:nvSpPr>
            <p:cNvPr id="23" name="Freeform 23"/>
            <p:cNvSpPr/>
            <p:nvPr/>
          </p:nvSpPr>
          <p:spPr>
            <a:xfrm>
              <a:off x="852488" y="3089473"/>
              <a:ext cx="200025" cy="125215"/>
            </a:xfrm>
            <a:custGeom>
              <a:avLst/>
              <a:gdLst/>
              <a:ahLst/>
              <a:cxnLst/>
              <a:rect l="l" t="t" r="r" b="b"/>
              <a:pathLst>
                <a:path w="200025" h="125215">
                  <a:moveTo>
                    <a:pt x="200025" y="39490"/>
                  </a:moveTo>
                  <a:lnTo>
                    <a:pt x="165992" y="39490"/>
                  </a:lnTo>
                  <a:lnTo>
                    <a:pt x="144561" y="82352"/>
                  </a:lnTo>
                  <a:lnTo>
                    <a:pt x="112614" y="82352"/>
                  </a:lnTo>
                  <a:lnTo>
                    <a:pt x="71438" y="0"/>
                  </a:lnTo>
                  <a:lnTo>
                    <a:pt x="51693" y="39490"/>
                  </a:lnTo>
                  <a:lnTo>
                    <a:pt x="0" y="39490"/>
                  </a:lnTo>
                  <a:lnTo>
                    <a:pt x="0" y="125215"/>
                  </a:lnTo>
                  <a:lnTo>
                    <a:pt x="200025" y="125215"/>
                  </a:lnTo>
                  <a:lnTo>
                    <a:pt x="200025" y="39490"/>
                  </a:lnTo>
                  <a:close/>
                </a:path>
              </a:pathLst>
            </a:custGeom>
            <a:solidFill>
              <a:srgbClr val="0074CC"/>
            </a:solidFill>
            <a:ln>
              <a:noFill/>
            </a:ln>
          </p:spPr>
        </p:sp>
      </p:grpSp>
      <p:sp>
        <p:nvSpPr>
          <p:cNvPr id="25" name="TextBox 25"/>
          <p:cNvSpPr txBox="1"/>
          <p:nvPr/>
        </p:nvSpPr>
        <p:spPr>
          <a:xfrm>
            <a:off x="1139190" y="2977515"/>
            <a:ext cx="3726180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0F3E68"/>
                </a:solidFill>
                <a:latin typeface="Microsoft YaHei"/>
                <a:ea typeface="Microsoft YaHei"/>
                <a:cs typeface="Microsoft YaHei"/>
              </a:rPr>
              <a:t>治理：可观测、可追踪、可审计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55" y="0"/>
            <a:ext cx="12151042" cy="6858000"/>
          </a:xfrm>
          <a:prstGeom prst="rect">
            <a:avLst/>
          </a:prstGeom>
        </p:spPr>
      </p:pic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4000"/>
            </a:srgbClr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346710" y="489585"/>
            <a:ext cx="4209098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004C8B"/>
                </a:solidFill>
                <a:latin typeface="Microsoft YaHei"/>
                <a:ea typeface="Microsoft YaHei"/>
                <a:cs typeface="Microsoft YaHei"/>
              </a:rPr>
              <a:t>端到端流程与交付闭环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358140" y="1120140"/>
            <a:ext cx="11363134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004C8B"/>
                </a:solidFill>
                <a:latin typeface="Microsoft YaHei"/>
                <a:ea typeface="Microsoft YaHei"/>
                <a:cs typeface="Microsoft YaHei"/>
              </a:rPr>
              <a:t>围绕需求受理、数据准备、模型执行、结果评审、发布运营构建标准流程，确保结果可复现。</a:t>
            </a:r>
          </a:p>
        </p:txBody>
      </p:sp>
      <p:sp>
        <p:nvSpPr>
          <p:cNvPr id="6" name="Freeform 6"/>
          <p:cNvSpPr/>
          <p:nvPr/>
        </p:nvSpPr>
        <p:spPr>
          <a:xfrm>
            <a:off x="400050" y="1562100"/>
            <a:ext cx="11391900" cy="4762500"/>
          </a:xfrm>
          <a:custGeom>
            <a:avLst/>
            <a:gdLst/>
            <a:ahLst/>
            <a:cxnLst/>
            <a:rect l="l" t="t" r="r" b="b"/>
            <a:pathLst>
              <a:path w="11391900" h="4762500">
                <a:moveTo>
                  <a:pt x="171450" y="0"/>
                </a:moveTo>
                <a:lnTo>
                  <a:pt x="11220450" y="0"/>
                </a:lnTo>
                <a:cubicBezTo>
                  <a:pt x="11315139" y="0"/>
                  <a:pt x="11391900" y="76761"/>
                  <a:pt x="11391900" y="171450"/>
                </a:cubicBezTo>
                <a:lnTo>
                  <a:pt x="11391900" y="4591050"/>
                </a:lnTo>
                <a:cubicBezTo>
                  <a:pt x="11391900" y="4685739"/>
                  <a:pt x="11315139" y="4762500"/>
                  <a:pt x="11220450" y="4762500"/>
                </a:cubicBezTo>
                <a:lnTo>
                  <a:pt x="171450" y="4762500"/>
                </a:lnTo>
                <a:cubicBezTo>
                  <a:pt x="76761" y="4762500"/>
                  <a:pt x="0" y="4685739"/>
                  <a:pt x="0" y="4591050"/>
                </a:cubicBezTo>
                <a:lnTo>
                  <a:pt x="0" y="171450"/>
                </a:lnTo>
                <a:cubicBezTo>
                  <a:pt x="0" y="76761"/>
                  <a:pt x="76761" y="0"/>
                  <a:pt x="171450" y="0"/>
                </a:cubicBezTo>
                <a:close/>
              </a:path>
            </a:pathLst>
          </a:custGeom>
          <a:solidFill>
            <a:srgbClr val="F7FBFF">
              <a:alpha val="96000"/>
            </a:srgbClr>
          </a:solidFill>
          <a:ln>
            <a:noFill/>
          </a:ln>
        </p:spPr>
      </p:sp>
      <p:sp>
        <p:nvSpPr>
          <p:cNvPr id="7" name="Freeform 7"/>
          <p:cNvSpPr/>
          <p:nvPr/>
        </p:nvSpPr>
        <p:spPr>
          <a:xfrm>
            <a:off x="533400" y="1733550"/>
            <a:ext cx="5543550" cy="2038350"/>
          </a:xfrm>
          <a:custGeom>
            <a:avLst/>
            <a:gdLst/>
            <a:ahLst/>
            <a:cxnLst/>
            <a:rect l="l" t="t" r="r" b="b"/>
            <a:pathLst>
              <a:path w="5543550" h="2038350">
                <a:moveTo>
                  <a:pt x="114300" y="0"/>
                </a:moveTo>
                <a:lnTo>
                  <a:pt x="5429250" y="0"/>
                </a:lnTo>
                <a:cubicBezTo>
                  <a:pt x="5492376" y="0"/>
                  <a:pt x="5543550" y="51174"/>
                  <a:pt x="5543550" y="114300"/>
                </a:cubicBezTo>
                <a:lnTo>
                  <a:pt x="5543550" y="1924050"/>
                </a:lnTo>
                <a:cubicBezTo>
                  <a:pt x="5543550" y="1987176"/>
                  <a:pt x="5492376" y="2038350"/>
                  <a:pt x="5429250" y="2038350"/>
                </a:cubicBezTo>
                <a:lnTo>
                  <a:pt x="114300" y="2038350"/>
                </a:lnTo>
                <a:cubicBezTo>
                  <a:pt x="51174" y="2038350"/>
                  <a:pt x="0" y="1987176"/>
                  <a:pt x="0" y="192405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2C7BC0"/>
            </a:solidFill>
          </a:ln>
        </p:spPr>
      </p:sp>
      <p:sp>
        <p:nvSpPr>
          <p:cNvPr id="8" name="Freeform 8"/>
          <p:cNvSpPr/>
          <p:nvPr/>
        </p:nvSpPr>
        <p:spPr>
          <a:xfrm>
            <a:off x="6210300" y="1733550"/>
            <a:ext cx="5448300" cy="2038350"/>
          </a:xfrm>
          <a:custGeom>
            <a:avLst/>
            <a:gdLst/>
            <a:ahLst/>
            <a:cxnLst/>
            <a:rect l="l" t="t" r="r" b="b"/>
            <a:pathLst>
              <a:path w="5448300" h="2038350">
                <a:moveTo>
                  <a:pt x="114300" y="0"/>
                </a:moveTo>
                <a:lnTo>
                  <a:pt x="5334000" y="0"/>
                </a:lnTo>
                <a:cubicBezTo>
                  <a:pt x="5397126" y="0"/>
                  <a:pt x="5448300" y="51174"/>
                  <a:pt x="5448300" y="114300"/>
                </a:cubicBezTo>
                <a:lnTo>
                  <a:pt x="5448300" y="1924050"/>
                </a:lnTo>
                <a:cubicBezTo>
                  <a:pt x="5448300" y="1987176"/>
                  <a:pt x="5397126" y="2038350"/>
                  <a:pt x="5334000" y="2038350"/>
                </a:cubicBezTo>
                <a:lnTo>
                  <a:pt x="114300" y="2038350"/>
                </a:lnTo>
                <a:cubicBezTo>
                  <a:pt x="51174" y="2038350"/>
                  <a:pt x="0" y="1987176"/>
                  <a:pt x="0" y="192405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3D74B8"/>
            </a:solidFill>
          </a:ln>
        </p:spPr>
      </p:sp>
      <p:sp>
        <p:nvSpPr>
          <p:cNvPr id="9" name="Freeform 9"/>
          <p:cNvSpPr/>
          <p:nvPr/>
        </p:nvSpPr>
        <p:spPr>
          <a:xfrm>
            <a:off x="533400" y="1733550"/>
            <a:ext cx="5543550" cy="495300"/>
          </a:xfrm>
          <a:custGeom>
            <a:avLst/>
            <a:gdLst/>
            <a:ahLst/>
            <a:cxnLst/>
            <a:rect l="l" t="t" r="r" b="b"/>
            <a:pathLst>
              <a:path w="5543550" h="495300">
                <a:moveTo>
                  <a:pt x="114300" y="0"/>
                </a:moveTo>
                <a:lnTo>
                  <a:pt x="5429250" y="0"/>
                </a:lnTo>
                <a:cubicBezTo>
                  <a:pt x="5492376" y="0"/>
                  <a:pt x="5543550" y="51174"/>
                  <a:pt x="5543550" y="114300"/>
                </a:cubicBezTo>
                <a:lnTo>
                  <a:pt x="5543550" y="381000"/>
                </a:lnTo>
                <a:cubicBezTo>
                  <a:pt x="5543550" y="444126"/>
                  <a:pt x="5492376" y="495300"/>
                  <a:pt x="5429250" y="495300"/>
                </a:cubicBezTo>
                <a:lnTo>
                  <a:pt x="114300" y="495300"/>
                </a:lnTo>
                <a:cubicBezTo>
                  <a:pt x="51174" y="495300"/>
                  <a:pt x="0" y="444126"/>
                  <a:pt x="0" y="38100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18366B"/>
          </a:solidFill>
          <a:ln>
            <a:noFill/>
          </a:ln>
        </p:spPr>
      </p:sp>
      <p:sp>
        <p:nvSpPr>
          <p:cNvPr id="10" name="Freeform 10"/>
          <p:cNvSpPr/>
          <p:nvPr/>
        </p:nvSpPr>
        <p:spPr>
          <a:xfrm>
            <a:off x="6210300" y="1733550"/>
            <a:ext cx="5448300" cy="495300"/>
          </a:xfrm>
          <a:custGeom>
            <a:avLst/>
            <a:gdLst/>
            <a:ahLst/>
            <a:cxnLst/>
            <a:rect l="l" t="t" r="r" b="b"/>
            <a:pathLst>
              <a:path w="5448300" h="495300">
                <a:moveTo>
                  <a:pt x="114300" y="0"/>
                </a:moveTo>
                <a:lnTo>
                  <a:pt x="5334000" y="0"/>
                </a:lnTo>
                <a:cubicBezTo>
                  <a:pt x="5397126" y="0"/>
                  <a:pt x="5448300" y="51174"/>
                  <a:pt x="5448300" y="114300"/>
                </a:cubicBezTo>
                <a:lnTo>
                  <a:pt x="5448300" y="381000"/>
                </a:lnTo>
                <a:cubicBezTo>
                  <a:pt x="5448300" y="444126"/>
                  <a:pt x="5397126" y="495300"/>
                  <a:pt x="5334000" y="495300"/>
                </a:cubicBezTo>
                <a:lnTo>
                  <a:pt x="114300" y="495300"/>
                </a:lnTo>
                <a:cubicBezTo>
                  <a:pt x="51174" y="495300"/>
                  <a:pt x="0" y="444126"/>
                  <a:pt x="0" y="38100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3D74B8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699135" y="1723072"/>
            <a:ext cx="5457651" cy="7010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45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一期 — 自营超深水气田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6376035" y="1723072"/>
            <a:ext cx="4928585" cy="7010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45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二期 — 深水高压气田</a:t>
            </a:r>
          </a:p>
        </p:txBody>
      </p:sp>
      <p:sp>
        <p:nvSpPr>
          <p:cNvPr id="13" name="Freeform 13"/>
          <p:cNvSpPr/>
          <p:nvPr/>
        </p:nvSpPr>
        <p:spPr>
          <a:xfrm>
            <a:off x="742950" y="2400300"/>
            <a:ext cx="1600200" cy="685800"/>
          </a:xfrm>
          <a:custGeom>
            <a:avLst/>
            <a:gdLst/>
            <a:ahLst/>
            <a:cxnLst/>
            <a:rect l="l" t="t" r="r" b="b"/>
            <a:pathLst>
              <a:path w="1600200" h="685800">
                <a:moveTo>
                  <a:pt x="114300" y="0"/>
                </a:moveTo>
                <a:lnTo>
                  <a:pt x="1485900" y="0"/>
                </a:lnTo>
                <a:cubicBezTo>
                  <a:pt x="1549026" y="0"/>
                  <a:pt x="1600200" y="51174"/>
                  <a:pt x="1600200" y="114300"/>
                </a:cubicBezTo>
                <a:lnTo>
                  <a:pt x="1600200" y="571500"/>
                </a:lnTo>
                <a:cubicBezTo>
                  <a:pt x="1600200" y="634626"/>
                  <a:pt x="1549026" y="685800"/>
                  <a:pt x="1485900" y="685800"/>
                </a:cubicBezTo>
                <a:lnTo>
                  <a:pt x="114300" y="685800"/>
                </a:lnTo>
                <a:cubicBezTo>
                  <a:pt x="51174" y="685800"/>
                  <a:pt x="0" y="634626"/>
                  <a:pt x="0" y="57150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18366B"/>
          </a:solidFill>
          <a:ln>
            <a:noFill/>
          </a:ln>
        </p:spPr>
      </p:sp>
      <p:sp>
        <p:nvSpPr>
          <p:cNvPr id="14" name="Freeform 14"/>
          <p:cNvSpPr/>
          <p:nvPr/>
        </p:nvSpPr>
        <p:spPr>
          <a:xfrm>
            <a:off x="2457450" y="2400300"/>
            <a:ext cx="1600200" cy="685800"/>
          </a:xfrm>
          <a:custGeom>
            <a:avLst/>
            <a:gdLst/>
            <a:ahLst/>
            <a:cxnLst/>
            <a:rect l="l" t="t" r="r" b="b"/>
            <a:pathLst>
              <a:path w="1600200" h="685800">
                <a:moveTo>
                  <a:pt x="114300" y="0"/>
                </a:moveTo>
                <a:lnTo>
                  <a:pt x="1485900" y="0"/>
                </a:lnTo>
                <a:cubicBezTo>
                  <a:pt x="1549026" y="0"/>
                  <a:pt x="1600200" y="51174"/>
                  <a:pt x="1600200" y="114300"/>
                </a:cubicBezTo>
                <a:lnTo>
                  <a:pt x="1600200" y="571500"/>
                </a:lnTo>
                <a:cubicBezTo>
                  <a:pt x="1600200" y="634626"/>
                  <a:pt x="1549026" y="685800"/>
                  <a:pt x="1485900" y="685800"/>
                </a:cubicBezTo>
                <a:lnTo>
                  <a:pt x="114300" y="685800"/>
                </a:lnTo>
                <a:cubicBezTo>
                  <a:pt x="51174" y="685800"/>
                  <a:pt x="0" y="634626"/>
                  <a:pt x="0" y="57150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3D74B8"/>
          </a:solidFill>
          <a:ln>
            <a:noFill/>
          </a:ln>
        </p:spPr>
      </p:sp>
      <p:sp>
        <p:nvSpPr>
          <p:cNvPr id="15" name="Freeform 15"/>
          <p:cNvSpPr/>
          <p:nvPr/>
        </p:nvSpPr>
        <p:spPr>
          <a:xfrm>
            <a:off x="4171950" y="2400300"/>
            <a:ext cx="1695450" cy="685800"/>
          </a:xfrm>
          <a:custGeom>
            <a:avLst/>
            <a:gdLst/>
            <a:ahLst/>
            <a:cxnLst/>
            <a:rect l="l" t="t" r="r" b="b"/>
            <a:pathLst>
              <a:path w="1695450" h="685800">
                <a:moveTo>
                  <a:pt x="114300" y="0"/>
                </a:moveTo>
                <a:lnTo>
                  <a:pt x="1581150" y="0"/>
                </a:lnTo>
                <a:cubicBezTo>
                  <a:pt x="1644276" y="0"/>
                  <a:pt x="1695450" y="51174"/>
                  <a:pt x="1695450" y="114300"/>
                </a:cubicBezTo>
                <a:lnTo>
                  <a:pt x="1695450" y="571500"/>
                </a:lnTo>
                <a:cubicBezTo>
                  <a:pt x="1695450" y="634626"/>
                  <a:pt x="1644276" y="685800"/>
                  <a:pt x="1581150" y="685800"/>
                </a:cubicBezTo>
                <a:lnTo>
                  <a:pt x="114300" y="685800"/>
                </a:lnTo>
                <a:cubicBezTo>
                  <a:pt x="51174" y="685800"/>
                  <a:pt x="0" y="634626"/>
                  <a:pt x="0" y="57150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BF5A24"/>
          </a:solidFill>
          <a:ln>
            <a:noFill/>
          </a:ln>
        </p:spPr>
      </p:sp>
      <p:sp>
        <p:nvSpPr>
          <p:cNvPr id="16" name="TextBox 16"/>
          <p:cNvSpPr txBox="1"/>
          <p:nvPr/>
        </p:nvSpPr>
        <p:spPr>
          <a:xfrm>
            <a:off x="482364" y="2439352"/>
            <a:ext cx="2121372" cy="8229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40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1500+m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2119229" y="2439352"/>
            <a:ext cx="2276642" cy="8229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40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5000+m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4182368" y="2439352"/>
            <a:ext cx="1655564" cy="8229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40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138°C</a:t>
            </a:r>
          </a:p>
        </p:txBody>
      </p:sp>
      <p:sp>
        <p:nvSpPr>
          <p:cNvPr id="19" name="Freeform 19"/>
          <p:cNvSpPr/>
          <p:nvPr/>
        </p:nvSpPr>
        <p:spPr>
          <a:xfrm>
            <a:off x="6419850" y="2400300"/>
            <a:ext cx="2457450" cy="514350"/>
          </a:xfrm>
          <a:custGeom>
            <a:avLst/>
            <a:gdLst/>
            <a:ahLst/>
            <a:cxnLst/>
            <a:rect l="l" t="t" r="r" b="b"/>
            <a:pathLst>
              <a:path w="2457450" h="514350">
                <a:moveTo>
                  <a:pt x="95250" y="0"/>
                </a:moveTo>
                <a:lnTo>
                  <a:pt x="2362200" y="0"/>
                </a:lnTo>
                <a:cubicBezTo>
                  <a:pt x="2414805" y="0"/>
                  <a:pt x="2457450" y="42645"/>
                  <a:pt x="2457450" y="95250"/>
                </a:cubicBezTo>
                <a:lnTo>
                  <a:pt x="2457450" y="419100"/>
                </a:lnTo>
                <a:cubicBezTo>
                  <a:pt x="2457450" y="471705"/>
                  <a:pt x="2414805" y="514350"/>
                  <a:pt x="2362200" y="514350"/>
                </a:cubicBezTo>
                <a:lnTo>
                  <a:pt x="95250" y="514350"/>
                </a:lnTo>
                <a:cubicBezTo>
                  <a:pt x="42645" y="514350"/>
                  <a:pt x="0" y="471705"/>
                  <a:pt x="0" y="41910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18366B"/>
          </a:solidFill>
          <a:ln>
            <a:noFill/>
          </a:ln>
        </p:spPr>
      </p:sp>
      <p:sp>
        <p:nvSpPr>
          <p:cNvPr id="20" name="Freeform 20"/>
          <p:cNvSpPr/>
          <p:nvPr/>
        </p:nvSpPr>
        <p:spPr>
          <a:xfrm>
            <a:off x="9010650" y="2400300"/>
            <a:ext cx="2457450" cy="514350"/>
          </a:xfrm>
          <a:custGeom>
            <a:avLst/>
            <a:gdLst/>
            <a:ahLst/>
            <a:cxnLst/>
            <a:rect l="l" t="t" r="r" b="b"/>
            <a:pathLst>
              <a:path w="2457450" h="514350">
                <a:moveTo>
                  <a:pt x="95250" y="0"/>
                </a:moveTo>
                <a:lnTo>
                  <a:pt x="2362200" y="0"/>
                </a:lnTo>
                <a:cubicBezTo>
                  <a:pt x="2414805" y="0"/>
                  <a:pt x="2457450" y="42645"/>
                  <a:pt x="2457450" y="95250"/>
                </a:cubicBezTo>
                <a:lnTo>
                  <a:pt x="2457450" y="419100"/>
                </a:lnTo>
                <a:cubicBezTo>
                  <a:pt x="2457450" y="471705"/>
                  <a:pt x="2414805" y="514350"/>
                  <a:pt x="2362200" y="514350"/>
                </a:cubicBezTo>
                <a:lnTo>
                  <a:pt x="95250" y="514350"/>
                </a:lnTo>
                <a:cubicBezTo>
                  <a:pt x="42645" y="514350"/>
                  <a:pt x="0" y="471705"/>
                  <a:pt x="0" y="41910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4A8E3B"/>
          </a:solidFill>
          <a:ln>
            <a:noFill/>
          </a:ln>
        </p:spPr>
      </p:sp>
      <p:sp>
        <p:nvSpPr>
          <p:cNvPr id="21" name="TextBox 21"/>
          <p:cNvSpPr txBox="1"/>
          <p:nvPr/>
        </p:nvSpPr>
        <p:spPr>
          <a:xfrm>
            <a:off x="7136041" y="2357438"/>
            <a:ext cx="1044119" cy="762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37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30%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9621530" y="2357438"/>
            <a:ext cx="1216640" cy="762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37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100%</a:t>
            </a:r>
          </a:p>
        </p:txBody>
      </p:sp>
      <p:sp>
        <p:nvSpPr>
          <p:cNvPr id="23" name="Freeform 23"/>
          <p:cNvSpPr/>
          <p:nvPr/>
        </p:nvSpPr>
        <p:spPr>
          <a:xfrm>
            <a:off x="533400" y="3981450"/>
            <a:ext cx="11125200" cy="2209800"/>
          </a:xfrm>
          <a:custGeom>
            <a:avLst/>
            <a:gdLst/>
            <a:ahLst/>
            <a:cxnLst/>
            <a:rect l="l" t="t" r="r" b="b"/>
            <a:pathLst>
              <a:path w="11125200" h="2209800">
                <a:moveTo>
                  <a:pt x="114300" y="0"/>
                </a:moveTo>
                <a:lnTo>
                  <a:pt x="11010900" y="0"/>
                </a:lnTo>
                <a:cubicBezTo>
                  <a:pt x="11074026" y="0"/>
                  <a:pt x="11125200" y="51174"/>
                  <a:pt x="11125200" y="114300"/>
                </a:cubicBezTo>
                <a:lnTo>
                  <a:pt x="11125200" y="2095500"/>
                </a:lnTo>
                <a:cubicBezTo>
                  <a:pt x="11125200" y="2158626"/>
                  <a:pt x="11074026" y="2209800"/>
                  <a:pt x="11010900" y="2209800"/>
                </a:cubicBezTo>
                <a:lnTo>
                  <a:pt x="114300" y="2209800"/>
                </a:lnTo>
                <a:cubicBezTo>
                  <a:pt x="51174" y="2209800"/>
                  <a:pt x="0" y="2158626"/>
                  <a:pt x="0" y="209550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DCE8F5"/>
            </a:solidFill>
          </a:ln>
        </p:spPr>
      </p:sp>
      <p:sp>
        <p:nvSpPr>
          <p:cNvPr id="24" name="TextBox 24"/>
          <p:cNvSpPr txBox="1"/>
          <p:nvPr/>
        </p:nvSpPr>
        <p:spPr>
          <a:xfrm>
            <a:off x="3842004" y="3992880"/>
            <a:ext cx="4507992" cy="7315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3600" b="1" dirty="0">
                <a:solidFill>
                  <a:srgbClr val="18366B"/>
                </a:solidFill>
                <a:latin typeface="Microsoft YaHei"/>
                <a:ea typeface="Microsoft YaHei"/>
                <a:cs typeface="Microsoft YaHei"/>
              </a:rPr>
              <a:t>攻克核心技术难题</a:t>
            </a:r>
          </a:p>
        </p:txBody>
      </p:sp>
      <p:sp>
        <p:nvSpPr>
          <p:cNvPr id="25" name="Freeform 25"/>
          <p:cNvSpPr/>
          <p:nvPr/>
        </p:nvSpPr>
        <p:spPr>
          <a:xfrm>
            <a:off x="781050" y="4648200"/>
            <a:ext cx="2000250" cy="1314450"/>
          </a:xfrm>
          <a:custGeom>
            <a:avLst/>
            <a:gdLst/>
            <a:ahLst/>
            <a:cxnLst/>
            <a:rect l="l" t="t" r="r" b="b"/>
            <a:pathLst>
              <a:path w="2000250" h="1314450">
                <a:moveTo>
                  <a:pt x="114300" y="0"/>
                </a:moveTo>
                <a:lnTo>
                  <a:pt x="1885950" y="0"/>
                </a:lnTo>
                <a:cubicBezTo>
                  <a:pt x="1949076" y="0"/>
                  <a:pt x="2000250" y="51174"/>
                  <a:pt x="2000250" y="114300"/>
                </a:cubicBezTo>
                <a:lnTo>
                  <a:pt x="2000250" y="1200150"/>
                </a:lnTo>
                <a:cubicBezTo>
                  <a:pt x="2000250" y="1263276"/>
                  <a:pt x="1949076" y="1314450"/>
                  <a:pt x="1885950" y="1314450"/>
                </a:cubicBezTo>
                <a:lnTo>
                  <a:pt x="114300" y="1314450"/>
                </a:lnTo>
                <a:cubicBezTo>
                  <a:pt x="51174" y="1314450"/>
                  <a:pt x="0" y="1263276"/>
                  <a:pt x="0" y="120015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2C7BC0"/>
            </a:solidFill>
          </a:ln>
        </p:spPr>
      </p:sp>
      <p:sp>
        <p:nvSpPr>
          <p:cNvPr id="26" name="Freeform 26"/>
          <p:cNvSpPr/>
          <p:nvPr/>
        </p:nvSpPr>
        <p:spPr>
          <a:xfrm>
            <a:off x="2933700" y="4648200"/>
            <a:ext cx="2000250" cy="1314450"/>
          </a:xfrm>
          <a:custGeom>
            <a:avLst/>
            <a:gdLst/>
            <a:ahLst/>
            <a:cxnLst/>
            <a:rect l="l" t="t" r="r" b="b"/>
            <a:pathLst>
              <a:path w="2000250" h="1314450">
                <a:moveTo>
                  <a:pt x="114300" y="0"/>
                </a:moveTo>
                <a:lnTo>
                  <a:pt x="1885950" y="0"/>
                </a:lnTo>
                <a:cubicBezTo>
                  <a:pt x="1949076" y="0"/>
                  <a:pt x="2000250" y="51174"/>
                  <a:pt x="2000250" y="114300"/>
                </a:cubicBezTo>
                <a:lnTo>
                  <a:pt x="2000250" y="1200150"/>
                </a:lnTo>
                <a:cubicBezTo>
                  <a:pt x="2000250" y="1263276"/>
                  <a:pt x="1949076" y="1314450"/>
                  <a:pt x="1885950" y="1314450"/>
                </a:cubicBezTo>
                <a:lnTo>
                  <a:pt x="114300" y="1314450"/>
                </a:lnTo>
                <a:cubicBezTo>
                  <a:pt x="51174" y="1314450"/>
                  <a:pt x="0" y="1263276"/>
                  <a:pt x="0" y="120015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3D74B8"/>
            </a:solidFill>
          </a:ln>
        </p:spPr>
      </p:sp>
      <p:sp>
        <p:nvSpPr>
          <p:cNvPr id="27" name="Freeform 27"/>
          <p:cNvSpPr/>
          <p:nvPr/>
        </p:nvSpPr>
        <p:spPr>
          <a:xfrm>
            <a:off x="5086350" y="4648200"/>
            <a:ext cx="2000250" cy="1314450"/>
          </a:xfrm>
          <a:custGeom>
            <a:avLst/>
            <a:gdLst/>
            <a:ahLst/>
            <a:cxnLst/>
            <a:rect l="l" t="t" r="r" b="b"/>
            <a:pathLst>
              <a:path w="2000250" h="1314450">
                <a:moveTo>
                  <a:pt x="114300" y="0"/>
                </a:moveTo>
                <a:lnTo>
                  <a:pt x="1885950" y="0"/>
                </a:lnTo>
                <a:cubicBezTo>
                  <a:pt x="1949076" y="0"/>
                  <a:pt x="2000250" y="51174"/>
                  <a:pt x="2000250" y="114300"/>
                </a:cubicBezTo>
                <a:lnTo>
                  <a:pt x="2000250" y="1200150"/>
                </a:lnTo>
                <a:cubicBezTo>
                  <a:pt x="2000250" y="1263276"/>
                  <a:pt x="1949076" y="1314450"/>
                  <a:pt x="1885950" y="1314450"/>
                </a:cubicBezTo>
                <a:lnTo>
                  <a:pt x="114300" y="1314450"/>
                </a:lnTo>
                <a:cubicBezTo>
                  <a:pt x="51174" y="1314450"/>
                  <a:pt x="0" y="1263276"/>
                  <a:pt x="0" y="120015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69C0EA"/>
            </a:solidFill>
          </a:ln>
        </p:spPr>
      </p:sp>
      <p:sp>
        <p:nvSpPr>
          <p:cNvPr id="28" name="Freeform 28"/>
          <p:cNvSpPr/>
          <p:nvPr/>
        </p:nvSpPr>
        <p:spPr>
          <a:xfrm>
            <a:off x="7239000" y="4648200"/>
            <a:ext cx="2000250" cy="1314450"/>
          </a:xfrm>
          <a:custGeom>
            <a:avLst/>
            <a:gdLst/>
            <a:ahLst/>
            <a:cxnLst/>
            <a:rect l="l" t="t" r="r" b="b"/>
            <a:pathLst>
              <a:path w="2000250" h="1314450">
                <a:moveTo>
                  <a:pt x="114300" y="0"/>
                </a:moveTo>
                <a:lnTo>
                  <a:pt x="1885950" y="0"/>
                </a:lnTo>
                <a:cubicBezTo>
                  <a:pt x="1949076" y="0"/>
                  <a:pt x="2000250" y="51174"/>
                  <a:pt x="2000250" y="114300"/>
                </a:cubicBezTo>
                <a:lnTo>
                  <a:pt x="2000250" y="1200150"/>
                </a:lnTo>
                <a:cubicBezTo>
                  <a:pt x="2000250" y="1263276"/>
                  <a:pt x="1949076" y="1314450"/>
                  <a:pt x="1885950" y="1314450"/>
                </a:cubicBezTo>
                <a:lnTo>
                  <a:pt x="114300" y="1314450"/>
                </a:lnTo>
                <a:cubicBezTo>
                  <a:pt x="51174" y="1314450"/>
                  <a:pt x="0" y="1263276"/>
                  <a:pt x="0" y="120015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4A8E3B"/>
            </a:solidFill>
          </a:ln>
        </p:spPr>
      </p:sp>
      <p:sp>
        <p:nvSpPr>
          <p:cNvPr id="29" name="Freeform 29"/>
          <p:cNvSpPr/>
          <p:nvPr/>
        </p:nvSpPr>
        <p:spPr>
          <a:xfrm>
            <a:off x="9391650" y="4648200"/>
            <a:ext cx="2000250" cy="1314450"/>
          </a:xfrm>
          <a:custGeom>
            <a:avLst/>
            <a:gdLst/>
            <a:ahLst/>
            <a:cxnLst/>
            <a:rect l="l" t="t" r="r" b="b"/>
            <a:pathLst>
              <a:path w="2000250" h="1314450">
                <a:moveTo>
                  <a:pt x="114300" y="0"/>
                </a:moveTo>
                <a:lnTo>
                  <a:pt x="1885950" y="0"/>
                </a:lnTo>
                <a:cubicBezTo>
                  <a:pt x="1949076" y="0"/>
                  <a:pt x="2000250" y="51174"/>
                  <a:pt x="2000250" y="114300"/>
                </a:cubicBezTo>
                <a:lnTo>
                  <a:pt x="2000250" y="1200150"/>
                </a:lnTo>
                <a:cubicBezTo>
                  <a:pt x="2000250" y="1263276"/>
                  <a:pt x="1949076" y="1314450"/>
                  <a:pt x="1885950" y="1314450"/>
                </a:cubicBezTo>
                <a:lnTo>
                  <a:pt x="114300" y="1314450"/>
                </a:lnTo>
                <a:cubicBezTo>
                  <a:pt x="51174" y="1314450"/>
                  <a:pt x="0" y="1263276"/>
                  <a:pt x="0" y="120015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F07035"/>
            </a:solidFill>
          </a:ln>
        </p:spPr>
      </p:sp>
      <p:sp>
        <p:nvSpPr>
          <p:cNvPr id="30" name="Freeform 30"/>
          <p:cNvSpPr/>
          <p:nvPr/>
        </p:nvSpPr>
        <p:spPr>
          <a:xfrm>
            <a:off x="1581150" y="4888706"/>
            <a:ext cx="266700" cy="166688"/>
          </a:xfrm>
          <a:custGeom>
            <a:avLst/>
            <a:gdLst/>
            <a:ahLst/>
            <a:cxnLst/>
            <a:rect l="l" t="t" r="r" b="b"/>
            <a:pathLst>
              <a:path w="266700" h="166688">
                <a:moveTo>
                  <a:pt x="100013" y="100012"/>
                </a:moveTo>
                <a:lnTo>
                  <a:pt x="100013" y="166688"/>
                </a:lnTo>
                <a:lnTo>
                  <a:pt x="83344" y="166688"/>
                </a:lnTo>
                <a:lnTo>
                  <a:pt x="0" y="83344"/>
                </a:lnTo>
                <a:lnTo>
                  <a:pt x="83344" y="0"/>
                </a:lnTo>
                <a:lnTo>
                  <a:pt x="100013" y="0"/>
                </a:lnTo>
                <a:lnTo>
                  <a:pt x="100013" y="66675"/>
                </a:lnTo>
                <a:lnTo>
                  <a:pt x="166688" y="66675"/>
                </a:lnTo>
                <a:lnTo>
                  <a:pt x="166688" y="0"/>
                </a:lnTo>
                <a:lnTo>
                  <a:pt x="183356" y="0"/>
                </a:lnTo>
                <a:lnTo>
                  <a:pt x="266700" y="83344"/>
                </a:lnTo>
                <a:lnTo>
                  <a:pt x="183356" y="166688"/>
                </a:lnTo>
                <a:lnTo>
                  <a:pt x="166688" y="166688"/>
                </a:lnTo>
                <a:lnTo>
                  <a:pt x="166688" y="100012"/>
                </a:lnTo>
                <a:lnTo>
                  <a:pt x="100013" y="100012"/>
                </a:lnTo>
                <a:close/>
              </a:path>
            </a:pathLst>
          </a:custGeom>
          <a:solidFill>
            <a:srgbClr val="18366B"/>
          </a:solidFill>
          <a:ln>
            <a:noFill/>
          </a:ln>
        </p:spPr>
      </p:sp>
      <p:grpSp>
        <p:nvGrpSpPr>
          <p:cNvPr id="34" name="Group 34"/>
          <p:cNvGrpSpPr/>
          <p:nvPr/>
        </p:nvGrpSpPr>
        <p:grpSpPr>
          <a:xfrm>
            <a:off x="3767138" y="4838700"/>
            <a:ext cx="200025" cy="266700"/>
            <a:chOff x="3767138" y="4838700"/>
            <a:chExt cx="200025" cy="266700"/>
          </a:xfrm>
        </p:grpSpPr>
        <p:sp>
          <p:nvSpPr>
            <p:cNvPr id="31" name="Freeform 31"/>
            <p:cNvSpPr/>
            <p:nvPr/>
          </p:nvSpPr>
          <p:spPr>
            <a:xfrm>
              <a:off x="3767138" y="4945380"/>
              <a:ext cx="200025" cy="76676"/>
            </a:xfrm>
            <a:custGeom>
              <a:avLst/>
              <a:gdLst/>
              <a:ahLst/>
              <a:cxnLst/>
              <a:rect l="l" t="t" r="r" b="b"/>
              <a:pathLst>
                <a:path w="200025" h="76676">
                  <a:moveTo>
                    <a:pt x="185642" y="8504"/>
                  </a:moveTo>
                  <a:cubicBezTo>
                    <a:pt x="190330" y="6159"/>
                    <a:pt x="195229" y="3330"/>
                    <a:pt x="200025" y="0"/>
                  </a:cubicBezTo>
                  <a:lnTo>
                    <a:pt x="200025" y="26670"/>
                  </a:lnTo>
                  <a:cubicBezTo>
                    <a:pt x="200025" y="54287"/>
                    <a:pt x="155248" y="76676"/>
                    <a:pt x="100012" y="76676"/>
                  </a:cubicBezTo>
                  <a:cubicBezTo>
                    <a:pt x="44777" y="76676"/>
                    <a:pt x="0" y="54287"/>
                    <a:pt x="0" y="26670"/>
                  </a:cubicBezTo>
                  <a:lnTo>
                    <a:pt x="0" y="0"/>
                  </a:lnTo>
                  <a:cubicBezTo>
                    <a:pt x="4796" y="3330"/>
                    <a:pt x="9694" y="6159"/>
                    <a:pt x="14384" y="8504"/>
                  </a:cubicBezTo>
                  <a:cubicBezTo>
                    <a:pt x="38021" y="20322"/>
                    <a:pt x="68342" y="26670"/>
                    <a:pt x="100012" y="26670"/>
                  </a:cubicBezTo>
                  <a:cubicBezTo>
                    <a:pt x="131683" y="26670"/>
                    <a:pt x="162004" y="20322"/>
                    <a:pt x="185642" y="8504"/>
                  </a:cubicBezTo>
                  <a:close/>
                </a:path>
              </a:pathLst>
            </a:custGeom>
            <a:solidFill>
              <a:srgbClr val="3D74B8"/>
            </a:solidFill>
            <a:ln>
              <a:noFill/>
            </a:ln>
          </p:spPr>
        </p:sp>
        <p:sp>
          <p:nvSpPr>
            <p:cNvPr id="32" name="Freeform 32"/>
            <p:cNvSpPr/>
            <p:nvPr/>
          </p:nvSpPr>
          <p:spPr>
            <a:xfrm>
              <a:off x="3767138" y="5028724"/>
              <a:ext cx="200025" cy="76676"/>
            </a:xfrm>
            <a:custGeom>
              <a:avLst/>
              <a:gdLst/>
              <a:ahLst/>
              <a:cxnLst/>
              <a:rect l="l" t="t" r="r" b="b"/>
              <a:pathLst>
                <a:path w="200025" h="76676">
                  <a:moveTo>
                    <a:pt x="0" y="0"/>
                  </a:moveTo>
                  <a:lnTo>
                    <a:pt x="0" y="26670"/>
                  </a:lnTo>
                  <a:cubicBezTo>
                    <a:pt x="0" y="54288"/>
                    <a:pt x="44777" y="76676"/>
                    <a:pt x="100012" y="76676"/>
                  </a:cubicBezTo>
                  <a:cubicBezTo>
                    <a:pt x="155248" y="76676"/>
                    <a:pt x="200025" y="54288"/>
                    <a:pt x="200025" y="26670"/>
                  </a:cubicBezTo>
                  <a:lnTo>
                    <a:pt x="200025" y="0"/>
                  </a:lnTo>
                  <a:cubicBezTo>
                    <a:pt x="195229" y="3330"/>
                    <a:pt x="190330" y="6159"/>
                    <a:pt x="185642" y="8504"/>
                  </a:cubicBezTo>
                  <a:cubicBezTo>
                    <a:pt x="162004" y="20323"/>
                    <a:pt x="131683" y="26670"/>
                    <a:pt x="100012" y="26670"/>
                  </a:cubicBezTo>
                  <a:cubicBezTo>
                    <a:pt x="68342" y="26670"/>
                    <a:pt x="38021" y="20323"/>
                    <a:pt x="14384" y="8504"/>
                  </a:cubicBezTo>
                  <a:cubicBezTo>
                    <a:pt x="9694" y="6159"/>
                    <a:pt x="4796" y="3330"/>
                    <a:pt x="0" y="0"/>
                  </a:cubicBezTo>
                  <a:close/>
                </a:path>
              </a:pathLst>
            </a:custGeom>
            <a:solidFill>
              <a:srgbClr val="3D74B8"/>
            </a:solidFill>
            <a:ln>
              <a:noFill/>
            </a:ln>
          </p:spPr>
        </p:sp>
        <p:sp>
          <p:nvSpPr>
            <p:cNvPr id="33" name="Freeform 33"/>
            <p:cNvSpPr/>
            <p:nvPr/>
          </p:nvSpPr>
          <p:spPr>
            <a:xfrm>
              <a:off x="3767138" y="4838700"/>
              <a:ext cx="200025" cy="100012"/>
            </a:xfrm>
            <a:custGeom>
              <a:avLst/>
              <a:gdLst/>
              <a:ahLst/>
              <a:cxnLst/>
              <a:rect l="l" t="t" r="r" b="b"/>
              <a:pathLst>
                <a:path w="200025" h="100012">
                  <a:moveTo>
                    <a:pt x="100012" y="0"/>
                  </a:moveTo>
                  <a:cubicBezTo>
                    <a:pt x="155248" y="0"/>
                    <a:pt x="200025" y="22389"/>
                    <a:pt x="200025" y="50006"/>
                  </a:cubicBezTo>
                  <a:cubicBezTo>
                    <a:pt x="200025" y="77624"/>
                    <a:pt x="155248" y="100012"/>
                    <a:pt x="100012" y="100012"/>
                  </a:cubicBezTo>
                  <a:cubicBezTo>
                    <a:pt x="44777" y="100012"/>
                    <a:pt x="0" y="77624"/>
                    <a:pt x="0" y="50006"/>
                  </a:cubicBezTo>
                  <a:cubicBezTo>
                    <a:pt x="0" y="22389"/>
                    <a:pt x="44777" y="0"/>
                    <a:pt x="100012" y="0"/>
                  </a:cubicBezTo>
                  <a:close/>
                </a:path>
              </a:pathLst>
            </a:custGeom>
            <a:solidFill>
              <a:srgbClr val="3D74B8"/>
            </a:solidFill>
            <a:ln>
              <a:noFill/>
            </a:ln>
          </p:spPr>
        </p:sp>
      </p:grpSp>
      <p:grpSp>
        <p:nvGrpSpPr>
          <p:cNvPr id="37" name="Group 37"/>
          <p:cNvGrpSpPr/>
          <p:nvPr/>
        </p:nvGrpSpPr>
        <p:grpSpPr>
          <a:xfrm>
            <a:off x="5903119" y="4855369"/>
            <a:ext cx="233362" cy="233362"/>
            <a:chOff x="5903119" y="4855369"/>
            <a:chExt cx="233362" cy="233362"/>
          </a:xfrm>
        </p:grpSpPr>
        <p:sp>
          <p:nvSpPr>
            <p:cNvPr id="35" name="Freeform 35"/>
            <p:cNvSpPr/>
            <p:nvPr/>
          </p:nvSpPr>
          <p:spPr>
            <a:xfrm>
              <a:off x="5903119" y="4855369"/>
              <a:ext cx="233362" cy="146084"/>
            </a:xfrm>
            <a:custGeom>
              <a:avLst/>
              <a:gdLst/>
              <a:ahLst/>
              <a:cxnLst/>
              <a:rect l="l" t="t" r="r" b="b"/>
              <a:pathLst>
                <a:path w="233362" h="146084">
                  <a:moveTo>
                    <a:pt x="233362" y="0"/>
                  </a:moveTo>
                  <a:lnTo>
                    <a:pt x="0" y="0"/>
                  </a:lnTo>
                  <a:lnTo>
                    <a:pt x="0" y="100012"/>
                  </a:lnTo>
                  <a:lnTo>
                    <a:pt x="39704" y="100012"/>
                  </a:lnTo>
                  <a:lnTo>
                    <a:pt x="64707" y="50006"/>
                  </a:lnTo>
                  <a:lnTo>
                    <a:pt x="101980" y="50006"/>
                  </a:lnTo>
                  <a:lnTo>
                    <a:pt x="150019" y="146084"/>
                  </a:lnTo>
                  <a:lnTo>
                    <a:pt x="173055" y="100012"/>
                  </a:lnTo>
                  <a:lnTo>
                    <a:pt x="233362" y="100012"/>
                  </a:lnTo>
                  <a:lnTo>
                    <a:pt x="233362" y="0"/>
                  </a:lnTo>
                  <a:close/>
                </a:path>
              </a:pathLst>
            </a:custGeom>
            <a:solidFill>
              <a:srgbClr val="69C0EA"/>
            </a:solidFill>
            <a:ln>
              <a:noFill/>
            </a:ln>
          </p:spPr>
        </p:sp>
        <p:sp>
          <p:nvSpPr>
            <p:cNvPr id="36" name="Freeform 36"/>
            <p:cNvSpPr/>
            <p:nvPr/>
          </p:nvSpPr>
          <p:spPr>
            <a:xfrm>
              <a:off x="5903119" y="4942647"/>
              <a:ext cx="233362" cy="146084"/>
            </a:xfrm>
            <a:custGeom>
              <a:avLst/>
              <a:gdLst/>
              <a:ahLst/>
              <a:cxnLst/>
              <a:rect l="l" t="t" r="r" b="b"/>
              <a:pathLst>
                <a:path w="233362" h="146084">
                  <a:moveTo>
                    <a:pt x="233362" y="46071"/>
                  </a:moveTo>
                  <a:lnTo>
                    <a:pt x="193658" y="46071"/>
                  </a:lnTo>
                  <a:lnTo>
                    <a:pt x="168654" y="96078"/>
                  </a:lnTo>
                  <a:lnTo>
                    <a:pt x="131383" y="96078"/>
                  </a:lnTo>
                  <a:lnTo>
                    <a:pt x="83344" y="0"/>
                  </a:lnTo>
                  <a:lnTo>
                    <a:pt x="60308" y="46071"/>
                  </a:lnTo>
                  <a:lnTo>
                    <a:pt x="0" y="46071"/>
                  </a:lnTo>
                  <a:lnTo>
                    <a:pt x="0" y="146084"/>
                  </a:lnTo>
                  <a:lnTo>
                    <a:pt x="233362" y="146084"/>
                  </a:lnTo>
                  <a:lnTo>
                    <a:pt x="233362" y="46071"/>
                  </a:lnTo>
                  <a:close/>
                </a:path>
              </a:pathLst>
            </a:custGeom>
            <a:solidFill>
              <a:srgbClr val="69C0EA"/>
            </a:solidFill>
            <a:ln>
              <a:noFill/>
            </a:ln>
          </p:spPr>
        </p:sp>
      </p:grpSp>
      <p:sp>
        <p:nvSpPr>
          <p:cNvPr id="38" name="Freeform 38"/>
          <p:cNvSpPr/>
          <p:nvPr/>
        </p:nvSpPr>
        <p:spPr>
          <a:xfrm>
            <a:off x="8039100" y="4838700"/>
            <a:ext cx="266700" cy="266700"/>
          </a:xfrm>
          <a:custGeom>
            <a:avLst/>
            <a:gdLst/>
            <a:ahLst/>
            <a:cxnLst/>
            <a:rect l="l" t="t" r="r" b="b"/>
            <a:pathLst>
              <a:path w="266700" h="266700">
                <a:moveTo>
                  <a:pt x="183356" y="50006"/>
                </a:moveTo>
                <a:cubicBezTo>
                  <a:pt x="183356" y="71779"/>
                  <a:pt x="169441" y="90302"/>
                  <a:pt x="150019" y="97167"/>
                </a:cubicBezTo>
                <a:lnTo>
                  <a:pt x="150019" y="231979"/>
                </a:lnTo>
                <a:cubicBezTo>
                  <a:pt x="191899" y="224953"/>
                  <a:pt x="224953" y="191899"/>
                  <a:pt x="231979" y="150019"/>
                </a:cubicBezTo>
                <a:lnTo>
                  <a:pt x="200025" y="150019"/>
                </a:lnTo>
                <a:lnTo>
                  <a:pt x="200025" y="116681"/>
                </a:lnTo>
                <a:lnTo>
                  <a:pt x="266700" y="116681"/>
                </a:lnTo>
                <a:lnTo>
                  <a:pt x="266700" y="133350"/>
                </a:lnTo>
                <a:cubicBezTo>
                  <a:pt x="266700" y="206998"/>
                  <a:pt x="206998" y="266700"/>
                  <a:pt x="133350" y="266700"/>
                </a:cubicBezTo>
                <a:cubicBezTo>
                  <a:pt x="59703" y="266700"/>
                  <a:pt x="0" y="206998"/>
                  <a:pt x="0" y="133350"/>
                </a:cubicBezTo>
                <a:lnTo>
                  <a:pt x="0" y="116681"/>
                </a:lnTo>
                <a:lnTo>
                  <a:pt x="66675" y="116681"/>
                </a:lnTo>
                <a:lnTo>
                  <a:pt x="66675" y="150019"/>
                </a:lnTo>
                <a:lnTo>
                  <a:pt x="34720" y="150019"/>
                </a:lnTo>
                <a:cubicBezTo>
                  <a:pt x="41747" y="191899"/>
                  <a:pt x="74801" y="224953"/>
                  <a:pt x="116681" y="231979"/>
                </a:cubicBezTo>
                <a:lnTo>
                  <a:pt x="116681" y="97167"/>
                </a:lnTo>
                <a:cubicBezTo>
                  <a:pt x="97259" y="90302"/>
                  <a:pt x="83344" y="71779"/>
                  <a:pt x="83344" y="50006"/>
                </a:cubicBezTo>
                <a:cubicBezTo>
                  <a:pt x="83344" y="22389"/>
                  <a:pt x="105732" y="0"/>
                  <a:pt x="133350" y="0"/>
                </a:cubicBezTo>
                <a:cubicBezTo>
                  <a:pt x="160968" y="0"/>
                  <a:pt x="183356" y="22389"/>
                  <a:pt x="183356" y="50006"/>
                </a:cubicBezTo>
                <a:close/>
              </a:path>
            </a:pathLst>
          </a:custGeom>
          <a:solidFill>
            <a:srgbClr val="4A8E3B"/>
          </a:solidFill>
          <a:ln>
            <a:noFill/>
          </a:ln>
        </p:spPr>
      </p:sp>
      <p:sp>
        <p:nvSpPr>
          <p:cNvPr id="39" name="Freeform 39"/>
          <p:cNvSpPr/>
          <p:nvPr/>
        </p:nvSpPr>
        <p:spPr>
          <a:xfrm>
            <a:off x="10191750" y="4838700"/>
            <a:ext cx="266700" cy="266700"/>
          </a:xfrm>
          <a:custGeom>
            <a:avLst/>
            <a:gdLst/>
            <a:ahLst/>
            <a:cxnLst/>
            <a:rect l="l" t="t" r="r" b="b"/>
            <a:pathLst>
              <a:path w="266700" h="266700">
                <a:moveTo>
                  <a:pt x="266700" y="133350"/>
                </a:moveTo>
                <a:cubicBezTo>
                  <a:pt x="266700" y="206998"/>
                  <a:pt x="206998" y="266700"/>
                  <a:pt x="133350" y="266700"/>
                </a:cubicBezTo>
                <a:cubicBezTo>
                  <a:pt x="59703" y="266700"/>
                  <a:pt x="0" y="206998"/>
                  <a:pt x="0" y="133350"/>
                </a:cubicBezTo>
                <a:cubicBezTo>
                  <a:pt x="0" y="59703"/>
                  <a:pt x="59703" y="0"/>
                  <a:pt x="133350" y="0"/>
                </a:cubicBezTo>
                <a:cubicBezTo>
                  <a:pt x="206998" y="0"/>
                  <a:pt x="266700" y="59703"/>
                  <a:pt x="266700" y="133350"/>
                </a:cubicBezTo>
                <a:close/>
                <a:moveTo>
                  <a:pt x="154186" y="62508"/>
                </a:moveTo>
                <a:cubicBezTo>
                  <a:pt x="154186" y="74015"/>
                  <a:pt x="144857" y="83344"/>
                  <a:pt x="133350" y="83344"/>
                </a:cubicBezTo>
                <a:cubicBezTo>
                  <a:pt x="121843" y="83344"/>
                  <a:pt x="112514" y="74015"/>
                  <a:pt x="112514" y="62508"/>
                </a:cubicBezTo>
                <a:cubicBezTo>
                  <a:pt x="112514" y="51000"/>
                  <a:pt x="121843" y="41672"/>
                  <a:pt x="133350" y="41672"/>
                </a:cubicBezTo>
                <a:cubicBezTo>
                  <a:pt x="144857" y="41672"/>
                  <a:pt x="154186" y="51000"/>
                  <a:pt x="154186" y="62508"/>
                </a:cubicBezTo>
                <a:close/>
                <a:moveTo>
                  <a:pt x="200025" y="133350"/>
                </a:moveTo>
                <a:lnTo>
                  <a:pt x="157003" y="133350"/>
                </a:lnTo>
                <a:lnTo>
                  <a:pt x="186768" y="216694"/>
                </a:lnTo>
                <a:lnTo>
                  <a:pt x="151369" y="216694"/>
                </a:lnTo>
                <a:lnTo>
                  <a:pt x="133350" y="166241"/>
                </a:lnTo>
                <a:lnTo>
                  <a:pt x="115331" y="216694"/>
                </a:lnTo>
                <a:lnTo>
                  <a:pt x="79931" y="216694"/>
                </a:lnTo>
                <a:lnTo>
                  <a:pt x="109697" y="133350"/>
                </a:lnTo>
                <a:lnTo>
                  <a:pt x="66675" y="133350"/>
                </a:lnTo>
                <a:lnTo>
                  <a:pt x="66675" y="100012"/>
                </a:lnTo>
                <a:lnTo>
                  <a:pt x="200025" y="100012"/>
                </a:lnTo>
                <a:lnTo>
                  <a:pt x="200025" y="133350"/>
                </a:lnTo>
                <a:close/>
              </a:path>
            </a:pathLst>
          </a:custGeom>
          <a:solidFill>
            <a:srgbClr val="F07035"/>
          </a:solidFill>
          <a:ln>
            <a:noFill/>
          </a:ln>
        </p:spPr>
      </p:sp>
      <p:sp>
        <p:nvSpPr>
          <p:cNvPr id="40" name="TextBox 40"/>
          <p:cNvSpPr txBox="1"/>
          <p:nvPr/>
        </p:nvSpPr>
        <p:spPr>
          <a:xfrm>
            <a:off x="775049" y="5051108"/>
            <a:ext cx="2012252" cy="640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3150" b="1" dirty="0">
                <a:solidFill>
                  <a:srgbClr val="18366B"/>
                </a:solidFill>
                <a:latin typeface="Microsoft YaHei"/>
                <a:ea typeface="Microsoft YaHei"/>
                <a:cs typeface="Microsoft YaHei"/>
              </a:rPr>
              <a:t>安全钻井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2927699" y="5051108"/>
            <a:ext cx="2012252" cy="640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3150" b="1" dirty="0">
                <a:solidFill>
                  <a:srgbClr val="18366B"/>
                </a:solidFill>
                <a:latin typeface="Microsoft YaHei"/>
                <a:ea typeface="Microsoft YaHei"/>
                <a:cs typeface="Microsoft YaHei"/>
              </a:rPr>
              <a:t>井筒完整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5080349" y="5051108"/>
            <a:ext cx="2012252" cy="640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3150" b="1" dirty="0">
                <a:solidFill>
                  <a:srgbClr val="18366B"/>
                </a:solidFill>
                <a:latin typeface="Microsoft YaHei"/>
                <a:ea typeface="Microsoft YaHei"/>
                <a:cs typeface="Microsoft YaHei"/>
              </a:rPr>
              <a:t>储层保护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7232999" y="5051108"/>
            <a:ext cx="2012252" cy="640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3150" b="1" dirty="0">
                <a:solidFill>
                  <a:srgbClr val="18366B"/>
                </a:solidFill>
                <a:latin typeface="Microsoft YaHei"/>
                <a:ea typeface="Microsoft YaHei"/>
                <a:cs typeface="Microsoft YaHei"/>
              </a:rPr>
              <a:t>高效防砂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9385649" y="5051108"/>
            <a:ext cx="2012252" cy="640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3150" b="1" dirty="0">
                <a:solidFill>
                  <a:srgbClr val="18366B"/>
                </a:solidFill>
                <a:latin typeface="Microsoft YaHei"/>
                <a:ea typeface="Microsoft YaHei"/>
                <a:cs typeface="Microsoft YaHei"/>
              </a:rPr>
              <a:t>智能完井</a:t>
            </a:r>
          </a:p>
        </p:txBody>
      </p:sp>
      <p:sp>
        <p:nvSpPr>
          <p:cNvPr id="45" name="Freeform 45"/>
          <p:cNvSpPr/>
          <p:nvPr/>
        </p:nvSpPr>
        <p:spPr>
          <a:xfrm>
            <a:off x="8877300" y="5334000"/>
            <a:ext cx="2781300" cy="914400"/>
          </a:xfrm>
          <a:custGeom>
            <a:avLst/>
            <a:gdLst/>
            <a:ahLst/>
            <a:cxnLst/>
            <a:rect l="l" t="t" r="r" b="b"/>
            <a:pathLst>
              <a:path w="2781300" h="914400">
                <a:moveTo>
                  <a:pt x="95250" y="0"/>
                </a:moveTo>
                <a:lnTo>
                  <a:pt x="2686050" y="0"/>
                </a:lnTo>
                <a:cubicBezTo>
                  <a:pt x="2738655" y="0"/>
                  <a:pt x="2781300" y="42645"/>
                  <a:pt x="2781300" y="95250"/>
                </a:cubicBezTo>
                <a:lnTo>
                  <a:pt x="2781300" y="819150"/>
                </a:lnTo>
                <a:cubicBezTo>
                  <a:pt x="2781300" y="871755"/>
                  <a:pt x="2738655" y="914400"/>
                  <a:pt x="2686050" y="914400"/>
                </a:cubicBezTo>
                <a:lnTo>
                  <a:pt x="95250" y="914400"/>
                </a:lnTo>
                <a:cubicBezTo>
                  <a:pt x="42645" y="914400"/>
                  <a:pt x="0" y="871755"/>
                  <a:pt x="0" y="81915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FFFFFF">
              <a:alpha val="90000"/>
            </a:srgbClr>
          </a:solidFill>
          <a:ln w="9525">
            <a:solidFill>
              <a:srgbClr val="C9D9ED"/>
            </a:solidFill>
          </a:ln>
        </p:spPr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72" y="0"/>
            <a:ext cx="12099608" cy="6858000"/>
          </a:xfrm>
          <a:prstGeom prst="rect">
            <a:avLst/>
          </a:prstGeom>
        </p:spPr>
      </p:pic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4000"/>
            </a:srgbClr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018813" y="1868805"/>
            <a:ext cx="2154374" cy="22555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100" b="1" dirty="0">
                <a:solidFill>
                  <a:srgbClr val="004C8B"/>
                </a:solidFill>
                <a:latin typeface="Arial"/>
                <a:ea typeface="Microsoft YaHei"/>
                <a:cs typeface="Arial"/>
              </a:rPr>
              <a:t>03</a:t>
            </a:r>
          </a:p>
        </p:txBody>
      </p:sp>
      <p:sp>
        <p:nvSpPr>
          <p:cNvPr id="5" name="Line 5"/>
          <p:cNvSpPr/>
          <p:nvPr/>
        </p:nvSpPr>
        <p:spPr>
          <a:xfrm>
            <a:off x="3981450" y="3638550"/>
            <a:ext cx="1524000" cy="9525"/>
          </a:xfrm>
          <a:custGeom>
            <a:avLst/>
            <a:gdLst/>
            <a:ahLst/>
            <a:cxnLst/>
            <a:rect l="l" t="t" r="r" b="b"/>
            <a:pathLst>
              <a:path w="1524000" h="9525">
                <a:moveTo>
                  <a:pt x="0" y="0"/>
                </a:moveTo>
                <a:lnTo>
                  <a:pt x="1524000" y="0"/>
                </a:lnTo>
              </a:path>
            </a:pathLst>
          </a:custGeom>
          <a:noFill/>
          <a:ln w="38100">
            <a:solidFill>
              <a:srgbClr val="0074CC"/>
            </a:solidFill>
          </a:ln>
        </p:spPr>
      </p:sp>
      <p:sp>
        <p:nvSpPr>
          <p:cNvPr id="6" name="Line 6"/>
          <p:cNvSpPr/>
          <p:nvPr/>
        </p:nvSpPr>
        <p:spPr>
          <a:xfrm>
            <a:off x="5505450" y="3638550"/>
            <a:ext cx="1181100" cy="9525"/>
          </a:xfrm>
          <a:custGeom>
            <a:avLst/>
            <a:gdLst/>
            <a:ahLst/>
            <a:cxnLst/>
            <a:rect l="l" t="t" r="r" b="b"/>
            <a:pathLst>
              <a:path w="1181100" h="9525">
                <a:moveTo>
                  <a:pt x="0" y="0"/>
                </a:moveTo>
                <a:lnTo>
                  <a:pt x="1181100" y="0"/>
                </a:lnTo>
              </a:path>
            </a:pathLst>
          </a:custGeom>
          <a:noFill/>
          <a:ln w="38100">
            <a:solidFill>
              <a:srgbClr val="DE002B"/>
            </a:solidFill>
          </a:ln>
        </p:spPr>
      </p:sp>
      <p:sp>
        <p:nvSpPr>
          <p:cNvPr id="7" name="Line 7"/>
          <p:cNvSpPr/>
          <p:nvPr/>
        </p:nvSpPr>
        <p:spPr>
          <a:xfrm>
            <a:off x="6686550" y="3638550"/>
            <a:ext cx="1524000" cy="9525"/>
          </a:xfrm>
          <a:custGeom>
            <a:avLst/>
            <a:gdLst/>
            <a:ahLst/>
            <a:cxnLst/>
            <a:rect l="l" t="t" r="r" b="b"/>
            <a:pathLst>
              <a:path w="1524000" h="9525">
                <a:moveTo>
                  <a:pt x="0" y="0"/>
                </a:moveTo>
                <a:lnTo>
                  <a:pt x="1524000" y="0"/>
                </a:lnTo>
              </a:path>
            </a:pathLst>
          </a:custGeom>
          <a:noFill/>
          <a:ln w="38100">
            <a:solidFill>
              <a:srgbClr val="0074CC"/>
            </a:solidFill>
          </a:ln>
        </p:spPr>
      </p:sp>
      <p:sp>
        <p:nvSpPr>
          <p:cNvPr id="8" name="TextBox 8"/>
          <p:cNvSpPr txBox="1"/>
          <p:nvPr/>
        </p:nvSpPr>
        <p:spPr>
          <a:xfrm>
            <a:off x="1879282" y="4095750"/>
            <a:ext cx="8433435" cy="1219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6000" b="1" dirty="0">
                <a:solidFill>
                  <a:srgbClr val="004C8B"/>
                </a:solidFill>
                <a:latin typeface="Microsoft YaHei"/>
                <a:ea typeface="Microsoft YaHei"/>
                <a:cs typeface="Microsoft YaHei"/>
              </a:rPr>
              <a:t>试点成效与经营价值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5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9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4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3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400"/>
                            </p:stCondLst>
                            <p:childTnLst>
                              <p:par>
                                <p:cTn id="29" presetID="4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1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  <p:bldP spid="6" grpId="0"/>
      <p:bldP spid="7" grpId="0"/>
      <p:bldP spid="8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55" y="0"/>
            <a:ext cx="12151042" cy="6858000"/>
          </a:xfrm>
          <a:prstGeom prst="rect">
            <a:avLst/>
          </a:prstGeom>
        </p:spPr>
      </p:pic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4000"/>
            </a:srgbClr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346710" y="489585"/>
            <a:ext cx="3795046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004C8B"/>
                </a:solidFill>
                <a:latin typeface="Microsoft YaHei"/>
                <a:ea typeface="Microsoft YaHei"/>
                <a:cs typeface="Microsoft YaHei"/>
              </a:rPr>
              <a:t>效率与质量趋势看板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358140" y="1120140"/>
            <a:ext cx="11639169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004C8B"/>
                </a:solidFill>
                <a:latin typeface="Microsoft YaHei"/>
                <a:ea typeface="Microsoft YaHei"/>
                <a:cs typeface="Microsoft YaHei"/>
              </a:rPr>
              <a:t>试点单位在周报生产时长、分析准确率、跨部门响应时效三项指标上持续改善，形成趋势增长。</a:t>
            </a:r>
          </a:p>
        </p:txBody>
      </p:sp>
      <p:sp>
        <p:nvSpPr>
          <p:cNvPr id="6" name="Freeform 6"/>
          <p:cNvSpPr/>
          <p:nvPr/>
        </p:nvSpPr>
        <p:spPr>
          <a:xfrm>
            <a:off x="400050" y="1562100"/>
            <a:ext cx="11391900" cy="4762500"/>
          </a:xfrm>
          <a:custGeom>
            <a:avLst/>
            <a:gdLst/>
            <a:ahLst/>
            <a:cxnLst/>
            <a:rect l="l" t="t" r="r" b="b"/>
            <a:pathLst>
              <a:path w="11391900" h="4762500">
                <a:moveTo>
                  <a:pt x="171450" y="0"/>
                </a:moveTo>
                <a:lnTo>
                  <a:pt x="11220450" y="0"/>
                </a:lnTo>
                <a:cubicBezTo>
                  <a:pt x="11315139" y="0"/>
                  <a:pt x="11391900" y="76761"/>
                  <a:pt x="11391900" y="171450"/>
                </a:cubicBezTo>
                <a:lnTo>
                  <a:pt x="11391900" y="4591050"/>
                </a:lnTo>
                <a:cubicBezTo>
                  <a:pt x="11391900" y="4685739"/>
                  <a:pt x="11315139" y="4762500"/>
                  <a:pt x="11220450" y="4762500"/>
                </a:cubicBezTo>
                <a:lnTo>
                  <a:pt x="171450" y="4762500"/>
                </a:lnTo>
                <a:cubicBezTo>
                  <a:pt x="76761" y="4762500"/>
                  <a:pt x="0" y="4685739"/>
                  <a:pt x="0" y="4591050"/>
                </a:cubicBezTo>
                <a:lnTo>
                  <a:pt x="0" y="171450"/>
                </a:lnTo>
                <a:cubicBezTo>
                  <a:pt x="0" y="76761"/>
                  <a:pt x="76761" y="0"/>
                  <a:pt x="171450" y="0"/>
                </a:cubicBezTo>
                <a:close/>
              </a:path>
            </a:pathLst>
          </a:custGeom>
          <a:solidFill>
            <a:srgbClr val="FFFFFF">
              <a:alpha val="90000"/>
            </a:srgbClr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697230" y="1830705"/>
            <a:ext cx="2887294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1D4E79"/>
                </a:solidFill>
                <a:latin typeface="Microsoft YaHei"/>
                <a:ea typeface="Microsoft YaHei"/>
                <a:cs typeface="Microsoft YaHei"/>
              </a:rPr>
              <a:t>① Deepwater Atlas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4183380" y="1830705"/>
            <a:ext cx="2887294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2C7BC0"/>
                </a:solidFill>
                <a:latin typeface="Microsoft YaHei"/>
                <a:ea typeface="Microsoft YaHei"/>
                <a:cs typeface="Microsoft YaHei"/>
              </a:rPr>
              <a:t>② Deepwater Titan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898130" y="1830705"/>
            <a:ext cx="1615235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4CB3E6"/>
                </a:solidFill>
                <a:latin typeface="Microsoft YaHei"/>
                <a:ea typeface="Microsoft YaHei"/>
                <a:cs typeface="Microsoft YaHei"/>
              </a:rPr>
              <a:t>③ 核心参数</a:t>
            </a:r>
          </a:p>
        </p:txBody>
      </p:sp>
      <p:sp>
        <p:nvSpPr>
          <p:cNvPr id="10" name="Line 10"/>
          <p:cNvSpPr/>
          <p:nvPr/>
        </p:nvSpPr>
        <p:spPr>
          <a:xfrm>
            <a:off x="2857500" y="1952625"/>
            <a:ext cx="895350" cy="9525"/>
          </a:xfrm>
          <a:custGeom>
            <a:avLst/>
            <a:gdLst/>
            <a:ahLst/>
            <a:cxnLst/>
            <a:rect l="l" t="t" r="r" b="b"/>
            <a:pathLst>
              <a:path w="895350" h="9525">
                <a:moveTo>
                  <a:pt x="0" y="0"/>
                </a:moveTo>
                <a:lnTo>
                  <a:pt x="895350" y="0"/>
                </a:lnTo>
              </a:path>
            </a:pathLst>
          </a:custGeom>
          <a:noFill/>
          <a:ln w="38100">
            <a:solidFill>
              <a:srgbClr val="2C7BC0"/>
            </a:solidFill>
          </a:ln>
        </p:spPr>
      </p:sp>
      <p:sp>
        <p:nvSpPr>
          <p:cNvPr id="11" name="Line 11"/>
          <p:cNvSpPr/>
          <p:nvPr/>
        </p:nvSpPr>
        <p:spPr>
          <a:xfrm>
            <a:off x="6610350" y="1952625"/>
            <a:ext cx="857250" cy="9525"/>
          </a:xfrm>
          <a:custGeom>
            <a:avLst/>
            <a:gdLst/>
            <a:ahLst/>
            <a:cxnLst/>
            <a:rect l="l" t="t" r="r" b="b"/>
            <a:pathLst>
              <a:path w="857250" h="9525">
                <a:moveTo>
                  <a:pt x="0" y="0"/>
                </a:moveTo>
                <a:lnTo>
                  <a:pt x="857250" y="0"/>
                </a:lnTo>
              </a:path>
            </a:pathLst>
          </a:custGeom>
          <a:noFill/>
          <a:ln w="38100">
            <a:solidFill>
              <a:srgbClr val="4CB3E6"/>
            </a:solidFill>
          </a:ln>
        </p:spPr>
      </p:sp>
      <p:sp>
        <p:nvSpPr>
          <p:cNvPr id="12" name="Freeform 12"/>
          <p:cNvSpPr/>
          <p:nvPr/>
        </p:nvSpPr>
        <p:spPr>
          <a:xfrm>
            <a:off x="514350" y="2247900"/>
            <a:ext cx="3524250" cy="1809750"/>
          </a:xfrm>
          <a:custGeom>
            <a:avLst/>
            <a:gdLst/>
            <a:ahLst/>
            <a:cxnLst/>
            <a:rect l="l" t="t" r="r" b="b"/>
            <a:pathLst>
              <a:path w="3524250" h="1809750">
                <a:moveTo>
                  <a:pt x="114300" y="0"/>
                </a:moveTo>
                <a:lnTo>
                  <a:pt x="3409950" y="0"/>
                </a:lnTo>
                <a:cubicBezTo>
                  <a:pt x="3473076" y="0"/>
                  <a:pt x="3524250" y="51174"/>
                  <a:pt x="3524250" y="114300"/>
                </a:cubicBezTo>
                <a:lnTo>
                  <a:pt x="3524250" y="1695450"/>
                </a:lnTo>
                <a:cubicBezTo>
                  <a:pt x="3524250" y="1758576"/>
                  <a:pt x="3473076" y="1809750"/>
                  <a:pt x="3409950" y="1809750"/>
                </a:cubicBezTo>
                <a:lnTo>
                  <a:pt x="114300" y="1809750"/>
                </a:lnTo>
                <a:cubicBezTo>
                  <a:pt x="51174" y="1809750"/>
                  <a:pt x="0" y="1758576"/>
                  <a:pt x="0" y="169545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2C7BC0"/>
            </a:solidFill>
          </a:ln>
        </p:spPr>
      </p:sp>
      <p:sp>
        <p:nvSpPr>
          <p:cNvPr id="13" name="Freeform 13"/>
          <p:cNvSpPr/>
          <p:nvPr/>
        </p:nvSpPr>
        <p:spPr>
          <a:xfrm>
            <a:off x="514350" y="2247900"/>
            <a:ext cx="3524250" cy="400050"/>
          </a:xfrm>
          <a:custGeom>
            <a:avLst/>
            <a:gdLst/>
            <a:ahLst/>
            <a:cxnLst/>
            <a:rect l="l" t="t" r="r" b="b"/>
            <a:pathLst>
              <a:path w="3524250" h="400050">
                <a:moveTo>
                  <a:pt x="114300" y="0"/>
                </a:moveTo>
                <a:lnTo>
                  <a:pt x="3409950" y="0"/>
                </a:lnTo>
                <a:cubicBezTo>
                  <a:pt x="3473076" y="0"/>
                  <a:pt x="3524250" y="51174"/>
                  <a:pt x="3524250" y="114300"/>
                </a:cubicBezTo>
                <a:lnTo>
                  <a:pt x="3524250" y="285750"/>
                </a:lnTo>
                <a:cubicBezTo>
                  <a:pt x="3524250" y="348876"/>
                  <a:pt x="3473076" y="400050"/>
                  <a:pt x="3409950" y="400050"/>
                </a:cubicBezTo>
                <a:lnTo>
                  <a:pt x="114300" y="400050"/>
                </a:lnTo>
                <a:cubicBezTo>
                  <a:pt x="51174" y="400050"/>
                  <a:pt x="0" y="348876"/>
                  <a:pt x="0" y="28575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18366B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849630" y="2306955"/>
            <a:ext cx="2613560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Deepwater Atlas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97230" y="2878455"/>
            <a:ext cx="4193857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dirty="0">
                <a:solidFill>
                  <a:srgbClr val="0F3E68"/>
                </a:solidFill>
                <a:latin typeface="Microsoft YaHei"/>
                <a:ea typeface="Microsoft YaHei"/>
                <a:cs typeface="Microsoft YaHei"/>
              </a:rPr>
              <a:t>· 趋势：周报产出时长下降32%</a:t>
            </a:r>
          </a:p>
        </p:txBody>
      </p:sp>
      <p:sp>
        <p:nvSpPr>
          <p:cNvPr id="16" name="Freeform 16"/>
          <p:cNvSpPr/>
          <p:nvPr/>
        </p:nvSpPr>
        <p:spPr>
          <a:xfrm>
            <a:off x="4133850" y="2247900"/>
            <a:ext cx="3524250" cy="1809750"/>
          </a:xfrm>
          <a:custGeom>
            <a:avLst/>
            <a:gdLst/>
            <a:ahLst/>
            <a:cxnLst/>
            <a:rect l="l" t="t" r="r" b="b"/>
            <a:pathLst>
              <a:path w="3524250" h="1809750">
                <a:moveTo>
                  <a:pt x="114300" y="0"/>
                </a:moveTo>
                <a:lnTo>
                  <a:pt x="3409950" y="0"/>
                </a:lnTo>
                <a:cubicBezTo>
                  <a:pt x="3473076" y="0"/>
                  <a:pt x="3524250" y="51174"/>
                  <a:pt x="3524250" y="114300"/>
                </a:cubicBezTo>
                <a:lnTo>
                  <a:pt x="3524250" y="1695450"/>
                </a:lnTo>
                <a:cubicBezTo>
                  <a:pt x="3524250" y="1758576"/>
                  <a:pt x="3473076" y="1809750"/>
                  <a:pt x="3409950" y="1809750"/>
                </a:cubicBezTo>
                <a:lnTo>
                  <a:pt x="114300" y="1809750"/>
                </a:lnTo>
                <a:cubicBezTo>
                  <a:pt x="51174" y="1809750"/>
                  <a:pt x="0" y="1758576"/>
                  <a:pt x="0" y="169545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2C7BC0"/>
            </a:solidFill>
          </a:ln>
        </p:spPr>
      </p:sp>
      <p:sp>
        <p:nvSpPr>
          <p:cNvPr id="17" name="Freeform 17"/>
          <p:cNvSpPr/>
          <p:nvPr/>
        </p:nvSpPr>
        <p:spPr>
          <a:xfrm>
            <a:off x="4133850" y="2247900"/>
            <a:ext cx="3524250" cy="400050"/>
          </a:xfrm>
          <a:custGeom>
            <a:avLst/>
            <a:gdLst/>
            <a:ahLst/>
            <a:cxnLst/>
            <a:rect l="l" t="t" r="r" b="b"/>
            <a:pathLst>
              <a:path w="3524250" h="400050">
                <a:moveTo>
                  <a:pt x="114300" y="0"/>
                </a:moveTo>
                <a:lnTo>
                  <a:pt x="3409950" y="0"/>
                </a:lnTo>
                <a:cubicBezTo>
                  <a:pt x="3473076" y="0"/>
                  <a:pt x="3524250" y="51174"/>
                  <a:pt x="3524250" y="114300"/>
                </a:cubicBezTo>
                <a:lnTo>
                  <a:pt x="3524250" y="285750"/>
                </a:lnTo>
                <a:cubicBezTo>
                  <a:pt x="3524250" y="348876"/>
                  <a:pt x="3473076" y="400050"/>
                  <a:pt x="3409950" y="400050"/>
                </a:cubicBezTo>
                <a:lnTo>
                  <a:pt x="114300" y="400050"/>
                </a:lnTo>
                <a:cubicBezTo>
                  <a:pt x="51174" y="400050"/>
                  <a:pt x="0" y="348876"/>
                  <a:pt x="0" y="28575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3D74B8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4469130" y="2306955"/>
            <a:ext cx="2613560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Deepwater Titan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4316730" y="2878455"/>
            <a:ext cx="4423886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dirty="0">
                <a:solidFill>
                  <a:srgbClr val="0F3E68"/>
                </a:solidFill>
                <a:latin typeface="Microsoft YaHei"/>
                <a:ea typeface="Microsoft YaHei"/>
                <a:cs typeface="Microsoft YaHei"/>
              </a:rPr>
              <a:t>· 趋势：关键分析准确率提升18%</a:t>
            </a:r>
          </a:p>
        </p:txBody>
      </p:sp>
      <p:sp>
        <p:nvSpPr>
          <p:cNvPr id="20" name="Freeform 20"/>
          <p:cNvSpPr/>
          <p:nvPr/>
        </p:nvSpPr>
        <p:spPr>
          <a:xfrm>
            <a:off x="7753350" y="2247900"/>
            <a:ext cx="3905250" cy="1809750"/>
          </a:xfrm>
          <a:custGeom>
            <a:avLst/>
            <a:gdLst/>
            <a:ahLst/>
            <a:cxnLst/>
            <a:rect l="l" t="t" r="r" b="b"/>
            <a:pathLst>
              <a:path w="3905250" h="1809750">
                <a:moveTo>
                  <a:pt x="114300" y="0"/>
                </a:moveTo>
                <a:lnTo>
                  <a:pt x="3790950" y="0"/>
                </a:lnTo>
                <a:cubicBezTo>
                  <a:pt x="3854076" y="0"/>
                  <a:pt x="3905250" y="51174"/>
                  <a:pt x="3905250" y="114300"/>
                </a:cubicBezTo>
                <a:lnTo>
                  <a:pt x="3905250" y="1695450"/>
                </a:lnTo>
                <a:cubicBezTo>
                  <a:pt x="3905250" y="1758576"/>
                  <a:pt x="3854076" y="1809750"/>
                  <a:pt x="3790950" y="1809750"/>
                </a:cubicBezTo>
                <a:lnTo>
                  <a:pt x="114300" y="1809750"/>
                </a:lnTo>
                <a:cubicBezTo>
                  <a:pt x="51174" y="1809750"/>
                  <a:pt x="0" y="1758576"/>
                  <a:pt x="0" y="169545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5BB6E4"/>
            </a:solidFill>
          </a:ln>
        </p:spPr>
      </p:sp>
      <p:sp>
        <p:nvSpPr>
          <p:cNvPr id="21" name="Freeform 21"/>
          <p:cNvSpPr/>
          <p:nvPr/>
        </p:nvSpPr>
        <p:spPr>
          <a:xfrm>
            <a:off x="7753350" y="2247900"/>
            <a:ext cx="3905250" cy="400050"/>
          </a:xfrm>
          <a:custGeom>
            <a:avLst/>
            <a:gdLst/>
            <a:ahLst/>
            <a:cxnLst/>
            <a:rect l="l" t="t" r="r" b="b"/>
            <a:pathLst>
              <a:path w="3905250" h="400050">
                <a:moveTo>
                  <a:pt x="114300" y="0"/>
                </a:moveTo>
                <a:lnTo>
                  <a:pt x="3790950" y="0"/>
                </a:lnTo>
                <a:cubicBezTo>
                  <a:pt x="3854076" y="0"/>
                  <a:pt x="3905250" y="51174"/>
                  <a:pt x="3905250" y="114300"/>
                </a:cubicBezTo>
                <a:lnTo>
                  <a:pt x="3905250" y="285750"/>
                </a:lnTo>
                <a:cubicBezTo>
                  <a:pt x="3905250" y="348876"/>
                  <a:pt x="3854076" y="400050"/>
                  <a:pt x="3790950" y="400050"/>
                </a:cubicBezTo>
                <a:lnTo>
                  <a:pt x="114300" y="400050"/>
                </a:lnTo>
                <a:cubicBezTo>
                  <a:pt x="51174" y="400050"/>
                  <a:pt x="0" y="348876"/>
                  <a:pt x="0" y="28575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69C0EA"/>
          </a:solidFill>
          <a:ln>
            <a:noFill/>
          </a:ln>
        </p:spPr>
      </p:sp>
      <p:sp>
        <p:nvSpPr>
          <p:cNvPr id="22" name="TextBox 22"/>
          <p:cNvSpPr txBox="1"/>
          <p:nvPr/>
        </p:nvSpPr>
        <p:spPr>
          <a:xfrm>
            <a:off x="8088630" y="2306955"/>
            <a:ext cx="1985581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核心参数指标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7936230" y="2878455"/>
            <a:ext cx="4423886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dirty="0">
                <a:solidFill>
                  <a:srgbClr val="0F3E68"/>
                </a:solidFill>
                <a:latin typeface="Microsoft YaHei"/>
                <a:ea typeface="Microsoft YaHei"/>
                <a:cs typeface="Microsoft YaHei"/>
              </a:rPr>
              <a:t>· 趋势：跨部门响应时效提升41%</a:t>
            </a:r>
          </a:p>
        </p:txBody>
      </p:sp>
      <p:sp>
        <p:nvSpPr>
          <p:cNvPr id="24" name="Freeform 24"/>
          <p:cNvSpPr/>
          <p:nvPr/>
        </p:nvSpPr>
        <p:spPr>
          <a:xfrm>
            <a:off x="533400" y="4267200"/>
            <a:ext cx="11125200" cy="762000"/>
          </a:xfrm>
          <a:custGeom>
            <a:avLst/>
            <a:gdLst/>
            <a:ahLst/>
            <a:cxnLst/>
            <a:rect l="l" t="t" r="r" b="b"/>
            <a:pathLst>
              <a:path w="11125200" h="762000">
                <a:moveTo>
                  <a:pt x="95250" y="0"/>
                </a:moveTo>
                <a:lnTo>
                  <a:pt x="11029950" y="0"/>
                </a:lnTo>
                <a:cubicBezTo>
                  <a:pt x="11082555" y="0"/>
                  <a:pt x="11125200" y="42645"/>
                  <a:pt x="11125200" y="95250"/>
                </a:cubicBezTo>
                <a:lnTo>
                  <a:pt x="11125200" y="666750"/>
                </a:lnTo>
                <a:cubicBezTo>
                  <a:pt x="11125200" y="719355"/>
                  <a:pt x="11082555" y="762000"/>
                  <a:pt x="11029950" y="762000"/>
                </a:cubicBezTo>
                <a:lnTo>
                  <a:pt x="95250" y="762000"/>
                </a:lnTo>
                <a:cubicBezTo>
                  <a:pt x="42645" y="762000"/>
                  <a:pt x="0" y="719355"/>
                  <a:pt x="0" y="66675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F8FBFF"/>
          </a:solidFill>
          <a:ln w="9525">
            <a:solidFill>
              <a:srgbClr val="2C7BC0"/>
            </a:solidFill>
          </a:ln>
        </p:spPr>
      </p:sp>
      <p:grpSp>
        <p:nvGrpSpPr>
          <p:cNvPr id="28" name="Group 28"/>
          <p:cNvGrpSpPr/>
          <p:nvPr/>
        </p:nvGrpSpPr>
        <p:grpSpPr>
          <a:xfrm>
            <a:off x="11221419" y="4363421"/>
            <a:ext cx="360009" cy="354353"/>
            <a:chOff x="11221419" y="4363421"/>
            <a:chExt cx="360009" cy="354353"/>
          </a:xfrm>
        </p:grpSpPr>
        <p:sp>
          <p:nvSpPr>
            <p:cNvPr id="25" name="Freeform 25"/>
            <p:cNvSpPr/>
            <p:nvPr/>
          </p:nvSpPr>
          <p:spPr>
            <a:xfrm>
              <a:off x="11221419" y="4363421"/>
              <a:ext cx="88547" cy="88547"/>
            </a:xfrm>
            <a:custGeom>
              <a:avLst/>
              <a:gdLst/>
              <a:ahLst/>
              <a:cxnLst/>
              <a:rect l="l" t="t" r="r" b="b"/>
              <a:pathLst>
                <a:path w="88547" h="88547">
                  <a:moveTo>
                    <a:pt x="88547" y="31992"/>
                  </a:moveTo>
                  <a:lnTo>
                    <a:pt x="31992" y="88547"/>
                  </a:lnTo>
                  <a:lnTo>
                    <a:pt x="0" y="56555"/>
                  </a:lnTo>
                  <a:lnTo>
                    <a:pt x="56555" y="0"/>
                  </a:lnTo>
                  <a:lnTo>
                    <a:pt x="88547" y="31992"/>
                  </a:lnTo>
                  <a:close/>
                </a:path>
              </a:pathLst>
            </a:custGeom>
            <a:solidFill>
              <a:srgbClr val="4A8E3B"/>
            </a:solidFill>
            <a:ln>
              <a:noFill/>
            </a:ln>
          </p:spPr>
        </p:sp>
        <p:sp>
          <p:nvSpPr>
            <p:cNvPr id="26" name="Freeform 26"/>
            <p:cNvSpPr/>
            <p:nvPr/>
          </p:nvSpPr>
          <p:spPr>
            <a:xfrm>
              <a:off x="11227074" y="4407694"/>
              <a:ext cx="348698" cy="310080"/>
            </a:xfrm>
            <a:custGeom>
              <a:avLst/>
              <a:gdLst/>
              <a:ahLst/>
              <a:cxnLst/>
              <a:rect l="l" t="t" r="r" b="b"/>
              <a:pathLst>
                <a:path w="348698" h="310080">
                  <a:moveTo>
                    <a:pt x="321391" y="147042"/>
                  </a:moveTo>
                  <a:cubicBezTo>
                    <a:pt x="321391" y="176568"/>
                    <a:pt x="312689" y="204062"/>
                    <a:pt x="297708" y="227098"/>
                  </a:cubicBezTo>
                  <a:lnTo>
                    <a:pt x="348698" y="278088"/>
                  </a:lnTo>
                  <a:lnTo>
                    <a:pt x="316706" y="310080"/>
                  </a:lnTo>
                  <a:lnTo>
                    <a:pt x="267470" y="260845"/>
                  </a:lnTo>
                  <a:cubicBezTo>
                    <a:pt x="242113" y="281619"/>
                    <a:pt x="209686" y="294084"/>
                    <a:pt x="174348" y="294084"/>
                  </a:cubicBezTo>
                  <a:cubicBezTo>
                    <a:pt x="139011" y="294084"/>
                    <a:pt x="106584" y="281619"/>
                    <a:pt x="81227" y="260845"/>
                  </a:cubicBezTo>
                  <a:lnTo>
                    <a:pt x="31992" y="310080"/>
                  </a:lnTo>
                  <a:lnTo>
                    <a:pt x="0" y="278088"/>
                  </a:lnTo>
                  <a:lnTo>
                    <a:pt x="50989" y="227098"/>
                  </a:lnTo>
                  <a:cubicBezTo>
                    <a:pt x="36009" y="204062"/>
                    <a:pt x="27306" y="176569"/>
                    <a:pt x="27306" y="147042"/>
                  </a:cubicBezTo>
                  <a:cubicBezTo>
                    <a:pt x="27306" y="65833"/>
                    <a:pt x="93139" y="0"/>
                    <a:pt x="174348" y="0"/>
                  </a:cubicBezTo>
                  <a:cubicBezTo>
                    <a:pt x="255557" y="0"/>
                    <a:pt x="321391" y="65833"/>
                    <a:pt x="321391" y="147042"/>
                  </a:cubicBezTo>
                  <a:close/>
                  <a:moveTo>
                    <a:pt x="151728" y="67865"/>
                  </a:moveTo>
                  <a:lnTo>
                    <a:pt x="151728" y="167723"/>
                  </a:lnTo>
                  <a:lnTo>
                    <a:pt x="203598" y="219592"/>
                  </a:lnTo>
                  <a:lnTo>
                    <a:pt x="235591" y="187600"/>
                  </a:lnTo>
                  <a:lnTo>
                    <a:pt x="196972" y="148982"/>
                  </a:lnTo>
                  <a:lnTo>
                    <a:pt x="196972" y="67865"/>
                  </a:lnTo>
                  <a:lnTo>
                    <a:pt x="151728" y="67865"/>
                  </a:lnTo>
                  <a:close/>
                </a:path>
              </a:pathLst>
            </a:custGeom>
            <a:solidFill>
              <a:srgbClr val="4A8E3B"/>
            </a:solidFill>
            <a:ln>
              <a:noFill/>
            </a:ln>
          </p:spPr>
        </p:sp>
        <p:sp>
          <p:nvSpPr>
            <p:cNvPr id="27" name="Freeform 27"/>
            <p:cNvSpPr/>
            <p:nvPr/>
          </p:nvSpPr>
          <p:spPr>
            <a:xfrm>
              <a:off x="11492881" y="4363421"/>
              <a:ext cx="88547" cy="88547"/>
            </a:xfrm>
            <a:custGeom>
              <a:avLst/>
              <a:gdLst/>
              <a:ahLst/>
              <a:cxnLst/>
              <a:rect l="l" t="t" r="r" b="b"/>
              <a:pathLst>
                <a:path w="88547" h="88547">
                  <a:moveTo>
                    <a:pt x="56555" y="88547"/>
                  </a:moveTo>
                  <a:lnTo>
                    <a:pt x="0" y="31992"/>
                  </a:lnTo>
                  <a:lnTo>
                    <a:pt x="31992" y="0"/>
                  </a:lnTo>
                  <a:lnTo>
                    <a:pt x="88547" y="56555"/>
                  </a:lnTo>
                  <a:lnTo>
                    <a:pt x="56555" y="88547"/>
                  </a:lnTo>
                  <a:close/>
                </a:path>
              </a:pathLst>
            </a:custGeom>
            <a:solidFill>
              <a:srgbClr val="4A8E3B"/>
            </a:solidFill>
            <a:ln>
              <a:noFill/>
            </a:ln>
          </p:spPr>
        </p:sp>
      </p:grpSp>
      <p:sp>
        <p:nvSpPr>
          <p:cNvPr id="29" name="TextBox 29"/>
          <p:cNvSpPr txBox="1"/>
          <p:nvPr/>
        </p:nvSpPr>
        <p:spPr>
          <a:xfrm>
            <a:off x="1019175" y="4462462"/>
            <a:ext cx="13858875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dirty="0">
                <a:solidFill>
                  <a:srgbClr val="1D4E79"/>
                </a:solidFill>
                <a:latin typeface="Microsoft YaHei"/>
                <a:ea typeface="Microsoft YaHei"/>
                <a:cs typeface="Microsoft YaHei"/>
              </a:rPr>
              <a:t>试点单位在周报生产时长、分析准确率、跨部门响应时效三项指标上持续改善，形成趋势增长。</a:t>
            </a:r>
          </a:p>
        </p:txBody>
      </p:sp>
      <p:sp>
        <p:nvSpPr>
          <p:cNvPr id="30" name="Freeform 30"/>
          <p:cNvSpPr/>
          <p:nvPr/>
        </p:nvSpPr>
        <p:spPr>
          <a:xfrm>
            <a:off x="533400" y="5162550"/>
            <a:ext cx="3429000" cy="1028700"/>
          </a:xfrm>
          <a:custGeom>
            <a:avLst/>
            <a:gdLst/>
            <a:ahLst/>
            <a:cxnLst/>
            <a:rect l="l" t="t" r="r" b="b"/>
            <a:pathLst>
              <a:path w="3429000" h="1028700">
                <a:moveTo>
                  <a:pt x="95250" y="0"/>
                </a:moveTo>
                <a:lnTo>
                  <a:pt x="3333750" y="0"/>
                </a:lnTo>
                <a:cubicBezTo>
                  <a:pt x="3386355" y="0"/>
                  <a:pt x="3429000" y="42645"/>
                  <a:pt x="3429000" y="95250"/>
                </a:cubicBezTo>
                <a:lnTo>
                  <a:pt x="3429000" y="933450"/>
                </a:lnTo>
                <a:cubicBezTo>
                  <a:pt x="3429000" y="986055"/>
                  <a:pt x="3386355" y="1028700"/>
                  <a:pt x="3333750" y="1028700"/>
                </a:cubicBezTo>
                <a:lnTo>
                  <a:pt x="95250" y="1028700"/>
                </a:lnTo>
                <a:cubicBezTo>
                  <a:pt x="42645" y="1028700"/>
                  <a:pt x="0" y="986055"/>
                  <a:pt x="0" y="93345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18366B"/>
          </a:solidFill>
          <a:ln>
            <a:noFill/>
          </a:ln>
        </p:spPr>
      </p:sp>
      <p:sp>
        <p:nvSpPr>
          <p:cNvPr id="31" name="Freeform 31"/>
          <p:cNvSpPr/>
          <p:nvPr/>
        </p:nvSpPr>
        <p:spPr>
          <a:xfrm>
            <a:off x="4248150" y="5162550"/>
            <a:ext cx="3429000" cy="1028700"/>
          </a:xfrm>
          <a:custGeom>
            <a:avLst/>
            <a:gdLst/>
            <a:ahLst/>
            <a:cxnLst/>
            <a:rect l="l" t="t" r="r" b="b"/>
            <a:pathLst>
              <a:path w="3429000" h="1028700">
                <a:moveTo>
                  <a:pt x="95250" y="0"/>
                </a:moveTo>
                <a:lnTo>
                  <a:pt x="3333750" y="0"/>
                </a:lnTo>
                <a:cubicBezTo>
                  <a:pt x="3386355" y="0"/>
                  <a:pt x="3429000" y="42645"/>
                  <a:pt x="3429000" y="95250"/>
                </a:cubicBezTo>
                <a:lnTo>
                  <a:pt x="3429000" y="933450"/>
                </a:lnTo>
                <a:cubicBezTo>
                  <a:pt x="3429000" y="986055"/>
                  <a:pt x="3386355" y="1028700"/>
                  <a:pt x="3333750" y="1028700"/>
                </a:cubicBezTo>
                <a:lnTo>
                  <a:pt x="95250" y="1028700"/>
                </a:lnTo>
                <a:cubicBezTo>
                  <a:pt x="42645" y="1028700"/>
                  <a:pt x="0" y="986055"/>
                  <a:pt x="0" y="93345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3D74B8"/>
          </a:solidFill>
          <a:ln>
            <a:noFill/>
          </a:ln>
        </p:spPr>
      </p:sp>
      <p:sp>
        <p:nvSpPr>
          <p:cNvPr id="32" name="Freeform 32"/>
          <p:cNvSpPr/>
          <p:nvPr/>
        </p:nvSpPr>
        <p:spPr>
          <a:xfrm>
            <a:off x="7962900" y="5162550"/>
            <a:ext cx="3695700" cy="1028700"/>
          </a:xfrm>
          <a:custGeom>
            <a:avLst/>
            <a:gdLst/>
            <a:ahLst/>
            <a:cxnLst/>
            <a:rect l="l" t="t" r="r" b="b"/>
            <a:pathLst>
              <a:path w="3695700" h="1028700">
                <a:moveTo>
                  <a:pt x="95250" y="0"/>
                </a:moveTo>
                <a:lnTo>
                  <a:pt x="3600450" y="0"/>
                </a:lnTo>
                <a:cubicBezTo>
                  <a:pt x="3653055" y="0"/>
                  <a:pt x="3695700" y="42645"/>
                  <a:pt x="3695700" y="95250"/>
                </a:cubicBezTo>
                <a:lnTo>
                  <a:pt x="3695700" y="933450"/>
                </a:lnTo>
                <a:cubicBezTo>
                  <a:pt x="3695700" y="986055"/>
                  <a:pt x="3653055" y="1028700"/>
                  <a:pt x="3600450" y="1028700"/>
                </a:cubicBezTo>
                <a:lnTo>
                  <a:pt x="95250" y="1028700"/>
                </a:lnTo>
                <a:cubicBezTo>
                  <a:pt x="42645" y="1028700"/>
                  <a:pt x="0" y="986055"/>
                  <a:pt x="0" y="93345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69C0EA"/>
          </a:solidFill>
          <a:ln>
            <a:noFill/>
          </a:ln>
        </p:spPr>
      </p:sp>
      <p:sp>
        <p:nvSpPr>
          <p:cNvPr id="33" name="TextBox 33"/>
          <p:cNvSpPr txBox="1"/>
          <p:nvPr/>
        </p:nvSpPr>
        <p:spPr>
          <a:xfrm>
            <a:off x="1621429" y="5172075"/>
            <a:ext cx="1252942" cy="914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45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96%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4991136" y="5172075"/>
            <a:ext cx="1943029" cy="914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45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$60万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9029009" y="5172075"/>
            <a:ext cx="1563481" cy="914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45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22项</a:t>
            </a:r>
          </a:p>
        </p:txBody>
      </p:sp>
      <p:sp>
        <p:nvSpPr>
          <p:cNvPr id="36" name="Freeform 36"/>
          <p:cNvSpPr/>
          <p:nvPr/>
        </p:nvSpPr>
        <p:spPr>
          <a:xfrm>
            <a:off x="8877300" y="5334000"/>
            <a:ext cx="2781300" cy="914400"/>
          </a:xfrm>
          <a:custGeom>
            <a:avLst/>
            <a:gdLst/>
            <a:ahLst/>
            <a:cxnLst/>
            <a:rect l="l" t="t" r="r" b="b"/>
            <a:pathLst>
              <a:path w="2781300" h="914400">
                <a:moveTo>
                  <a:pt x="95250" y="0"/>
                </a:moveTo>
                <a:lnTo>
                  <a:pt x="2686050" y="0"/>
                </a:lnTo>
                <a:cubicBezTo>
                  <a:pt x="2738655" y="0"/>
                  <a:pt x="2781300" y="42645"/>
                  <a:pt x="2781300" y="95250"/>
                </a:cubicBezTo>
                <a:lnTo>
                  <a:pt x="2781300" y="819150"/>
                </a:lnTo>
                <a:cubicBezTo>
                  <a:pt x="2781300" y="871755"/>
                  <a:pt x="2738655" y="914400"/>
                  <a:pt x="2686050" y="914400"/>
                </a:cubicBezTo>
                <a:lnTo>
                  <a:pt x="95250" y="914400"/>
                </a:lnTo>
                <a:cubicBezTo>
                  <a:pt x="42645" y="914400"/>
                  <a:pt x="0" y="871755"/>
                  <a:pt x="0" y="81915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FFFFFF">
              <a:alpha val="90000"/>
            </a:srgbClr>
          </a:solidFill>
          <a:ln w="9525">
            <a:solidFill>
              <a:srgbClr val="C9D9ED"/>
            </a:solidFill>
          </a:ln>
        </p:spPr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55" y="0"/>
            <a:ext cx="12151042" cy="6858000"/>
          </a:xfrm>
          <a:prstGeom prst="rect">
            <a:avLst/>
          </a:prstGeom>
        </p:spPr>
      </p:pic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4000"/>
            </a:srgbClr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346710" y="489585"/>
            <a:ext cx="5037201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004C8B"/>
                </a:solidFill>
                <a:latin typeface="Microsoft YaHei"/>
                <a:ea typeface="Microsoft YaHei"/>
                <a:cs typeface="Microsoft YaHei"/>
              </a:rPr>
              <a:t>经营价值对比：投入与产出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358140" y="1120140"/>
            <a:ext cx="11087100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004C8B"/>
                </a:solidFill>
                <a:latin typeface="Microsoft YaHei"/>
                <a:ea typeface="Microsoft YaHei"/>
                <a:cs typeface="Microsoft YaHei"/>
              </a:rPr>
              <a:t>对比试点前后投入产出，展示人效提升、返工减少、机会损失降低，建立可量化价值模型。</a:t>
            </a:r>
          </a:p>
        </p:txBody>
      </p:sp>
      <p:sp>
        <p:nvSpPr>
          <p:cNvPr id="6" name="Freeform 6"/>
          <p:cNvSpPr/>
          <p:nvPr/>
        </p:nvSpPr>
        <p:spPr>
          <a:xfrm>
            <a:off x="400050" y="1562100"/>
            <a:ext cx="11391900" cy="4762500"/>
          </a:xfrm>
          <a:custGeom>
            <a:avLst/>
            <a:gdLst/>
            <a:ahLst/>
            <a:cxnLst/>
            <a:rect l="l" t="t" r="r" b="b"/>
            <a:pathLst>
              <a:path w="11391900" h="4762500">
                <a:moveTo>
                  <a:pt x="171450" y="0"/>
                </a:moveTo>
                <a:lnTo>
                  <a:pt x="11220450" y="0"/>
                </a:lnTo>
                <a:cubicBezTo>
                  <a:pt x="11315139" y="0"/>
                  <a:pt x="11391900" y="76761"/>
                  <a:pt x="11391900" y="171450"/>
                </a:cubicBezTo>
                <a:lnTo>
                  <a:pt x="11391900" y="4591050"/>
                </a:lnTo>
                <a:cubicBezTo>
                  <a:pt x="11391900" y="4685739"/>
                  <a:pt x="11315139" y="4762500"/>
                  <a:pt x="11220450" y="4762500"/>
                </a:cubicBezTo>
                <a:lnTo>
                  <a:pt x="171450" y="4762500"/>
                </a:lnTo>
                <a:cubicBezTo>
                  <a:pt x="76761" y="4762500"/>
                  <a:pt x="0" y="4685739"/>
                  <a:pt x="0" y="4591050"/>
                </a:cubicBezTo>
                <a:lnTo>
                  <a:pt x="0" y="171450"/>
                </a:lnTo>
                <a:cubicBezTo>
                  <a:pt x="0" y="76761"/>
                  <a:pt x="76761" y="0"/>
                  <a:pt x="171450" y="0"/>
                </a:cubicBezTo>
                <a:close/>
              </a:path>
            </a:pathLst>
          </a:custGeom>
          <a:solidFill>
            <a:srgbClr val="FFFFFF">
              <a:alpha val="94000"/>
            </a:srgbClr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621030" y="1630680"/>
            <a:ext cx="6799078" cy="7315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600" b="1" dirty="0">
                <a:solidFill>
                  <a:srgbClr val="18366B"/>
                </a:solidFill>
                <a:latin typeface="Microsoft YaHei"/>
                <a:ea typeface="Microsoft YaHei"/>
                <a:cs typeface="Microsoft YaHei"/>
              </a:rPr>
              <a:t>中国深水钻井 — 跨越式发展</a:t>
            </a:r>
          </a:p>
        </p:txBody>
      </p:sp>
      <p:sp>
        <p:nvSpPr>
          <p:cNvPr id="8" name="Freeform 8"/>
          <p:cNvSpPr/>
          <p:nvPr/>
        </p:nvSpPr>
        <p:spPr>
          <a:xfrm>
            <a:off x="533400" y="2266950"/>
            <a:ext cx="2628900" cy="1143000"/>
          </a:xfrm>
          <a:custGeom>
            <a:avLst/>
            <a:gdLst/>
            <a:ahLst/>
            <a:cxnLst/>
            <a:rect l="l" t="t" r="r" b="b"/>
            <a:pathLst>
              <a:path w="2628900" h="1143000">
                <a:moveTo>
                  <a:pt x="171450" y="0"/>
                </a:moveTo>
                <a:lnTo>
                  <a:pt x="2457450" y="0"/>
                </a:lnTo>
                <a:cubicBezTo>
                  <a:pt x="2552139" y="0"/>
                  <a:pt x="2628900" y="76761"/>
                  <a:pt x="2628900" y="171450"/>
                </a:cubicBezTo>
                <a:lnTo>
                  <a:pt x="2628900" y="971550"/>
                </a:lnTo>
                <a:cubicBezTo>
                  <a:pt x="2628900" y="1066239"/>
                  <a:pt x="2552139" y="1143000"/>
                  <a:pt x="2457450" y="1143000"/>
                </a:cubicBezTo>
                <a:lnTo>
                  <a:pt x="171450" y="1143000"/>
                </a:lnTo>
                <a:cubicBezTo>
                  <a:pt x="76761" y="1143000"/>
                  <a:pt x="0" y="1066239"/>
                  <a:pt x="0" y="971550"/>
                </a:cubicBezTo>
                <a:lnTo>
                  <a:pt x="0" y="171450"/>
                </a:lnTo>
                <a:cubicBezTo>
                  <a:pt x="0" y="76761"/>
                  <a:pt x="76761" y="0"/>
                  <a:pt x="171450" y="0"/>
                </a:cubicBezTo>
                <a:close/>
              </a:path>
            </a:pathLst>
          </a:custGeom>
          <a:solidFill>
            <a:srgbClr val="18366B"/>
          </a:solidFill>
          <a:ln>
            <a:noFill/>
          </a:ln>
        </p:spPr>
      </p:sp>
      <p:sp>
        <p:nvSpPr>
          <p:cNvPr id="9" name="Freeform 9"/>
          <p:cNvSpPr/>
          <p:nvPr/>
        </p:nvSpPr>
        <p:spPr>
          <a:xfrm>
            <a:off x="3352800" y="2266950"/>
            <a:ext cx="2628900" cy="1143000"/>
          </a:xfrm>
          <a:custGeom>
            <a:avLst/>
            <a:gdLst/>
            <a:ahLst/>
            <a:cxnLst/>
            <a:rect l="l" t="t" r="r" b="b"/>
            <a:pathLst>
              <a:path w="2628900" h="1143000">
                <a:moveTo>
                  <a:pt x="171450" y="0"/>
                </a:moveTo>
                <a:lnTo>
                  <a:pt x="2457450" y="0"/>
                </a:lnTo>
                <a:cubicBezTo>
                  <a:pt x="2552139" y="0"/>
                  <a:pt x="2628900" y="76761"/>
                  <a:pt x="2628900" y="171450"/>
                </a:cubicBezTo>
                <a:lnTo>
                  <a:pt x="2628900" y="971550"/>
                </a:lnTo>
                <a:cubicBezTo>
                  <a:pt x="2628900" y="1066239"/>
                  <a:pt x="2552139" y="1143000"/>
                  <a:pt x="2457450" y="1143000"/>
                </a:cubicBezTo>
                <a:lnTo>
                  <a:pt x="171450" y="1143000"/>
                </a:lnTo>
                <a:cubicBezTo>
                  <a:pt x="76761" y="1143000"/>
                  <a:pt x="0" y="1066239"/>
                  <a:pt x="0" y="971550"/>
                </a:cubicBezTo>
                <a:lnTo>
                  <a:pt x="0" y="171450"/>
                </a:lnTo>
                <a:cubicBezTo>
                  <a:pt x="0" y="76761"/>
                  <a:pt x="76761" y="0"/>
                  <a:pt x="171450" y="0"/>
                </a:cubicBezTo>
                <a:close/>
              </a:path>
            </a:pathLst>
          </a:custGeom>
          <a:solidFill>
            <a:srgbClr val="3D74B8"/>
          </a:solidFill>
          <a:ln>
            <a:noFill/>
          </a:ln>
        </p:spPr>
      </p:sp>
      <p:sp>
        <p:nvSpPr>
          <p:cNvPr id="10" name="Freeform 10"/>
          <p:cNvSpPr/>
          <p:nvPr/>
        </p:nvSpPr>
        <p:spPr>
          <a:xfrm>
            <a:off x="6172200" y="2266950"/>
            <a:ext cx="2628900" cy="1143000"/>
          </a:xfrm>
          <a:custGeom>
            <a:avLst/>
            <a:gdLst/>
            <a:ahLst/>
            <a:cxnLst/>
            <a:rect l="l" t="t" r="r" b="b"/>
            <a:pathLst>
              <a:path w="2628900" h="1143000">
                <a:moveTo>
                  <a:pt x="171450" y="0"/>
                </a:moveTo>
                <a:lnTo>
                  <a:pt x="2457450" y="0"/>
                </a:lnTo>
                <a:cubicBezTo>
                  <a:pt x="2552139" y="0"/>
                  <a:pt x="2628900" y="76761"/>
                  <a:pt x="2628900" y="171450"/>
                </a:cubicBezTo>
                <a:lnTo>
                  <a:pt x="2628900" y="971550"/>
                </a:lnTo>
                <a:cubicBezTo>
                  <a:pt x="2628900" y="1066239"/>
                  <a:pt x="2552139" y="1143000"/>
                  <a:pt x="2457450" y="1143000"/>
                </a:cubicBezTo>
                <a:lnTo>
                  <a:pt x="171450" y="1143000"/>
                </a:lnTo>
                <a:cubicBezTo>
                  <a:pt x="76761" y="1143000"/>
                  <a:pt x="0" y="1066239"/>
                  <a:pt x="0" y="971550"/>
                </a:cubicBezTo>
                <a:lnTo>
                  <a:pt x="0" y="171450"/>
                </a:lnTo>
                <a:cubicBezTo>
                  <a:pt x="0" y="76761"/>
                  <a:pt x="76761" y="0"/>
                  <a:pt x="171450" y="0"/>
                </a:cubicBezTo>
                <a:close/>
              </a:path>
            </a:pathLst>
          </a:custGeom>
          <a:solidFill>
            <a:srgbClr val="69C0EA"/>
          </a:solidFill>
          <a:ln>
            <a:noFill/>
          </a:ln>
        </p:spPr>
      </p:sp>
      <p:sp>
        <p:nvSpPr>
          <p:cNvPr id="11" name="Freeform 11"/>
          <p:cNvSpPr/>
          <p:nvPr/>
        </p:nvSpPr>
        <p:spPr>
          <a:xfrm>
            <a:off x="8991600" y="2266950"/>
            <a:ext cx="2667000" cy="1143000"/>
          </a:xfrm>
          <a:custGeom>
            <a:avLst/>
            <a:gdLst/>
            <a:ahLst/>
            <a:cxnLst/>
            <a:rect l="l" t="t" r="r" b="b"/>
            <a:pathLst>
              <a:path w="2667000" h="1143000">
                <a:moveTo>
                  <a:pt x="171450" y="0"/>
                </a:moveTo>
                <a:lnTo>
                  <a:pt x="2495550" y="0"/>
                </a:lnTo>
                <a:cubicBezTo>
                  <a:pt x="2590239" y="0"/>
                  <a:pt x="2667000" y="76761"/>
                  <a:pt x="2667000" y="171450"/>
                </a:cubicBezTo>
                <a:lnTo>
                  <a:pt x="2667000" y="971550"/>
                </a:lnTo>
                <a:cubicBezTo>
                  <a:pt x="2667000" y="1066239"/>
                  <a:pt x="2590239" y="1143000"/>
                  <a:pt x="2495550" y="1143000"/>
                </a:cubicBezTo>
                <a:lnTo>
                  <a:pt x="171450" y="1143000"/>
                </a:lnTo>
                <a:cubicBezTo>
                  <a:pt x="76761" y="1143000"/>
                  <a:pt x="0" y="1066239"/>
                  <a:pt x="0" y="971550"/>
                </a:cubicBezTo>
                <a:lnTo>
                  <a:pt x="0" y="171450"/>
                </a:lnTo>
                <a:cubicBezTo>
                  <a:pt x="0" y="76761"/>
                  <a:pt x="76761" y="0"/>
                  <a:pt x="171450" y="0"/>
                </a:cubicBezTo>
                <a:close/>
              </a:path>
            </a:pathLst>
          </a:custGeom>
          <a:solidFill>
            <a:srgbClr val="4A8E3B"/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805458" y="2345055"/>
            <a:ext cx="2084784" cy="1036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5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1000+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3742172" y="2345055"/>
            <a:ext cx="1850155" cy="1036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5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60%+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6874412" y="2345055"/>
            <a:ext cx="1224477" cy="1036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5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10+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8552402" y="2296478"/>
            <a:ext cx="3545395" cy="1127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555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世界先进</a:t>
            </a:r>
          </a:p>
        </p:txBody>
      </p:sp>
      <p:sp>
        <p:nvSpPr>
          <p:cNvPr id="16" name="Freeform 16"/>
          <p:cNvSpPr/>
          <p:nvPr/>
        </p:nvSpPr>
        <p:spPr>
          <a:xfrm>
            <a:off x="533400" y="3638550"/>
            <a:ext cx="5448300" cy="2476500"/>
          </a:xfrm>
          <a:custGeom>
            <a:avLst/>
            <a:gdLst/>
            <a:ahLst/>
            <a:cxnLst/>
            <a:rect l="l" t="t" r="r" b="b"/>
            <a:pathLst>
              <a:path w="5448300" h="2476500">
                <a:moveTo>
                  <a:pt x="114300" y="0"/>
                </a:moveTo>
                <a:lnTo>
                  <a:pt x="5334000" y="0"/>
                </a:lnTo>
                <a:cubicBezTo>
                  <a:pt x="5397126" y="0"/>
                  <a:pt x="5448300" y="51174"/>
                  <a:pt x="5448300" y="114300"/>
                </a:cubicBezTo>
                <a:lnTo>
                  <a:pt x="5448300" y="2362200"/>
                </a:lnTo>
                <a:cubicBezTo>
                  <a:pt x="5448300" y="2425326"/>
                  <a:pt x="5397126" y="2476500"/>
                  <a:pt x="5334000" y="2476500"/>
                </a:cubicBezTo>
                <a:lnTo>
                  <a:pt x="114300" y="2476500"/>
                </a:lnTo>
                <a:cubicBezTo>
                  <a:pt x="51174" y="2476500"/>
                  <a:pt x="0" y="2425326"/>
                  <a:pt x="0" y="236220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D7E4F2"/>
            </a:solidFill>
          </a:ln>
        </p:spPr>
      </p:sp>
      <p:sp>
        <p:nvSpPr>
          <p:cNvPr id="17" name="Freeform 17"/>
          <p:cNvSpPr/>
          <p:nvPr/>
        </p:nvSpPr>
        <p:spPr>
          <a:xfrm>
            <a:off x="6115050" y="3638550"/>
            <a:ext cx="5543550" cy="2476500"/>
          </a:xfrm>
          <a:custGeom>
            <a:avLst/>
            <a:gdLst/>
            <a:ahLst/>
            <a:cxnLst/>
            <a:rect l="l" t="t" r="r" b="b"/>
            <a:pathLst>
              <a:path w="5543550" h="2476500">
                <a:moveTo>
                  <a:pt x="114300" y="0"/>
                </a:moveTo>
                <a:lnTo>
                  <a:pt x="5429250" y="0"/>
                </a:lnTo>
                <a:cubicBezTo>
                  <a:pt x="5492376" y="0"/>
                  <a:pt x="5543550" y="51174"/>
                  <a:pt x="5543550" y="114300"/>
                </a:cubicBezTo>
                <a:lnTo>
                  <a:pt x="5543550" y="2362200"/>
                </a:lnTo>
                <a:cubicBezTo>
                  <a:pt x="5543550" y="2425326"/>
                  <a:pt x="5492376" y="2476500"/>
                  <a:pt x="5429250" y="2476500"/>
                </a:cubicBezTo>
                <a:lnTo>
                  <a:pt x="114300" y="2476500"/>
                </a:lnTo>
                <a:cubicBezTo>
                  <a:pt x="51174" y="2476500"/>
                  <a:pt x="0" y="2425326"/>
                  <a:pt x="0" y="236220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D7E4F2"/>
            </a:solidFill>
          </a:ln>
        </p:spPr>
      </p:sp>
      <p:sp>
        <p:nvSpPr>
          <p:cNvPr id="18" name="Freeform 18"/>
          <p:cNvSpPr/>
          <p:nvPr/>
        </p:nvSpPr>
        <p:spPr>
          <a:xfrm>
            <a:off x="704850" y="3810000"/>
            <a:ext cx="266700" cy="266700"/>
          </a:xfrm>
          <a:custGeom>
            <a:avLst/>
            <a:gdLst/>
            <a:ahLst/>
            <a:cxnLst/>
            <a:rect l="l" t="t" r="r" b="b"/>
            <a:pathLst>
              <a:path w="266700" h="266700">
                <a:moveTo>
                  <a:pt x="133350" y="266700"/>
                </a:moveTo>
                <a:cubicBezTo>
                  <a:pt x="206998" y="266700"/>
                  <a:pt x="266700" y="206998"/>
                  <a:pt x="266700" y="133350"/>
                </a:cubicBezTo>
                <a:cubicBezTo>
                  <a:pt x="266700" y="59703"/>
                  <a:pt x="206998" y="0"/>
                  <a:pt x="133350" y="0"/>
                </a:cubicBezTo>
                <a:cubicBezTo>
                  <a:pt x="59703" y="0"/>
                  <a:pt x="0" y="59703"/>
                  <a:pt x="0" y="133350"/>
                </a:cubicBezTo>
                <a:cubicBezTo>
                  <a:pt x="0" y="206998"/>
                  <a:pt x="59703" y="266700"/>
                  <a:pt x="133350" y="266700"/>
                </a:cubicBezTo>
                <a:close/>
                <a:moveTo>
                  <a:pt x="150019" y="83344"/>
                </a:moveTo>
                <a:lnTo>
                  <a:pt x="116681" y="83344"/>
                </a:lnTo>
                <a:lnTo>
                  <a:pt x="116681" y="183356"/>
                </a:lnTo>
                <a:lnTo>
                  <a:pt x="150019" y="183356"/>
                </a:lnTo>
                <a:lnTo>
                  <a:pt x="150019" y="83344"/>
                </a:lnTo>
                <a:close/>
              </a:path>
            </a:pathLst>
          </a:custGeom>
          <a:solidFill>
            <a:srgbClr val="3D74B8"/>
          </a:solidFill>
          <a:ln>
            <a:noFill/>
          </a:ln>
        </p:spPr>
      </p:sp>
      <p:sp>
        <p:nvSpPr>
          <p:cNvPr id="19" name="TextBox 19"/>
          <p:cNvSpPr txBox="1"/>
          <p:nvPr/>
        </p:nvSpPr>
        <p:spPr>
          <a:xfrm>
            <a:off x="1066800" y="3695700"/>
            <a:ext cx="5136832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8366B"/>
                </a:solidFill>
                <a:latin typeface="Microsoft YaHei"/>
                <a:ea typeface="Microsoft YaHei"/>
                <a:cs typeface="Microsoft YaHei"/>
              </a:rPr>
              <a:t>关键指标创历史最好水平</a:t>
            </a:r>
          </a:p>
        </p:txBody>
      </p:sp>
      <p:sp>
        <p:nvSpPr>
          <p:cNvPr id="20" name="Freeform 20"/>
          <p:cNvSpPr/>
          <p:nvPr/>
        </p:nvSpPr>
        <p:spPr>
          <a:xfrm>
            <a:off x="6286500" y="3810000"/>
            <a:ext cx="266700" cy="266700"/>
          </a:xfrm>
          <a:custGeom>
            <a:avLst/>
            <a:gdLst/>
            <a:ahLst/>
            <a:cxnLst/>
            <a:rect l="l" t="t" r="r" b="b"/>
            <a:pathLst>
              <a:path w="266700" h="266700">
                <a:moveTo>
                  <a:pt x="266700" y="133350"/>
                </a:moveTo>
                <a:cubicBezTo>
                  <a:pt x="266700" y="206998"/>
                  <a:pt x="206998" y="266700"/>
                  <a:pt x="133350" y="266700"/>
                </a:cubicBezTo>
                <a:cubicBezTo>
                  <a:pt x="59703" y="266700"/>
                  <a:pt x="0" y="206998"/>
                  <a:pt x="0" y="133350"/>
                </a:cubicBezTo>
                <a:cubicBezTo>
                  <a:pt x="0" y="59703"/>
                  <a:pt x="59703" y="0"/>
                  <a:pt x="133350" y="0"/>
                </a:cubicBezTo>
                <a:cubicBezTo>
                  <a:pt x="206998" y="0"/>
                  <a:pt x="266700" y="59703"/>
                  <a:pt x="266700" y="133350"/>
                </a:cubicBezTo>
                <a:close/>
                <a:moveTo>
                  <a:pt x="154186" y="62508"/>
                </a:moveTo>
                <a:cubicBezTo>
                  <a:pt x="154186" y="74015"/>
                  <a:pt x="144857" y="83344"/>
                  <a:pt x="133350" y="83344"/>
                </a:cubicBezTo>
                <a:cubicBezTo>
                  <a:pt x="121843" y="83344"/>
                  <a:pt x="112514" y="74015"/>
                  <a:pt x="112514" y="62508"/>
                </a:cubicBezTo>
                <a:cubicBezTo>
                  <a:pt x="112514" y="51000"/>
                  <a:pt x="121843" y="41672"/>
                  <a:pt x="133350" y="41672"/>
                </a:cubicBezTo>
                <a:cubicBezTo>
                  <a:pt x="144857" y="41672"/>
                  <a:pt x="154186" y="51000"/>
                  <a:pt x="154186" y="62508"/>
                </a:cubicBezTo>
                <a:close/>
                <a:moveTo>
                  <a:pt x="200025" y="133350"/>
                </a:moveTo>
                <a:lnTo>
                  <a:pt x="157003" y="133350"/>
                </a:lnTo>
                <a:lnTo>
                  <a:pt x="186768" y="216694"/>
                </a:lnTo>
                <a:lnTo>
                  <a:pt x="151369" y="216694"/>
                </a:lnTo>
                <a:lnTo>
                  <a:pt x="133350" y="166241"/>
                </a:lnTo>
                <a:lnTo>
                  <a:pt x="115331" y="216694"/>
                </a:lnTo>
                <a:lnTo>
                  <a:pt x="79931" y="216694"/>
                </a:lnTo>
                <a:lnTo>
                  <a:pt x="109697" y="133350"/>
                </a:lnTo>
                <a:lnTo>
                  <a:pt x="66675" y="133350"/>
                </a:lnTo>
                <a:lnTo>
                  <a:pt x="66675" y="100012"/>
                </a:lnTo>
                <a:lnTo>
                  <a:pt x="200025" y="100012"/>
                </a:lnTo>
                <a:lnTo>
                  <a:pt x="200025" y="133350"/>
                </a:lnTo>
                <a:close/>
              </a:path>
            </a:pathLst>
          </a:custGeom>
          <a:solidFill>
            <a:srgbClr val="3D74B8"/>
          </a:solidFill>
          <a:ln>
            <a:noFill/>
          </a:ln>
        </p:spPr>
      </p:sp>
      <p:sp>
        <p:nvSpPr>
          <p:cNvPr id="21" name="TextBox 21"/>
          <p:cNvSpPr txBox="1"/>
          <p:nvPr/>
        </p:nvSpPr>
        <p:spPr>
          <a:xfrm>
            <a:off x="6648450" y="3695700"/>
            <a:ext cx="5136832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8366B"/>
                </a:solidFill>
                <a:latin typeface="Microsoft YaHei"/>
                <a:ea typeface="Microsoft YaHei"/>
                <a:cs typeface="Microsoft YaHei"/>
              </a:rPr>
              <a:t>深水优智钻完井技术体系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790575" y="4348162"/>
            <a:ext cx="3951208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dirty="0">
                <a:solidFill>
                  <a:srgbClr val="1D4E79"/>
                </a:solidFill>
                <a:latin typeface="Microsoft YaHei"/>
                <a:ea typeface="Microsoft YaHei"/>
                <a:cs typeface="Microsoft YaHei"/>
              </a:rPr>
              <a:t>· 对比：单位产出成本下降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790575" y="4862512"/>
            <a:ext cx="4608433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dirty="0">
                <a:solidFill>
                  <a:srgbClr val="1D4E79"/>
                </a:solidFill>
                <a:latin typeface="Microsoft YaHei"/>
                <a:ea typeface="Microsoft YaHei"/>
                <a:cs typeface="Microsoft YaHei"/>
              </a:rPr>
              <a:t>· 价值：人效与决策速度双提升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6372225" y="4348162"/>
            <a:ext cx="3951208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dirty="0">
                <a:solidFill>
                  <a:srgbClr val="1D4E79"/>
                </a:solidFill>
                <a:latin typeface="Microsoft YaHei"/>
                <a:ea typeface="Microsoft YaHei"/>
                <a:cs typeface="Microsoft YaHei"/>
              </a:rPr>
              <a:t>· 收益：减少重复分析投入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6372225" y="4862512"/>
            <a:ext cx="13480971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dirty="0">
                <a:solidFill>
                  <a:srgbClr val="1D4E79"/>
                </a:solidFill>
                <a:latin typeface="Microsoft YaHei"/>
                <a:ea typeface="Microsoft YaHei"/>
                <a:cs typeface="Microsoft YaHei"/>
              </a:rPr>
              <a:t>· 对比试点前后投入产出，展示人效提升、返工减少、机会损失降低，建立可量化价值模型。</a:t>
            </a:r>
          </a:p>
        </p:txBody>
      </p:sp>
      <p:sp>
        <p:nvSpPr>
          <p:cNvPr id="26" name="Freeform 26"/>
          <p:cNvSpPr/>
          <p:nvPr/>
        </p:nvSpPr>
        <p:spPr>
          <a:xfrm>
            <a:off x="8877300" y="5334000"/>
            <a:ext cx="2781300" cy="914400"/>
          </a:xfrm>
          <a:custGeom>
            <a:avLst/>
            <a:gdLst/>
            <a:ahLst/>
            <a:cxnLst/>
            <a:rect l="l" t="t" r="r" b="b"/>
            <a:pathLst>
              <a:path w="2781300" h="914400">
                <a:moveTo>
                  <a:pt x="95250" y="0"/>
                </a:moveTo>
                <a:lnTo>
                  <a:pt x="2686050" y="0"/>
                </a:lnTo>
                <a:cubicBezTo>
                  <a:pt x="2738655" y="0"/>
                  <a:pt x="2781300" y="42645"/>
                  <a:pt x="2781300" y="95250"/>
                </a:cubicBezTo>
                <a:lnTo>
                  <a:pt x="2781300" y="819150"/>
                </a:lnTo>
                <a:cubicBezTo>
                  <a:pt x="2781300" y="871755"/>
                  <a:pt x="2738655" y="914400"/>
                  <a:pt x="2686050" y="914400"/>
                </a:cubicBezTo>
                <a:lnTo>
                  <a:pt x="95250" y="914400"/>
                </a:lnTo>
                <a:cubicBezTo>
                  <a:pt x="42645" y="914400"/>
                  <a:pt x="0" y="871755"/>
                  <a:pt x="0" y="81915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FFFFFF">
              <a:alpha val="90000"/>
            </a:srgbClr>
          </a:solidFill>
          <a:ln w="9525">
            <a:solidFill>
              <a:srgbClr val="C9D9ED"/>
            </a:solidFill>
          </a:ln>
        </p:spPr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55" y="0"/>
            <a:ext cx="12151042" cy="6858000"/>
          </a:xfrm>
          <a:prstGeom prst="rect">
            <a:avLst/>
          </a:prstGeom>
        </p:spPr>
      </p:pic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4000"/>
            </a:srgbClr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346710" y="489585"/>
            <a:ext cx="5451253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004C8B"/>
                </a:solidFill>
                <a:latin typeface="Microsoft YaHei"/>
                <a:ea typeface="Microsoft YaHei"/>
                <a:cs typeface="Microsoft YaHei"/>
              </a:rPr>
              <a:t>典型场景案例：勘探开发协同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358140" y="1120140"/>
            <a:ext cx="11363134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004C8B"/>
                </a:solidFill>
                <a:latin typeface="Microsoft YaHei"/>
                <a:ea typeface="Microsoft YaHei"/>
                <a:cs typeface="Microsoft YaHei"/>
              </a:rPr>
              <a:t>在勘探开发协同场景中，平台支撑数据汇通管服智，形成从问题识别到行动建议的标准作业。</a:t>
            </a:r>
          </a:p>
        </p:txBody>
      </p:sp>
      <p:sp>
        <p:nvSpPr>
          <p:cNvPr id="6" name="Freeform 6"/>
          <p:cNvSpPr/>
          <p:nvPr/>
        </p:nvSpPr>
        <p:spPr>
          <a:xfrm>
            <a:off x="495300" y="1562100"/>
            <a:ext cx="11201400" cy="4876800"/>
          </a:xfrm>
          <a:custGeom>
            <a:avLst/>
            <a:gdLst/>
            <a:ahLst/>
            <a:cxnLst/>
            <a:rect l="l" t="t" r="r" b="b"/>
            <a:pathLst>
              <a:path w="11201400" h="4876800">
                <a:moveTo>
                  <a:pt x="152400" y="0"/>
                </a:moveTo>
                <a:lnTo>
                  <a:pt x="11049000" y="0"/>
                </a:lnTo>
                <a:cubicBezTo>
                  <a:pt x="11133168" y="0"/>
                  <a:pt x="11201400" y="68232"/>
                  <a:pt x="11201400" y="152400"/>
                </a:cubicBezTo>
                <a:lnTo>
                  <a:pt x="11201400" y="4724400"/>
                </a:lnTo>
                <a:cubicBezTo>
                  <a:pt x="11201400" y="4808568"/>
                  <a:pt x="11133168" y="4876800"/>
                  <a:pt x="11049000" y="4876800"/>
                </a:cubicBezTo>
                <a:lnTo>
                  <a:pt x="152400" y="4876800"/>
                </a:lnTo>
                <a:cubicBezTo>
                  <a:pt x="68232" y="4876800"/>
                  <a:pt x="0" y="4808568"/>
                  <a:pt x="0" y="4724400"/>
                </a:cubicBezTo>
                <a:lnTo>
                  <a:pt x="0" y="152400"/>
                </a:lnTo>
                <a:cubicBezTo>
                  <a:pt x="0" y="68232"/>
                  <a:pt x="68232" y="0"/>
                  <a:pt x="152400" y="0"/>
                </a:cubicBezTo>
                <a:close/>
              </a:path>
            </a:pathLst>
          </a:custGeom>
          <a:solidFill>
            <a:srgbClr val="FFFFFF">
              <a:alpha val="78000"/>
            </a:srgbClr>
          </a:solidFill>
          <a:ln>
            <a:noFill/>
          </a:ln>
        </p:spPr>
      </p:sp>
      <p:sp>
        <p:nvSpPr>
          <p:cNvPr id="7" name="Freeform 7"/>
          <p:cNvSpPr/>
          <p:nvPr/>
        </p:nvSpPr>
        <p:spPr>
          <a:xfrm>
            <a:off x="742950" y="1724025"/>
            <a:ext cx="4953000" cy="419100"/>
          </a:xfrm>
          <a:custGeom>
            <a:avLst/>
            <a:gdLst/>
            <a:ahLst/>
            <a:cxnLst/>
            <a:rect l="l" t="t" r="r" b="b"/>
            <a:pathLst>
              <a:path w="4953000" h="419100">
                <a:moveTo>
                  <a:pt x="76200" y="0"/>
                </a:moveTo>
                <a:lnTo>
                  <a:pt x="4876800" y="0"/>
                </a:lnTo>
                <a:cubicBezTo>
                  <a:pt x="4918884" y="0"/>
                  <a:pt x="4953000" y="34116"/>
                  <a:pt x="4953000" y="76200"/>
                </a:cubicBezTo>
                <a:lnTo>
                  <a:pt x="4953000" y="342900"/>
                </a:lnTo>
                <a:cubicBezTo>
                  <a:pt x="4953000" y="384984"/>
                  <a:pt x="4918884" y="419100"/>
                  <a:pt x="4876800" y="419100"/>
                </a:cubicBezTo>
                <a:lnTo>
                  <a:pt x="76200" y="419100"/>
                </a:lnTo>
                <a:cubicBezTo>
                  <a:pt x="34116" y="419100"/>
                  <a:pt x="0" y="384984"/>
                  <a:pt x="0" y="3429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FFFFF">
              <a:alpha val="82000"/>
            </a:srgbClr>
          </a:solidFill>
          <a:ln>
            <a:noFill/>
          </a:ln>
        </p:spPr>
      </p:sp>
      <p:grpSp>
        <p:nvGrpSpPr>
          <p:cNvPr id="11" name="Group 11"/>
          <p:cNvGrpSpPr/>
          <p:nvPr/>
        </p:nvGrpSpPr>
        <p:grpSpPr>
          <a:xfrm>
            <a:off x="866775" y="1781175"/>
            <a:ext cx="171450" cy="228600"/>
            <a:chOff x="866775" y="1781175"/>
            <a:chExt cx="171450" cy="228600"/>
          </a:xfrm>
        </p:grpSpPr>
        <p:sp>
          <p:nvSpPr>
            <p:cNvPr id="8" name="Freeform 8"/>
            <p:cNvSpPr/>
            <p:nvPr/>
          </p:nvSpPr>
          <p:spPr>
            <a:xfrm>
              <a:off x="866775" y="1872615"/>
              <a:ext cx="171450" cy="65722"/>
            </a:xfrm>
            <a:custGeom>
              <a:avLst/>
              <a:gdLst/>
              <a:ahLst/>
              <a:cxnLst/>
              <a:rect l="l" t="t" r="r" b="b"/>
              <a:pathLst>
                <a:path w="171450" h="65722">
                  <a:moveTo>
                    <a:pt x="159121" y="7289"/>
                  </a:moveTo>
                  <a:cubicBezTo>
                    <a:pt x="163140" y="5279"/>
                    <a:pt x="167339" y="2855"/>
                    <a:pt x="171450" y="0"/>
                  </a:cubicBezTo>
                  <a:lnTo>
                    <a:pt x="171450" y="22860"/>
                  </a:lnTo>
                  <a:cubicBezTo>
                    <a:pt x="171450" y="46532"/>
                    <a:pt x="133069" y="65722"/>
                    <a:pt x="85725" y="65722"/>
                  </a:cubicBezTo>
                  <a:cubicBezTo>
                    <a:pt x="38380" y="65722"/>
                    <a:pt x="0" y="46532"/>
                    <a:pt x="0" y="22860"/>
                  </a:cubicBezTo>
                  <a:lnTo>
                    <a:pt x="0" y="0"/>
                  </a:lnTo>
                  <a:cubicBezTo>
                    <a:pt x="4111" y="2855"/>
                    <a:pt x="8309" y="5279"/>
                    <a:pt x="12329" y="7289"/>
                  </a:cubicBezTo>
                  <a:cubicBezTo>
                    <a:pt x="32589" y="17419"/>
                    <a:pt x="58578" y="22860"/>
                    <a:pt x="85725" y="22860"/>
                  </a:cubicBezTo>
                  <a:cubicBezTo>
                    <a:pt x="112872" y="22860"/>
                    <a:pt x="138860" y="17419"/>
                    <a:pt x="159121" y="7289"/>
                  </a:cubicBezTo>
                  <a:close/>
                </a:path>
              </a:pathLst>
            </a:custGeom>
            <a:solidFill>
              <a:srgbClr val="0074CC"/>
            </a:solidFill>
            <a:ln>
              <a:noFill/>
            </a:ln>
          </p:spPr>
        </p:sp>
        <p:sp>
          <p:nvSpPr>
            <p:cNvPr id="9" name="Freeform 9"/>
            <p:cNvSpPr/>
            <p:nvPr/>
          </p:nvSpPr>
          <p:spPr>
            <a:xfrm>
              <a:off x="866775" y="1944052"/>
              <a:ext cx="171450" cy="65723"/>
            </a:xfrm>
            <a:custGeom>
              <a:avLst/>
              <a:gdLst/>
              <a:ahLst/>
              <a:cxnLst/>
              <a:rect l="l" t="t" r="r" b="b"/>
              <a:pathLst>
                <a:path w="171450" h="65723">
                  <a:moveTo>
                    <a:pt x="0" y="0"/>
                  </a:moveTo>
                  <a:lnTo>
                    <a:pt x="0" y="22860"/>
                  </a:lnTo>
                  <a:cubicBezTo>
                    <a:pt x="0" y="46533"/>
                    <a:pt x="38380" y="65723"/>
                    <a:pt x="85725" y="65723"/>
                  </a:cubicBezTo>
                  <a:cubicBezTo>
                    <a:pt x="133069" y="65723"/>
                    <a:pt x="171450" y="46533"/>
                    <a:pt x="171450" y="22860"/>
                  </a:cubicBezTo>
                  <a:lnTo>
                    <a:pt x="171450" y="0"/>
                  </a:lnTo>
                  <a:cubicBezTo>
                    <a:pt x="167339" y="2855"/>
                    <a:pt x="163140" y="5279"/>
                    <a:pt x="159121" y="7289"/>
                  </a:cubicBezTo>
                  <a:cubicBezTo>
                    <a:pt x="138860" y="17419"/>
                    <a:pt x="112872" y="22860"/>
                    <a:pt x="85725" y="22860"/>
                  </a:cubicBezTo>
                  <a:cubicBezTo>
                    <a:pt x="58578" y="22860"/>
                    <a:pt x="32589" y="17419"/>
                    <a:pt x="12329" y="7289"/>
                  </a:cubicBezTo>
                  <a:cubicBezTo>
                    <a:pt x="8309" y="5279"/>
                    <a:pt x="4111" y="2855"/>
                    <a:pt x="0" y="0"/>
                  </a:cubicBezTo>
                  <a:close/>
                </a:path>
              </a:pathLst>
            </a:custGeom>
            <a:solidFill>
              <a:srgbClr val="0074CC"/>
            </a:solidFill>
            <a:ln>
              <a:noFill/>
            </a:ln>
          </p:spPr>
        </p:sp>
        <p:sp>
          <p:nvSpPr>
            <p:cNvPr id="10" name="Freeform 10"/>
            <p:cNvSpPr/>
            <p:nvPr/>
          </p:nvSpPr>
          <p:spPr>
            <a:xfrm>
              <a:off x="866775" y="1781175"/>
              <a:ext cx="171450" cy="85725"/>
            </a:xfrm>
            <a:custGeom>
              <a:avLst/>
              <a:gdLst/>
              <a:ahLst/>
              <a:cxnLst/>
              <a:rect l="l" t="t" r="r" b="b"/>
              <a:pathLst>
                <a:path w="171450" h="85725">
                  <a:moveTo>
                    <a:pt x="85725" y="0"/>
                  </a:moveTo>
                  <a:cubicBezTo>
                    <a:pt x="133069" y="0"/>
                    <a:pt x="171450" y="19190"/>
                    <a:pt x="171450" y="42862"/>
                  </a:cubicBezTo>
                  <a:cubicBezTo>
                    <a:pt x="171450" y="66535"/>
                    <a:pt x="133069" y="85725"/>
                    <a:pt x="85725" y="85725"/>
                  </a:cubicBezTo>
                  <a:cubicBezTo>
                    <a:pt x="38380" y="85725"/>
                    <a:pt x="0" y="66535"/>
                    <a:pt x="0" y="42862"/>
                  </a:cubicBezTo>
                  <a:cubicBezTo>
                    <a:pt x="0" y="19190"/>
                    <a:pt x="38380" y="0"/>
                    <a:pt x="85725" y="0"/>
                  </a:cubicBezTo>
                  <a:close/>
                </a:path>
              </a:pathLst>
            </a:custGeom>
            <a:solidFill>
              <a:srgbClr val="0074CC"/>
            </a:solidFill>
            <a:ln>
              <a:noFill/>
            </a:ln>
          </p:spPr>
        </p:sp>
      </p:grpSp>
      <p:sp>
        <p:nvSpPr>
          <p:cNvPr id="12" name="TextBox 12"/>
          <p:cNvSpPr txBox="1"/>
          <p:nvPr/>
        </p:nvSpPr>
        <p:spPr>
          <a:xfrm>
            <a:off x="1139190" y="1758315"/>
            <a:ext cx="2937510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0F3E68"/>
                </a:solidFill>
                <a:latin typeface="Microsoft YaHei"/>
                <a:ea typeface="Microsoft YaHei"/>
                <a:cs typeface="Microsoft YaHei"/>
              </a:rPr>
              <a:t>场景：多源数据统一查询</a:t>
            </a:r>
          </a:p>
        </p:txBody>
      </p:sp>
      <p:sp>
        <p:nvSpPr>
          <p:cNvPr id="13" name="Freeform 13"/>
          <p:cNvSpPr/>
          <p:nvPr/>
        </p:nvSpPr>
        <p:spPr>
          <a:xfrm>
            <a:off x="742950" y="2333625"/>
            <a:ext cx="4953000" cy="419100"/>
          </a:xfrm>
          <a:custGeom>
            <a:avLst/>
            <a:gdLst/>
            <a:ahLst/>
            <a:cxnLst/>
            <a:rect l="l" t="t" r="r" b="b"/>
            <a:pathLst>
              <a:path w="4953000" h="419100">
                <a:moveTo>
                  <a:pt x="76200" y="0"/>
                </a:moveTo>
                <a:lnTo>
                  <a:pt x="4876800" y="0"/>
                </a:lnTo>
                <a:cubicBezTo>
                  <a:pt x="4918884" y="0"/>
                  <a:pt x="4953000" y="34116"/>
                  <a:pt x="4953000" y="76200"/>
                </a:cubicBezTo>
                <a:lnTo>
                  <a:pt x="4953000" y="342900"/>
                </a:lnTo>
                <a:cubicBezTo>
                  <a:pt x="4953000" y="384984"/>
                  <a:pt x="4918884" y="419100"/>
                  <a:pt x="4876800" y="419100"/>
                </a:cubicBezTo>
                <a:lnTo>
                  <a:pt x="76200" y="419100"/>
                </a:lnTo>
                <a:cubicBezTo>
                  <a:pt x="34116" y="419100"/>
                  <a:pt x="0" y="384984"/>
                  <a:pt x="0" y="3429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FFFFF">
              <a:alpha val="82000"/>
            </a:srgbClr>
          </a:solidFill>
          <a:ln>
            <a:noFill/>
          </a:ln>
        </p:spPr>
      </p:sp>
      <p:grpSp>
        <p:nvGrpSpPr>
          <p:cNvPr id="18" name="Group 18"/>
          <p:cNvGrpSpPr/>
          <p:nvPr/>
        </p:nvGrpSpPr>
        <p:grpSpPr>
          <a:xfrm>
            <a:off x="838200" y="2405062"/>
            <a:ext cx="228600" cy="200025"/>
            <a:chOff x="838200" y="2405062"/>
            <a:chExt cx="228600" cy="200025"/>
          </a:xfrm>
        </p:grpSpPr>
        <p:sp>
          <p:nvSpPr>
            <p:cNvPr id="14" name="Freeform 14"/>
            <p:cNvSpPr/>
            <p:nvPr/>
          </p:nvSpPr>
          <p:spPr>
            <a:xfrm>
              <a:off x="881062" y="2405062"/>
              <a:ext cx="71438" cy="71438"/>
            </a:xfrm>
            <a:custGeom>
              <a:avLst/>
              <a:gdLst/>
              <a:ahLst/>
              <a:cxnLst/>
              <a:rect l="l" t="t" r="r" b="b"/>
              <a:pathLst>
                <a:path w="71438" h="71438">
                  <a:moveTo>
                    <a:pt x="71438" y="35719"/>
                  </a:moveTo>
                  <a:cubicBezTo>
                    <a:pt x="71438" y="55446"/>
                    <a:pt x="55446" y="71438"/>
                    <a:pt x="35719" y="71438"/>
                  </a:cubicBezTo>
                  <a:cubicBezTo>
                    <a:pt x="15992" y="71438"/>
                    <a:pt x="0" y="55446"/>
                    <a:pt x="0" y="35719"/>
                  </a:cubicBezTo>
                  <a:cubicBezTo>
                    <a:pt x="0" y="15992"/>
                    <a:pt x="15992" y="0"/>
                    <a:pt x="35719" y="0"/>
                  </a:cubicBezTo>
                  <a:cubicBezTo>
                    <a:pt x="55446" y="0"/>
                    <a:pt x="71438" y="15992"/>
                    <a:pt x="71438" y="35719"/>
                  </a:cubicBezTo>
                  <a:close/>
                </a:path>
              </a:pathLst>
            </a:custGeom>
            <a:solidFill>
              <a:srgbClr val="0074CC"/>
            </a:solidFill>
            <a:ln>
              <a:noFill/>
            </a:ln>
          </p:spPr>
        </p:sp>
        <p:sp>
          <p:nvSpPr>
            <p:cNvPr id="15" name="Freeform 15"/>
            <p:cNvSpPr/>
            <p:nvPr/>
          </p:nvSpPr>
          <p:spPr>
            <a:xfrm>
              <a:off x="838200" y="2505075"/>
              <a:ext cx="114300" cy="100012"/>
            </a:xfrm>
            <a:custGeom>
              <a:avLst/>
              <a:gdLst/>
              <a:ahLst/>
              <a:cxnLst/>
              <a:rect l="l" t="t" r="r" b="b"/>
              <a:pathLst>
                <a:path w="114300" h="100012">
                  <a:moveTo>
                    <a:pt x="42862" y="0"/>
                  </a:moveTo>
                  <a:cubicBezTo>
                    <a:pt x="19190" y="0"/>
                    <a:pt x="0" y="19190"/>
                    <a:pt x="0" y="42862"/>
                  </a:cubicBezTo>
                  <a:lnTo>
                    <a:pt x="0" y="100012"/>
                  </a:lnTo>
                  <a:lnTo>
                    <a:pt x="114300" y="100012"/>
                  </a:lnTo>
                  <a:lnTo>
                    <a:pt x="114300" y="0"/>
                  </a:lnTo>
                  <a:lnTo>
                    <a:pt x="42862" y="0"/>
                  </a:lnTo>
                  <a:close/>
                </a:path>
              </a:pathLst>
            </a:custGeom>
            <a:solidFill>
              <a:srgbClr val="0074CC"/>
            </a:solidFill>
            <a:ln>
              <a:noFill/>
            </a:ln>
          </p:spPr>
        </p:sp>
        <p:sp>
          <p:nvSpPr>
            <p:cNvPr id="16" name="Freeform 16"/>
            <p:cNvSpPr/>
            <p:nvPr/>
          </p:nvSpPr>
          <p:spPr>
            <a:xfrm>
              <a:off x="981075" y="2505075"/>
              <a:ext cx="85725" cy="100012"/>
            </a:xfrm>
            <a:custGeom>
              <a:avLst/>
              <a:gdLst/>
              <a:ahLst/>
              <a:cxnLst/>
              <a:rect l="l" t="t" r="r" b="b"/>
              <a:pathLst>
                <a:path w="85725" h="100012">
                  <a:moveTo>
                    <a:pt x="42862" y="0"/>
                  </a:moveTo>
                  <a:lnTo>
                    <a:pt x="0" y="0"/>
                  </a:lnTo>
                  <a:lnTo>
                    <a:pt x="0" y="100012"/>
                  </a:lnTo>
                  <a:lnTo>
                    <a:pt x="85725" y="100012"/>
                  </a:lnTo>
                  <a:lnTo>
                    <a:pt x="85725" y="42862"/>
                  </a:lnTo>
                  <a:cubicBezTo>
                    <a:pt x="85725" y="19190"/>
                    <a:pt x="66535" y="0"/>
                    <a:pt x="42862" y="0"/>
                  </a:cubicBezTo>
                  <a:close/>
                </a:path>
              </a:pathLst>
            </a:custGeom>
            <a:solidFill>
              <a:srgbClr val="0074CC"/>
            </a:solidFill>
            <a:ln>
              <a:noFill/>
            </a:ln>
          </p:spPr>
        </p:sp>
        <p:sp>
          <p:nvSpPr>
            <p:cNvPr id="17" name="Freeform 17"/>
            <p:cNvSpPr/>
            <p:nvPr/>
          </p:nvSpPr>
          <p:spPr>
            <a:xfrm>
              <a:off x="981075" y="2419350"/>
              <a:ext cx="57150" cy="57150"/>
            </a:xfrm>
            <a:custGeom>
              <a:avLst/>
              <a:gdLst/>
              <a:ahLst/>
              <a:cxnLst/>
              <a:rect l="l" t="t" r="r" b="b"/>
              <a:pathLst>
                <a:path w="57150" h="57150">
                  <a:moveTo>
                    <a:pt x="28575" y="57150"/>
                  </a:moveTo>
                  <a:cubicBezTo>
                    <a:pt x="44357" y="57150"/>
                    <a:pt x="57150" y="44357"/>
                    <a:pt x="57150" y="28575"/>
                  </a:cubicBezTo>
                  <a:cubicBezTo>
                    <a:pt x="57150" y="12793"/>
                    <a:pt x="44357" y="0"/>
                    <a:pt x="28575" y="0"/>
                  </a:cubicBezTo>
                  <a:cubicBezTo>
                    <a:pt x="12793" y="0"/>
                    <a:pt x="0" y="12793"/>
                    <a:pt x="0" y="28575"/>
                  </a:cubicBezTo>
                  <a:cubicBezTo>
                    <a:pt x="0" y="44357"/>
                    <a:pt x="12793" y="57150"/>
                    <a:pt x="28575" y="57150"/>
                  </a:cubicBezTo>
                  <a:close/>
                </a:path>
              </a:pathLst>
            </a:custGeom>
            <a:solidFill>
              <a:srgbClr val="0074CC"/>
            </a:solidFill>
            <a:ln>
              <a:noFill/>
            </a:ln>
          </p:spPr>
        </p:sp>
      </p:grpSp>
      <p:sp>
        <p:nvSpPr>
          <p:cNvPr id="19" name="TextBox 19"/>
          <p:cNvSpPr txBox="1"/>
          <p:nvPr/>
        </p:nvSpPr>
        <p:spPr>
          <a:xfrm>
            <a:off x="1139190" y="2367915"/>
            <a:ext cx="3200400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0F3E68"/>
                </a:solidFill>
                <a:latin typeface="Microsoft YaHei"/>
                <a:ea typeface="Microsoft YaHei"/>
                <a:cs typeface="Microsoft YaHei"/>
              </a:rPr>
              <a:t>智能：问数问答与报告生成</a:t>
            </a:r>
          </a:p>
        </p:txBody>
      </p:sp>
      <p:sp>
        <p:nvSpPr>
          <p:cNvPr id="20" name="Freeform 20"/>
          <p:cNvSpPr/>
          <p:nvPr/>
        </p:nvSpPr>
        <p:spPr>
          <a:xfrm>
            <a:off x="742950" y="2943225"/>
            <a:ext cx="4953000" cy="419100"/>
          </a:xfrm>
          <a:custGeom>
            <a:avLst/>
            <a:gdLst/>
            <a:ahLst/>
            <a:cxnLst/>
            <a:rect l="l" t="t" r="r" b="b"/>
            <a:pathLst>
              <a:path w="4953000" h="419100">
                <a:moveTo>
                  <a:pt x="76200" y="0"/>
                </a:moveTo>
                <a:lnTo>
                  <a:pt x="4876800" y="0"/>
                </a:lnTo>
                <a:cubicBezTo>
                  <a:pt x="4918884" y="0"/>
                  <a:pt x="4953000" y="34116"/>
                  <a:pt x="4953000" y="76200"/>
                </a:cubicBezTo>
                <a:lnTo>
                  <a:pt x="4953000" y="342900"/>
                </a:lnTo>
                <a:cubicBezTo>
                  <a:pt x="4953000" y="384984"/>
                  <a:pt x="4918884" y="419100"/>
                  <a:pt x="4876800" y="419100"/>
                </a:cubicBezTo>
                <a:lnTo>
                  <a:pt x="76200" y="419100"/>
                </a:lnTo>
                <a:cubicBezTo>
                  <a:pt x="34116" y="419100"/>
                  <a:pt x="0" y="384984"/>
                  <a:pt x="0" y="3429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FFFFF">
              <a:alpha val="82000"/>
            </a:srgbClr>
          </a:solidFill>
          <a:ln>
            <a:noFill/>
          </a:ln>
        </p:spPr>
      </p:sp>
      <p:grpSp>
        <p:nvGrpSpPr>
          <p:cNvPr id="26" name="Group 26"/>
          <p:cNvGrpSpPr/>
          <p:nvPr/>
        </p:nvGrpSpPr>
        <p:grpSpPr>
          <a:xfrm>
            <a:off x="838200" y="3000375"/>
            <a:ext cx="228600" cy="228600"/>
            <a:chOff x="838200" y="3000375"/>
            <a:chExt cx="228600" cy="228600"/>
          </a:xfrm>
        </p:grpSpPr>
        <p:sp>
          <p:nvSpPr>
            <p:cNvPr id="21" name="Freeform 21"/>
            <p:cNvSpPr/>
            <p:nvPr/>
          </p:nvSpPr>
          <p:spPr>
            <a:xfrm>
              <a:off x="952500" y="3000375"/>
              <a:ext cx="100012" cy="100012"/>
            </a:xfrm>
            <a:custGeom>
              <a:avLst/>
              <a:gdLst/>
              <a:ahLst/>
              <a:cxnLst/>
              <a:rect l="l" t="t" r="r" b="b"/>
              <a:pathLst>
                <a:path w="100012" h="100012">
                  <a:moveTo>
                    <a:pt x="0" y="42862"/>
                  </a:moveTo>
                  <a:lnTo>
                    <a:pt x="35719" y="35719"/>
                  </a:lnTo>
                  <a:lnTo>
                    <a:pt x="42862" y="0"/>
                  </a:lnTo>
                  <a:lnTo>
                    <a:pt x="57150" y="0"/>
                  </a:lnTo>
                  <a:lnTo>
                    <a:pt x="64294" y="35719"/>
                  </a:lnTo>
                  <a:lnTo>
                    <a:pt x="100012" y="42862"/>
                  </a:lnTo>
                  <a:lnTo>
                    <a:pt x="100012" y="57150"/>
                  </a:lnTo>
                  <a:lnTo>
                    <a:pt x="64294" y="64294"/>
                  </a:lnTo>
                  <a:lnTo>
                    <a:pt x="57150" y="100012"/>
                  </a:lnTo>
                  <a:lnTo>
                    <a:pt x="42862" y="100012"/>
                  </a:lnTo>
                  <a:lnTo>
                    <a:pt x="35719" y="64294"/>
                  </a:lnTo>
                  <a:lnTo>
                    <a:pt x="0" y="57150"/>
                  </a:lnTo>
                  <a:lnTo>
                    <a:pt x="0" y="42862"/>
                  </a:lnTo>
                  <a:close/>
                </a:path>
              </a:pathLst>
            </a:custGeom>
            <a:solidFill>
              <a:srgbClr val="0074CC"/>
            </a:solidFill>
            <a:ln>
              <a:noFill/>
            </a:ln>
          </p:spPr>
        </p:sp>
        <p:sp>
          <p:nvSpPr>
            <p:cNvPr id="22" name="Freeform 22"/>
            <p:cNvSpPr/>
            <p:nvPr/>
          </p:nvSpPr>
          <p:spPr>
            <a:xfrm>
              <a:off x="838200" y="3071812"/>
              <a:ext cx="157162" cy="157162"/>
            </a:xfrm>
            <a:custGeom>
              <a:avLst/>
              <a:gdLst/>
              <a:ahLst/>
              <a:cxnLst/>
              <a:rect l="l" t="t" r="r" b="b"/>
              <a:pathLst>
                <a:path w="157162" h="157162">
                  <a:moveTo>
                    <a:pt x="0" y="85725"/>
                  </a:moveTo>
                  <a:lnTo>
                    <a:pt x="0" y="71438"/>
                  </a:lnTo>
                  <a:lnTo>
                    <a:pt x="57150" y="57150"/>
                  </a:lnTo>
                  <a:lnTo>
                    <a:pt x="71438" y="0"/>
                  </a:lnTo>
                  <a:lnTo>
                    <a:pt x="85725" y="0"/>
                  </a:lnTo>
                  <a:lnTo>
                    <a:pt x="100012" y="57150"/>
                  </a:lnTo>
                  <a:lnTo>
                    <a:pt x="157162" y="71438"/>
                  </a:lnTo>
                  <a:lnTo>
                    <a:pt x="157162" y="85725"/>
                  </a:lnTo>
                  <a:lnTo>
                    <a:pt x="100012" y="100012"/>
                  </a:lnTo>
                  <a:lnTo>
                    <a:pt x="85725" y="157162"/>
                  </a:lnTo>
                  <a:lnTo>
                    <a:pt x="71438" y="157162"/>
                  </a:lnTo>
                  <a:lnTo>
                    <a:pt x="57150" y="100012"/>
                  </a:lnTo>
                  <a:lnTo>
                    <a:pt x="0" y="85725"/>
                  </a:lnTo>
                  <a:close/>
                </a:path>
              </a:pathLst>
            </a:custGeom>
            <a:solidFill>
              <a:srgbClr val="0074CC"/>
            </a:solidFill>
            <a:ln>
              <a:noFill/>
            </a:ln>
          </p:spPr>
        </p:sp>
        <p:sp>
          <p:nvSpPr>
            <p:cNvPr id="23" name="Freeform 23"/>
            <p:cNvSpPr/>
            <p:nvPr/>
          </p:nvSpPr>
          <p:spPr>
            <a:xfrm>
              <a:off x="852488" y="3007519"/>
              <a:ext cx="42862" cy="42862"/>
            </a:xfrm>
            <a:custGeom>
              <a:avLst/>
              <a:gdLst/>
              <a:ahLst/>
              <a:cxnLst/>
              <a:rect l="l" t="t" r="r" b="b"/>
              <a:pathLst>
                <a:path w="42862" h="42862">
                  <a:moveTo>
                    <a:pt x="0" y="21431"/>
                  </a:moveTo>
                  <a:lnTo>
                    <a:pt x="21431" y="0"/>
                  </a:lnTo>
                  <a:lnTo>
                    <a:pt x="42862" y="21431"/>
                  </a:lnTo>
                  <a:lnTo>
                    <a:pt x="21431" y="42862"/>
                  </a:lnTo>
                  <a:lnTo>
                    <a:pt x="0" y="21431"/>
                  </a:lnTo>
                  <a:close/>
                </a:path>
              </a:pathLst>
            </a:custGeom>
            <a:solidFill>
              <a:srgbClr val="0074CC"/>
            </a:solidFill>
            <a:ln>
              <a:noFill/>
            </a:ln>
          </p:spPr>
        </p:sp>
        <p:sp>
          <p:nvSpPr>
            <p:cNvPr id="24" name="Freeform 24"/>
            <p:cNvSpPr/>
            <p:nvPr/>
          </p:nvSpPr>
          <p:spPr>
            <a:xfrm>
              <a:off x="995362" y="3171825"/>
              <a:ext cx="57150" cy="57150"/>
            </a:xfrm>
            <a:custGeom>
              <a:avLst/>
              <a:gdLst/>
              <a:ahLst/>
              <a:cxnLst/>
              <a:rect l="l" t="t" r="r" b="b"/>
              <a:pathLst>
                <a:path w="57150" h="57150">
                  <a:moveTo>
                    <a:pt x="57150" y="28575"/>
                  </a:moveTo>
                  <a:lnTo>
                    <a:pt x="28575" y="0"/>
                  </a:lnTo>
                  <a:lnTo>
                    <a:pt x="0" y="28575"/>
                  </a:lnTo>
                  <a:lnTo>
                    <a:pt x="28575" y="57150"/>
                  </a:lnTo>
                  <a:lnTo>
                    <a:pt x="57150" y="28575"/>
                  </a:lnTo>
                  <a:close/>
                </a:path>
              </a:pathLst>
            </a:custGeom>
            <a:solidFill>
              <a:srgbClr val="0074CC"/>
            </a:solidFill>
            <a:ln>
              <a:noFill/>
            </a:ln>
          </p:spPr>
        </p:sp>
        <p:sp>
          <p:nvSpPr>
            <p:cNvPr id="25" name="Freeform 25"/>
            <p:cNvSpPr/>
            <p:nvPr/>
          </p:nvSpPr>
          <p:spPr>
            <a:xfrm>
              <a:off x="1038225" y="3114675"/>
              <a:ext cx="28575" cy="28575"/>
            </a:xfrm>
            <a:custGeom>
              <a:avLst/>
              <a:gdLst/>
              <a:ahLst/>
              <a:cxnLst/>
              <a:rect l="l" t="t" r="r" b="b"/>
              <a:pathLst>
                <a:path w="28575" h="28575">
                  <a:moveTo>
                    <a:pt x="14288" y="28575"/>
                  </a:moveTo>
                  <a:cubicBezTo>
                    <a:pt x="22178" y="28575"/>
                    <a:pt x="28575" y="22178"/>
                    <a:pt x="28575" y="14288"/>
                  </a:cubicBezTo>
                  <a:cubicBezTo>
                    <a:pt x="28575" y="6397"/>
                    <a:pt x="22178" y="0"/>
                    <a:pt x="14288" y="0"/>
                  </a:cubicBezTo>
                  <a:cubicBezTo>
                    <a:pt x="6397" y="0"/>
                    <a:pt x="0" y="6397"/>
                    <a:pt x="0" y="14288"/>
                  </a:cubicBezTo>
                  <a:cubicBezTo>
                    <a:pt x="0" y="22178"/>
                    <a:pt x="6397" y="28575"/>
                    <a:pt x="14288" y="28575"/>
                  </a:cubicBezTo>
                  <a:close/>
                </a:path>
              </a:pathLst>
            </a:custGeom>
            <a:solidFill>
              <a:srgbClr val="0074CC"/>
            </a:solidFill>
            <a:ln>
              <a:noFill/>
            </a:ln>
          </p:spPr>
        </p:sp>
      </p:grpSp>
      <p:sp>
        <p:nvSpPr>
          <p:cNvPr id="27" name="TextBox 27"/>
          <p:cNvSpPr txBox="1"/>
          <p:nvPr/>
        </p:nvSpPr>
        <p:spPr>
          <a:xfrm>
            <a:off x="1139190" y="2977515"/>
            <a:ext cx="2937510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0F3E68"/>
                </a:solidFill>
                <a:latin typeface="Microsoft YaHei"/>
                <a:ea typeface="Microsoft YaHei"/>
                <a:cs typeface="Microsoft YaHei"/>
              </a:rPr>
              <a:t>结果：管理决策周期缩短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72" y="0"/>
            <a:ext cx="12099608" cy="6858000"/>
          </a:xfrm>
          <a:prstGeom prst="rect">
            <a:avLst/>
          </a:prstGeom>
        </p:spPr>
      </p:pic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4000"/>
            </a:srgbClr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018813" y="1868805"/>
            <a:ext cx="2154374" cy="22555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100" b="1" dirty="0">
                <a:solidFill>
                  <a:srgbClr val="004C8B"/>
                </a:solidFill>
                <a:latin typeface="Arial"/>
                <a:ea typeface="Microsoft YaHei"/>
                <a:cs typeface="Arial"/>
              </a:rPr>
              <a:t>04</a:t>
            </a:r>
          </a:p>
        </p:txBody>
      </p:sp>
      <p:sp>
        <p:nvSpPr>
          <p:cNvPr id="5" name="Line 5"/>
          <p:cNvSpPr/>
          <p:nvPr/>
        </p:nvSpPr>
        <p:spPr>
          <a:xfrm>
            <a:off x="3981450" y="3638550"/>
            <a:ext cx="1524000" cy="9525"/>
          </a:xfrm>
          <a:custGeom>
            <a:avLst/>
            <a:gdLst/>
            <a:ahLst/>
            <a:cxnLst/>
            <a:rect l="l" t="t" r="r" b="b"/>
            <a:pathLst>
              <a:path w="1524000" h="9525">
                <a:moveTo>
                  <a:pt x="0" y="0"/>
                </a:moveTo>
                <a:lnTo>
                  <a:pt x="1524000" y="0"/>
                </a:lnTo>
              </a:path>
            </a:pathLst>
          </a:custGeom>
          <a:noFill/>
          <a:ln w="38100">
            <a:solidFill>
              <a:srgbClr val="0074CC"/>
            </a:solidFill>
          </a:ln>
        </p:spPr>
      </p:sp>
      <p:sp>
        <p:nvSpPr>
          <p:cNvPr id="6" name="Line 6"/>
          <p:cNvSpPr/>
          <p:nvPr/>
        </p:nvSpPr>
        <p:spPr>
          <a:xfrm>
            <a:off x="5505450" y="3638550"/>
            <a:ext cx="1181100" cy="9525"/>
          </a:xfrm>
          <a:custGeom>
            <a:avLst/>
            <a:gdLst/>
            <a:ahLst/>
            <a:cxnLst/>
            <a:rect l="l" t="t" r="r" b="b"/>
            <a:pathLst>
              <a:path w="1181100" h="9525">
                <a:moveTo>
                  <a:pt x="0" y="0"/>
                </a:moveTo>
                <a:lnTo>
                  <a:pt x="1181100" y="0"/>
                </a:lnTo>
              </a:path>
            </a:pathLst>
          </a:custGeom>
          <a:noFill/>
          <a:ln w="38100">
            <a:solidFill>
              <a:srgbClr val="DE002B"/>
            </a:solidFill>
          </a:ln>
        </p:spPr>
      </p:sp>
      <p:sp>
        <p:nvSpPr>
          <p:cNvPr id="7" name="Line 7"/>
          <p:cNvSpPr/>
          <p:nvPr/>
        </p:nvSpPr>
        <p:spPr>
          <a:xfrm>
            <a:off x="6686550" y="3638550"/>
            <a:ext cx="1524000" cy="9525"/>
          </a:xfrm>
          <a:custGeom>
            <a:avLst/>
            <a:gdLst/>
            <a:ahLst/>
            <a:cxnLst/>
            <a:rect l="l" t="t" r="r" b="b"/>
            <a:pathLst>
              <a:path w="1524000" h="9525">
                <a:moveTo>
                  <a:pt x="0" y="0"/>
                </a:moveTo>
                <a:lnTo>
                  <a:pt x="1524000" y="0"/>
                </a:lnTo>
              </a:path>
            </a:pathLst>
          </a:custGeom>
          <a:noFill/>
          <a:ln w="38100">
            <a:solidFill>
              <a:srgbClr val="0074CC"/>
            </a:solidFill>
          </a:ln>
        </p:spPr>
      </p:sp>
      <p:sp>
        <p:nvSpPr>
          <p:cNvPr id="8" name="TextBox 8"/>
          <p:cNvSpPr txBox="1"/>
          <p:nvPr/>
        </p:nvSpPr>
        <p:spPr>
          <a:xfrm>
            <a:off x="1419225" y="4095750"/>
            <a:ext cx="9353550" cy="1219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6000" b="1" dirty="0">
                <a:solidFill>
                  <a:srgbClr val="004C8B"/>
                </a:solidFill>
                <a:latin typeface="Microsoft YaHei"/>
                <a:ea typeface="Microsoft YaHei"/>
                <a:cs typeface="Microsoft YaHei"/>
              </a:rPr>
              <a:t>规模化推广与治理保障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5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9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2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23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400"/>
                            </p:stCondLst>
                            <p:childTnLst>
                              <p:par>
                                <p:cTn id="29" presetID="5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etch(across)">
                                      <p:cBhvr>
                                        <p:cTn id="31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  <p:bldP spid="6" grpId="0"/>
      <p:bldP spid="7" grpId="0"/>
      <p:bldP spid="8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55" y="0"/>
            <a:ext cx="12151042" cy="6858000"/>
          </a:xfrm>
          <a:prstGeom prst="rect">
            <a:avLst/>
          </a:prstGeom>
        </p:spPr>
      </p:pic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4000"/>
            </a:srgbClr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346710" y="489585"/>
            <a:ext cx="4209098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004C8B"/>
                </a:solidFill>
                <a:latin typeface="Microsoft YaHei"/>
                <a:ea typeface="Microsoft YaHei"/>
                <a:cs typeface="Microsoft YaHei"/>
              </a:rPr>
              <a:t>三阶段路线图与里程碑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358140" y="1120140"/>
            <a:ext cx="10535031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004C8B"/>
                </a:solidFill>
                <a:latin typeface="Microsoft YaHei"/>
                <a:ea typeface="Microsoft YaHei"/>
                <a:cs typeface="Microsoft YaHei"/>
              </a:rPr>
              <a:t>按试点固化、区域复制、集团推广三阶段推进，每阶段设里程碑、责任人和量化目标。</a:t>
            </a:r>
          </a:p>
        </p:txBody>
      </p:sp>
      <p:sp>
        <p:nvSpPr>
          <p:cNvPr id="6" name="Freeform 6"/>
          <p:cNvSpPr/>
          <p:nvPr/>
        </p:nvSpPr>
        <p:spPr>
          <a:xfrm>
            <a:off x="495300" y="1562100"/>
            <a:ext cx="11201400" cy="4876800"/>
          </a:xfrm>
          <a:custGeom>
            <a:avLst/>
            <a:gdLst/>
            <a:ahLst/>
            <a:cxnLst/>
            <a:rect l="l" t="t" r="r" b="b"/>
            <a:pathLst>
              <a:path w="11201400" h="4876800">
                <a:moveTo>
                  <a:pt x="152400" y="0"/>
                </a:moveTo>
                <a:lnTo>
                  <a:pt x="11049000" y="0"/>
                </a:lnTo>
                <a:cubicBezTo>
                  <a:pt x="11133168" y="0"/>
                  <a:pt x="11201400" y="68232"/>
                  <a:pt x="11201400" y="152400"/>
                </a:cubicBezTo>
                <a:lnTo>
                  <a:pt x="11201400" y="4724400"/>
                </a:lnTo>
                <a:cubicBezTo>
                  <a:pt x="11201400" y="4808568"/>
                  <a:pt x="11133168" y="4876800"/>
                  <a:pt x="11049000" y="4876800"/>
                </a:cubicBezTo>
                <a:lnTo>
                  <a:pt x="152400" y="4876800"/>
                </a:lnTo>
                <a:cubicBezTo>
                  <a:pt x="68232" y="4876800"/>
                  <a:pt x="0" y="4808568"/>
                  <a:pt x="0" y="4724400"/>
                </a:cubicBezTo>
                <a:lnTo>
                  <a:pt x="0" y="152400"/>
                </a:lnTo>
                <a:cubicBezTo>
                  <a:pt x="0" y="68232"/>
                  <a:pt x="68232" y="0"/>
                  <a:pt x="152400" y="0"/>
                </a:cubicBezTo>
                <a:close/>
              </a:path>
            </a:pathLst>
          </a:custGeom>
          <a:solidFill>
            <a:srgbClr val="FFFFFF">
              <a:alpha val="78000"/>
            </a:srgbClr>
          </a:solidFill>
          <a:ln>
            <a:noFill/>
          </a:ln>
        </p:spPr>
      </p:sp>
      <p:sp>
        <p:nvSpPr>
          <p:cNvPr id="7" name="Freeform 7"/>
          <p:cNvSpPr/>
          <p:nvPr/>
        </p:nvSpPr>
        <p:spPr>
          <a:xfrm>
            <a:off x="742950" y="1724025"/>
            <a:ext cx="4953000" cy="419100"/>
          </a:xfrm>
          <a:custGeom>
            <a:avLst/>
            <a:gdLst/>
            <a:ahLst/>
            <a:cxnLst/>
            <a:rect l="l" t="t" r="r" b="b"/>
            <a:pathLst>
              <a:path w="4953000" h="419100">
                <a:moveTo>
                  <a:pt x="76200" y="0"/>
                </a:moveTo>
                <a:lnTo>
                  <a:pt x="4876800" y="0"/>
                </a:lnTo>
                <a:cubicBezTo>
                  <a:pt x="4918884" y="0"/>
                  <a:pt x="4953000" y="34116"/>
                  <a:pt x="4953000" y="76200"/>
                </a:cubicBezTo>
                <a:lnTo>
                  <a:pt x="4953000" y="342900"/>
                </a:lnTo>
                <a:cubicBezTo>
                  <a:pt x="4953000" y="384984"/>
                  <a:pt x="4918884" y="419100"/>
                  <a:pt x="4876800" y="419100"/>
                </a:cubicBezTo>
                <a:lnTo>
                  <a:pt x="76200" y="419100"/>
                </a:lnTo>
                <a:cubicBezTo>
                  <a:pt x="34116" y="419100"/>
                  <a:pt x="0" y="384984"/>
                  <a:pt x="0" y="3429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FFFFF">
              <a:alpha val="82000"/>
            </a:srgbClr>
          </a:solidFill>
          <a:ln>
            <a:noFill/>
          </a:ln>
        </p:spPr>
      </p:sp>
      <p:grpSp>
        <p:nvGrpSpPr>
          <p:cNvPr id="10" name="Group 10"/>
          <p:cNvGrpSpPr/>
          <p:nvPr/>
        </p:nvGrpSpPr>
        <p:grpSpPr>
          <a:xfrm>
            <a:off x="852488" y="1795462"/>
            <a:ext cx="200025" cy="200026"/>
            <a:chOff x="852488" y="1795462"/>
            <a:chExt cx="200025" cy="200026"/>
          </a:xfrm>
        </p:grpSpPr>
        <p:sp>
          <p:nvSpPr>
            <p:cNvPr id="8" name="Freeform 8"/>
            <p:cNvSpPr/>
            <p:nvPr/>
          </p:nvSpPr>
          <p:spPr>
            <a:xfrm>
              <a:off x="852488" y="1795462"/>
              <a:ext cx="200025" cy="125215"/>
            </a:xfrm>
            <a:custGeom>
              <a:avLst/>
              <a:gdLst/>
              <a:ahLst/>
              <a:cxnLst/>
              <a:rect l="l" t="t" r="r" b="b"/>
              <a:pathLst>
                <a:path w="200025" h="125215">
                  <a:moveTo>
                    <a:pt x="200025" y="0"/>
                  </a:moveTo>
                  <a:lnTo>
                    <a:pt x="0" y="0"/>
                  </a:lnTo>
                  <a:lnTo>
                    <a:pt x="0" y="85725"/>
                  </a:lnTo>
                  <a:lnTo>
                    <a:pt x="34032" y="85725"/>
                  </a:lnTo>
                  <a:lnTo>
                    <a:pt x="55464" y="42862"/>
                  </a:lnTo>
                  <a:lnTo>
                    <a:pt x="87411" y="42862"/>
                  </a:lnTo>
                  <a:lnTo>
                    <a:pt x="128588" y="125215"/>
                  </a:lnTo>
                  <a:lnTo>
                    <a:pt x="148333" y="85725"/>
                  </a:lnTo>
                  <a:lnTo>
                    <a:pt x="200025" y="85725"/>
                  </a:lnTo>
                  <a:lnTo>
                    <a:pt x="200025" y="0"/>
                  </a:lnTo>
                  <a:close/>
                </a:path>
              </a:pathLst>
            </a:custGeom>
            <a:solidFill>
              <a:srgbClr val="0074CC"/>
            </a:solidFill>
            <a:ln>
              <a:noFill/>
            </a:ln>
          </p:spPr>
        </p:sp>
        <p:sp>
          <p:nvSpPr>
            <p:cNvPr id="9" name="Freeform 9"/>
            <p:cNvSpPr/>
            <p:nvPr/>
          </p:nvSpPr>
          <p:spPr>
            <a:xfrm>
              <a:off x="852488" y="1870273"/>
              <a:ext cx="200025" cy="125215"/>
            </a:xfrm>
            <a:custGeom>
              <a:avLst/>
              <a:gdLst/>
              <a:ahLst/>
              <a:cxnLst/>
              <a:rect l="l" t="t" r="r" b="b"/>
              <a:pathLst>
                <a:path w="200025" h="125215">
                  <a:moveTo>
                    <a:pt x="200025" y="39490"/>
                  </a:moveTo>
                  <a:lnTo>
                    <a:pt x="165992" y="39490"/>
                  </a:lnTo>
                  <a:lnTo>
                    <a:pt x="144561" y="82352"/>
                  </a:lnTo>
                  <a:lnTo>
                    <a:pt x="112614" y="82352"/>
                  </a:lnTo>
                  <a:lnTo>
                    <a:pt x="71438" y="0"/>
                  </a:lnTo>
                  <a:lnTo>
                    <a:pt x="51693" y="39490"/>
                  </a:lnTo>
                  <a:lnTo>
                    <a:pt x="0" y="39490"/>
                  </a:lnTo>
                  <a:lnTo>
                    <a:pt x="0" y="125215"/>
                  </a:lnTo>
                  <a:lnTo>
                    <a:pt x="200025" y="125215"/>
                  </a:lnTo>
                  <a:lnTo>
                    <a:pt x="200025" y="39490"/>
                  </a:lnTo>
                  <a:close/>
                </a:path>
              </a:pathLst>
            </a:custGeom>
            <a:solidFill>
              <a:srgbClr val="0074CC"/>
            </a:solidFill>
            <a:ln>
              <a:noFill/>
            </a:ln>
          </p:spPr>
        </p:sp>
      </p:grpSp>
      <p:sp>
        <p:nvSpPr>
          <p:cNvPr id="11" name="TextBox 11"/>
          <p:cNvSpPr txBox="1"/>
          <p:nvPr/>
        </p:nvSpPr>
        <p:spPr>
          <a:xfrm>
            <a:off x="1139190" y="1758315"/>
            <a:ext cx="3147822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0F3E68"/>
                </a:solidFill>
                <a:latin typeface="Microsoft YaHei"/>
                <a:ea typeface="Microsoft YaHei"/>
                <a:cs typeface="Microsoft YaHei"/>
              </a:rPr>
              <a:t>路线图：2026Q2 试点固化</a:t>
            </a:r>
          </a:p>
        </p:txBody>
      </p:sp>
      <p:sp>
        <p:nvSpPr>
          <p:cNvPr id="12" name="Freeform 12"/>
          <p:cNvSpPr/>
          <p:nvPr/>
        </p:nvSpPr>
        <p:spPr>
          <a:xfrm>
            <a:off x="742950" y="2333625"/>
            <a:ext cx="4953000" cy="419100"/>
          </a:xfrm>
          <a:custGeom>
            <a:avLst/>
            <a:gdLst/>
            <a:ahLst/>
            <a:cxnLst/>
            <a:rect l="l" t="t" r="r" b="b"/>
            <a:pathLst>
              <a:path w="4953000" h="419100">
                <a:moveTo>
                  <a:pt x="76200" y="0"/>
                </a:moveTo>
                <a:lnTo>
                  <a:pt x="4876800" y="0"/>
                </a:lnTo>
                <a:cubicBezTo>
                  <a:pt x="4918884" y="0"/>
                  <a:pt x="4953000" y="34116"/>
                  <a:pt x="4953000" y="76200"/>
                </a:cubicBezTo>
                <a:lnTo>
                  <a:pt x="4953000" y="342900"/>
                </a:lnTo>
                <a:cubicBezTo>
                  <a:pt x="4953000" y="384984"/>
                  <a:pt x="4918884" y="419100"/>
                  <a:pt x="4876800" y="419100"/>
                </a:cubicBezTo>
                <a:lnTo>
                  <a:pt x="76200" y="419100"/>
                </a:lnTo>
                <a:cubicBezTo>
                  <a:pt x="34116" y="419100"/>
                  <a:pt x="0" y="384984"/>
                  <a:pt x="0" y="3429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FFFFF">
              <a:alpha val="82000"/>
            </a:srgbClr>
          </a:solidFill>
          <a:ln>
            <a:noFill/>
          </a:ln>
        </p:spPr>
      </p:sp>
      <p:sp>
        <p:nvSpPr>
          <p:cNvPr id="13" name="Freeform 13"/>
          <p:cNvSpPr/>
          <p:nvPr/>
        </p:nvSpPr>
        <p:spPr>
          <a:xfrm>
            <a:off x="838200" y="2390775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57162" y="42862"/>
                </a:moveTo>
                <a:cubicBezTo>
                  <a:pt x="157162" y="61525"/>
                  <a:pt x="145235" y="77402"/>
                  <a:pt x="128588" y="83286"/>
                </a:cubicBezTo>
                <a:lnTo>
                  <a:pt x="128588" y="198839"/>
                </a:lnTo>
                <a:cubicBezTo>
                  <a:pt x="164485" y="192817"/>
                  <a:pt x="192817" y="164485"/>
                  <a:pt x="198839" y="128588"/>
                </a:cubicBezTo>
                <a:lnTo>
                  <a:pt x="171450" y="128588"/>
                </a:lnTo>
                <a:lnTo>
                  <a:pt x="171450" y="100012"/>
                </a:lnTo>
                <a:lnTo>
                  <a:pt x="228600" y="100012"/>
                </a:lnTo>
                <a:lnTo>
                  <a:pt x="228600" y="114300"/>
                </a:lnTo>
                <a:cubicBezTo>
                  <a:pt x="228600" y="177426"/>
                  <a:pt x="177426" y="228600"/>
                  <a:pt x="114300" y="228600"/>
                </a:cubicBezTo>
                <a:cubicBezTo>
                  <a:pt x="51174" y="228600"/>
                  <a:pt x="0" y="177426"/>
                  <a:pt x="0" y="114300"/>
                </a:cubicBezTo>
                <a:lnTo>
                  <a:pt x="0" y="100012"/>
                </a:lnTo>
                <a:lnTo>
                  <a:pt x="57150" y="100012"/>
                </a:lnTo>
                <a:lnTo>
                  <a:pt x="57150" y="128588"/>
                </a:lnTo>
                <a:lnTo>
                  <a:pt x="29760" y="128588"/>
                </a:lnTo>
                <a:cubicBezTo>
                  <a:pt x="35783" y="164485"/>
                  <a:pt x="64115" y="192817"/>
                  <a:pt x="100012" y="198839"/>
                </a:cubicBezTo>
                <a:lnTo>
                  <a:pt x="100012" y="83286"/>
                </a:lnTo>
                <a:cubicBezTo>
                  <a:pt x="83365" y="77402"/>
                  <a:pt x="71438" y="61525"/>
                  <a:pt x="71438" y="42862"/>
                </a:cubicBezTo>
                <a:cubicBezTo>
                  <a:pt x="71438" y="19190"/>
                  <a:pt x="90628" y="0"/>
                  <a:pt x="114300" y="0"/>
                </a:cubicBezTo>
                <a:cubicBezTo>
                  <a:pt x="137972" y="0"/>
                  <a:pt x="157162" y="19190"/>
                  <a:pt x="157162" y="42862"/>
                </a:cubicBezTo>
                <a:close/>
              </a:path>
            </a:pathLst>
          </a:custGeom>
          <a:solidFill>
            <a:srgbClr val="0074CC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1139190" y="2367915"/>
            <a:ext cx="3147822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0F3E68"/>
                </a:solidFill>
                <a:latin typeface="Microsoft YaHei"/>
                <a:ea typeface="Microsoft YaHei"/>
                <a:cs typeface="Microsoft YaHei"/>
              </a:rPr>
              <a:t>路线图：2026Q3 区域复制</a:t>
            </a:r>
          </a:p>
        </p:txBody>
      </p:sp>
      <p:sp>
        <p:nvSpPr>
          <p:cNvPr id="15" name="Freeform 15"/>
          <p:cNvSpPr/>
          <p:nvPr/>
        </p:nvSpPr>
        <p:spPr>
          <a:xfrm>
            <a:off x="742950" y="2943225"/>
            <a:ext cx="4953000" cy="419100"/>
          </a:xfrm>
          <a:custGeom>
            <a:avLst/>
            <a:gdLst/>
            <a:ahLst/>
            <a:cxnLst/>
            <a:rect l="l" t="t" r="r" b="b"/>
            <a:pathLst>
              <a:path w="4953000" h="419100">
                <a:moveTo>
                  <a:pt x="76200" y="0"/>
                </a:moveTo>
                <a:lnTo>
                  <a:pt x="4876800" y="0"/>
                </a:lnTo>
                <a:cubicBezTo>
                  <a:pt x="4918884" y="0"/>
                  <a:pt x="4953000" y="34116"/>
                  <a:pt x="4953000" y="76200"/>
                </a:cubicBezTo>
                <a:lnTo>
                  <a:pt x="4953000" y="342900"/>
                </a:lnTo>
                <a:cubicBezTo>
                  <a:pt x="4953000" y="384984"/>
                  <a:pt x="4918884" y="419100"/>
                  <a:pt x="4876800" y="419100"/>
                </a:cubicBezTo>
                <a:lnTo>
                  <a:pt x="76200" y="419100"/>
                </a:lnTo>
                <a:cubicBezTo>
                  <a:pt x="34116" y="419100"/>
                  <a:pt x="0" y="384984"/>
                  <a:pt x="0" y="3429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FFFFF">
              <a:alpha val="82000"/>
            </a:srgbClr>
          </a:solidFill>
          <a:ln>
            <a:noFill/>
          </a:ln>
        </p:spPr>
      </p:sp>
      <p:grpSp>
        <p:nvGrpSpPr>
          <p:cNvPr id="19" name="Group 19"/>
          <p:cNvGrpSpPr/>
          <p:nvPr/>
        </p:nvGrpSpPr>
        <p:grpSpPr>
          <a:xfrm>
            <a:off x="838812" y="3000988"/>
            <a:ext cx="227374" cy="223802"/>
            <a:chOff x="838812" y="3000988"/>
            <a:chExt cx="227374" cy="223802"/>
          </a:xfrm>
        </p:grpSpPr>
        <p:sp>
          <p:nvSpPr>
            <p:cNvPr id="16" name="Freeform 16"/>
            <p:cNvSpPr/>
            <p:nvPr/>
          </p:nvSpPr>
          <p:spPr>
            <a:xfrm>
              <a:off x="838812" y="3000988"/>
              <a:ext cx="55924" cy="55924"/>
            </a:xfrm>
            <a:custGeom>
              <a:avLst/>
              <a:gdLst/>
              <a:ahLst/>
              <a:cxnLst/>
              <a:rect l="l" t="t" r="r" b="b"/>
              <a:pathLst>
                <a:path w="55924" h="55924">
                  <a:moveTo>
                    <a:pt x="55924" y="20206"/>
                  </a:moveTo>
                  <a:lnTo>
                    <a:pt x="20206" y="55924"/>
                  </a:lnTo>
                  <a:lnTo>
                    <a:pt x="0" y="35719"/>
                  </a:lnTo>
                  <a:lnTo>
                    <a:pt x="35719" y="0"/>
                  </a:lnTo>
                  <a:lnTo>
                    <a:pt x="55924" y="20206"/>
                  </a:lnTo>
                  <a:close/>
                </a:path>
              </a:pathLst>
            </a:custGeom>
            <a:solidFill>
              <a:srgbClr val="0074CC"/>
            </a:solidFill>
            <a:ln>
              <a:noFill/>
            </a:ln>
          </p:spPr>
        </p:sp>
        <p:sp>
          <p:nvSpPr>
            <p:cNvPr id="17" name="Freeform 17"/>
            <p:cNvSpPr/>
            <p:nvPr/>
          </p:nvSpPr>
          <p:spPr>
            <a:xfrm>
              <a:off x="842383" y="3028950"/>
              <a:ext cx="220230" cy="195840"/>
            </a:xfrm>
            <a:custGeom>
              <a:avLst/>
              <a:gdLst/>
              <a:ahLst/>
              <a:cxnLst/>
              <a:rect l="l" t="t" r="r" b="b"/>
              <a:pathLst>
                <a:path w="220230" h="195840">
                  <a:moveTo>
                    <a:pt x="202984" y="92869"/>
                  </a:moveTo>
                  <a:cubicBezTo>
                    <a:pt x="202984" y="111517"/>
                    <a:pt x="197488" y="128881"/>
                    <a:pt x="188026" y="143430"/>
                  </a:cubicBezTo>
                  <a:lnTo>
                    <a:pt x="220230" y="175634"/>
                  </a:lnTo>
                  <a:lnTo>
                    <a:pt x="200025" y="195840"/>
                  </a:lnTo>
                  <a:lnTo>
                    <a:pt x="168928" y="164744"/>
                  </a:lnTo>
                  <a:cubicBezTo>
                    <a:pt x="152913" y="177865"/>
                    <a:pt x="132434" y="185737"/>
                    <a:pt x="110115" y="185737"/>
                  </a:cubicBezTo>
                  <a:cubicBezTo>
                    <a:pt x="87796" y="185737"/>
                    <a:pt x="67316" y="177865"/>
                    <a:pt x="51301" y="164744"/>
                  </a:cubicBezTo>
                  <a:lnTo>
                    <a:pt x="20206" y="195840"/>
                  </a:lnTo>
                  <a:lnTo>
                    <a:pt x="0" y="175634"/>
                  </a:lnTo>
                  <a:lnTo>
                    <a:pt x="32204" y="143430"/>
                  </a:lnTo>
                  <a:cubicBezTo>
                    <a:pt x="22742" y="128881"/>
                    <a:pt x="17246" y="111517"/>
                    <a:pt x="17246" y="92869"/>
                  </a:cubicBezTo>
                  <a:cubicBezTo>
                    <a:pt x="17246" y="41579"/>
                    <a:pt x="58825" y="0"/>
                    <a:pt x="110115" y="0"/>
                  </a:cubicBezTo>
                  <a:cubicBezTo>
                    <a:pt x="161404" y="0"/>
                    <a:pt x="202984" y="41579"/>
                    <a:pt x="202984" y="92869"/>
                  </a:cubicBezTo>
                  <a:close/>
                  <a:moveTo>
                    <a:pt x="95828" y="42862"/>
                  </a:moveTo>
                  <a:lnTo>
                    <a:pt x="95828" y="105930"/>
                  </a:lnTo>
                  <a:lnTo>
                    <a:pt x="128588" y="138690"/>
                  </a:lnTo>
                  <a:lnTo>
                    <a:pt x="148794" y="118484"/>
                  </a:lnTo>
                  <a:lnTo>
                    <a:pt x="124403" y="94094"/>
                  </a:lnTo>
                  <a:lnTo>
                    <a:pt x="124403" y="42862"/>
                  </a:lnTo>
                  <a:lnTo>
                    <a:pt x="95828" y="42862"/>
                  </a:lnTo>
                  <a:close/>
                </a:path>
              </a:pathLst>
            </a:custGeom>
            <a:solidFill>
              <a:srgbClr val="0074CC"/>
            </a:solidFill>
            <a:ln>
              <a:noFill/>
            </a:ln>
          </p:spPr>
        </p:sp>
        <p:sp>
          <p:nvSpPr>
            <p:cNvPr id="18" name="Freeform 18"/>
            <p:cNvSpPr/>
            <p:nvPr/>
          </p:nvSpPr>
          <p:spPr>
            <a:xfrm>
              <a:off x="1010262" y="3000988"/>
              <a:ext cx="55924" cy="55924"/>
            </a:xfrm>
            <a:custGeom>
              <a:avLst/>
              <a:gdLst/>
              <a:ahLst/>
              <a:cxnLst/>
              <a:rect l="l" t="t" r="r" b="b"/>
              <a:pathLst>
                <a:path w="55924" h="55924">
                  <a:moveTo>
                    <a:pt x="35719" y="55924"/>
                  </a:moveTo>
                  <a:lnTo>
                    <a:pt x="0" y="20206"/>
                  </a:lnTo>
                  <a:lnTo>
                    <a:pt x="20205" y="0"/>
                  </a:lnTo>
                  <a:lnTo>
                    <a:pt x="55924" y="35719"/>
                  </a:lnTo>
                  <a:lnTo>
                    <a:pt x="35719" y="55924"/>
                  </a:lnTo>
                  <a:close/>
                </a:path>
              </a:pathLst>
            </a:custGeom>
            <a:solidFill>
              <a:srgbClr val="0074CC"/>
            </a:solidFill>
            <a:ln>
              <a:noFill/>
            </a:ln>
          </p:spPr>
        </p:sp>
      </p:grpSp>
      <p:sp>
        <p:nvSpPr>
          <p:cNvPr id="20" name="TextBox 20"/>
          <p:cNvSpPr txBox="1"/>
          <p:nvPr/>
        </p:nvSpPr>
        <p:spPr>
          <a:xfrm>
            <a:off x="1139190" y="2977515"/>
            <a:ext cx="3147822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0F3E68"/>
                </a:solidFill>
                <a:latin typeface="Microsoft YaHei"/>
                <a:ea typeface="Microsoft YaHei"/>
                <a:cs typeface="Microsoft YaHei"/>
              </a:rPr>
              <a:t>路线图：2026Q4 集团推广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55" y="0"/>
            <a:ext cx="12151042" cy="6858000"/>
          </a:xfrm>
          <a:prstGeom prst="rect">
            <a:avLst/>
          </a:prstGeom>
        </p:spPr>
      </p:pic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4000"/>
            </a:srgbClr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346710" y="489585"/>
            <a:ext cx="3795046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004C8B"/>
                </a:solidFill>
                <a:latin typeface="Microsoft YaHei"/>
                <a:ea typeface="Microsoft YaHei"/>
                <a:cs typeface="Microsoft YaHei"/>
              </a:rPr>
              <a:t>治理机制与风险控制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358140" y="1120140"/>
            <a:ext cx="10258996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004C8B"/>
                </a:solidFill>
                <a:latin typeface="Microsoft YaHei"/>
                <a:ea typeface="Microsoft YaHei"/>
                <a:cs typeface="Microsoft YaHei"/>
              </a:rPr>
              <a:t>建立组织治理、数据治理、模型治理和运营治理四道防线，确保平台长期稳定运行。</a:t>
            </a:r>
          </a:p>
        </p:txBody>
      </p:sp>
      <p:sp>
        <p:nvSpPr>
          <p:cNvPr id="6" name="Freeform 6"/>
          <p:cNvSpPr/>
          <p:nvPr/>
        </p:nvSpPr>
        <p:spPr>
          <a:xfrm>
            <a:off x="400050" y="1562100"/>
            <a:ext cx="11391900" cy="4762500"/>
          </a:xfrm>
          <a:custGeom>
            <a:avLst/>
            <a:gdLst/>
            <a:ahLst/>
            <a:cxnLst/>
            <a:rect l="l" t="t" r="r" b="b"/>
            <a:pathLst>
              <a:path w="11391900" h="4762500">
                <a:moveTo>
                  <a:pt x="171450" y="0"/>
                </a:moveTo>
                <a:lnTo>
                  <a:pt x="11220450" y="0"/>
                </a:lnTo>
                <a:cubicBezTo>
                  <a:pt x="11315139" y="0"/>
                  <a:pt x="11391900" y="76761"/>
                  <a:pt x="11391900" y="171450"/>
                </a:cubicBezTo>
                <a:lnTo>
                  <a:pt x="11391900" y="4591050"/>
                </a:lnTo>
                <a:cubicBezTo>
                  <a:pt x="11391900" y="4685739"/>
                  <a:pt x="11315139" y="4762500"/>
                  <a:pt x="11220450" y="4762500"/>
                </a:cubicBezTo>
                <a:lnTo>
                  <a:pt x="171450" y="4762500"/>
                </a:lnTo>
                <a:cubicBezTo>
                  <a:pt x="76761" y="4762500"/>
                  <a:pt x="0" y="4685739"/>
                  <a:pt x="0" y="4591050"/>
                </a:cubicBezTo>
                <a:lnTo>
                  <a:pt x="0" y="171450"/>
                </a:lnTo>
                <a:cubicBezTo>
                  <a:pt x="0" y="76761"/>
                  <a:pt x="76761" y="0"/>
                  <a:pt x="171450" y="0"/>
                </a:cubicBezTo>
                <a:close/>
              </a:path>
            </a:pathLst>
          </a:custGeom>
          <a:solidFill>
            <a:srgbClr val="F7FBFF">
              <a:alpha val="96000"/>
            </a:srgbClr>
          </a:solidFill>
          <a:ln>
            <a:noFill/>
          </a:ln>
        </p:spPr>
      </p:sp>
      <p:sp>
        <p:nvSpPr>
          <p:cNvPr id="7" name="Freeform 7"/>
          <p:cNvSpPr/>
          <p:nvPr/>
        </p:nvSpPr>
        <p:spPr>
          <a:xfrm>
            <a:off x="533400" y="1733550"/>
            <a:ext cx="5543550" cy="2038350"/>
          </a:xfrm>
          <a:custGeom>
            <a:avLst/>
            <a:gdLst/>
            <a:ahLst/>
            <a:cxnLst/>
            <a:rect l="l" t="t" r="r" b="b"/>
            <a:pathLst>
              <a:path w="5543550" h="2038350">
                <a:moveTo>
                  <a:pt x="114300" y="0"/>
                </a:moveTo>
                <a:lnTo>
                  <a:pt x="5429250" y="0"/>
                </a:lnTo>
                <a:cubicBezTo>
                  <a:pt x="5492376" y="0"/>
                  <a:pt x="5543550" y="51174"/>
                  <a:pt x="5543550" y="114300"/>
                </a:cubicBezTo>
                <a:lnTo>
                  <a:pt x="5543550" y="1924050"/>
                </a:lnTo>
                <a:cubicBezTo>
                  <a:pt x="5543550" y="1987176"/>
                  <a:pt x="5492376" y="2038350"/>
                  <a:pt x="5429250" y="2038350"/>
                </a:cubicBezTo>
                <a:lnTo>
                  <a:pt x="114300" y="2038350"/>
                </a:lnTo>
                <a:cubicBezTo>
                  <a:pt x="51174" y="2038350"/>
                  <a:pt x="0" y="1987176"/>
                  <a:pt x="0" y="192405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2C7BC0"/>
            </a:solidFill>
          </a:ln>
        </p:spPr>
      </p:sp>
      <p:sp>
        <p:nvSpPr>
          <p:cNvPr id="8" name="Freeform 8"/>
          <p:cNvSpPr/>
          <p:nvPr/>
        </p:nvSpPr>
        <p:spPr>
          <a:xfrm>
            <a:off x="6210300" y="1733550"/>
            <a:ext cx="5448300" cy="2038350"/>
          </a:xfrm>
          <a:custGeom>
            <a:avLst/>
            <a:gdLst/>
            <a:ahLst/>
            <a:cxnLst/>
            <a:rect l="l" t="t" r="r" b="b"/>
            <a:pathLst>
              <a:path w="5448300" h="2038350">
                <a:moveTo>
                  <a:pt x="114300" y="0"/>
                </a:moveTo>
                <a:lnTo>
                  <a:pt x="5334000" y="0"/>
                </a:lnTo>
                <a:cubicBezTo>
                  <a:pt x="5397126" y="0"/>
                  <a:pt x="5448300" y="51174"/>
                  <a:pt x="5448300" y="114300"/>
                </a:cubicBezTo>
                <a:lnTo>
                  <a:pt x="5448300" y="1924050"/>
                </a:lnTo>
                <a:cubicBezTo>
                  <a:pt x="5448300" y="1987176"/>
                  <a:pt x="5397126" y="2038350"/>
                  <a:pt x="5334000" y="2038350"/>
                </a:cubicBezTo>
                <a:lnTo>
                  <a:pt x="114300" y="2038350"/>
                </a:lnTo>
                <a:cubicBezTo>
                  <a:pt x="51174" y="2038350"/>
                  <a:pt x="0" y="1987176"/>
                  <a:pt x="0" y="192405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3D74B8"/>
            </a:solidFill>
          </a:ln>
        </p:spPr>
      </p:sp>
      <p:sp>
        <p:nvSpPr>
          <p:cNvPr id="9" name="Freeform 9"/>
          <p:cNvSpPr/>
          <p:nvPr/>
        </p:nvSpPr>
        <p:spPr>
          <a:xfrm>
            <a:off x="533400" y="1733550"/>
            <a:ext cx="5543550" cy="495300"/>
          </a:xfrm>
          <a:custGeom>
            <a:avLst/>
            <a:gdLst/>
            <a:ahLst/>
            <a:cxnLst/>
            <a:rect l="l" t="t" r="r" b="b"/>
            <a:pathLst>
              <a:path w="5543550" h="495300">
                <a:moveTo>
                  <a:pt x="114300" y="0"/>
                </a:moveTo>
                <a:lnTo>
                  <a:pt x="5429250" y="0"/>
                </a:lnTo>
                <a:cubicBezTo>
                  <a:pt x="5492376" y="0"/>
                  <a:pt x="5543550" y="51174"/>
                  <a:pt x="5543550" y="114300"/>
                </a:cubicBezTo>
                <a:lnTo>
                  <a:pt x="5543550" y="381000"/>
                </a:lnTo>
                <a:cubicBezTo>
                  <a:pt x="5543550" y="444126"/>
                  <a:pt x="5492376" y="495300"/>
                  <a:pt x="5429250" y="495300"/>
                </a:cubicBezTo>
                <a:lnTo>
                  <a:pt x="114300" y="495300"/>
                </a:lnTo>
                <a:cubicBezTo>
                  <a:pt x="51174" y="495300"/>
                  <a:pt x="0" y="444126"/>
                  <a:pt x="0" y="38100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18366B"/>
          </a:solidFill>
          <a:ln>
            <a:noFill/>
          </a:ln>
        </p:spPr>
      </p:sp>
      <p:sp>
        <p:nvSpPr>
          <p:cNvPr id="10" name="Freeform 10"/>
          <p:cNvSpPr/>
          <p:nvPr/>
        </p:nvSpPr>
        <p:spPr>
          <a:xfrm>
            <a:off x="6210300" y="1733550"/>
            <a:ext cx="5448300" cy="495300"/>
          </a:xfrm>
          <a:custGeom>
            <a:avLst/>
            <a:gdLst/>
            <a:ahLst/>
            <a:cxnLst/>
            <a:rect l="l" t="t" r="r" b="b"/>
            <a:pathLst>
              <a:path w="5448300" h="495300">
                <a:moveTo>
                  <a:pt x="114300" y="0"/>
                </a:moveTo>
                <a:lnTo>
                  <a:pt x="5334000" y="0"/>
                </a:lnTo>
                <a:cubicBezTo>
                  <a:pt x="5397126" y="0"/>
                  <a:pt x="5448300" y="51174"/>
                  <a:pt x="5448300" y="114300"/>
                </a:cubicBezTo>
                <a:lnTo>
                  <a:pt x="5448300" y="381000"/>
                </a:lnTo>
                <a:cubicBezTo>
                  <a:pt x="5448300" y="444126"/>
                  <a:pt x="5397126" y="495300"/>
                  <a:pt x="5334000" y="495300"/>
                </a:cubicBezTo>
                <a:lnTo>
                  <a:pt x="114300" y="495300"/>
                </a:lnTo>
                <a:cubicBezTo>
                  <a:pt x="51174" y="495300"/>
                  <a:pt x="0" y="444126"/>
                  <a:pt x="0" y="38100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3D74B8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699135" y="1723072"/>
            <a:ext cx="5457651" cy="7010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45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一期 — 自营超深水气田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6376035" y="1723072"/>
            <a:ext cx="4928585" cy="7010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45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二期 — 深水高压气田</a:t>
            </a:r>
          </a:p>
        </p:txBody>
      </p:sp>
      <p:sp>
        <p:nvSpPr>
          <p:cNvPr id="13" name="Freeform 13"/>
          <p:cNvSpPr/>
          <p:nvPr/>
        </p:nvSpPr>
        <p:spPr>
          <a:xfrm>
            <a:off x="742950" y="2400300"/>
            <a:ext cx="1600200" cy="685800"/>
          </a:xfrm>
          <a:custGeom>
            <a:avLst/>
            <a:gdLst/>
            <a:ahLst/>
            <a:cxnLst/>
            <a:rect l="l" t="t" r="r" b="b"/>
            <a:pathLst>
              <a:path w="1600200" h="685800">
                <a:moveTo>
                  <a:pt x="114300" y="0"/>
                </a:moveTo>
                <a:lnTo>
                  <a:pt x="1485900" y="0"/>
                </a:lnTo>
                <a:cubicBezTo>
                  <a:pt x="1549026" y="0"/>
                  <a:pt x="1600200" y="51174"/>
                  <a:pt x="1600200" y="114300"/>
                </a:cubicBezTo>
                <a:lnTo>
                  <a:pt x="1600200" y="571500"/>
                </a:lnTo>
                <a:cubicBezTo>
                  <a:pt x="1600200" y="634626"/>
                  <a:pt x="1549026" y="685800"/>
                  <a:pt x="1485900" y="685800"/>
                </a:cubicBezTo>
                <a:lnTo>
                  <a:pt x="114300" y="685800"/>
                </a:lnTo>
                <a:cubicBezTo>
                  <a:pt x="51174" y="685800"/>
                  <a:pt x="0" y="634626"/>
                  <a:pt x="0" y="57150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18366B"/>
          </a:solidFill>
          <a:ln>
            <a:noFill/>
          </a:ln>
        </p:spPr>
      </p:sp>
      <p:sp>
        <p:nvSpPr>
          <p:cNvPr id="14" name="Freeform 14"/>
          <p:cNvSpPr/>
          <p:nvPr/>
        </p:nvSpPr>
        <p:spPr>
          <a:xfrm>
            <a:off x="2457450" y="2400300"/>
            <a:ext cx="1600200" cy="685800"/>
          </a:xfrm>
          <a:custGeom>
            <a:avLst/>
            <a:gdLst/>
            <a:ahLst/>
            <a:cxnLst/>
            <a:rect l="l" t="t" r="r" b="b"/>
            <a:pathLst>
              <a:path w="1600200" h="685800">
                <a:moveTo>
                  <a:pt x="114300" y="0"/>
                </a:moveTo>
                <a:lnTo>
                  <a:pt x="1485900" y="0"/>
                </a:lnTo>
                <a:cubicBezTo>
                  <a:pt x="1549026" y="0"/>
                  <a:pt x="1600200" y="51174"/>
                  <a:pt x="1600200" y="114300"/>
                </a:cubicBezTo>
                <a:lnTo>
                  <a:pt x="1600200" y="571500"/>
                </a:lnTo>
                <a:cubicBezTo>
                  <a:pt x="1600200" y="634626"/>
                  <a:pt x="1549026" y="685800"/>
                  <a:pt x="1485900" y="685800"/>
                </a:cubicBezTo>
                <a:lnTo>
                  <a:pt x="114300" y="685800"/>
                </a:lnTo>
                <a:cubicBezTo>
                  <a:pt x="51174" y="685800"/>
                  <a:pt x="0" y="634626"/>
                  <a:pt x="0" y="57150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3D74B8"/>
          </a:solidFill>
          <a:ln>
            <a:noFill/>
          </a:ln>
        </p:spPr>
      </p:sp>
      <p:sp>
        <p:nvSpPr>
          <p:cNvPr id="15" name="Freeform 15"/>
          <p:cNvSpPr/>
          <p:nvPr/>
        </p:nvSpPr>
        <p:spPr>
          <a:xfrm>
            <a:off x="4171950" y="2400300"/>
            <a:ext cx="1695450" cy="685800"/>
          </a:xfrm>
          <a:custGeom>
            <a:avLst/>
            <a:gdLst/>
            <a:ahLst/>
            <a:cxnLst/>
            <a:rect l="l" t="t" r="r" b="b"/>
            <a:pathLst>
              <a:path w="1695450" h="685800">
                <a:moveTo>
                  <a:pt x="114300" y="0"/>
                </a:moveTo>
                <a:lnTo>
                  <a:pt x="1581150" y="0"/>
                </a:lnTo>
                <a:cubicBezTo>
                  <a:pt x="1644276" y="0"/>
                  <a:pt x="1695450" y="51174"/>
                  <a:pt x="1695450" y="114300"/>
                </a:cubicBezTo>
                <a:lnTo>
                  <a:pt x="1695450" y="571500"/>
                </a:lnTo>
                <a:cubicBezTo>
                  <a:pt x="1695450" y="634626"/>
                  <a:pt x="1644276" y="685800"/>
                  <a:pt x="1581150" y="685800"/>
                </a:cubicBezTo>
                <a:lnTo>
                  <a:pt x="114300" y="685800"/>
                </a:lnTo>
                <a:cubicBezTo>
                  <a:pt x="51174" y="685800"/>
                  <a:pt x="0" y="634626"/>
                  <a:pt x="0" y="57150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BF5A24"/>
          </a:solidFill>
          <a:ln>
            <a:noFill/>
          </a:ln>
        </p:spPr>
      </p:sp>
      <p:sp>
        <p:nvSpPr>
          <p:cNvPr id="16" name="TextBox 16"/>
          <p:cNvSpPr txBox="1"/>
          <p:nvPr/>
        </p:nvSpPr>
        <p:spPr>
          <a:xfrm>
            <a:off x="482364" y="2439352"/>
            <a:ext cx="2121372" cy="8229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40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1500+m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2119229" y="2439352"/>
            <a:ext cx="2276642" cy="8229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40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5000+m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4182368" y="2439352"/>
            <a:ext cx="1655564" cy="8229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40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138°C</a:t>
            </a:r>
          </a:p>
        </p:txBody>
      </p:sp>
      <p:sp>
        <p:nvSpPr>
          <p:cNvPr id="19" name="Freeform 19"/>
          <p:cNvSpPr/>
          <p:nvPr/>
        </p:nvSpPr>
        <p:spPr>
          <a:xfrm>
            <a:off x="6419850" y="2400300"/>
            <a:ext cx="2457450" cy="514350"/>
          </a:xfrm>
          <a:custGeom>
            <a:avLst/>
            <a:gdLst/>
            <a:ahLst/>
            <a:cxnLst/>
            <a:rect l="l" t="t" r="r" b="b"/>
            <a:pathLst>
              <a:path w="2457450" h="514350">
                <a:moveTo>
                  <a:pt x="95250" y="0"/>
                </a:moveTo>
                <a:lnTo>
                  <a:pt x="2362200" y="0"/>
                </a:lnTo>
                <a:cubicBezTo>
                  <a:pt x="2414805" y="0"/>
                  <a:pt x="2457450" y="42645"/>
                  <a:pt x="2457450" y="95250"/>
                </a:cubicBezTo>
                <a:lnTo>
                  <a:pt x="2457450" y="419100"/>
                </a:lnTo>
                <a:cubicBezTo>
                  <a:pt x="2457450" y="471705"/>
                  <a:pt x="2414805" y="514350"/>
                  <a:pt x="2362200" y="514350"/>
                </a:cubicBezTo>
                <a:lnTo>
                  <a:pt x="95250" y="514350"/>
                </a:lnTo>
                <a:cubicBezTo>
                  <a:pt x="42645" y="514350"/>
                  <a:pt x="0" y="471705"/>
                  <a:pt x="0" y="41910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18366B"/>
          </a:solidFill>
          <a:ln>
            <a:noFill/>
          </a:ln>
        </p:spPr>
      </p:sp>
      <p:sp>
        <p:nvSpPr>
          <p:cNvPr id="20" name="Freeform 20"/>
          <p:cNvSpPr/>
          <p:nvPr/>
        </p:nvSpPr>
        <p:spPr>
          <a:xfrm>
            <a:off x="9010650" y="2400300"/>
            <a:ext cx="2457450" cy="514350"/>
          </a:xfrm>
          <a:custGeom>
            <a:avLst/>
            <a:gdLst/>
            <a:ahLst/>
            <a:cxnLst/>
            <a:rect l="l" t="t" r="r" b="b"/>
            <a:pathLst>
              <a:path w="2457450" h="514350">
                <a:moveTo>
                  <a:pt x="95250" y="0"/>
                </a:moveTo>
                <a:lnTo>
                  <a:pt x="2362200" y="0"/>
                </a:lnTo>
                <a:cubicBezTo>
                  <a:pt x="2414805" y="0"/>
                  <a:pt x="2457450" y="42645"/>
                  <a:pt x="2457450" y="95250"/>
                </a:cubicBezTo>
                <a:lnTo>
                  <a:pt x="2457450" y="419100"/>
                </a:lnTo>
                <a:cubicBezTo>
                  <a:pt x="2457450" y="471705"/>
                  <a:pt x="2414805" y="514350"/>
                  <a:pt x="2362200" y="514350"/>
                </a:cubicBezTo>
                <a:lnTo>
                  <a:pt x="95250" y="514350"/>
                </a:lnTo>
                <a:cubicBezTo>
                  <a:pt x="42645" y="514350"/>
                  <a:pt x="0" y="471705"/>
                  <a:pt x="0" y="41910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4A8E3B"/>
          </a:solidFill>
          <a:ln>
            <a:noFill/>
          </a:ln>
        </p:spPr>
      </p:sp>
      <p:sp>
        <p:nvSpPr>
          <p:cNvPr id="21" name="TextBox 21"/>
          <p:cNvSpPr txBox="1"/>
          <p:nvPr/>
        </p:nvSpPr>
        <p:spPr>
          <a:xfrm>
            <a:off x="7136041" y="2357438"/>
            <a:ext cx="1044119" cy="762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37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30%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9621530" y="2357438"/>
            <a:ext cx="1216640" cy="762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37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100%</a:t>
            </a:r>
          </a:p>
        </p:txBody>
      </p:sp>
      <p:sp>
        <p:nvSpPr>
          <p:cNvPr id="23" name="Freeform 23"/>
          <p:cNvSpPr/>
          <p:nvPr/>
        </p:nvSpPr>
        <p:spPr>
          <a:xfrm>
            <a:off x="533400" y="3981450"/>
            <a:ext cx="11125200" cy="2209800"/>
          </a:xfrm>
          <a:custGeom>
            <a:avLst/>
            <a:gdLst/>
            <a:ahLst/>
            <a:cxnLst/>
            <a:rect l="l" t="t" r="r" b="b"/>
            <a:pathLst>
              <a:path w="11125200" h="2209800">
                <a:moveTo>
                  <a:pt x="114300" y="0"/>
                </a:moveTo>
                <a:lnTo>
                  <a:pt x="11010900" y="0"/>
                </a:lnTo>
                <a:cubicBezTo>
                  <a:pt x="11074026" y="0"/>
                  <a:pt x="11125200" y="51174"/>
                  <a:pt x="11125200" y="114300"/>
                </a:cubicBezTo>
                <a:lnTo>
                  <a:pt x="11125200" y="2095500"/>
                </a:lnTo>
                <a:cubicBezTo>
                  <a:pt x="11125200" y="2158626"/>
                  <a:pt x="11074026" y="2209800"/>
                  <a:pt x="11010900" y="2209800"/>
                </a:cubicBezTo>
                <a:lnTo>
                  <a:pt x="114300" y="2209800"/>
                </a:lnTo>
                <a:cubicBezTo>
                  <a:pt x="51174" y="2209800"/>
                  <a:pt x="0" y="2158626"/>
                  <a:pt x="0" y="209550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DCE8F5"/>
            </a:solidFill>
          </a:ln>
        </p:spPr>
      </p:sp>
      <p:sp>
        <p:nvSpPr>
          <p:cNvPr id="24" name="TextBox 24"/>
          <p:cNvSpPr txBox="1"/>
          <p:nvPr/>
        </p:nvSpPr>
        <p:spPr>
          <a:xfrm>
            <a:off x="3842004" y="3992880"/>
            <a:ext cx="4507992" cy="7315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3600" b="1" dirty="0">
                <a:solidFill>
                  <a:srgbClr val="18366B"/>
                </a:solidFill>
                <a:latin typeface="Microsoft YaHei"/>
                <a:ea typeface="Microsoft YaHei"/>
                <a:cs typeface="Microsoft YaHei"/>
              </a:rPr>
              <a:t>攻克核心技术难题</a:t>
            </a:r>
          </a:p>
        </p:txBody>
      </p:sp>
      <p:sp>
        <p:nvSpPr>
          <p:cNvPr id="25" name="Freeform 25"/>
          <p:cNvSpPr/>
          <p:nvPr/>
        </p:nvSpPr>
        <p:spPr>
          <a:xfrm>
            <a:off x="781050" y="4648200"/>
            <a:ext cx="2000250" cy="1314450"/>
          </a:xfrm>
          <a:custGeom>
            <a:avLst/>
            <a:gdLst/>
            <a:ahLst/>
            <a:cxnLst/>
            <a:rect l="l" t="t" r="r" b="b"/>
            <a:pathLst>
              <a:path w="2000250" h="1314450">
                <a:moveTo>
                  <a:pt x="114300" y="0"/>
                </a:moveTo>
                <a:lnTo>
                  <a:pt x="1885950" y="0"/>
                </a:lnTo>
                <a:cubicBezTo>
                  <a:pt x="1949076" y="0"/>
                  <a:pt x="2000250" y="51174"/>
                  <a:pt x="2000250" y="114300"/>
                </a:cubicBezTo>
                <a:lnTo>
                  <a:pt x="2000250" y="1200150"/>
                </a:lnTo>
                <a:cubicBezTo>
                  <a:pt x="2000250" y="1263276"/>
                  <a:pt x="1949076" y="1314450"/>
                  <a:pt x="1885950" y="1314450"/>
                </a:cubicBezTo>
                <a:lnTo>
                  <a:pt x="114300" y="1314450"/>
                </a:lnTo>
                <a:cubicBezTo>
                  <a:pt x="51174" y="1314450"/>
                  <a:pt x="0" y="1263276"/>
                  <a:pt x="0" y="120015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2C7BC0"/>
            </a:solidFill>
          </a:ln>
        </p:spPr>
      </p:sp>
      <p:sp>
        <p:nvSpPr>
          <p:cNvPr id="26" name="Freeform 26"/>
          <p:cNvSpPr/>
          <p:nvPr/>
        </p:nvSpPr>
        <p:spPr>
          <a:xfrm>
            <a:off x="2933700" y="4648200"/>
            <a:ext cx="2000250" cy="1314450"/>
          </a:xfrm>
          <a:custGeom>
            <a:avLst/>
            <a:gdLst/>
            <a:ahLst/>
            <a:cxnLst/>
            <a:rect l="l" t="t" r="r" b="b"/>
            <a:pathLst>
              <a:path w="2000250" h="1314450">
                <a:moveTo>
                  <a:pt x="114300" y="0"/>
                </a:moveTo>
                <a:lnTo>
                  <a:pt x="1885950" y="0"/>
                </a:lnTo>
                <a:cubicBezTo>
                  <a:pt x="1949076" y="0"/>
                  <a:pt x="2000250" y="51174"/>
                  <a:pt x="2000250" y="114300"/>
                </a:cubicBezTo>
                <a:lnTo>
                  <a:pt x="2000250" y="1200150"/>
                </a:lnTo>
                <a:cubicBezTo>
                  <a:pt x="2000250" y="1263276"/>
                  <a:pt x="1949076" y="1314450"/>
                  <a:pt x="1885950" y="1314450"/>
                </a:cubicBezTo>
                <a:lnTo>
                  <a:pt x="114300" y="1314450"/>
                </a:lnTo>
                <a:cubicBezTo>
                  <a:pt x="51174" y="1314450"/>
                  <a:pt x="0" y="1263276"/>
                  <a:pt x="0" y="120015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3D74B8"/>
            </a:solidFill>
          </a:ln>
        </p:spPr>
      </p:sp>
      <p:sp>
        <p:nvSpPr>
          <p:cNvPr id="27" name="Freeform 27"/>
          <p:cNvSpPr/>
          <p:nvPr/>
        </p:nvSpPr>
        <p:spPr>
          <a:xfrm>
            <a:off x="5086350" y="4648200"/>
            <a:ext cx="2000250" cy="1314450"/>
          </a:xfrm>
          <a:custGeom>
            <a:avLst/>
            <a:gdLst/>
            <a:ahLst/>
            <a:cxnLst/>
            <a:rect l="l" t="t" r="r" b="b"/>
            <a:pathLst>
              <a:path w="2000250" h="1314450">
                <a:moveTo>
                  <a:pt x="114300" y="0"/>
                </a:moveTo>
                <a:lnTo>
                  <a:pt x="1885950" y="0"/>
                </a:lnTo>
                <a:cubicBezTo>
                  <a:pt x="1949076" y="0"/>
                  <a:pt x="2000250" y="51174"/>
                  <a:pt x="2000250" y="114300"/>
                </a:cubicBezTo>
                <a:lnTo>
                  <a:pt x="2000250" y="1200150"/>
                </a:lnTo>
                <a:cubicBezTo>
                  <a:pt x="2000250" y="1263276"/>
                  <a:pt x="1949076" y="1314450"/>
                  <a:pt x="1885950" y="1314450"/>
                </a:cubicBezTo>
                <a:lnTo>
                  <a:pt x="114300" y="1314450"/>
                </a:lnTo>
                <a:cubicBezTo>
                  <a:pt x="51174" y="1314450"/>
                  <a:pt x="0" y="1263276"/>
                  <a:pt x="0" y="120015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69C0EA"/>
            </a:solidFill>
          </a:ln>
        </p:spPr>
      </p:sp>
      <p:sp>
        <p:nvSpPr>
          <p:cNvPr id="28" name="Freeform 28"/>
          <p:cNvSpPr/>
          <p:nvPr/>
        </p:nvSpPr>
        <p:spPr>
          <a:xfrm>
            <a:off x="7239000" y="4648200"/>
            <a:ext cx="2000250" cy="1314450"/>
          </a:xfrm>
          <a:custGeom>
            <a:avLst/>
            <a:gdLst/>
            <a:ahLst/>
            <a:cxnLst/>
            <a:rect l="l" t="t" r="r" b="b"/>
            <a:pathLst>
              <a:path w="2000250" h="1314450">
                <a:moveTo>
                  <a:pt x="114300" y="0"/>
                </a:moveTo>
                <a:lnTo>
                  <a:pt x="1885950" y="0"/>
                </a:lnTo>
                <a:cubicBezTo>
                  <a:pt x="1949076" y="0"/>
                  <a:pt x="2000250" y="51174"/>
                  <a:pt x="2000250" y="114300"/>
                </a:cubicBezTo>
                <a:lnTo>
                  <a:pt x="2000250" y="1200150"/>
                </a:lnTo>
                <a:cubicBezTo>
                  <a:pt x="2000250" y="1263276"/>
                  <a:pt x="1949076" y="1314450"/>
                  <a:pt x="1885950" y="1314450"/>
                </a:cubicBezTo>
                <a:lnTo>
                  <a:pt x="114300" y="1314450"/>
                </a:lnTo>
                <a:cubicBezTo>
                  <a:pt x="51174" y="1314450"/>
                  <a:pt x="0" y="1263276"/>
                  <a:pt x="0" y="120015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4A8E3B"/>
            </a:solidFill>
          </a:ln>
        </p:spPr>
      </p:sp>
      <p:sp>
        <p:nvSpPr>
          <p:cNvPr id="29" name="Freeform 29"/>
          <p:cNvSpPr/>
          <p:nvPr/>
        </p:nvSpPr>
        <p:spPr>
          <a:xfrm>
            <a:off x="9391650" y="4648200"/>
            <a:ext cx="2000250" cy="1314450"/>
          </a:xfrm>
          <a:custGeom>
            <a:avLst/>
            <a:gdLst/>
            <a:ahLst/>
            <a:cxnLst/>
            <a:rect l="l" t="t" r="r" b="b"/>
            <a:pathLst>
              <a:path w="2000250" h="1314450">
                <a:moveTo>
                  <a:pt x="114300" y="0"/>
                </a:moveTo>
                <a:lnTo>
                  <a:pt x="1885950" y="0"/>
                </a:lnTo>
                <a:cubicBezTo>
                  <a:pt x="1949076" y="0"/>
                  <a:pt x="2000250" y="51174"/>
                  <a:pt x="2000250" y="114300"/>
                </a:cubicBezTo>
                <a:lnTo>
                  <a:pt x="2000250" y="1200150"/>
                </a:lnTo>
                <a:cubicBezTo>
                  <a:pt x="2000250" y="1263276"/>
                  <a:pt x="1949076" y="1314450"/>
                  <a:pt x="1885950" y="1314450"/>
                </a:cubicBezTo>
                <a:lnTo>
                  <a:pt x="114300" y="1314450"/>
                </a:lnTo>
                <a:cubicBezTo>
                  <a:pt x="51174" y="1314450"/>
                  <a:pt x="0" y="1263276"/>
                  <a:pt x="0" y="120015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F07035"/>
            </a:solidFill>
          </a:ln>
        </p:spPr>
      </p:sp>
      <p:grpSp>
        <p:nvGrpSpPr>
          <p:cNvPr id="33" name="Group 33"/>
          <p:cNvGrpSpPr/>
          <p:nvPr/>
        </p:nvGrpSpPr>
        <p:grpSpPr>
          <a:xfrm>
            <a:off x="1614488" y="4838700"/>
            <a:ext cx="200025" cy="266700"/>
            <a:chOff x="1614488" y="4838700"/>
            <a:chExt cx="200025" cy="266700"/>
          </a:xfrm>
        </p:grpSpPr>
        <p:sp>
          <p:nvSpPr>
            <p:cNvPr id="30" name="Freeform 30"/>
            <p:cNvSpPr/>
            <p:nvPr/>
          </p:nvSpPr>
          <p:spPr>
            <a:xfrm>
              <a:off x="1614488" y="4945380"/>
              <a:ext cx="200025" cy="76676"/>
            </a:xfrm>
            <a:custGeom>
              <a:avLst/>
              <a:gdLst/>
              <a:ahLst/>
              <a:cxnLst/>
              <a:rect l="l" t="t" r="r" b="b"/>
              <a:pathLst>
                <a:path w="200025" h="76676">
                  <a:moveTo>
                    <a:pt x="185642" y="8504"/>
                  </a:moveTo>
                  <a:cubicBezTo>
                    <a:pt x="190330" y="6159"/>
                    <a:pt x="195229" y="3330"/>
                    <a:pt x="200025" y="0"/>
                  </a:cubicBezTo>
                  <a:lnTo>
                    <a:pt x="200025" y="26670"/>
                  </a:lnTo>
                  <a:cubicBezTo>
                    <a:pt x="200025" y="54287"/>
                    <a:pt x="155248" y="76676"/>
                    <a:pt x="100012" y="76676"/>
                  </a:cubicBezTo>
                  <a:cubicBezTo>
                    <a:pt x="44777" y="76676"/>
                    <a:pt x="0" y="54287"/>
                    <a:pt x="0" y="26670"/>
                  </a:cubicBezTo>
                  <a:lnTo>
                    <a:pt x="0" y="0"/>
                  </a:lnTo>
                  <a:cubicBezTo>
                    <a:pt x="4796" y="3330"/>
                    <a:pt x="9694" y="6159"/>
                    <a:pt x="14384" y="8504"/>
                  </a:cubicBezTo>
                  <a:cubicBezTo>
                    <a:pt x="38021" y="20322"/>
                    <a:pt x="68342" y="26670"/>
                    <a:pt x="100012" y="26670"/>
                  </a:cubicBezTo>
                  <a:cubicBezTo>
                    <a:pt x="131683" y="26670"/>
                    <a:pt x="162004" y="20322"/>
                    <a:pt x="185642" y="8504"/>
                  </a:cubicBezTo>
                  <a:close/>
                </a:path>
              </a:pathLst>
            </a:custGeom>
            <a:solidFill>
              <a:srgbClr val="18366B"/>
            </a:solidFill>
            <a:ln>
              <a:noFill/>
            </a:ln>
          </p:spPr>
        </p:sp>
        <p:sp>
          <p:nvSpPr>
            <p:cNvPr id="31" name="Freeform 31"/>
            <p:cNvSpPr/>
            <p:nvPr/>
          </p:nvSpPr>
          <p:spPr>
            <a:xfrm>
              <a:off x="1614488" y="5028724"/>
              <a:ext cx="200025" cy="76676"/>
            </a:xfrm>
            <a:custGeom>
              <a:avLst/>
              <a:gdLst/>
              <a:ahLst/>
              <a:cxnLst/>
              <a:rect l="l" t="t" r="r" b="b"/>
              <a:pathLst>
                <a:path w="200025" h="76676">
                  <a:moveTo>
                    <a:pt x="0" y="0"/>
                  </a:moveTo>
                  <a:lnTo>
                    <a:pt x="0" y="26670"/>
                  </a:lnTo>
                  <a:cubicBezTo>
                    <a:pt x="0" y="54288"/>
                    <a:pt x="44777" y="76676"/>
                    <a:pt x="100012" y="76676"/>
                  </a:cubicBezTo>
                  <a:cubicBezTo>
                    <a:pt x="155248" y="76676"/>
                    <a:pt x="200025" y="54288"/>
                    <a:pt x="200025" y="26670"/>
                  </a:cubicBezTo>
                  <a:lnTo>
                    <a:pt x="200025" y="0"/>
                  </a:lnTo>
                  <a:cubicBezTo>
                    <a:pt x="195229" y="3330"/>
                    <a:pt x="190330" y="6159"/>
                    <a:pt x="185642" y="8504"/>
                  </a:cubicBezTo>
                  <a:cubicBezTo>
                    <a:pt x="162004" y="20323"/>
                    <a:pt x="131683" y="26670"/>
                    <a:pt x="100012" y="26670"/>
                  </a:cubicBezTo>
                  <a:cubicBezTo>
                    <a:pt x="68342" y="26670"/>
                    <a:pt x="38021" y="20323"/>
                    <a:pt x="14384" y="8504"/>
                  </a:cubicBezTo>
                  <a:cubicBezTo>
                    <a:pt x="9694" y="6159"/>
                    <a:pt x="4796" y="3330"/>
                    <a:pt x="0" y="0"/>
                  </a:cubicBezTo>
                  <a:close/>
                </a:path>
              </a:pathLst>
            </a:custGeom>
            <a:solidFill>
              <a:srgbClr val="18366B"/>
            </a:solidFill>
            <a:ln>
              <a:noFill/>
            </a:ln>
          </p:spPr>
        </p:sp>
        <p:sp>
          <p:nvSpPr>
            <p:cNvPr id="32" name="Freeform 32"/>
            <p:cNvSpPr/>
            <p:nvPr/>
          </p:nvSpPr>
          <p:spPr>
            <a:xfrm>
              <a:off x="1614488" y="4838700"/>
              <a:ext cx="200025" cy="100012"/>
            </a:xfrm>
            <a:custGeom>
              <a:avLst/>
              <a:gdLst/>
              <a:ahLst/>
              <a:cxnLst/>
              <a:rect l="l" t="t" r="r" b="b"/>
              <a:pathLst>
                <a:path w="200025" h="100012">
                  <a:moveTo>
                    <a:pt x="100012" y="0"/>
                  </a:moveTo>
                  <a:cubicBezTo>
                    <a:pt x="155248" y="0"/>
                    <a:pt x="200025" y="22389"/>
                    <a:pt x="200025" y="50006"/>
                  </a:cubicBezTo>
                  <a:cubicBezTo>
                    <a:pt x="200025" y="77624"/>
                    <a:pt x="155248" y="100012"/>
                    <a:pt x="100012" y="100012"/>
                  </a:cubicBezTo>
                  <a:cubicBezTo>
                    <a:pt x="44777" y="100012"/>
                    <a:pt x="0" y="77624"/>
                    <a:pt x="0" y="50006"/>
                  </a:cubicBezTo>
                  <a:cubicBezTo>
                    <a:pt x="0" y="22389"/>
                    <a:pt x="44777" y="0"/>
                    <a:pt x="100012" y="0"/>
                  </a:cubicBezTo>
                  <a:close/>
                </a:path>
              </a:pathLst>
            </a:custGeom>
            <a:solidFill>
              <a:srgbClr val="18366B"/>
            </a:solidFill>
            <a:ln>
              <a:noFill/>
            </a:ln>
          </p:spPr>
        </p:sp>
      </p:grpSp>
      <p:sp>
        <p:nvSpPr>
          <p:cNvPr id="34" name="Freeform 34"/>
          <p:cNvSpPr/>
          <p:nvPr/>
        </p:nvSpPr>
        <p:spPr>
          <a:xfrm>
            <a:off x="3750469" y="4838700"/>
            <a:ext cx="233362" cy="266700"/>
          </a:xfrm>
          <a:custGeom>
            <a:avLst/>
            <a:gdLst/>
            <a:ahLst/>
            <a:cxnLst/>
            <a:rect l="l" t="t" r="r" b="b"/>
            <a:pathLst>
              <a:path w="233362" h="266700">
                <a:moveTo>
                  <a:pt x="55842" y="223243"/>
                </a:moveTo>
                <a:lnTo>
                  <a:pt x="116681" y="266700"/>
                </a:lnTo>
                <a:lnTo>
                  <a:pt x="177521" y="223243"/>
                </a:lnTo>
                <a:cubicBezTo>
                  <a:pt x="212565" y="198211"/>
                  <a:pt x="233362" y="157798"/>
                  <a:pt x="233362" y="114732"/>
                </a:cubicBezTo>
                <a:lnTo>
                  <a:pt x="233362" y="50006"/>
                </a:lnTo>
                <a:lnTo>
                  <a:pt x="116681" y="0"/>
                </a:lnTo>
                <a:lnTo>
                  <a:pt x="0" y="50006"/>
                </a:lnTo>
                <a:lnTo>
                  <a:pt x="0" y="114732"/>
                </a:lnTo>
                <a:cubicBezTo>
                  <a:pt x="0" y="157798"/>
                  <a:pt x="20798" y="198211"/>
                  <a:pt x="55842" y="223243"/>
                </a:cubicBezTo>
                <a:close/>
              </a:path>
            </a:pathLst>
          </a:custGeom>
          <a:solidFill>
            <a:srgbClr val="3D74B8"/>
          </a:solidFill>
          <a:ln>
            <a:noFill/>
          </a:ln>
        </p:spPr>
      </p:sp>
      <p:sp>
        <p:nvSpPr>
          <p:cNvPr id="35" name="Freeform 35"/>
          <p:cNvSpPr/>
          <p:nvPr/>
        </p:nvSpPr>
        <p:spPr>
          <a:xfrm>
            <a:off x="5886450" y="4838700"/>
            <a:ext cx="266700" cy="250031"/>
          </a:xfrm>
          <a:custGeom>
            <a:avLst/>
            <a:gdLst/>
            <a:ahLst/>
            <a:cxnLst/>
            <a:rect l="l" t="t" r="r" b="b"/>
            <a:pathLst>
              <a:path w="266700" h="250031">
                <a:moveTo>
                  <a:pt x="266700" y="250031"/>
                </a:moveTo>
                <a:lnTo>
                  <a:pt x="0" y="250031"/>
                </a:lnTo>
                <a:lnTo>
                  <a:pt x="0" y="200025"/>
                </a:lnTo>
                <a:lnTo>
                  <a:pt x="116681" y="0"/>
                </a:lnTo>
                <a:lnTo>
                  <a:pt x="150019" y="0"/>
                </a:lnTo>
                <a:lnTo>
                  <a:pt x="266700" y="200025"/>
                </a:lnTo>
                <a:lnTo>
                  <a:pt x="266700" y="250031"/>
                </a:lnTo>
                <a:close/>
              </a:path>
            </a:pathLst>
          </a:custGeom>
          <a:solidFill>
            <a:srgbClr val="69C0EA"/>
          </a:solidFill>
          <a:ln>
            <a:noFill/>
          </a:ln>
        </p:spPr>
      </p:sp>
      <p:grpSp>
        <p:nvGrpSpPr>
          <p:cNvPr id="38" name="Group 38"/>
          <p:cNvGrpSpPr/>
          <p:nvPr/>
        </p:nvGrpSpPr>
        <p:grpSpPr>
          <a:xfrm>
            <a:off x="8055769" y="4855369"/>
            <a:ext cx="233362" cy="233362"/>
            <a:chOff x="8055769" y="4855369"/>
            <a:chExt cx="233362" cy="233362"/>
          </a:xfrm>
        </p:grpSpPr>
        <p:sp>
          <p:nvSpPr>
            <p:cNvPr id="36" name="Freeform 36"/>
            <p:cNvSpPr/>
            <p:nvPr/>
          </p:nvSpPr>
          <p:spPr>
            <a:xfrm>
              <a:off x="8055769" y="4855369"/>
              <a:ext cx="233362" cy="146084"/>
            </a:xfrm>
            <a:custGeom>
              <a:avLst/>
              <a:gdLst/>
              <a:ahLst/>
              <a:cxnLst/>
              <a:rect l="l" t="t" r="r" b="b"/>
              <a:pathLst>
                <a:path w="233362" h="146084">
                  <a:moveTo>
                    <a:pt x="233362" y="0"/>
                  </a:moveTo>
                  <a:lnTo>
                    <a:pt x="0" y="0"/>
                  </a:lnTo>
                  <a:lnTo>
                    <a:pt x="0" y="100012"/>
                  </a:lnTo>
                  <a:lnTo>
                    <a:pt x="39704" y="100012"/>
                  </a:lnTo>
                  <a:lnTo>
                    <a:pt x="64707" y="50006"/>
                  </a:lnTo>
                  <a:lnTo>
                    <a:pt x="101980" y="50006"/>
                  </a:lnTo>
                  <a:lnTo>
                    <a:pt x="150019" y="146084"/>
                  </a:lnTo>
                  <a:lnTo>
                    <a:pt x="173055" y="100012"/>
                  </a:lnTo>
                  <a:lnTo>
                    <a:pt x="233362" y="100012"/>
                  </a:lnTo>
                  <a:lnTo>
                    <a:pt x="233362" y="0"/>
                  </a:lnTo>
                  <a:close/>
                </a:path>
              </a:pathLst>
            </a:custGeom>
            <a:solidFill>
              <a:srgbClr val="4A8E3B"/>
            </a:solidFill>
            <a:ln>
              <a:noFill/>
            </a:ln>
          </p:spPr>
        </p:sp>
        <p:sp>
          <p:nvSpPr>
            <p:cNvPr id="37" name="Freeform 37"/>
            <p:cNvSpPr/>
            <p:nvPr/>
          </p:nvSpPr>
          <p:spPr>
            <a:xfrm>
              <a:off x="8055769" y="4942647"/>
              <a:ext cx="233362" cy="146084"/>
            </a:xfrm>
            <a:custGeom>
              <a:avLst/>
              <a:gdLst/>
              <a:ahLst/>
              <a:cxnLst/>
              <a:rect l="l" t="t" r="r" b="b"/>
              <a:pathLst>
                <a:path w="233362" h="146084">
                  <a:moveTo>
                    <a:pt x="233362" y="46071"/>
                  </a:moveTo>
                  <a:lnTo>
                    <a:pt x="193658" y="46071"/>
                  </a:lnTo>
                  <a:lnTo>
                    <a:pt x="168654" y="96078"/>
                  </a:lnTo>
                  <a:lnTo>
                    <a:pt x="131383" y="96078"/>
                  </a:lnTo>
                  <a:lnTo>
                    <a:pt x="83344" y="0"/>
                  </a:lnTo>
                  <a:lnTo>
                    <a:pt x="60308" y="46071"/>
                  </a:lnTo>
                  <a:lnTo>
                    <a:pt x="0" y="46071"/>
                  </a:lnTo>
                  <a:lnTo>
                    <a:pt x="0" y="146084"/>
                  </a:lnTo>
                  <a:lnTo>
                    <a:pt x="233362" y="146084"/>
                  </a:lnTo>
                  <a:lnTo>
                    <a:pt x="233362" y="46071"/>
                  </a:lnTo>
                  <a:close/>
                </a:path>
              </a:pathLst>
            </a:custGeom>
            <a:solidFill>
              <a:srgbClr val="4A8E3B"/>
            </a:solidFill>
            <a:ln>
              <a:noFill/>
            </a:ln>
          </p:spPr>
        </p:sp>
      </p:grpSp>
      <p:grpSp>
        <p:nvGrpSpPr>
          <p:cNvPr id="42" name="Group 42"/>
          <p:cNvGrpSpPr/>
          <p:nvPr/>
        </p:nvGrpSpPr>
        <p:grpSpPr>
          <a:xfrm>
            <a:off x="10192464" y="4839415"/>
            <a:ext cx="265269" cy="261103"/>
            <a:chOff x="10192464" y="4839415"/>
            <a:chExt cx="265269" cy="261103"/>
          </a:xfrm>
        </p:grpSpPr>
        <p:sp>
          <p:nvSpPr>
            <p:cNvPr id="39" name="Freeform 39"/>
            <p:cNvSpPr/>
            <p:nvPr/>
          </p:nvSpPr>
          <p:spPr>
            <a:xfrm>
              <a:off x="10192464" y="4839415"/>
              <a:ext cx="65245" cy="65245"/>
            </a:xfrm>
            <a:custGeom>
              <a:avLst/>
              <a:gdLst/>
              <a:ahLst/>
              <a:cxnLst/>
              <a:rect l="l" t="t" r="r" b="b"/>
              <a:pathLst>
                <a:path w="65245" h="65245">
                  <a:moveTo>
                    <a:pt x="65245" y="23573"/>
                  </a:moveTo>
                  <a:lnTo>
                    <a:pt x="23573" y="65245"/>
                  </a:lnTo>
                  <a:lnTo>
                    <a:pt x="0" y="41672"/>
                  </a:lnTo>
                  <a:lnTo>
                    <a:pt x="41672" y="0"/>
                  </a:lnTo>
                  <a:lnTo>
                    <a:pt x="65245" y="23573"/>
                  </a:lnTo>
                  <a:close/>
                </a:path>
              </a:pathLst>
            </a:custGeom>
            <a:solidFill>
              <a:srgbClr val="F07035"/>
            </a:solidFill>
            <a:ln>
              <a:noFill/>
            </a:ln>
          </p:spPr>
        </p:sp>
        <p:sp>
          <p:nvSpPr>
            <p:cNvPr id="40" name="Freeform 40"/>
            <p:cNvSpPr/>
            <p:nvPr/>
          </p:nvSpPr>
          <p:spPr>
            <a:xfrm>
              <a:off x="10196631" y="4872038"/>
              <a:ext cx="256935" cy="228480"/>
            </a:xfrm>
            <a:custGeom>
              <a:avLst/>
              <a:gdLst/>
              <a:ahLst/>
              <a:cxnLst/>
              <a:rect l="l" t="t" r="r" b="b"/>
              <a:pathLst>
                <a:path w="256935" h="228480">
                  <a:moveTo>
                    <a:pt x="236815" y="108347"/>
                  </a:moveTo>
                  <a:cubicBezTo>
                    <a:pt x="236815" y="130103"/>
                    <a:pt x="230402" y="150362"/>
                    <a:pt x="219364" y="167335"/>
                  </a:cubicBezTo>
                  <a:lnTo>
                    <a:pt x="256935" y="204907"/>
                  </a:lnTo>
                  <a:lnTo>
                    <a:pt x="233362" y="228480"/>
                  </a:lnTo>
                  <a:lnTo>
                    <a:pt x="197083" y="192202"/>
                  </a:lnTo>
                  <a:cubicBezTo>
                    <a:pt x="178399" y="207509"/>
                    <a:pt x="154506" y="216693"/>
                    <a:pt x="128467" y="216693"/>
                  </a:cubicBezTo>
                  <a:cubicBezTo>
                    <a:pt x="102429" y="216693"/>
                    <a:pt x="78536" y="207509"/>
                    <a:pt x="59851" y="192202"/>
                  </a:cubicBezTo>
                  <a:lnTo>
                    <a:pt x="23573" y="228480"/>
                  </a:lnTo>
                  <a:lnTo>
                    <a:pt x="0" y="204907"/>
                  </a:lnTo>
                  <a:lnTo>
                    <a:pt x="37571" y="167335"/>
                  </a:lnTo>
                  <a:cubicBezTo>
                    <a:pt x="26533" y="150362"/>
                    <a:pt x="20120" y="130103"/>
                    <a:pt x="20120" y="108347"/>
                  </a:cubicBezTo>
                  <a:cubicBezTo>
                    <a:pt x="20120" y="48509"/>
                    <a:pt x="68629" y="0"/>
                    <a:pt x="128467" y="0"/>
                  </a:cubicBezTo>
                  <a:cubicBezTo>
                    <a:pt x="188305" y="0"/>
                    <a:pt x="236815" y="48509"/>
                    <a:pt x="236815" y="108347"/>
                  </a:cubicBezTo>
                  <a:close/>
                  <a:moveTo>
                    <a:pt x="111800" y="50006"/>
                  </a:moveTo>
                  <a:lnTo>
                    <a:pt x="111800" y="123585"/>
                  </a:lnTo>
                  <a:lnTo>
                    <a:pt x="150020" y="161805"/>
                  </a:lnTo>
                  <a:lnTo>
                    <a:pt x="173593" y="138232"/>
                  </a:lnTo>
                  <a:lnTo>
                    <a:pt x="145137" y="109776"/>
                  </a:lnTo>
                  <a:lnTo>
                    <a:pt x="145137" y="50006"/>
                  </a:lnTo>
                  <a:lnTo>
                    <a:pt x="111800" y="50006"/>
                  </a:lnTo>
                  <a:close/>
                </a:path>
              </a:pathLst>
            </a:custGeom>
            <a:solidFill>
              <a:srgbClr val="F07035"/>
            </a:solidFill>
            <a:ln>
              <a:noFill/>
            </a:ln>
          </p:spPr>
        </p:sp>
        <p:sp>
          <p:nvSpPr>
            <p:cNvPr id="41" name="Freeform 41"/>
            <p:cNvSpPr/>
            <p:nvPr/>
          </p:nvSpPr>
          <p:spPr>
            <a:xfrm>
              <a:off x="10392488" y="4839415"/>
              <a:ext cx="65245" cy="65245"/>
            </a:xfrm>
            <a:custGeom>
              <a:avLst/>
              <a:gdLst/>
              <a:ahLst/>
              <a:cxnLst/>
              <a:rect l="l" t="t" r="r" b="b"/>
              <a:pathLst>
                <a:path w="65245" h="65245">
                  <a:moveTo>
                    <a:pt x="41672" y="65245"/>
                  </a:moveTo>
                  <a:lnTo>
                    <a:pt x="0" y="23573"/>
                  </a:lnTo>
                  <a:lnTo>
                    <a:pt x="23573" y="0"/>
                  </a:lnTo>
                  <a:lnTo>
                    <a:pt x="65245" y="41672"/>
                  </a:lnTo>
                  <a:lnTo>
                    <a:pt x="41672" y="65245"/>
                  </a:lnTo>
                  <a:close/>
                </a:path>
              </a:pathLst>
            </a:custGeom>
            <a:solidFill>
              <a:srgbClr val="F07035"/>
            </a:solidFill>
            <a:ln>
              <a:noFill/>
            </a:ln>
          </p:spPr>
        </p:sp>
      </p:grpSp>
      <p:sp>
        <p:nvSpPr>
          <p:cNvPr id="43" name="TextBox 43"/>
          <p:cNvSpPr txBox="1"/>
          <p:nvPr/>
        </p:nvSpPr>
        <p:spPr>
          <a:xfrm>
            <a:off x="775049" y="5051108"/>
            <a:ext cx="2012252" cy="640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3150" b="1" dirty="0">
                <a:solidFill>
                  <a:srgbClr val="18366B"/>
                </a:solidFill>
                <a:latin typeface="Microsoft YaHei"/>
                <a:ea typeface="Microsoft YaHei"/>
                <a:cs typeface="Microsoft YaHei"/>
              </a:rPr>
              <a:t>安全钻井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2927699" y="5051108"/>
            <a:ext cx="2012252" cy="640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3150" b="1" dirty="0">
                <a:solidFill>
                  <a:srgbClr val="18366B"/>
                </a:solidFill>
                <a:latin typeface="Microsoft YaHei"/>
                <a:ea typeface="Microsoft YaHei"/>
                <a:cs typeface="Microsoft YaHei"/>
              </a:rPr>
              <a:t>井筒完整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5080349" y="5051108"/>
            <a:ext cx="2012252" cy="640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3150" b="1" dirty="0">
                <a:solidFill>
                  <a:srgbClr val="18366B"/>
                </a:solidFill>
                <a:latin typeface="Microsoft YaHei"/>
                <a:ea typeface="Microsoft YaHei"/>
                <a:cs typeface="Microsoft YaHei"/>
              </a:rPr>
              <a:t>储层保护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7232999" y="5051108"/>
            <a:ext cx="2012252" cy="640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3150" b="1" dirty="0">
                <a:solidFill>
                  <a:srgbClr val="18366B"/>
                </a:solidFill>
                <a:latin typeface="Microsoft YaHei"/>
                <a:ea typeface="Microsoft YaHei"/>
                <a:cs typeface="Microsoft YaHei"/>
              </a:rPr>
              <a:t>高效防砂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9385649" y="5051108"/>
            <a:ext cx="2012252" cy="640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3150" b="1" dirty="0">
                <a:solidFill>
                  <a:srgbClr val="18366B"/>
                </a:solidFill>
                <a:latin typeface="Microsoft YaHei"/>
                <a:ea typeface="Microsoft YaHei"/>
                <a:cs typeface="Microsoft YaHei"/>
              </a:rPr>
              <a:t>智能完井</a:t>
            </a:r>
          </a:p>
        </p:txBody>
      </p:sp>
      <p:sp>
        <p:nvSpPr>
          <p:cNvPr id="48" name="Freeform 48"/>
          <p:cNvSpPr/>
          <p:nvPr/>
        </p:nvSpPr>
        <p:spPr>
          <a:xfrm>
            <a:off x="8877300" y="5334000"/>
            <a:ext cx="2781300" cy="914400"/>
          </a:xfrm>
          <a:custGeom>
            <a:avLst/>
            <a:gdLst/>
            <a:ahLst/>
            <a:cxnLst/>
            <a:rect l="l" t="t" r="r" b="b"/>
            <a:pathLst>
              <a:path w="2781300" h="914400">
                <a:moveTo>
                  <a:pt x="95250" y="0"/>
                </a:moveTo>
                <a:lnTo>
                  <a:pt x="2686050" y="0"/>
                </a:lnTo>
                <a:cubicBezTo>
                  <a:pt x="2738655" y="0"/>
                  <a:pt x="2781300" y="42645"/>
                  <a:pt x="2781300" y="95250"/>
                </a:cubicBezTo>
                <a:lnTo>
                  <a:pt x="2781300" y="819150"/>
                </a:lnTo>
                <a:cubicBezTo>
                  <a:pt x="2781300" y="871755"/>
                  <a:pt x="2738655" y="914400"/>
                  <a:pt x="2686050" y="914400"/>
                </a:cubicBezTo>
                <a:lnTo>
                  <a:pt x="95250" y="914400"/>
                </a:lnTo>
                <a:cubicBezTo>
                  <a:pt x="42645" y="914400"/>
                  <a:pt x="0" y="871755"/>
                  <a:pt x="0" y="81915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FFFFFF">
              <a:alpha val="90000"/>
            </a:srgbClr>
          </a:solidFill>
          <a:ln w="9525">
            <a:solidFill>
              <a:srgbClr val="C9D9ED"/>
            </a:solidFill>
          </a:ln>
        </p:spPr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38" y="0"/>
            <a:ext cx="12049125" cy="6858000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4701159" y="2807970"/>
            <a:ext cx="2789682" cy="1706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40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谢谢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4535805" y="4250055"/>
            <a:ext cx="3120390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100" dirty="0">
                <a:solidFill>
                  <a:srgbClr val="EAF2F9"/>
                </a:solidFill>
                <a:latin typeface="Microsoft YaHei"/>
                <a:ea typeface="Microsoft YaHei"/>
                <a:cs typeface="Microsoft YaHei"/>
              </a:rPr>
              <a:t>平台治理与应用运营组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1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5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
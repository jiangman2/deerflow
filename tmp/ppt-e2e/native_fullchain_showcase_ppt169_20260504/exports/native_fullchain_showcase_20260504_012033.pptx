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讲述重点：围绕该页核心结论展开，先结论后证据。</a:t>
            </a:r>
          </a:p>
          <a:p>
            <a:r>
              <a:rPr lang="zh-CN" dirty="0"/>
              <a:t>• 建议时长：45-70秒。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941364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 AI 智能运营中台建设蓝图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从治理、架构、场景到成效的全链路落地方案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PROJECT ID: AIOPS-2026-04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35378" y="6268402"/>
            <a:ext cx="23269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汇报单位：企业数智化推进办公室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5334000" cy="1238250"/>
            <a:chOff x="571500" y="1143000"/>
            <a:chExt cx="5334000" cy="1238250"/>
          </a:xfrm>
        </p:grpSpPr>
        <p:sp>
          <p:nvSpPr>
            <p:cNvPr id="8" name="Freeform 8"/>
            <p:cNvSpPr/>
            <p:nvPr/>
          </p:nvSpPr>
          <p:spPr>
            <a:xfrm>
              <a:off x="571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1540" y="1148715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450" y="14573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战略目标与价值锚点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1165" y="179165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业务目标、价值闭环、里程碑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286500" y="1143000"/>
            <a:ext cx="5334000" cy="1238250"/>
            <a:chOff x="6286500" y="1143000"/>
            <a:chExt cx="5334000" cy="1238250"/>
          </a:xfrm>
        </p:grpSpPr>
        <p:sp>
          <p:nvSpPr>
            <p:cNvPr id="14" name="Freeform 14"/>
            <p:cNvSpPr/>
            <p:nvPr/>
          </p:nvSpPr>
          <p:spPr>
            <a:xfrm>
              <a:off x="6286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6540" y="11487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0450" y="14573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平台架构与能力中台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6165" y="17916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数据、模型、工具链、治理体系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5334000" cy="1238250"/>
            <a:chOff x="571500" y="2571750"/>
            <a:chExt cx="5334000" cy="1238250"/>
          </a:xfrm>
        </p:grpSpPr>
        <p:sp>
          <p:nvSpPr>
            <p:cNvPr id="20" name="Freeform 20"/>
            <p:cNvSpPr/>
            <p:nvPr/>
          </p:nvSpPr>
          <p:spPr>
            <a:xfrm>
              <a:off x="571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1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5450" y="288607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重点场景与实施路径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1165" y="32204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试点场景、推广节奏、组织协同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286500" y="2571750"/>
            <a:ext cx="5334000" cy="1238250"/>
            <a:chOff x="6286500" y="2571750"/>
            <a:chExt cx="53340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286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06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0450" y="2886075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成效评估与下一步计划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6165" y="32204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效率质量收益、风险与保障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429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71500" y="4000500"/>
            <a:ext cx="5334000" cy="1238250"/>
            <a:chOff x="571500" y="4000500"/>
            <a:chExt cx="5334000" cy="1238250"/>
          </a:xfrm>
        </p:grpSpPr>
        <p:sp>
          <p:nvSpPr>
            <p:cNvPr id="32" name="Freeform 32"/>
            <p:cNvSpPr/>
            <p:nvPr/>
          </p:nvSpPr>
          <p:spPr>
            <a:xfrm>
              <a:off x="571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4000500"/>
            <a:ext cx="5334000" cy="1238250"/>
            <a:chOff x="6286500" y="4000500"/>
            <a:chExt cx="5334000" cy="1238250"/>
          </a:xfrm>
        </p:grpSpPr>
        <p:sp>
          <p:nvSpPr>
            <p:cNvPr id="35" name="Freeform 35"/>
            <p:cNvSpPr/>
            <p:nvPr/>
          </p:nvSpPr>
          <p:spPr>
            <a:xfrm>
              <a:off x="6286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6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05975" y="63879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36775" y="63798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102620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战略目标与价值锚点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3762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回答为什么建、建成后业务价值在哪里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4749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结论：不先做统一中台，业务 AI 规模化无法成立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50029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结论：围绕效率、质量、成本、风险建立四维目标体系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620185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平台架构与能力中台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明确技术架构、能力分层与治理机制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6509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结论：数据底座 + 智能体编排 + 场景应用三层解耦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35537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结论：以场景优先级驱动能力建设节奏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37918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结论：采用季度化路线图 + 双周迭代评审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620185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重点场景与实施路径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展示业务场景落地与推广方法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39677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结论：从取数到结论输出实现端到端自动化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302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34812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结论：构建预警-研判-处置-复盘闭环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973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43818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结论：试点已验证价值，下一步进入规模化复制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Line 9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71475" y="6538912"/>
            <a:ext cx="14594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内部测算与样例数据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973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49641" y="34413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让智能体真正成为生产力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4191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876300"/>
                </a:lnTo>
                <a:cubicBezTo>
                  <a:pt x="3810000" y="918384"/>
                  <a:pt x="3775884" y="952500"/>
                  <a:pt x="373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160645" y="4537710"/>
            <a:ext cx="18707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企业数智化推进办公室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35392" y="4839652"/>
            <a:ext cx="17212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contact@enterprise.ai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838438" y="6387941"/>
            <a:ext cx="25151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 Enterprise AI Program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
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封面页：说明主题“受控模式模板检索增强验证”与汇报范围。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建设背景与目标。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内容页：现状痛点与建设必要性（布局=atlas_triplet，图表=bar_chart.svg），突出关键指标与执行建议。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内容页：目标体系与价值锚点（布局=milestone_dashboard，图表=line_chart.svg），突出关键指标与执行建议。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平台架构与关键能力。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内容页：总体架构与执行流程（布局=project_compare，图表=bar_chart.svg），突出关键指标与执行建议。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内容页：能力矩阵与场景覆盖（布局=dual_phase，图表=bar_chart.svg），突出关键指标与执行建议。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试点成效与推广计划。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895502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受控模式模板检索增强验证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109971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6958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29854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深水钻井与数据治理...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9723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① Deepwater Atlas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83380" y="1830705"/>
            <a:ext cx="28872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C7BC0"/>
                </a:solidFill>
                <a:latin typeface="Microsoft YaHei"/>
                <a:ea typeface="Microsoft YaHei"/>
                <a:cs typeface="Microsoft YaHei"/>
              </a:rPr>
              <a:t>② Deepwater Titan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8130" y="1830705"/>
            <a:ext cx="16152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4CB3E6"/>
                </a:solidFill>
                <a:latin typeface="Microsoft YaHei"/>
                <a:ea typeface="Microsoft YaHei"/>
                <a:cs typeface="Microsoft YaHei"/>
              </a:rPr>
              <a:t>③ 核心参数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195262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1" name="Line 11"/>
          <p:cNvSpPr/>
          <p:nvPr/>
        </p:nvSpPr>
        <p:spPr>
          <a:xfrm>
            <a:off x="6610350" y="195262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4CB3E6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143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5143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496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Atlas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230" y="287845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数据分散在多系统，查询链路长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33850" y="2247900"/>
            <a:ext cx="3524250" cy="1809750"/>
          </a:xfrm>
          <a:custGeom>
            <a:avLst/>
            <a:gdLst/>
            <a:ahLst/>
            <a:cxnLst/>
            <a:rect l="l" t="t" r="r" b="b"/>
            <a:pathLst>
              <a:path w="3524250" h="18097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1695450"/>
                </a:lnTo>
                <a:cubicBezTo>
                  <a:pt x="3524250" y="1758576"/>
                  <a:pt x="3473076" y="1809750"/>
                  <a:pt x="3409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4133850" y="2247900"/>
            <a:ext cx="3524250" cy="400050"/>
          </a:xfrm>
          <a:custGeom>
            <a:avLst/>
            <a:gdLst/>
            <a:ahLst/>
            <a:cxnLst/>
            <a:rect l="l" t="t" r="r" b="b"/>
            <a:pathLst>
              <a:path w="3524250" h="400050">
                <a:moveTo>
                  <a:pt x="114300" y="0"/>
                </a:moveTo>
                <a:lnTo>
                  <a:pt x="3409950" y="0"/>
                </a:lnTo>
                <a:cubicBezTo>
                  <a:pt x="3473076" y="0"/>
                  <a:pt x="3524250" y="51174"/>
                  <a:pt x="3524250" y="114300"/>
                </a:cubicBezTo>
                <a:lnTo>
                  <a:pt x="3524250" y="285750"/>
                </a:lnTo>
                <a:cubicBezTo>
                  <a:pt x="3524250" y="348876"/>
                  <a:pt x="3473076" y="400050"/>
                  <a:pt x="3409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469130" y="2306955"/>
            <a:ext cx="26135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Deepwater Titan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16730" y="287845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跨部门分析靠人工拼接，时效低</a:t>
            </a:r>
          </a:p>
        </p:txBody>
      </p:sp>
      <p:sp>
        <p:nvSpPr>
          <p:cNvPr id="20" name="Freeform 20"/>
          <p:cNvSpPr/>
          <p:nvPr/>
        </p:nvSpPr>
        <p:spPr>
          <a:xfrm>
            <a:off x="7753350" y="2247900"/>
            <a:ext cx="3905250" cy="1809750"/>
          </a:xfrm>
          <a:custGeom>
            <a:avLst/>
            <a:gdLst/>
            <a:ahLst/>
            <a:cxnLst/>
            <a:rect l="l" t="t" r="r" b="b"/>
            <a:pathLst>
              <a:path w="3905250" h="18097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1695450"/>
                </a:lnTo>
                <a:cubicBezTo>
                  <a:pt x="3905250" y="1758576"/>
                  <a:pt x="3854076" y="1809750"/>
                  <a:pt x="379095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5BB6E4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753350" y="2247900"/>
            <a:ext cx="3905250" cy="400050"/>
          </a:xfrm>
          <a:custGeom>
            <a:avLst/>
            <a:gdLst/>
            <a:ahLst/>
            <a:cxnLst/>
            <a:rect l="l" t="t" r="r" b="b"/>
            <a:pathLst>
              <a:path w="3905250" h="400050">
                <a:moveTo>
                  <a:pt x="114300" y="0"/>
                </a:moveTo>
                <a:lnTo>
                  <a:pt x="3790950" y="0"/>
                </a:lnTo>
                <a:cubicBezTo>
                  <a:pt x="3854076" y="0"/>
                  <a:pt x="3905250" y="51174"/>
                  <a:pt x="3905250" y="114300"/>
                </a:cubicBezTo>
                <a:lnTo>
                  <a:pt x="3905250" y="285750"/>
                </a:lnTo>
                <a:cubicBezTo>
                  <a:pt x="3905250" y="348876"/>
                  <a:pt x="3854076" y="400050"/>
                  <a:pt x="3790950" y="400050"/>
                </a:cubicBezTo>
                <a:lnTo>
                  <a:pt x="114300" y="400050"/>
                </a:lnTo>
                <a:cubicBezTo>
                  <a:pt x="51174" y="400050"/>
                  <a:pt x="0" y="348876"/>
                  <a:pt x="0" y="285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88630" y="23069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核心参数指标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6230" y="2878455"/>
            <a:ext cx="43012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· 成果复用不足，重复劳动较多</a:t>
            </a:r>
          </a:p>
        </p:txBody>
      </p:sp>
      <p:sp>
        <p:nvSpPr>
          <p:cNvPr id="24" name="Freeform 24"/>
          <p:cNvSpPr/>
          <p:nvPr/>
        </p:nvSpPr>
        <p:spPr>
          <a:xfrm>
            <a:off x="533400" y="4267200"/>
            <a:ext cx="11125200" cy="762000"/>
          </a:xfrm>
          <a:custGeom>
            <a:avLst/>
            <a:gdLst/>
            <a:ahLst/>
            <a:cxnLst/>
            <a:rect l="l" t="t" r="r" b="b"/>
            <a:pathLst>
              <a:path w="11125200" h="7620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666750"/>
                </a:lnTo>
                <a:cubicBezTo>
                  <a:pt x="11125200" y="719355"/>
                  <a:pt x="11082555" y="762000"/>
                  <a:pt x="110299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2C7BC0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11220450" y="43624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248841" y="67866"/>
                </a:moveTo>
                <a:cubicBezTo>
                  <a:pt x="248841" y="97415"/>
                  <a:pt x="229956" y="122553"/>
                  <a:pt x="203597" y="131869"/>
                </a:cubicBezTo>
                <a:lnTo>
                  <a:pt x="203597" y="314829"/>
                </a:lnTo>
                <a:cubicBezTo>
                  <a:pt x="260434" y="305294"/>
                  <a:pt x="305294" y="260434"/>
                  <a:pt x="314829" y="203597"/>
                </a:cubicBezTo>
                <a:lnTo>
                  <a:pt x="271462" y="203597"/>
                </a:lnTo>
                <a:lnTo>
                  <a:pt x="271462" y="158353"/>
                </a:lnTo>
                <a:lnTo>
                  <a:pt x="361950" y="158353"/>
                </a:lnTo>
                <a:lnTo>
                  <a:pt x="361950" y="180975"/>
                </a:lnTo>
                <a:cubicBezTo>
                  <a:pt x="361950" y="280925"/>
                  <a:pt x="280925" y="361950"/>
                  <a:pt x="180975" y="361950"/>
                </a:cubicBezTo>
                <a:cubicBezTo>
                  <a:pt x="81025" y="361950"/>
                  <a:pt x="0" y="280925"/>
                  <a:pt x="0" y="180975"/>
                </a:cubicBezTo>
                <a:lnTo>
                  <a:pt x="0" y="158353"/>
                </a:lnTo>
                <a:lnTo>
                  <a:pt x="90488" y="158353"/>
                </a:lnTo>
                <a:lnTo>
                  <a:pt x="90488" y="203597"/>
                </a:lnTo>
                <a:lnTo>
                  <a:pt x="47120" y="203597"/>
                </a:lnTo>
                <a:cubicBezTo>
                  <a:pt x="56656" y="260434"/>
                  <a:pt x="101515" y="305294"/>
                  <a:pt x="158353" y="314829"/>
                </a:cubicBezTo>
                <a:lnTo>
                  <a:pt x="158353" y="131869"/>
                </a:lnTo>
                <a:cubicBezTo>
                  <a:pt x="131994" y="122553"/>
                  <a:pt x="113109" y="97415"/>
                  <a:pt x="113109" y="67866"/>
                </a:cubicBezTo>
                <a:cubicBezTo>
                  <a:pt x="113109" y="30385"/>
                  <a:pt x="143494" y="0"/>
                  <a:pt x="180975" y="0"/>
                </a:cubicBezTo>
                <a:cubicBezTo>
                  <a:pt x="218456" y="0"/>
                  <a:pt x="248841" y="30385"/>
                  <a:pt x="248841" y="67866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19175" y="4462462"/>
            <a:ext cx="1658635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深水钻井与数据治理 当前存在口径不统一、协同成本高、结论沉淀慢等问题，需要统一的企业级智能体平台支撑。</a:t>
            </a:r>
          </a:p>
        </p:txBody>
      </p:sp>
      <p:sp>
        <p:nvSpPr>
          <p:cNvPr id="27" name="Freeform 27"/>
          <p:cNvSpPr/>
          <p:nvPr/>
        </p:nvSpPr>
        <p:spPr>
          <a:xfrm>
            <a:off x="53340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4248150" y="516255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933450"/>
                </a:lnTo>
                <a:cubicBezTo>
                  <a:pt x="3429000" y="986055"/>
                  <a:pt x="3386355" y="1028700"/>
                  <a:pt x="33337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7962900" y="5162550"/>
            <a:ext cx="3695700" cy="1028700"/>
          </a:xfrm>
          <a:custGeom>
            <a:avLst/>
            <a:gdLst/>
            <a:ahLst/>
            <a:cxnLst/>
            <a:rect l="l" t="t" r="r" b="b"/>
            <a:pathLst>
              <a:path w="3695700" h="1028700">
                <a:moveTo>
                  <a:pt x="95250" y="0"/>
                </a:moveTo>
                <a:lnTo>
                  <a:pt x="3600450" y="0"/>
                </a:lnTo>
                <a:cubicBezTo>
                  <a:pt x="3653055" y="0"/>
                  <a:pt x="3695700" y="42645"/>
                  <a:pt x="3695700" y="95250"/>
                </a:cubicBezTo>
                <a:lnTo>
                  <a:pt x="3695700" y="933450"/>
                </a:lnTo>
                <a:cubicBezTo>
                  <a:pt x="3695700" y="986055"/>
                  <a:pt x="3653055" y="1028700"/>
                  <a:pt x="3600450" y="1028700"/>
                </a:cubicBezTo>
                <a:lnTo>
                  <a:pt x="95250" y="1028700"/>
                </a:lnTo>
                <a:cubicBezTo>
                  <a:pt x="42645" y="1028700"/>
                  <a:pt x="0" y="986055"/>
                  <a:pt x="0" y="9334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621429" y="5172075"/>
            <a:ext cx="125294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91136" y="5172075"/>
            <a:ext cx="1943029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$60万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29009" y="5172075"/>
            <a:ext cx="156348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22项</a:t>
            </a:r>
          </a:p>
        </p:txBody>
      </p:sp>
      <p:sp>
        <p:nvSpPr>
          <p:cNvPr id="33" name="Freeform 33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目标体系与价值锚点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982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4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21030" y="1630680"/>
            <a:ext cx="6799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中国深水钻井 — 跨越式发展</a:t>
            </a:r>
          </a:p>
        </p:txBody>
      </p:sp>
      <p:sp>
        <p:nvSpPr>
          <p:cNvPr id="8" name="Freeform 8"/>
          <p:cNvSpPr/>
          <p:nvPr/>
        </p:nvSpPr>
        <p:spPr>
          <a:xfrm>
            <a:off x="5334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33528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172200" y="2266950"/>
            <a:ext cx="2628900" cy="1143000"/>
          </a:xfrm>
          <a:custGeom>
            <a:avLst/>
            <a:gdLst/>
            <a:ahLst/>
            <a:cxnLst/>
            <a:rect l="l" t="t" r="r" b="b"/>
            <a:pathLst>
              <a:path w="2628900" h="1143000">
                <a:moveTo>
                  <a:pt x="171450" y="0"/>
                </a:moveTo>
                <a:lnTo>
                  <a:pt x="2457450" y="0"/>
                </a:lnTo>
                <a:cubicBezTo>
                  <a:pt x="2552139" y="0"/>
                  <a:pt x="2628900" y="76761"/>
                  <a:pt x="2628900" y="171450"/>
                </a:cubicBezTo>
                <a:lnTo>
                  <a:pt x="2628900" y="971550"/>
                </a:lnTo>
                <a:cubicBezTo>
                  <a:pt x="2628900" y="1066239"/>
                  <a:pt x="2552139" y="1143000"/>
                  <a:pt x="24574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8991600" y="22669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71450" y="0"/>
                </a:moveTo>
                <a:lnTo>
                  <a:pt x="2495550" y="0"/>
                </a:lnTo>
                <a:cubicBezTo>
                  <a:pt x="2590239" y="0"/>
                  <a:pt x="2667000" y="76761"/>
                  <a:pt x="2667000" y="171450"/>
                </a:cubicBezTo>
                <a:lnTo>
                  <a:pt x="2667000" y="971550"/>
                </a:lnTo>
                <a:cubicBezTo>
                  <a:pt x="2667000" y="1066239"/>
                  <a:pt x="2590239" y="1143000"/>
                  <a:pt x="2495550" y="1143000"/>
                </a:cubicBezTo>
                <a:lnTo>
                  <a:pt x="171450" y="1143000"/>
                </a:lnTo>
                <a:cubicBezTo>
                  <a:pt x="76761" y="1143000"/>
                  <a:pt x="0" y="1066239"/>
                  <a:pt x="0" y="971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5458" y="2345055"/>
            <a:ext cx="2084784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1000+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42172" y="2345055"/>
            <a:ext cx="1850155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60%+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74412" y="2345055"/>
            <a:ext cx="1224477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52402" y="2296478"/>
            <a:ext cx="3545395" cy="1127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世界先进</a:t>
            </a:r>
          </a:p>
        </p:txBody>
      </p:sp>
      <p:sp>
        <p:nvSpPr>
          <p:cNvPr id="16" name="Freeform 16"/>
          <p:cNvSpPr/>
          <p:nvPr/>
        </p:nvSpPr>
        <p:spPr>
          <a:xfrm>
            <a:off x="533400" y="3638550"/>
            <a:ext cx="5448300" cy="2476500"/>
          </a:xfrm>
          <a:custGeom>
            <a:avLst/>
            <a:gdLst/>
            <a:ahLst/>
            <a:cxnLst/>
            <a:rect l="l" t="t" r="r" b="b"/>
            <a:pathLst>
              <a:path w="5448300" h="24765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2362200"/>
                </a:lnTo>
                <a:cubicBezTo>
                  <a:pt x="5448300" y="2425326"/>
                  <a:pt x="5397126" y="2476500"/>
                  <a:pt x="53340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115050" y="3638550"/>
            <a:ext cx="5543550" cy="2476500"/>
          </a:xfrm>
          <a:custGeom>
            <a:avLst/>
            <a:gdLst/>
            <a:ahLst/>
            <a:cxnLst/>
            <a:rect l="l" t="t" r="r" b="b"/>
            <a:pathLst>
              <a:path w="5543550" h="24765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2362200"/>
                </a:lnTo>
                <a:cubicBezTo>
                  <a:pt x="5543550" y="2425326"/>
                  <a:pt x="5492376" y="2476500"/>
                  <a:pt x="542925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738188" y="381000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116681" y="116681"/>
                </a:moveTo>
                <a:lnTo>
                  <a:pt x="133350" y="0"/>
                </a:lnTo>
                <a:lnTo>
                  <a:pt x="100012" y="0"/>
                </a:lnTo>
                <a:lnTo>
                  <a:pt x="0" y="116681"/>
                </a:lnTo>
                <a:lnTo>
                  <a:pt x="0" y="150019"/>
                </a:lnTo>
                <a:lnTo>
                  <a:pt x="83344" y="150019"/>
                </a:lnTo>
                <a:lnTo>
                  <a:pt x="66675" y="266700"/>
                </a:lnTo>
                <a:lnTo>
                  <a:pt x="100012" y="266700"/>
                </a:lnTo>
                <a:lnTo>
                  <a:pt x="200025" y="150019"/>
                </a:lnTo>
                <a:lnTo>
                  <a:pt x="200025" y="116681"/>
                </a:lnTo>
                <a:lnTo>
                  <a:pt x="116681" y="116681"/>
                </a:ln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6680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关键指标创历史最好水平</a:t>
            </a:r>
          </a:p>
        </p:txBody>
      </p:sp>
      <p:sp>
        <p:nvSpPr>
          <p:cNvPr id="20" name="Freeform 20"/>
          <p:cNvSpPr/>
          <p:nvPr/>
        </p:nvSpPr>
        <p:spPr>
          <a:xfrm>
            <a:off x="6286500" y="3810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83356" y="50006"/>
                </a:moveTo>
                <a:cubicBezTo>
                  <a:pt x="183356" y="71779"/>
                  <a:pt x="169441" y="90302"/>
                  <a:pt x="150019" y="97167"/>
                </a:cubicBezTo>
                <a:lnTo>
                  <a:pt x="150019" y="231979"/>
                </a:lnTo>
                <a:cubicBezTo>
                  <a:pt x="191899" y="224953"/>
                  <a:pt x="224953" y="191899"/>
                  <a:pt x="231979" y="150019"/>
                </a:cubicBezTo>
                <a:lnTo>
                  <a:pt x="200025" y="150019"/>
                </a:lnTo>
                <a:lnTo>
                  <a:pt x="200025" y="116681"/>
                </a:lnTo>
                <a:lnTo>
                  <a:pt x="266700" y="116681"/>
                </a:lnTo>
                <a:lnTo>
                  <a:pt x="266700" y="133350"/>
                </a:ln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lnTo>
                  <a:pt x="0" y="116681"/>
                </a:lnTo>
                <a:lnTo>
                  <a:pt x="66675" y="116681"/>
                </a:lnTo>
                <a:lnTo>
                  <a:pt x="66675" y="150019"/>
                </a:lnTo>
                <a:lnTo>
                  <a:pt x="34720" y="150019"/>
                </a:lnTo>
                <a:cubicBezTo>
                  <a:pt x="41747" y="191899"/>
                  <a:pt x="74801" y="224953"/>
                  <a:pt x="116681" y="231979"/>
                </a:cubicBezTo>
                <a:lnTo>
                  <a:pt x="116681" y="97167"/>
                </a:lnTo>
                <a:cubicBezTo>
                  <a:pt x="97259" y="90302"/>
                  <a:pt x="83344" y="71779"/>
                  <a:pt x="83344" y="50006"/>
                </a:cubicBezTo>
                <a:cubicBezTo>
                  <a:pt x="83344" y="22389"/>
                  <a:pt x="105732" y="0"/>
                  <a:pt x="133350" y="0"/>
                </a:cubicBezTo>
                <a:cubicBezTo>
                  <a:pt x="160968" y="0"/>
                  <a:pt x="183356" y="22389"/>
                  <a:pt x="183356" y="50006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48450" y="36957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深水优智钻完井技术体系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0575" y="4348162"/>
            <a:ext cx="559427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效率：报告编制与协同时间显著下降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0575" y="4862512"/>
            <a:ext cx="49370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质量：口径一致与追溯能力增强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72225" y="4348162"/>
            <a:ext cx="49370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管理：实现过程可视与责任闭环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72225" y="4862512"/>
            <a:ext cx="1216652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围绕降本、提质、增效、控险建立四维目标体系，确保建设投入可衡量、可评估。</a:t>
            </a:r>
          </a:p>
        </p:txBody>
      </p:sp>
      <p:sp>
        <p:nvSpPr>
          <p:cNvPr id="26" name="Freeform 26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总体架构与执行流程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9152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753100" cy="2495550"/>
          </a:xfrm>
          <a:custGeom>
            <a:avLst/>
            <a:gdLst/>
            <a:ahLst/>
            <a:cxnLst/>
            <a:rect l="l" t="t" r="r" b="b"/>
            <a:pathLst>
              <a:path w="5753100" h="2495550">
                <a:moveTo>
                  <a:pt x="114300" y="0"/>
                </a:moveTo>
                <a:lnTo>
                  <a:pt x="5638800" y="0"/>
                </a:lnTo>
                <a:cubicBezTo>
                  <a:pt x="5701926" y="0"/>
                  <a:pt x="5753100" y="51174"/>
                  <a:pt x="5753100" y="114300"/>
                </a:cubicBezTo>
                <a:lnTo>
                  <a:pt x="5753100" y="2381250"/>
                </a:lnTo>
                <a:cubicBezTo>
                  <a:pt x="5753100" y="2444376"/>
                  <a:pt x="5701926" y="2495550"/>
                  <a:pt x="5638800" y="2495550"/>
                </a:cubicBezTo>
                <a:lnTo>
                  <a:pt x="114300" y="2495550"/>
                </a:lnTo>
                <a:cubicBezTo>
                  <a:pt x="51174" y="2495550"/>
                  <a:pt x="0" y="2444376"/>
                  <a:pt x="0" y="23812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33400" y="1733550"/>
            <a:ext cx="5753100" cy="114300"/>
          </a:xfrm>
          <a:custGeom>
            <a:avLst/>
            <a:gdLst/>
            <a:ahLst/>
            <a:cxnLst/>
            <a:rect l="l" t="t" r="r" b="b"/>
            <a:pathLst>
              <a:path w="5753100" h="114300">
                <a:moveTo>
                  <a:pt x="114300" y="0"/>
                </a:moveTo>
                <a:lnTo>
                  <a:pt x="5638800" y="0"/>
                </a:lnTo>
                <a:cubicBezTo>
                  <a:pt x="5701926" y="0"/>
                  <a:pt x="5753100" y="25587"/>
                  <a:pt x="5753100" y="57150"/>
                </a:cubicBezTo>
                <a:lnTo>
                  <a:pt x="5753100" y="57150"/>
                </a:lnTo>
                <a:cubicBezTo>
                  <a:pt x="5753100" y="88713"/>
                  <a:pt x="5701926" y="114300"/>
                  <a:pt x="5638800" y="114300"/>
                </a:cubicBezTo>
                <a:lnTo>
                  <a:pt x="114300" y="114300"/>
                </a:lnTo>
                <a:cubicBezTo>
                  <a:pt x="51174" y="114300"/>
                  <a:pt x="0" y="88713"/>
                  <a:pt x="0" y="57150"/>
                </a:cubicBezTo>
                <a:lnTo>
                  <a:pt x="0" y="57150"/>
                </a:lnTo>
                <a:cubicBezTo>
                  <a:pt x="0" y="25587"/>
                  <a:pt x="51174" y="0"/>
                  <a:pt x="114300" y="0"/>
                </a:cubicBezTo>
                <a:close/>
              </a:path>
            </a:pathLst>
          </a:custGeom>
          <a:solidFill>
            <a:srgbClr val="DE7B30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62000" y="2019300"/>
            <a:ext cx="304800" cy="304800"/>
            <a:chOff x="762000" y="2019300"/>
            <a:chExt cx="304800" cy="304800"/>
          </a:xfrm>
        </p:grpSpPr>
        <p:sp>
          <p:nvSpPr>
            <p:cNvPr id="9" name="Freeform 9"/>
            <p:cNvSpPr/>
            <p:nvPr/>
          </p:nvSpPr>
          <p:spPr>
            <a:xfrm>
              <a:off x="800100" y="2019300"/>
              <a:ext cx="266700" cy="133350"/>
            </a:xfrm>
            <a:custGeom>
              <a:avLst/>
              <a:gdLst/>
              <a:ahLst/>
              <a:cxnLst/>
              <a:rect l="l" t="t" r="r" b="b"/>
              <a:pathLst>
                <a:path w="266700" h="133350">
                  <a:moveTo>
                    <a:pt x="152400" y="133350"/>
                  </a:moveTo>
                  <a:lnTo>
                    <a:pt x="133350" y="114300"/>
                  </a:lnTo>
                  <a:lnTo>
                    <a:pt x="177030" y="70620"/>
                  </a:lnTo>
                  <a:lnTo>
                    <a:pt x="165870" y="59461"/>
                  </a:lnTo>
                  <a:cubicBezTo>
                    <a:pt x="152193" y="45784"/>
                    <a:pt x="133643" y="38100"/>
                    <a:pt x="114300" y="38100"/>
                  </a:cubicBezTo>
                  <a:cubicBezTo>
                    <a:pt x="94957" y="38100"/>
                    <a:pt x="76407" y="45784"/>
                    <a:pt x="62730" y="59461"/>
                  </a:cubicBezTo>
                  <a:lnTo>
                    <a:pt x="61095" y="61095"/>
                  </a:lnTo>
                  <a:cubicBezTo>
                    <a:pt x="46372" y="75819"/>
                    <a:pt x="38100" y="95789"/>
                    <a:pt x="38100" y="116611"/>
                  </a:cubicBezTo>
                  <a:lnTo>
                    <a:pt x="38100" y="133350"/>
                  </a:lnTo>
                  <a:lnTo>
                    <a:pt x="0" y="133350"/>
                  </a:lnTo>
                  <a:lnTo>
                    <a:pt x="0" y="116611"/>
                  </a:lnTo>
                  <a:cubicBezTo>
                    <a:pt x="0" y="85684"/>
                    <a:pt x="12286" y="56023"/>
                    <a:pt x="34155" y="34155"/>
                  </a:cubicBezTo>
                  <a:lnTo>
                    <a:pt x="35789" y="32520"/>
                  </a:lnTo>
                  <a:cubicBezTo>
                    <a:pt x="56611" y="11698"/>
                    <a:pt x="84853" y="0"/>
                    <a:pt x="114300" y="0"/>
                  </a:cubicBezTo>
                  <a:cubicBezTo>
                    <a:pt x="143747" y="0"/>
                    <a:pt x="171989" y="11698"/>
                    <a:pt x="192811" y="32520"/>
                  </a:cubicBezTo>
                  <a:lnTo>
                    <a:pt x="203970" y="43680"/>
                  </a:lnTo>
                  <a:lnTo>
                    <a:pt x="247650" y="0"/>
                  </a:lnTo>
                  <a:lnTo>
                    <a:pt x="266700" y="19050"/>
                  </a:lnTo>
                  <a:lnTo>
                    <a:pt x="26670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62000" y="2190750"/>
              <a:ext cx="266700" cy="133350"/>
            </a:xfrm>
            <a:custGeom>
              <a:avLst/>
              <a:gdLst/>
              <a:ahLst/>
              <a:cxnLst/>
              <a:rect l="l" t="t" r="r" b="b"/>
              <a:pathLst>
                <a:path w="266700" h="133350">
                  <a:moveTo>
                    <a:pt x="100830" y="73889"/>
                  </a:moveTo>
                  <a:cubicBezTo>
                    <a:pt x="114507" y="87565"/>
                    <a:pt x="133057" y="95250"/>
                    <a:pt x="152400" y="95250"/>
                  </a:cubicBezTo>
                  <a:cubicBezTo>
                    <a:pt x="171743" y="95250"/>
                    <a:pt x="190293" y="87567"/>
                    <a:pt x="203970" y="73889"/>
                  </a:cubicBezTo>
                  <a:lnTo>
                    <a:pt x="205605" y="72255"/>
                  </a:lnTo>
                  <a:cubicBezTo>
                    <a:pt x="220328" y="57531"/>
                    <a:pt x="228600" y="37561"/>
                    <a:pt x="228600" y="16739"/>
                  </a:cubicBezTo>
                  <a:lnTo>
                    <a:pt x="228600" y="0"/>
                  </a:lnTo>
                  <a:lnTo>
                    <a:pt x="266700" y="0"/>
                  </a:lnTo>
                  <a:lnTo>
                    <a:pt x="266700" y="16739"/>
                  </a:lnTo>
                  <a:cubicBezTo>
                    <a:pt x="266700" y="47667"/>
                    <a:pt x="254415" y="77326"/>
                    <a:pt x="232545" y="99195"/>
                  </a:cubicBezTo>
                  <a:lnTo>
                    <a:pt x="230911" y="100830"/>
                  </a:lnTo>
                  <a:cubicBezTo>
                    <a:pt x="210089" y="121651"/>
                    <a:pt x="181847" y="133350"/>
                    <a:pt x="152400" y="133350"/>
                  </a:cubicBezTo>
                  <a:cubicBezTo>
                    <a:pt x="122953" y="133350"/>
                    <a:pt x="94711" y="121651"/>
                    <a:pt x="73889" y="100830"/>
                  </a:cubicBezTo>
                  <a:lnTo>
                    <a:pt x="62730" y="89670"/>
                  </a:lnTo>
                  <a:lnTo>
                    <a:pt x="19050" y="133350"/>
                  </a:lnTo>
                  <a:lnTo>
                    <a:pt x="0" y="114300"/>
                  </a:lnTo>
                  <a:lnTo>
                    <a:pt x="0" y="0"/>
                  </a:lnTo>
                  <a:lnTo>
                    <a:pt x="114300" y="0"/>
                  </a:lnTo>
                  <a:lnTo>
                    <a:pt x="133350" y="19050"/>
                  </a:lnTo>
                  <a:lnTo>
                    <a:pt x="89670" y="62730"/>
                  </a:lnTo>
                  <a:lnTo>
                    <a:pt x="100830" y="73889"/>
                  </a:lnTo>
                  <a:close/>
                </a:path>
              </a:pathLst>
            </a:custGeom>
            <a:solidFill>
              <a:srgbClr val="69C0EA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96340" y="1929765"/>
            <a:ext cx="501793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Chevron Anchor 项目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7230" y="2668905"/>
            <a:ext cx="46079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· 统一接入结构化与非结构化数据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86550" y="17335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75145" y="1745932"/>
            <a:ext cx="368355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3D74B8"/>
                </a:solidFill>
                <a:latin typeface="Arial"/>
                <a:ea typeface="Microsoft YaHei"/>
                <a:cs typeface="Arial"/>
              </a:rPr>
              <a:t>20,000 psi</a:t>
            </a:r>
          </a:p>
        </p:txBody>
      </p:sp>
      <p:sp>
        <p:nvSpPr>
          <p:cNvPr id="16" name="Freeform 16"/>
          <p:cNvSpPr/>
          <p:nvPr/>
        </p:nvSpPr>
        <p:spPr>
          <a:xfrm>
            <a:off x="6686550" y="26479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BFF"/>
          </a:solidFill>
          <a:ln w="9525">
            <a:solidFill>
              <a:srgbClr val="5BB6E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75145" y="2660332"/>
            <a:ext cx="2471304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69C0EA"/>
                </a:solidFill>
                <a:latin typeface="Arial"/>
                <a:ea typeface="Microsoft YaHei"/>
                <a:cs typeface="Arial"/>
              </a:rPr>
              <a:t>75,000</a:t>
            </a:r>
          </a:p>
        </p:txBody>
      </p:sp>
      <p:sp>
        <p:nvSpPr>
          <p:cNvPr id="18" name="Freeform 18"/>
          <p:cNvSpPr/>
          <p:nvPr/>
        </p:nvSpPr>
        <p:spPr>
          <a:xfrm>
            <a:off x="6686550" y="3562350"/>
            <a:ext cx="4953000" cy="742950"/>
          </a:xfrm>
          <a:custGeom>
            <a:avLst/>
            <a:gdLst/>
            <a:ahLst/>
            <a:cxnLst/>
            <a:rect l="l" t="t" r="r" b="b"/>
            <a:pathLst>
              <a:path w="4953000" h="74295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628650"/>
                </a:lnTo>
                <a:cubicBezTo>
                  <a:pt x="4953000" y="691776"/>
                  <a:pt x="4901826" y="742950"/>
                  <a:pt x="4838700" y="742950"/>
                </a:cubicBezTo>
                <a:lnTo>
                  <a:pt x="114300" y="742950"/>
                </a:lnTo>
                <a:cubicBezTo>
                  <a:pt x="51174" y="742950"/>
                  <a:pt x="0" y="691776"/>
                  <a:pt x="0" y="6286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CFFFB"/>
          </a:solidFill>
          <a:ln w="9525">
            <a:solidFill>
              <a:srgbClr val="4A8E3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875145" y="3574732"/>
            <a:ext cx="200779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4A8E3B"/>
                </a:solidFill>
                <a:latin typeface="Arial"/>
                <a:ea typeface="Microsoft YaHei"/>
                <a:cs typeface="Arial"/>
              </a:rPr>
              <a:t>4.4亿</a:t>
            </a:r>
          </a:p>
        </p:txBody>
      </p:sp>
      <p:sp>
        <p:nvSpPr>
          <p:cNvPr id="20" name="Freeform 20"/>
          <p:cNvSpPr/>
          <p:nvPr/>
        </p:nvSpPr>
        <p:spPr>
          <a:xfrm>
            <a:off x="533400" y="4629150"/>
            <a:ext cx="11125200" cy="1581150"/>
          </a:xfrm>
          <a:custGeom>
            <a:avLst/>
            <a:gdLst/>
            <a:ahLst/>
            <a:cxnLst/>
            <a:rect l="l" t="t" r="r" b="b"/>
            <a:pathLst>
              <a:path w="11125200" h="15811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66850"/>
                </a:lnTo>
                <a:cubicBezTo>
                  <a:pt x="11125200" y="1529976"/>
                  <a:pt x="11074026" y="1581150"/>
                  <a:pt x="11010900" y="1581150"/>
                </a:cubicBezTo>
                <a:lnTo>
                  <a:pt x="114300" y="1581150"/>
                </a:lnTo>
                <a:cubicBezTo>
                  <a:pt x="51174" y="1581150"/>
                  <a:pt x="0" y="1529976"/>
                  <a:pt x="0" y="1466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620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44196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077200" y="4857750"/>
            <a:ext cx="3352800" cy="1200150"/>
          </a:xfrm>
          <a:custGeom>
            <a:avLst/>
            <a:gdLst/>
            <a:ahLst/>
            <a:cxnLst/>
            <a:rect l="l" t="t" r="r" b="b"/>
            <a:pathLst>
              <a:path w="3352800" h="1200150">
                <a:moveTo>
                  <a:pt x="95250" y="0"/>
                </a:moveTo>
                <a:lnTo>
                  <a:pt x="3257550" y="0"/>
                </a:lnTo>
                <a:cubicBezTo>
                  <a:pt x="3310155" y="0"/>
                  <a:pt x="3352800" y="42645"/>
                  <a:pt x="3352800" y="95250"/>
                </a:cubicBezTo>
                <a:lnTo>
                  <a:pt x="3352800" y="1104900"/>
                </a:lnTo>
                <a:cubicBezTo>
                  <a:pt x="3352800" y="1157505"/>
                  <a:pt x="3310155" y="1200150"/>
                  <a:pt x="3257550" y="1200150"/>
                </a:cubicBezTo>
                <a:lnTo>
                  <a:pt x="95250" y="1200150"/>
                </a:lnTo>
                <a:cubicBezTo>
                  <a:pt x="42645" y="1200150"/>
                  <a:pt x="0" y="1157505"/>
                  <a:pt x="0" y="11049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73455" y="5045392"/>
            <a:ext cx="262916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Shell Sparta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31055" y="5045392"/>
            <a:ext cx="225766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BP Kaskida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88655" y="504539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技术意义</a:t>
            </a:r>
          </a:p>
        </p:txBody>
      </p:sp>
      <p:sp>
        <p:nvSpPr>
          <p:cNvPr id="27" name="Freeform 27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能力矩阵与场景覆盖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7FBFF">
              <a:alpha val="96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33550"/>
            <a:ext cx="5543550" cy="2038350"/>
          </a:xfrm>
          <a:custGeom>
            <a:avLst/>
            <a:gdLst/>
            <a:ahLst/>
            <a:cxnLst/>
            <a:rect l="l" t="t" r="r" b="b"/>
            <a:pathLst>
              <a:path w="5543550" h="203835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1924050"/>
                </a:lnTo>
                <a:cubicBezTo>
                  <a:pt x="5543550" y="1987176"/>
                  <a:pt x="5492376" y="2038350"/>
                  <a:pt x="542925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210300" y="1733550"/>
            <a:ext cx="5448300" cy="2038350"/>
          </a:xfrm>
          <a:custGeom>
            <a:avLst/>
            <a:gdLst/>
            <a:ahLst/>
            <a:cxnLst/>
            <a:rect l="l" t="t" r="r" b="b"/>
            <a:pathLst>
              <a:path w="5448300" h="203835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1924050"/>
                </a:lnTo>
                <a:cubicBezTo>
                  <a:pt x="5448300" y="1987176"/>
                  <a:pt x="5397126" y="2038350"/>
                  <a:pt x="5334000" y="2038350"/>
                </a:cubicBezTo>
                <a:lnTo>
                  <a:pt x="114300" y="2038350"/>
                </a:lnTo>
                <a:cubicBezTo>
                  <a:pt x="51174" y="2038350"/>
                  <a:pt x="0" y="1987176"/>
                  <a:pt x="0" y="19240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533400" y="1733550"/>
            <a:ext cx="5543550" cy="495300"/>
          </a:xfrm>
          <a:custGeom>
            <a:avLst/>
            <a:gdLst/>
            <a:ahLst/>
            <a:cxnLst/>
            <a:rect l="l" t="t" r="r" b="b"/>
            <a:pathLst>
              <a:path w="5543550" h="495300">
                <a:moveTo>
                  <a:pt x="114300" y="0"/>
                </a:moveTo>
                <a:lnTo>
                  <a:pt x="5429250" y="0"/>
                </a:lnTo>
                <a:cubicBezTo>
                  <a:pt x="5492376" y="0"/>
                  <a:pt x="5543550" y="51174"/>
                  <a:pt x="5543550" y="114300"/>
                </a:cubicBezTo>
                <a:lnTo>
                  <a:pt x="5543550" y="381000"/>
                </a:lnTo>
                <a:cubicBezTo>
                  <a:pt x="5543550" y="444126"/>
                  <a:pt x="5492376" y="495300"/>
                  <a:pt x="54292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6210300" y="1733550"/>
            <a:ext cx="5448300" cy="495300"/>
          </a:xfrm>
          <a:custGeom>
            <a:avLst/>
            <a:gdLst/>
            <a:ahLst/>
            <a:cxnLst/>
            <a:rect l="l" t="t" r="r" b="b"/>
            <a:pathLst>
              <a:path w="5448300" h="495300">
                <a:moveTo>
                  <a:pt x="114300" y="0"/>
                </a:moveTo>
                <a:lnTo>
                  <a:pt x="5334000" y="0"/>
                </a:lnTo>
                <a:cubicBezTo>
                  <a:pt x="5397126" y="0"/>
                  <a:pt x="5448300" y="51174"/>
                  <a:pt x="5448300" y="114300"/>
                </a:cubicBezTo>
                <a:lnTo>
                  <a:pt x="5448300" y="381000"/>
                </a:lnTo>
                <a:cubicBezTo>
                  <a:pt x="5448300" y="444126"/>
                  <a:pt x="5397126" y="495300"/>
                  <a:pt x="53340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135" y="1723072"/>
            <a:ext cx="5457651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 — 自营超深水气田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76035" y="1723072"/>
            <a:ext cx="492858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二期 — 深水高压气田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457450" y="2400300"/>
            <a:ext cx="1600200" cy="685800"/>
          </a:xfrm>
          <a:custGeom>
            <a:avLst/>
            <a:gdLst/>
            <a:ahLst/>
            <a:cxnLst/>
            <a:rect l="l" t="t" r="r" b="b"/>
            <a:pathLst>
              <a:path w="1600200" h="685800">
                <a:moveTo>
                  <a:pt x="114300" y="0"/>
                </a:moveTo>
                <a:lnTo>
                  <a:pt x="1485900" y="0"/>
                </a:lnTo>
                <a:cubicBezTo>
                  <a:pt x="1549026" y="0"/>
                  <a:pt x="1600200" y="51174"/>
                  <a:pt x="1600200" y="114300"/>
                </a:cubicBezTo>
                <a:lnTo>
                  <a:pt x="1600200" y="571500"/>
                </a:lnTo>
                <a:cubicBezTo>
                  <a:pt x="1600200" y="634626"/>
                  <a:pt x="1549026" y="685800"/>
                  <a:pt x="148590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171950" y="2400300"/>
            <a:ext cx="1695450" cy="685800"/>
          </a:xfrm>
          <a:custGeom>
            <a:avLst/>
            <a:gdLst/>
            <a:ahLst/>
            <a:cxnLst/>
            <a:rect l="l" t="t" r="r" b="b"/>
            <a:pathLst>
              <a:path w="1695450" h="685800">
                <a:moveTo>
                  <a:pt x="114300" y="0"/>
                </a:moveTo>
                <a:lnTo>
                  <a:pt x="1581150" y="0"/>
                </a:lnTo>
                <a:cubicBezTo>
                  <a:pt x="1644276" y="0"/>
                  <a:pt x="1695450" y="51174"/>
                  <a:pt x="1695450" y="114300"/>
                </a:cubicBezTo>
                <a:lnTo>
                  <a:pt x="1695450" y="571500"/>
                </a:lnTo>
                <a:cubicBezTo>
                  <a:pt x="1695450" y="634626"/>
                  <a:pt x="1644276" y="685800"/>
                  <a:pt x="1581150" y="685800"/>
                </a:cubicBezTo>
                <a:lnTo>
                  <a:pt x="114300" y="685800"/>
                </a:lnTo>
                <a:cubicBezTo>
                  <a:pt x="51174" y="685800"/>
                  <a:pt x="0" y="634626"/>
                  <a:pt x="0" y="571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BF5A2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2364" y="2439352"/>
            <a:ext cx="212137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1500+m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9229" y="2439352"/>
            <a:ext cx="227664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5000+m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82368" y="2439352"/>
            <a:ext cx="165556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138°C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198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8366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010650" y="2400300"/>
            <a:ext cx="2457450" cy="514350"/>
          </a:xfrm>
          <a:custGeom>
            <a:avLst/>
            <a:gdLst/>
            <a:ahLst/>
            <a:cxnLst/>
            <a:rect l="l" t="t" r="r" b="b"/>
            <a:pathLst>
              <a:path w="2457450" h="514350">
                <a:moveTo>
                  <a:pt x="95250" y="0"/>
                </a:moveTo>
                <a:lnTo>
                  <a:pt x="2362200" y="0"/>
                </a:lnTo>
                <a:cubicBezTo>
                  <a:pt x="2414805" y="0"/>
                  <a:pt x="2457450" y="42645"/>
                  <a:pt x="2457450" y="95250"/>
                </a:cubicBezTo>
                <a:lnTo>
                  <a:pt x="2457450" y="419100"/>
                </a:lnTo>
                <a:cubicBezTo>
                  <a:pt x="2457450" y="471705"/>
                  <a:pt x="2414805" y="514350"/>
                  <a:pt x="2362200" y="514350"/>
                </a:cubicBezTo>
                <a:lnTo>
                  <a:pt x="95250" y="514350"/>
                </a:lnTo>
                <a:cubicBezTo>
                  <a:pt x="42645" y="514350"/>
                  <a:pt x="0" y="471705"/>
                  <a:pt x="0" y="419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8E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36041" y="2357438"/>
            <a:ext cx="104411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1530" y="2357438"/>
            <a:ext cx="121664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533400" y="3981450"/>
            <a:ext cx="11125200" cy="2209800"/>
          </a:xfrm>
          <a:custGeom>
            <a:avLst/>
            <a:gdLst/>
            <a:ahLst/>
            <a:cxnLst/>
            <a:rect l="l" t="t" r="r" b="b"/>
            <a:pathLst>
              <a:path w="11125200" h="22098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2095500"/>
                </a:lnTo>
                <a:cubicBezTo>
                  <a:pt x="11125200" y="2158626"/>
                  <a:pt x="11074026" y="2209800"/>
                  <a:pt x="11010900" y="2209800"/>
                </a:cubicBezTo>
                <a:lnTo>
                  <a:pt x="114300" y="2209800"/>
                </a:lnTo>
                <a:cubicBezTo>
                  <a:pt x="51174" y="2209800"/>
                  <a:pt x="0" y="2158626"/>
                  <a:pt x="0" y="20955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8F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842004" y="3992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攻克核心技术难题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C7BC0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29337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3D74B8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50863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69C0E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723900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4A8E3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9391650" y="4648200"/>
            <a:ext cx="2000250" cy="1314450"/>
          </a:xfrm>
          <a:custGeom>
            <a:avLst/>
            <a:gdLst/>
            <a:ahLst/>
            <a:cxnLst/>
            <a:rect l="l" t="t" r="r" b="b"/>
            <a:pathLst>
              <a:path w="2000250" h="1314450">
                <a:moveTo>
                  <a:pt x="114300" y="0"/>
                </a:moveTo>
                <a:lnTo>
                  <a:pt x="1885950" y="0"/>
                </a:lnTo>
                <a:cubicBezTo>
                  <a:pt x="1949076" y="0"/>
                  <a:pt x="2000250" y="51174"/>
                  <a:pt x="2000250" y="114300"/>
                </a:cubicBezTo>
                <a:lnTo>
                  <a:pt x="2000250" y="1200150"/>
                </a:lnTo>
                <a:cubicBezTo>
                  <a:pt x="2000250" y="1263276"/>
                  <a:pt x="1949076" y="1314450"/>
                  <a:pt x="1885950" y="1314450"/>
                </a:cubicBezTo>
                <a:lnTo>
                  <a:pt x="114300" y="1314450"/>
                </a:lnTo>
                <a:cubicBezTo>
                  <a:pt x="51174" y="1314450"/>
                  <a:pt x="0" y="1263276"/>
                  <a:pt x="0" y="12001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07035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1597819" y="4855369"/>
            <a:ext cx="233362" cy="233362"/>
            <a:chOff x="1597819" y="4855369"/>
            <a:chExt cx="233362" cy="233362"/>
          </a:xfrm>
        </p:grpSpPr>
        <p:sp>
          <p:nvSpPr>
            <p:cNvPr id="30" name="Freeform 30"/>
            <p:cNvSpPr/>
            <p:nvPr/>
          </p:nvSpPr>
          <p:spPr>
            <a:xfrm>
              <a:off x="1597819" y="48553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597819" y="49426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18366B"/>
            </a:solidFill>
            <a:ln>
              <a:noFill/>
            </a:ln>
          </p:spPr>
        </p:sp>
      </p:grpSp>
      <p:sp>
        <p:nvSpPr>
          <p:cNvPr id="33" name="Freeform 33"/>
          <p:cNvSpPr/>
          <p:nvPr/>
        </p:nvSpPr>
        <p:spPr>
          <a:xfrm>
            <a:off x="373380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150019" y="83344"/>
                </a:moveTo>
                <a:lnTo>
                  <a:pt x="116681" y="83344"/>
                </a:lnTo>
                <a:lnTo>
                  <a:pt x="116681" y="183356"/>
                </a:lnTo>
                <a:lnTo>
                  <a:pt x="150019" y="183356"/>
                </a:lnTo>
                <a:lnTo>
                  <a:pt x="150019" y="83344"/>
                </a:lnTo>
                <a:close/>
              </a:path>
            </a:pathLst>
          </a:custGeom>
          <a:solidFill>
            <a:srgbClr val="3D74B8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886450" y="48387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83356" y="50006"/>
                </a:moveTo>
                <a:cubicBezTo>
                  <a:pt x="183356" y="71779"/>
                  <a:pt x="169441" y="90302"/>
                  <a:pt x="150019" y="97167"/>
                </a:cubicBezTo>
                <a:lnTo>
                  <a:pt x="150019" y="231979"/>
                </a:lnTo>
                <a:cubicBezTo>
                  <a:pt x="191899" y="224953"/>
                  <a:pt x="224953" y="191899"/>
                  <a:pt x="231979" y="150019"/>
                </a:cubicBezTo>
                <a:lnTo>
                  <a:pt x="200025" y="150019"/>
                </a:lnTo>
                <a:lnTo>
                  <a:pt x="200025" y="116681"/>
                </a:lnTo>
                <a:lnTo>
                  <a:pt x="266700" y="116681"/>
                </a:lnTo>
                <a:lnTo>
                  <a:pt x="266700" y="133350"/>
                </a:ln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lnTo>
                  <a:pt x="0" y="116681"/>
                </a:lnTo>
                <a:lnTo>
                  <a:pt x="66675" y="116681"/>
                </a:lnTo>
                <a:lnTo>
                  <a:pt x="66675" y="150019"/>
                </a:lnTo>
                <a:lnTo>
                  <a:pt x="34720" y="150019"/>
                </a:lnTo>
                <a:cubicBezTo>
                  <a:pt x="41747" y="191899"/>
                  <a:pt x="74801" y="224953"/>
                  <a:pt x="116681" y="231979"/>
                </a:cubicBezTo>
                <a:lnTo>
                  <a:pt x="116681" y="97167"/>
                </a:lnTo>
                <a:cubicBezTo>
                  <a:pt x="97259" y="90302"/>
                  <a:pt x="83344" y="71779"/>
                  <a:pt x="83344" y="50006"/>
                </a:cubicBezTo>
                <a:cubicBezTo>
                  <a:pt x="83344" y="22389"/>
                  <a:pt x="105732" y="0"/>
                  <a:pt x="133350" y="0"/>
                </a:cubicBezTo>
                <a:cubicBezTo>
                  <a:pt x="160968" y="0"/>
                  <a:pt x="183356" y="22389"/>
                  <a:pt x="183356" y="50006"/>
                </a:cubicBezTo>
                <a:close/>
              </a:path>
            </a:pathLst>
          </a:custGeom>
          <a:solidFill>
            <a:srgbClr val="69C0EA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8039814" y="4839415"/>
            <a:ext cx="265269" cy="261103"/>
            <a:chOff x="8039814" y="4839415"/>
            <a:chExt cx="265269" cy="261103"/>
          </a:xfrm>
        </p:grpSpPr>
        <p:sp>
          <p:nvSpPr>
            <p:cNvPr id="35" name="Freeform 35"/>
            <p:cNvSpPr/>
            <p:nvPr/>
          </p:nvSpPr>
          <p:spPr>
            <a:xfrm>
              <a:off x="8039814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65245" y="23573"/>
                  </a:moveTo>
                  <a:lnTo>
                    <a:pt x="23573" y="65245"/>
                  </a:lnTo>
                  <a:lnTo>
                    <a:pt x="0" y="41672"/>
                  </a:lnTo>
                  <a:lnTo>
                    <a:pt x="41672" y="0"/>
                  </a:lnTo>
                  <a:lnTo>
                    <a:pt x="65245" y="23573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043981" y="4872038"/>
              <a:ext cx="256935" cy="228480"/>
            </a:xfrm>
            <a:custGeom>
              <a:avLst/>
              <a:gdLst/>
              <a:ahLst/>
              <a:cxnLst/>
              <a:rect l="l" t="t" r="r" b="b"/>
              <a:pathLst>
                <a:path w="256935" h="228480">
                  <a:moveTo>
                    <a:pt x="236815" y="108347"/>
                  </a:moveTo>
                  <a:cubicBezTo>
                    <a:pt x="236815" y="130103"/>
                    <a:pt x="230402" y="150362"/>
                    <a:pt x="219364" y="167335"/>
                  </a:cubicBezTo>
                  <a:lnTo>
                    <a:pt x="256935" y="204907"/>
                  </a:lnTo>
                  <a:lnTo>
                    <a:pt x="233362" y="228480"/>
                  </a:lnTo>
                  <a:lnTo>
                    <a:pt x="197083" y="192202"/>
                  </a:lnTo>
                  <a:cubicBezTo>
                    <a:pt x="178399" y="207509"/>
                    <a:pt x="154506" y="216693"/>
                    <a:pt x="128467" y="216693"/>
                  </a:cubicBezTo>
                  <a:cubicBezTo>
                    <a:pt x="102429" y="216693"/>
                    <a:pt x="78536" y="207509"/>
                    <a:pt x="59851" y="192202"/>
                  </a:cubicBezTo>
                  <a:lnTo>
                    <a:pt x="23573" y="228480"/>
                  </a:lnTo>
                  <a:lnTo>
                    <a:pt x="0" y="204907"/>
                  </a:lnTo>
                  <a:lnTo>
                    <a:pt x="37571" y="167335"/>
                  </a:lnTo>
                  <a:cubicBezTo>
                    <a:pt x="26533" y="150362"/>
                    <a:pt x="20120" y="130103"/>
                    <a:pt x="20120" y="108347"/>
                  </a:cubicBezTo>
                  <a:cubicBezTo>
                    <a:pt x="20120" y="48509"/>
                    <a:pt x="68629" y="0"/>
                    <a:pt x="128467" y="0"/>
                  </a:cubicBezTo>
                  <a:cubicBezTo>
                    <a:pt x="188305" y="0"/>
                    <a:pt x="236815" y="48509"/>
                    <a:pt x="236815" y="108347"/>
                  </a:cubicBezTo>
                  <a:close/>
                  <a:moveTo>
                    <a:pt x="111800" y="50006"/>
                  </a:moveTo>
                  <a:lnTo>
                    <a:pt x="111800" y="123585"/>
                  </a:lnTo>
                  <a:lnTo>
                    <a:pt x="150020" y="161805"/>
                  </a:lnTo>
                  <a:lnTo>
                    <a:pt x="173593" y="138232"/>
                  </a:lnTo>
                  <a:lnTo>
                    <a:pt x="145137" y="109776"/>
                  </a:lnTo>
                  <a:lnTo>
                    <a:pt x="145137" y="50006"/>
                  </a:lnTo>
                  <a:lnTo>
                    <a:pt x="111800" y="50006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239838" y="4839415"/>
              <a:ext cx="65245" cy="65245"/>
            </a:xfrm>
            <a:custGeom>
              <a:avLst/>
              <a:gdLst/>
              <a:ahLst/>
              <a:cxnLst/>
              <a:rect l="l" t="t" r="r" b="b"/>
              <a:pathLst>
                <a:path w="65245" h="65245">
                  <a:moveTo>
                    <a:pt x="41672" y="65245"/>
                  </a:moveTo>
                  <a:lnTo>
                    <a:pt x="0" y="23573"/>
                  </a:lnTo>
                  <a:lnTo>
                    <a:pt x="23573" y="0"/>
                  </a:lnTo>
                  <a:lnTo>
                    <a:pt x="65245" y="41672"/>
                  </a:lnTo>
                  <a:lnTo>
                    <a:pt x="41672" y="65245"/>
                  </a:lnTo>
                  <a:close/>
                </a:path>
              </a:pathLst>
            </a:custGeom>
            <a:solidFill>
              <a:srgbClr val="4A8E3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191750" y="4838700"/>
            <a:ext cx="266700" cy="266700"/>
            <a:chOff x="10191750" y="4838700"/>
            <a:chExt cx="266700" cy="266700"/>
          </a:xfrm>
        </p:grpSpPr>
        <p:sp>
          <p:nvSpPr>
            <p:cNvPr id="39" name="Freeform 39"/>
            <p:cNvSpPr/>
            <p:nvPr/>
          </p:nvSpPr>
          <p:spPr>
            <a:xfrm>
              <a:off x="10258425" y="49053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cubicBezTo>
                    <a:pt x="29851" y="0"/>
                    <a:pt x="0" y="29851"/>
                    <a:pt x="0" y="66675"/>
                  </a:cubicBezTo>
                  <a:cubicBezTo>
                    <a:pt x="0" y="103498"/>
                    <a:pt x="29851" y="133350"/>
                    <a:pt x="66675" y="133350"/>
                  </a:cubicBezTo>
                  <a:cubicBezTo>
                    <a:pt x="103498" y="133350"/>
                    <a:pt x="133350" y="103498"/>
                    <a:pt x="133350" y="66675"/>
                  </a:cubicBezTo>
                  <a:cubicBezTo>
                    <a:pt x="133350" y="29851"/>
                    <a:pt x="103498" y="0"/>
                    <a:pt x="66675" y="0"/>
                  </a:cubicBezTo>
                  <a:close/>
                  <a:moveTo>
                    <a:pt x="33338" y="66675"/>
                  </a:moveTo>
                  <a:cubicBezTo>
                    <a:pt x="33338" y="48263"/>
                    <a:pt x="48263" y="33338"/>
                    <a:pt x="66675" y="33338"/>
                  </a:cubicBezTo>
                  <a:cubicBezTo>
                    <a:pt x="85087" y="33338"/>
                    <a:pt x="100012" y="48263"/>
                    <a:pt x="100012" y="66675"/>
                  </a:cubicBezTo>
                  <a:cubicBezTo>
                    <a:pt x="100012" y="85087"/>
                    <a:pt x="85087" y="100012"/>
                    <a:pt x="66675" y="100012"/>
                  </a:cubicBezTo>
                  <a:cubicBezTo>
                    <a:pt x="48263" y="100012"/>
                    <a:pt x="33338" y="85087"/>
                    <a:pt x="33338" y="66675"/>
                  </a:cubicBez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91750" y="48387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lose/>
                  <a:moveTo>
                    <a:pt x="33338" y="133350"/>
                  </a:moveTo>
                  <a:cubicBezTo>
                    <a:pt x="33338" y="78115"/>
                    <a:pt x="78115" y="33338"/>
                    <a:pt x="133350" y="33338"/>
                  </a:cubicBezTo>
                  <a:cubicBezTo>
                    <a:pt x="188585" y="33338"/>
                    <a:pt x="233362" y="78115"/>
                    <a:pt x="233362" y="133350"/>
                  </a:cubicBezTo>
                  <a:cubicBezTo>
                    <a:pt x="233362" y="188585"/>
                    <a:pt x="188585" y="233362"/>
                    <a:pt x="133350" y="233362"/>
                  </a:cubicBezTo>
                  <a:cubicBezTo>
                    <a:pt x="78115" y="233362"/>
                    <a:pt x="33338" y="188585"/>
                    <a:pt x="33338" y="133350"/>
                  </a:cubicBezTo>
                  <a:close/>
                </a:path>
              </a:pathLst>
            </a:custGeom>
            <a:solidFill>
              <a:srgbClr val="F07035"/>
            </a:solidFill>
            <a:ln>
              <a:noFill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7750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安全钻井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9276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井筒完整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803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储层保护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3299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高效防砂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85649" y="50511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智能完井</a:t>
            </a:r>
          </a:p>
        </p:txBody>
      </p:sp>
      <p:sp>
        <p:nvSpPr>
          <p:cNvPr id="47" name="Freeform 47"/>
          <p:cNvSpPr/>
          <p:nvPr/>
        </p:nvSpPr>
        <p:spPr>
          <a:xfrm>
            <a:off x="8877300" y="5334000"/>
            <a:ext cx="2781300" cy="914400"/>
          </a:xfrm>
          <a:custGeom>
            <a:avLst/>
            <a:gdLst/>
            <a:ahLst/>
            <a:cxnLst/>
            <a:rect l="l" t="t" r="r" b="b"/>
            <a:pathLst>
              <a:path w="2781300" h="914400">
                <a:moveTo>
                  <a:pt x="95250" y="0"/>
                </a:moveTo>
                <a:lnTo>
                  <a:pt x="2686050" y="0"/>
                </a:lnTo>
                <a:cubicBezTo>
                  <a:pt x="2738655" y="0"/>
                  <a:pt x="2781300" y="42645"/>
                  <a:pt x="2781300" y="95250"/>
                </a:cubicBezTo>
                <a:lnTo>
                  <a:pt x="2781300" y="819150"/>
                </a:lnTo>
                <a:cubicBezTo>
                  <a:pt x="2781300" y="871755"/>
                  <a:pt x="2738655" y="914400"/>
                  <a:pt x="2686050" y="914400"/>
                </a:cubicBezTo>
                <a:lnTo>
                  <a:pt x="95250" y="914400"/>
                </a:lnTo>
                <a:cubicBezTo>
                  <a:pt x="42645" y="914400"/>
                  <a:pt x="0" y="871755"/>
                  <a:pt x="0" y="819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9525">
            <a:solidFill>
              <a:srgbClr val="C9D9E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2452" y="4250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运营管理与数字化推进组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
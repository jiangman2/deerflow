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讲解重点：第3页核心结论、业务价值与执行动作。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讲解重点：第4页核心结论、业务价值与执行动作。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讲解重点：第5页核心结论、业务价值与执行动作。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讲解重点：第6页核心结论、业务价值与执行动作。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讲解重点：第7页核心结论、业务价值与执行动作。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讲解重点：第8页核心结论、业务价值与执行动作。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讲解重点：第9页核心结论、业务价值与执行动作。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讲解重点：第10页核心结论、业务价值与执行动作。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71500" y="3048000"/>
            <a:ext cx="11049000" cy="2476500"/>
          </a:xfrm>
          <a:custGeom>
            <a:avLst/>
            <a:gdLst/>
            <a:ahLst/>
            <a:cxnLst/>
            <a:rect l="l" t="t" r="r" b="b"/>
            <a:pathLst>
              <a:path w="11049000" h="2476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2324100"/>
                </a:lnTo>
                <a:cubicBezTo>
                  <a:pt x="11049000" y="2408268"/>
                  <a:pt x="10980768" y="2476500"/>
                  <a:pt x="10896600" y="2476500"/>
                </a:cubicBezTo>
                <a:lnTo>
                  <a:pt x="152400" y="2476500"/>
                </a:lnTo>
                <a:cubicBezTo>
                  <a:pt x="68232" y="2476500"/>
                  <a:pt x="0" y="2408268"/>
                  <a:pt x="0" y="2324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3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3264218"/>
            <a:ext cx="11450907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中海油智能体平台建设与应用成效汇报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8665" y="3991928"/>
            <a:ext cx="772932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的强约束全链路成片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380" y="455485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493585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66750" y="781050"/>
            <a:ext cx="10858500" cy="5295900"/>
          </a:xfrm>
          <a:custGeom>
            <a:avLst/>
            <a:gdLst/>
            <a:ahLst/>
            <a:cxnLst/>
            <a:rect l="l" t="t" r="r" b="b"/>
            <a:pathLst>
              <a:path w="10858500" h="52959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5124450"/>
                </a:lnTo>
                <a:cubicBezTo>
                  <a:pt x="10858500" y="5219139"/>
                  <a:pt x="10781739" y="5295900"/>
                  <a:pt x="10687050" y="5295900"/>
                </a:cubicBezTo>
                <a:lnTo>
                  <a:pt x="171450" y="5295900"/>
                </a:lnTo>
                <a:cubicBezTo>
                  <a:pt x="76761" y="5295900"/>
                  <a:pt x="0" y="5219139"/>
                  <a:pt x="0" y="5124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89660" y="1070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1695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C7B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5865" y="2105978"/>
            <a:ext cx="32518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01 建设背景与目标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865" y="26774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02 平台架构与关键能力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65" y="32489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03 试点成效与推广计划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4139565"/>
            <a:ext cx="10232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A5A84"/>
                </a:solidFill>
                <a:latin typeface="Microsoft YaHei"/>
                <a:ea typeface="Microsoft YaHei"/>
                <a:cs typeface="Microsoft YaHei"/>
              </a:rPr>
              <a:t>覆盖能力：项目管理、质量检查、SVG精修、导出、图像检索/生成探针、动画/语音探针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8250" y="4762500"/>
            <a:ext cx="9810750" cy="904875"/>
          </a:xfrm>
          <a:custGeom>
            <a:avLst/>
            <a:gdLst/>
            <a:ahLst/>
            <a:cxnLst/>
            <a:rect l="l" t="t" r="r" b="b"/>
            <a:pathLst>
              <a:path w="9810750" h="904875">
                <a:moveTo>
                  <a:pt x="114300" y="0"/>
                </a:moveTo>
                <a:lnTo>
                  <a:pt x="9696450" y="0"/>
                </a:lnTo>
                <a:cubicBezTo>
                  <a:pt x="9759576" y="0"/>
                  <a:pt x="9810750" y="51174"/>
                  <a:pt x="9810750" y="114300"/>
                </a:cubicBezTo>
                <a:lnTo>
                  <a:pt x="9810750" y="790575"/>
                </a:lnTo>
                <a:cubicBezTo>
                  <a:pt x="9810750" y="853701"/>
                  <a:pt x="9759576" y="904875"/>
                  <a:pt x="9696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53515" y="5025390"/>
            <a:ext cx="63813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主线：问题识别 -&gt; 能力构建 -&gt; 场景落地 -&gt; 规模推广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19908" y="1785938"/>
            <a:ext cx="1752183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11473" y="3576638"/>
            <a:ext cx="5769054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多系统割裂与长链路处置并存，效率与治理能力亟待系统化升级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7048500" cy="4476750"/>
          </a:xfrm>
          <a:custGeom>
            <a:avLst/>
            <a:gdLst/>
            <a:ahLst/>
            <a:cxnLst/>
            <a:rect l="l" t="t" r="r" b="b"/>
            <a:pathLst>
              <a:path w="7048500" h="4476750">
                <a:moveTo>
                  <a:pt x="133350" y="0"/>
                </a:moveTo>
                <a:lnTo>
                  <a:pt x="6915150" y="0"/>
                </a:lnTo>
                <a:cubicBezTo>
                  <a:pt x="6988797" y="0"/>
                  <a:pt x="7048500" y="59703"/>
                  <a:pt x="7048500" y="133350"/>
                </a:cubicBezTo>
                <a:lnTo>
                  <a:pt x="7048500" y="4343400"/>
                </a:lnTo>
                <a:cubicBezTo>
                  <a:pt x="7048500" y="4417047"/>
                  <a:pt x="6988797" y="4476750"/>
                  <a:pt x="691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905750" y="1619250"/>
            <a:ext cx="3714750" cy="4476750"/>
          </a:xfrm>
          <a:custGeom>
            <a:avLst/>
            <a:gdLst/>
            <a:ahLst/>
            <a:cxnLst/>
            <a:rect l="l" t="t" r="r" b="b"/>
            <a:pathLst>
              <a:path w="3714750" h="4476750">
                <a:moveTo>
                  <a:pt x="133350" y="0"/>
                </a:moveTo>
                <a:lnTo>
                  <a:pt x="3581400" y="0"/>
                </a:lnTo>
                <a:cubicBezTo>
                  <a:pt x="3655047" y="0"/>
                  <a:pt x="3714750" y="59703"/>
                  <a:pt x="3714750" y="133350"/>
                </a:cubicBezTo>
                <a:lnTo>
                  <a:pt x="3714750" y="4343400"/>
                </a:lnTo>
                <a:cubicBezTo>
                  <a:pt x="3714750" y="4417047"/>
                  <a:pt x="3655047" y="4476750"/>
                  <a:pt x="358140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19150" y="1962150"/>
            <a:ext cx="361950" cy="339328"/>
          </a:xfrm>
          <a:custGeom>
            <a:avLst/>
            <a:gdLst/>
            <a:ahLst/>
            <a:cxnLst/>
            <a:rect l="l" t="t" r="r" b="b"/>
            <a:pathLst>
              <a:path w="361950" h="339328">
                <a:moveTo>
                  <a:pt x="361950" y="339328"/>
                </a:moveTo>
                <a:lnTo>
                  <a:pt x="0" y="339328"/>
                </a:lnTo>
                <a:lnTo>
                  <a:pt x="0" y="271462"/>
                </a:lnTo>
                <a:lnTo>
                  <a:pt x="158353" y="0"/>
                </a:lnTo>
                <a:lnTo>
                  <a:pt x="203597" y="0"/>
                </a:lnTo>
                <a:lnTo>
                  <a:pt x="361950" y="271462"/>
                </a:lnTo>
                <a:lnTo>
                  <a:pt x="361950" y="339328"/>
                </a:lnTo>
                <a:close/>
                <a:moveTo>
                  <a:pt x="158353" y="90488"/>
                </a:moveTo>
                <a:lnTo>
                  <a:pt x="203597" y="90488"/>
                </a:lnTo>
                <a:lnTo>
                  <a:pt x="203597" y="203597"/>
                </a:lnTo>
                <a:lnTo>
                  <a:pt x="158353" y="203597"/>
                </a:lnTo>
                <a:lnTo>
                  <a:pt x="158353" y="90488"/>
                </a:lnTo>
                <a:close/>
                <a:moveTo>
                  <a:pt x="158353" y="248841"/>
                </a:moveTo>
                <a:lnTo>
                  <a:pt x="203597" y="248841"/>
                </a:lnTo>
                <a:lnTo>
                  <a:pt x="203597" y="294084"/>
                </a:lnTo>
                <a:lnTo>
                  <a:pt x="158353" y="294084"/>
                </a:lnTo>
                <a:lnTo>
                  <a:pt x="158353" y="248841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5395" y="2041208"/>
            <a:ext cx="71508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告警噪声高：日均1200+，人工筛选成本高且响应优先级判定不稳定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64394" y="2495550"/>
            <a:ext cx="271462" cy="361950"/>
            <a:chOff x="864394" y="2495550"/>
            <a:chExt cx="271462" cy="361950"/>
          </a:xfrm>
        </p:grpSpPr>
        <p:sp>
          <p:nvSpPr>
            <p:cNvPr id="10" name="Freeform 10"/>
            <p:cNvSpPr/>
            <p:nvPr/>
          </p:nvSpPr>
          <p:spPr>
            <a:xfrm>
              <a:off x="864394" y="2640330"/>
              <a:ext cx="271462" cy="104060"/>
            </a:xfrm>
            <a:custGeom>
              <a:avLst/>
              <a:gdLst/>
              <a:ahLst/>
              <a:cxnLst/>
              <a:rect l="l" t="t" r="r" b="b"/>
              <a:pathLst>
                <a:path w="271462" h="104060">
                  <a:moveTo>
                    <a:pt x="251942" y="11541"/>
                  </a:moveTo>
                  <a:cubicBezTo>
                    <a:pt x="258306" y="8359"/>
                    <a:pt x="264954" y="4520"/>
                    <a:pt x="271462" y="0"/>
                  </a:cubicBezTo>
                  <a:lnTo>
                    <a:pt x="271462" y="36195"/>
                  </a:lnTo>
                  <a:cubicBezTo>
                    <a:pt x="271462" y="73676"/>
                    <a:pt x="210693" y="104060"/>
                    <a:pt x="135731" y="104060"/>
                  </a:cubicBezTo>
                  <a:cubicBezTo>
                    <a:pt x="60769" y="104060"/>
                    <a:pt x="0" y="73676"/>
                    <a:pt x="0" y="36195"/>
                  </a:cubicBezTo>
                  <a:lnTo>
                    <a:pt x="0" y="0"/>
                  </a:lnTo>
                  <a:cubicBezTo>
                    <a:pt x="6509" y="4520"/>
                    <a:pt x="13156" y="8359"/>
                    <a:pt x="19521" y="11541"/>
                  </a:cubicBezTo>
                  <a:cubicBezTo>
                    <a:pt x="51600" y="27580"/>
                    <a:pt x="92749" y="36195"/>
                    <a:pt x="135731" y="36195"/>
                  </a:cubicBezTo>
                  <a:cubicBezTo>
                    <a:pt x="178713" y="36195"/>
                    <a:pt x="219862" y="27580"/>
                    <a:pt x="251942" y="11541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4394" y="2753439"/>
              <a:ext cx="271462" cy="104061"/>
            </a:xfrm>
            <a:custGeom>
              <a:avLst/>
              <a:gdLst/>
              <a:ahLst/>
              <a:cxnLst/>
              <a:rect l="l" t="t" r="r" b="b"/>
              <a:pathLst>
                <a:path w="271462" h="104061">
                  <a:moveTo>
                    <a:pt x="0" y="0"/>
                  </a:moveTo>
                  <a:lnTo>
                    <a:pt x="0" y="36195"/>
                  </a:lnTo>
                  <a:cubicBezTo>
                    <a:pt x="0" y="73677"/>
                    <a:pt x="60769" y="104061"/>
                    <a:pt x="135731" y="104061"/>
                  </a:cubicBezTo>
                  <a:cubicBezTo>
                    <a:pt x="210693" y="104061"/>
                    <a:pt x="271462" y="73677"/>
                    <a:pt x="271462" y="36195"/>
                  </a:cubicBezTo>
                  <a:lnTo>
                    <a:pt x="271462" y="0"/>
                  </a:lnTo>
                  <a:cubicBezTo>
                    <a:pt x="264954" y="4520"/>
                    <a:pt x="258306" y="8359"/>
                    <a:pt x="251942" y="11542"/>
                  </a:cubicBezTo>
                  <a:cubicBezTo>
                    <a:pt x="219862" y="27581"/>
                    <a:pt x="178713" y="36195"/>
                    <a:pt x="135731" y="36195"/>
                  </a:cubicBezTo>
                  <a:cubicBezTo>
                    <a:pt x="92749" y="36195"/>
                    <a:pt x="51600" y="27581"/>
                    <a:pt x="19521" y="11542"/>
                  </a:cubicBezTo>
                  <a:cubicBezTo>
                    <a:pt x="13156" y="8359"/>
                    <a:pt x="6509" y="4520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64394" y="2495550"/>
              <a:ext cx="271462" cy="135731"/>
            </a:xfrm>
            <a:custGeom>
              <a:avLst/>
              <a:gdLst/>
              <a:ahLst/>
              <a:cxnLst/>
              <a:rect l="l" t="t" r="r" b="b"/>
              <a:pathLst>
                <a:path w="271462" h="135731">
                  <a:moveTo>
                    <a:pt x="135731" y="0"/>
                  </a:moveTo>
                  <a:cubicBezTo>
                    <a:pt x="210693" y="0"/>
                    <a:pt x="271462" y="30385"/>
                    <a:pt x="271462" y="67866"/>
                  </a:cubicBezTo>
                  <a:cubicBezTo>
                    <a:pt x="271462" y="105347"/>
                    <a:pt x="210693" y="135731"/>
                    <a:pt x="135731" y="135731"/>
                  </a:cubicBezTo>
                  <a:cubicBezTo>
                    <a:pt x="60769" y="135731"/>
                    <a:pt x="0" y="105347"/>
                    <a:pt x="0" y="67866"/>
                  </a:cubicBezTo>
                  <a:cubicBezTo>
                    <a:pt x="0" y="30385"/>
                    <a:pt x="60769" y="0"/>
                    <a:pt x="135731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55395" y="2574608"/>
            <a:ext cx="77533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数据口径不统一：跨系统追溯链路长，影响周报、月报与专题分析一致性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9150" y="3028950"/>
            <a:ext cx="361950" cy="361950"/>
            <a:chOff x="819150" y="3028950"/>
            <a:chExt cx="361950" cy="361950"/>
          </a:xfrm>
        </p:grpSpPr>
        <p:sp>
          <p:nvSpPr>
            <p:cNvPr id="15" name="Freeform 15"/>
            <p:cNvSpPr/>
            <p:nvPr/>
          </p:nvSpPr>
          <p:spPr>
            <a:xfrm>
              <a:off x="819150" y="30289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4803" y="45297"/>
                  </a:moveTo>
                  <a:cubicBezTo>
                    <a:pt x="183531" y="45261"/>
                    <a:pt x="182255" y="45244"/>
                    <a:pt x="180975" y="45244"/>
                  </a:cubicBezTo>
                  <a:cubicBezTo>
                    <a:pt x="106013" y="45244"/>
                    <a:pt x="45244" y="106013"/>
                    <a:pt x="45244" y="180975"/>
                  </a:cubicBezTo>
                  <a:cubicBezTo>
                    <a:pt x="45244" y="255937"/>
                    <a:pt x="106013" y="316706"/>
                    <a:pt x="180975" y="316706"/>
                  </a:cubicBezTo>
                  <a:cubicBezTo>
                    <a:pt x="255937" y="316706"/>
                    <a:pt x="316706" y="255937"/>
                    <a:pt x="316706" y="180975"/>
                  </a:cubicBezTo>
                  <a:cubicBezTo>
                    <a:pt x="316706" y="179695"/>
                    <a:pt x="316688" y="178419"/>
                    <a:pt x="316654" y="177147"/>
                  </a:cubicBezTo>
                  <a:lnTo>
                    <a:pt x="356616" y="137184"/>
                  </a:lnTo>
                  <a:cubicBezTo>
                    <a:pt x="360100" y="151206"/>
                    <a:pt x="361950" y="165875"/>
                    <a:pt x="361950" y="180975"/>
                  </a:cubicBezTo>
                  <a:cubicBezTo>
                    <a:pt x="361950" y="280925"/>
                    <a:pt x="280925" y="361950"/>
                    <a:pt x="180975" y="361950"/>
                  </a:cubicBezTo>
                  <a:cubicBezTo>
                    <a:pt x="81025" y="361950"/>
                    <a:pt x="0" y="280925"/>
                    <a:pt x="0" y="180975"/>
                  </a:cubicBezTo>
                  <a:cubicBezTo>
                    <a:pt x="0" y="81025"/>
                    <a:pt x="81025" y="0"/>
                    <a:pt x="180975" y="0"/>
                  </a:cubicBezTo>
                  <a:cubicBezTo>
                    <a:pt x="196075" y="0"/>
                    <a:pt x="210744" y="1849"/>
                    <a:pt x="224766" y="5334"/>
                  </a:cubicBezTo>
                  <a:lnTo>
                    <a:pt x="184803" y="45297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9638" y="3122287"/>
              <a:ext cx="178125" cy="178125"/>
            </a:xfrm>
            <a:custGeom>
              <a:avLst/>
              <a:gdLst/>
              <a:ahLst/>
              <a:cxnLst/>
              <a:rect l="l" t="t" r="r" b="b"/>
              <a:pathLst>
                <a:path w="178125" h="178125">
                  <a:moveTo>
                    <a:pt x="0" y="87637"/>
                  </a:moveTo>
                  <a:cubicBezTo>
                    <a:pt x="0" y="45473"/>
                    <a:pt x="28838" y="10045"/>
                    <a:pt x="67866" y="0"/>
                  </a:cubicBezTo>
                  <a:lnTo>
                    <a:pt x="67866" y="48446"/>
                  </a:lnTo>
                  <a:cubicBezTo>
                    <a:pt x="54342" y="56269"/>
                    <a:pt x="45244" y="70890"/>
                    <a:pt x="45244" y="87637"/>
                  </a:cubicBezTo>
                  <a:cubicBezTo>
                    <a:pt x="45244" y="112624"/>
                    <a:pt x="65500" y="132880"/>
                    <a:pt x="90488" y="132880"/>
                  </a:cubicBezTo>
                  <a:cubicBezTo>
                    <a:pt x="107234" y="132880"/>
                    <a:pt x="121856" y="123782"/>
                    <a:pt x="129679" y="110259"/>
                  </a:cubicBezTo>
                  <a:lnTo>
                    <a:pt x="178125" y="110259"/>
                  </a:lnTo>
                  <a:cubicBezTo>
                    <a:pt x="168078" y="149287"/>
                    <a:pt x="132651" y="178125"/>
                    <a:pt x="90488" y="178125"/>
                  </a:cubicBezTo>
                  <a:cubicBezTo>
                    <a:pt x="40513" y="178125"/>
                    <a:pt x="0" y="137612"/>
                    <a:pt x="0" y="87637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95440" y="3028950"/>
              <a:ext cx="185660" cy="185660"/>
            </a:xfrm>
            <a:custGeom>
              <a:avLst/>
              <a:gdLst/>
              <a:ahLst/>
              <a:cxnLst/>
              <a:rect l="l" t="t" r="r" b="b"/>
              <a:pathLst>
                <a:path w="185660" h="185660">
                  <a:moveTo>
                    <a:pt x="140416" y="45244"/>
                  </a:moveTo>
                  <a:lnTo>
                    <a:pt x="117795" y="0"/>
                  </a:lnTo>
                  <a:lnTo>
                    <a:pt x="49929" y="67866"/>
                  </a:lnTo>
                  <a:lnTo>
                    <a:pt x="49929" y="103739"/>
                  </a:lnTo>
                  <a:lnTo>
                    <a:pt x="0" y="153668"/>
                  </a:lnTo>
                  <a:lnTo>
                    <a:pt x="31992" y="185660"/>
                  </a:lnTo>
                  <a:lnTo>
                    <a:pt x="81921" y="135731"/>
                  </a:lnTo>
                  <a:lnTo>
                    <a:pt x="117795" y="135731"/>
                  </a:lnTo>
                  <a:lnTo>
                    <a:pt x="185660" y="67866"/>
                  </a:lnTo>
                  <a:lnTo>
                    <a:pt x="140416" y="45244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55395" y="3108008"/>
            <a:ext cx="73677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处置闭环慢：当前平均9.5h，目标收敛至5.6h并形成标准化复盘闭环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71485" y="18849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5295" y="24888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报告编制周期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2175" y="242411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+35%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75295" y="2965132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人工对齐工作量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82175" y="290036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+42%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35466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目标KPI与价值锚点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围绕可靠性、效率、安全三维度建立年度量化目标与经营复盘机制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333875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09625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79145" y="20126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380" y="2659380"/>
            <a:ext cx="406633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74CC"/>
                </a:solidFill>
                <a:latin typeface="Arial"/>
                <a:ea typeface="Microsoft YaHei"/>
                <a:cs typeface="Arial"/>
              </a:rPr>
              <a:t>96.8% -&gt; 98.5%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1520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16755" y="2659380"/>
            <a:ext cx="27137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-&gt; 93%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3895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9130" y="2659380"/>
            <a:ext cx="3459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5.2% -&gt; 3.6%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4000500"/>
            <a:ext cx="11049000" cy="2095500"/>
          </a:xfrm>
          <a:custGeom>
            <a:avLst/>
            <a:gdLst/>
            <a:ahLst/>
            <a:cxnLst/>
            <a:rect l="l" t="t" r="r" b="b"/>
            <a:pathLst>
              <a:path w="11049000" h="2095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1943100"/>
                </a:lnTo>
                <a:cubicBezTo>
                  <a:pt x="11049000" y="2027268"/>
                  <a:pt x="10980768" y="2095500"/>
                  <a:pt x="1089660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17245" y="4412932"/>
            <a:ext cx="117898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价值锚点：降本、提质、增效、控险；建立“监测-诊断-处置-复盘”闭环运营机制，按月形成可追溯改进账本。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372" y="3576638"/>
            <a:ext cx="737925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平台总体架构（四层）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86027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打通感知层、平台层、应用层、运营层，形成数据驱动的持续优化闭环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16668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666750" y="290512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41433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66750" y="5381625"/>
            <a:ext cx="10858500" cy="904875"/>
          </a:xfrm>
          <a:custGeom>
            <a:avLst/>
            <a:gdLst/>
            <a:ahLst/>
            <a:cxnLst/>
            <a:rect l="l" t="t" r="r" b="b"/>
            <a:pathLst>
              <a:path w="10858500" h="904875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771525"/>
                </a:lnTo>
                <a:cubicBezTo>
                  <a:pt x="10858500" y="845172"/>
                  <a:pt x="10798797" y="904875"/>
                  <a:pt x="10725150" y="904875"/>
                </a:cubicBezTo>
                <a:lnTo>
                  <a:pt x="133350" y="904875"/>
                </a:lnTo>
                <a:cubicBezTo>
                  <a:pt x="59703" y="904875"/>
                  <a:pt x="0" y="845172"/>
                  <a:pt x="0" y="7715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01078" y="20988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34640" y="2139315"/>
            <a:ext cx="38050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边缘采集 · 协议适配 · 状态上报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1078" y="333708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4640" y="3377565"/>
            <a:ext cx="46331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主数据 · 事件总线 · 规则引擎 · 知识库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078" y="45753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4640" y="4615815"/>
            <a:ext cx="35815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诊断 · 预警 · 协同 · 经营看板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078" y="5689759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运营层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6545" y="5746432"/>
            <a:ext cx="7138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机制 · 考核 · 复盘 · 持续优化（覆盖经营、生产、安全三类场景）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基线与目标对比：聚焦可用率、停机率、闭环率三项关键经营指标</a:t>
            </a:r>
          </a:p>
        </p:txBody>
      </p:sp>
      <p:sp>
        <p:nvSpPr>
          <p:cNvPr id="5" name="Line 5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Line 6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87408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覆盖率从35%提升至85%，关键里程碑按计划推进并持续收敛风险</a:t>
            </a:r>
          </a:p>
        </p:txBody>
      </p:sp>
      <p:sp>
        <p:nvSpPr>
          <p:cNvPr id="5" name="Freeform 5"/>
          <p:cNvSpPr/>
          <p:nvPr/>
        </p:nvSpPr>
        <p:spPr>
          <a:xfrm>
            <a:off x="762000" y="1524000"/>
            <a:ext cx="10668000" cy="4572000"/>
          </a:xfrm>
          <a:custGeom>
            <a:avLst/>
            <a:gdLst/>
            <a:ahLst/>
            <a:cxnLst/>
            <a:rect l="l" t="t" r="r" b="b"/>
            <a:pathLst>
              <a:path w="10668000" h="45720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400550"/>
                </a:lnTo>
                <a:cubicBezTo>
                  <a:pt x="10668000" y="4495239"/>
                  <a:pt x="10591239" y="4572000"/>
                  <a:pt x="10496550" y="4572000"/>
                </a:cubicBezTo>
                <a:lnTo>
                  <a:pt x="171450" y="4572000"/>
                </a:lnTo>
                <a:cubicBezTo>
                  <a:pt x="76761" y="4572000"/>
                  <a:pt x="0" y="4495239"/>
                  <a:pt x="0" y="440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Line 7"/>
          <p:cNvSpPr/>
          <p:nvPr/>
        </p:nvSpPr>
        <p:spPr>
          <a:xfrm>
            <a:off x="1619250" y="21907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8" name="Polyline 8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20250" y="2883694"/>
            <a:ext cx="419100" cy="366713"/>
            <a:chOff x="9620250" y="2883694"/>
            <a:chExt cx="419100" cy="366713"/>
          </a:xfrm>
        </p:grpSpPr>
        <p:sp>
          <p:nvSpPr>
            <p:cNvPr id="17" name="Freeform 17"/>
            <p:cNvSpPr/>
            <p:nvPr/>
          </p:nvSpPr>
          <p:spPr>
            <a:xfrm>
              <a:off x="9934575" y="28836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777412" y="29884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620250" y="30932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077450" y="298132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能力矩阵与业务覆盖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8257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覆盖“检索-分析-成片-治理”完整链路，并形成统一的能力运营看板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619250"/>
            <a:ext cx="10858500" cy="4476750"/>
          </a:xfrm>
          <a:custGeom>
            <a:avLst/>
            <a:gdLst/>
            <a:ahLst/>
            <a:cxnLst/>
            <a:rect l="l" t="t" r="r" b="b"/>
            <a:pathLst>
              <a:path w="10858500" h="4476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4343400"/>
                </a:lnTo>
                <a:cubicBezTo>
                  <a:pt x="10858500" y="4417047"/>
                  <a:pt x="10798797" y="4476750"/>
                  <a:pt x="1072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666750" y="23336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7" name="Line 7"/>
          <p:cNvSpPr/>
          <p:nvPr/>
        </p:nvSpPr>
        <p:spPr>
          <a:xfrm>
            <a:off x="666750" y="304800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666750" y="376237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9" name="Line 9"/>
          <p:cNvSpPr/>
          <p:nvPr/>
        </p:nvSpPr>
        <p:spPr>
          <a:xfrm>
            <a:off x="666750" y="44767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0" name="Line 10"/>
          <p:cNvSpPr/>
          <p:nvPr/>
        </p:nvSpPr>
        <p:spPr>
          <a:xfrm>
            <a:off x="2667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3920" y="19173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9420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代表能力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8795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37295" y="1917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5825" y="26193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1325" y="2619375"/>
            <a:ext cx="3214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image_search / source_to_md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00700" y="2619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调研与资料汇总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39200" y="261937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825" y="33337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智能成片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1325" y="3333750"/>
            <a:ext cx="28970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svg_finalize / svg_to_pptx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0700" y="3333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经营汇报自动化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39200" y="333375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5825" y="40481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质量治理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1325" y="404812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svg_quality_checker / update_spec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00700" y="40481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风格一致性控制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9200" y="40481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5825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81325" y="4762500"/>
            <a:ext cx="4386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image_gen / notes_to_audio / animations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00700" y="476250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多模态辅助表达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39200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探针验证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实施路线与保障机制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8105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里程碑与治理闭环：分阶段上线、分层运营、分域复制推广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1676400"/>
            <a:ext cx="11125200" cy="4381500"/>
          </a:xfrm>
          <a:custGeom>
            <a:avLst/>
            <a:gdLst/>
            <a:ahLst/>
            <a:cxnLst/>
            <a:rect l="l" t="t" r="r" b="b"/>
            <a:pathLst>
              <a:path w="11125200" h="43815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4210050"/>
                </a:lnTo>
                <a:cubicBezTo>
                  <a:pt x="11125200" y="4304739"/>
                  <a:pt x="11048439" y="4381500"/>
                  <a:pt x="10953750" y="4381500"/>
                </a:cubicBezTo>
                <a:lnTo>
                  <a:pt x="171450" y="4381500"/>
                </a:lnTo>
                <a:cubicBezTo>
                  <a:pt x="76761" y="4381500"/>
                  <a:pt x="0" y="4304739"/>
                  <a:pt x="0" y="4210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333500" y="38671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962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629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296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963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24965" y="2982278"/>
            <a:ext cx="4753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8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数据治理与台账统一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1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9575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模型上线与告警治理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58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7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预警联动作业票闭环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691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2600" y="34004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跨作业区复制推广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62000" y="857250"/>
            <a:ext cx="10668000" cy="4000500"/>
          </a:xfrm>
          <a:custGeom>
            <a:avLst/>
            <a:gdLst/>
            <a:ahLst/>
            <a:cxnLst/>
            <a:rect l="l" t="t" r="r" b="b"/>
            <a:pathLst>
              <a:path w="10668000" h="4000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848100"/>
                </a:lnTo>
                <a:cubicBezTo>
                  <a:pt x="10668000" y="3932268"/>
                  <a:pt x="10599768" y="4000500"/>
                  <a:pt x="10515600" y="4000500"/>
                </a:cubicBezTo>
                <a:lnTo>
                  <a:pt x="152400" y="4000500"/>
                </a:lnTo>
                <a:cubicBezTo>
                  <a:pt x="68232" y="4000500"/>
                  <a:pt x="0" y="3932268"/>
                  <a:pt x="0" y="3848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4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58718" y="148209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结尾与行动建议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0675" y="2424112"/>
            <a:ext cx="66786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1) 重点单位二期能力上线，建立统一治理机制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675" y="2947988"/>
            <a:ext cx="71223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2) 建立场景负责人+平台运营+数据治理联合例会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0675" y="3471862"/>
            <a:ext cx="68922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3) 以量化KPI评估投入产出，形成年度推广闭环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4409" y="5211128"/>
            <a:ext cx="184318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
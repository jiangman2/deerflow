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all84 task page 7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1143000" y="2286000"/>
            <a:ext cx="9525" cy="2286000"/>
          </a:xfrm>
          <a:custGeom>
            <a:avLst/>
            <a:gdLst/>
            <a:ahLst/>
            <a:cxnLst/>
            <a:rect l="l" t="t" r="r" b="b"/>
            <a:pathLst>
              <a:path w="9525" h="2286000">
                <a:moveTo>
                  <a:pt x="0" y="0"/>
                </a:moveTo>
                <a:lnTo>
                  <a:pt x="0" y="2286000"/>
                </a:lnTo>
              </a:path>
            </a:pathLst>
          </a:custGeom>
          <a:noFill/>
          <a:ln w="38100">
            <a:solidFill>
              <a:srgbClr val="D4AF37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1470660" y="2594610"/>
            <a:ext cx="847972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PPT-Master 全能力联通验收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01140" y="3425190"/>
            <a:ext cx="48303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source_to_md + 84脚本覆盖 + 原生导出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8760" y="4061460"/>
            <a:ext cx="234391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6366F1"/>
                </a:solidFill>
                <a:latin typeface="Arial"/>
                <a:ea typeface="Microsoft YaHei"/>
                <a:cs typeface="Arial"/>
              </a:rPr>
              <a:t>PROJECT ID: ALL84-2026-05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143750" y="1428750"/>
            <a:ext cx="3810000" cy="3810000"/>
            <a:chOff x="7143750" y="1428750"/>
            <a:chExt cx="3810000" cy="3810000"/>
          </a:xfrm>
        </p:grpSpPr>
        <p:sp>
          <p:nvSpPr>
            <p:cNvPr id="8" name="Line 8"/>
            <p:cNvSpPr/>
            <p:nvPr/>
          </p:nvSpPr>
          <p:spPr>
            <a:xfrm>
              <a:off x="7620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477500" y="1428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7143750" y="2381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7143750" y="33337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7143750" y="428625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4762">
              <a:solidFill>
                <a:srgbClr val="1E40AF">
                  <a:alpha val="30000"/>
                </a:srgbClr>
              </a:solidFill>
            </a:ln>
          </p:spPr>
        </p:sp>
      </p:grpSp>
      <p:sp>
        <p:nvSpPr>
          <p:cNvPr id="16" name="Line 16"/>
          <p:cNvSpPr/>
          <p:nvPr/>
        </p:nvSpPr>
        <p:spPr>
          <a:xfrm>
            <a:off x="1143000" y="5905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129665" y="6268402"/>
            <a:ext cx="87010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670518" y="6284595"/>
            <a:ext cx="8509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68902" y="6268402"/>
            <a:ext cx="79343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自动化任务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285750"/>
            <a:ext cx="11430000" cy="571500"/>
          </a:xfrm>
          <a:prstGeom prst="rect">
            <a:avLst/>
          </a:prstGeom>
          <a:solidFill>
            <a:srgbClr val="1F293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28575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3890" y="472440"/>
            <a:ext cx="95663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80260" y="53721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汇报提纲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71500" y="1143000"/>
            <a:ext cx="5334000" cy="1238250"/>
            <a:chOff x="571500" y="1143000"/>
            <a:chExt cx="5334000" cy="1238250"/>
          </a:xfrm>
        </p:grpSpPr>
        <p:sp>
          <p:nvSpPr>
            <p:cNvPr id="8" name="Freeform 8"/>
            <p:cNvSpPr/>
            <p:nvPr/>
          </p:nvSpPr>
          <p:spPr>
            <a:xfrm>
              <a:off x="571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91540" y="1148715"/>
              <a:ext cx="747598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5450" y="145732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多源资料入库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01165" y="1791652"/>
              <a:ext cx="2756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Web/HTML/Excel/PDF/PPT -&gt; sources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6286500" y="1143000"/>
            <a:ext cx="5334000" cy="1238250"/>
            <a:chOff x="6286500" y="1143000"/>
            <a:chExt cx="5334000" cy="1238250"/>
          </a:xfrm>
        </p:grpSpPr>
        <p:sp>
          <p:nvSpPr>
            <p:cNvPr id="14" name="Freeform 14"/>
            <p:cNvSpPr/>
            <p:nvPr/>
          </p:nvSpPr>
          <p:spPr>
            <a:xfrm>
              <a:off x="6286500" y="11430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06540" y="11487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10450" y="1457325"/>
              <a:ext cx="14412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84脚本全执行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16165" y="1791652"/>
              <a:ext cx="21122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内部模块 import+exec 全覆盖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429500" y="20955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571500" y="2571750"/>
            <a:ext cx="5334000" cy="1238250"/>
            <a:chOff x="571500" y="2571750"/>
            <a:chExt cx="5334000" cy="1238250"/>
          </a:xfrm>
        </p:grpSpPr>
        <p:sp>
          <p:nvSpPr>
            <p:cNvPr id="20" name="Freeform 20"/>
            <p:cNvSpPr/>
            <p:nvPr/>
          </p:nvSpPr>
          <p:spPr>
            <a:xfrm>
              <a:off x="571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91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1E40AF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95450" y="28860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原生导出链路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01165" y="3220402"/>
              <a:ext cx="22042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quality/split/finalize/export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1714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6286500" y="2571750"/>
            <a:ext cx="5334000" cy="1238250"/>
            <a:chOff x="6286500" y="2571750"/>
            <a:chExt cx="5334000" cy="1238250"/>
          </a:xfrm>
        </p:grpSpPr>
        <p:sp>
          <p:nvSpPr>
            <p:cNvPr id="26" name="Freeform 26"/>
            <p:cNvSpPr/>
            <p:nvPr/>
          </p:nvSpPr>
          <p:spPr>
            <a:xfrm>
              <a:off x="6286500" y="257175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06540" y="257746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7C3AED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0450" y="28860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质量观察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16165" y="322040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CA3AF"/>
                  </a:solidFill>
                  <a:latin typeface="Arial"/>
                  <a:ea typeface="Microsoft YaHei"/>
                  <a:cs typeface="Arial"/>
                </a:rPr>
                <a:t>模板与内容贴合度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7429500" y="35242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374151"/>
              </a:solidFill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571500" y="4000500"/>
            <a:ext cx="5334000" cy="1238250"/>
            <a:chOff x="571500" y="4000500"/>
            <a:chExt cx="5334000" cy="1238250"/>
          </a:xfrm>
        </p:grpSpPr>
        <p:sp>
          <p:nvSpPr>
            <p:cNvPr id="32" name="Freeform 32"/>
            <p:cNvSpPr/>
            <p:nvPr/>
          </p:nvSpPr>
          <p:spPr>
            <a:xfrm>
              <a:off x="571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91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286500" y="4000500"/>
            <a:ext cx="5334000" cy="1238250"/>
            <a:chOff x="6286500" y="4000500"/>
            <a:chExt cx="5334000" cy="1238250"/>
          </a:xfrm>
        </p:grpSpPr>
        <p:sp>
          <p:nvSpPr>
            <p:cNvPr id="35" name="Freeform 35"/>
            <p:cNvSpPr/>
            <p:nvPr/>
          </p:nvSpPr>
          <p:spPr>
            <a:xfrm>
              <a:off x="6286500" y="4000500"/>
              <a:ext cx="5334000" cy="1238250"/>
            </a:xfrm>
            <a:custGeom>
              <a:avLst/>
              <a:gdLst/>
              <a:ahLst/>
              <a:cxnLst/>
              <a:rect l="l" t="t" r="r" b="b"/>
              <a:pathLst>
                <a:path w="5334000" h="1238250">
                  <a:moveTo>
                    <a:pt x="76200" y="0"/>
                  </a:moveTo>
                  <a:lnTo>
                    <a:pt x="5257800" y="0"/>
                  </a:lnTo>
                  <a:cubicBezTo>
                    <a:pt x="5299884" y="0"/>
                    <a:pt x="5334000" y="34116"/>
                    <a:pt x="5334000" y="76200"/>
                  </a:cubicBezTo>
                  <a:lnTo>
                    <a:pt x="5334000" y="1162050"/>
                  </a:lnTo>
                  <a:cubicBezTo>
                    <a:pt x="5334000" y="1204134"/>
                    <a:pt x="5299884" y="1238250"/>
                    <a:pt x="5257800" y="1238250"/>
                  </a:cubicBezTo>
                  <a:lnTo>
                    <a:pt x="76200" y="1238250"/>
                  </a:lnTo>
                  <a:cubicBezTo>
                    <a:pt x="34116" y="1238250"/>
                    <a:pt x="0" y="1204134"/>
                    <a:pt x="0" y="1162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noFill/>
            <a:ln w="9525">
              <a:solidFill>
                <a:srgbClr val="374151"/>
              </a:solidFill>
              <a:prstDash val="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6540" y="4006215"/>
              <a:ext cx="931621" cy="975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rgbClr val="374151">
                      <a:alpha val="30000"/>
                    </a:srgbClr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571500" y="57150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374151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560070" y="6379845"/>
            <a:ext cx="7458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2026-05-04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705975" y="6387941"/>
            <a:ext cx="78005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536775" y="6379845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源转换已联通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089083" y="3410902"/>
            <a:ext cx="40138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已完成 web/html/excel/pdf/ppt 到 markdown 并入库。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3444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/tmp/all84-task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15041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84脚本执行覆盖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4319111" y="3410902"/>
            <a:ext cx="35537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内部模块导入与代表函数执行均已纳入同任务流程。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204001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internal_module_coverage.py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图像与后处理能力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3092291" y="3410902"/>
            <a:ext cx="60074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包含 image_sources/image_backends/svg_finalize/template_import 等能力验证。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65115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module-level coverage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381000" y="190500"/>
            <a:ext cx="11430000" cy="5715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381000" y="190500"/>
            <a:ext cx="57150" cy="5715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4067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导出能力验证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381000" y="952500"/>
            <a:ext cx="11430000" cy="4953000"/>
          </a:xfrm>
          <a:custGeom>
            <a:avLst/>
            <a:gdLst/>
            <a:ahLst/>
            <a:cxnLst/>
            <a:rect l="l" t="t" r="r" b="b"/>
            <a:pathLst>
              <a:path w="11430000" h="4953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4914900"/>
                </a:lnTo>
                <a:cubicBezTo>
                  <a:pt x="11430000" y="4935942"/>
                  <a:pt x="11412942" y="4953000"/>
                  <a:pt x="11391900" y="4953000"/>
                </a:cubicBezTo>
                <a:lnTo>
                  <a:pt x="38100" y="4953000"/>
                </a:lnTo>
                <a:cubicBezTo>
                  <a:pt x="17058" y="4953000"/>
                  <a:pt x="0" y="4935942"/>
                  <a:pt x="0" y="4914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noFill/>
          <a:ln w="9525">
            <a:solidFill>
              <a:srgbClr val="E5E7EB"/>
            </a:solidFill>
            <a:prstDash val="lgDash"/>
          </a:ln>
        </p:spPr>
      </p:sp>
      <p:sp>
        <p:nvSpPr>
          <p:cNvPr id="9" name="TextBox 9"/>
          <p:cNvSpPr txBox="1"/>
          <p:nvPr/>
        </p:nvSpPr>
        <p:spPr>
          <a:xfrm>
            <a:off x="3391329" y="3410902"/>
            <a:ext cx="540934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D1D5DB"/>
                </a:solidFill>
                <a:latin typeface="Arial"/>
                <a:ea typeface="Microsoft YaHei"/>
                <a:cs typeface="Arial"/>
              </a:rPr>
              <a:t>svg_quality_checker -&gt; total_md_split -&gt; finalize_svg -&gt; svg_to_pptx。</a:t>
            </a:r>
          </a:p>
        </p:txBody>
      </p:sp>
      <p:sp>
        <p:nvSpPr>
          <p:cNvPr id="10" name="Line 10"/>
          <p:cNvSpPr/>
          <p:nvPr/>
        </p:nvSpPr>
        <p:spPr>
          <a:xfrm>
            <a:off x="381000" y="6286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9525">
            <a:solidFill>
              <a:srgbClr val="E5E7EB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71475" y="6538912"/>
            <a:ext cx="1240393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Source: native pipeline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41432" y="6538912"/>
            <a:ext cx="70913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367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E40AF"/>
              </a:gs>
              <a:gs pos="100000">
                <a:srgbClr val="7C3AED"/>
              </a:gs>
            </a:gsLst>
            <a:lin ang="0" scaled="1"/>
          </a:gra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952500" y="952500"/>
            <a:ext cx="10287000" cy="4953000"/>
            <a:chOff x="952500" y="952500"/>
            <a:chExt cx="10287000" cy="4953000"/>
          </a:xfrm>
        </p:grpSpPr>
        <p:sp>
          <p:nvSpPr>
            <p:cNvPr id="4" name="Line 4"/>
            <p:cNvSpPr/>
            <p:nvPr/>
          </p:nvSpPr>
          <p:spPr>
            <a:xfrm>
              <a:off x="190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381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7620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0" y="952500"/>
              <a:ext cx="9525" cy="4953000"/>
            </a:xfrm>
            <a:custGeom>
              <a:avLst/>
              <a:gdLst/>
              <a:ahLst/>
              <a:cxnLst/>
              <a:rect l="l" t="t" r="r" b="b"/>
              <a:pathLst>
                <a:path w="9525" h="4953000">
                  <a:moveTo>
                    <a:pt x="0" y="0"/>
                  </a:moveTo>
                  <a:lnTo>
                    <a:pt x="0" y="495300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952500" y="1905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52500" y="3429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952500" y="49530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4762">
              <a:solidFill>
                <a:srgbClr val="1E40AF">
                  <a:alpha val="10000"/>
                </a:srgbClr>
              </a:solidFill>
            </a:ln>
          </p:spPr>
        </p:sp>
      </p:grpSp>
      <p:sp>
        <p:nvSpPr>
          <p:cNvPr id="13" name="TextBox 13"/>
          <p:cNvSpPr txBox="1"/>
          <p:nvPr/>
        </p:nvSpPr>
        <p:spPr>
          <a:xfrm>
            <a:off x="4464663" y="2213610"/>
            <a:ext cx="3262674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THANK YOU</a:t>
            </a:r>
          </a:p>
        </p:txBody>
      </p:sp>
      <p:sp>
        <p:nvSpPr>
          <p:cNvPr id="14" name="Line 14"/>
          <p:cNvSpPr/>
          <p:nvPr/>
        </p:nvSpPr>
        <p:spPr>
          <a:xfrm>
            <a:off x="4762500" y="3048000"/>
            <a:ext cx="2667000" cy="9525"/>
          </a:xfrm>
          <a:custGeom>
            <a:avLst/>
            <a:gdLst/>
            <a:ahLst/>
            <a:cxnLst/>
            <a:rect l="l" t="t" r="r" b="b"/>
            <a:pathLst>
              <a:path w="2667000" h="9525">
                <a:moveTo>
                  <a:pt x="0" y="0"/>
                </a:moveTo>
                <a:lnTo>
                  <a:pt x="2667000" y="0"/>
                </a:lnTo>
              </a:path>
            </a:pathLst>
          </a:custGeom>
          <a:noFill/>
          <a:ln w="28575">
            <a:solidFill>
              <a:srgbClr val="D4AF37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4864108" y="3441382"/>
            <a:ext cx="246378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ALL84 全联通任务完成</a:t>
            </a:r>
          </a:p>
        </p:txBody>
      </p:sp>
      <p:sp>
        <p:nvSpPr>
          <p:cNvPr id="16" name="Freeform 16"/>
          <p:cNvSpPr/>
          <p:nvPr/>
        </p:nvSpPr>
        <p:spPr>
          <a:xfrm>
            <a:off x="4191000" y="4191000"/>
            <a:ext cx="3810000" cy="952500"/>
          </a:xfrm>
          <a:custGeom>
            <a:avLst/>
            <a:gdLst/>
            <a:ahLst/>
            <a:cxnLst/>
            <a:rect l="l" t="t" r="r" b="b"/>
            <a:pathLst>
              <a:path w="3810000" h="952500">
                <a:moveTo>
                  <a:pt x="76200" y="0"/>
                </a:moveTo>
                <a:lnTo>
                  <a:pt x="3733800" y="0"/>
                </a:lnTo>
                <a:cubicBezTo>
                  <a:pt x="3775884" y="0"/>
                  <a:pt x="3810000" y="34116"/>
                  <a:pt x="3810000" y="76200"/>
                </a:cubicBezTo>
                <a:lnTo>
                  <a:pt x="3810000" y="876300"/>
                </a:lnTo>
                <a:cubicBezTo>
                  <a:pt x="3810000" y="918384"/>
                  <a:pt x="3775884" y="952500"/>
                  <a:pt x="3733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F2937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32079" y="4537710"/>
            <a:ext cx="132784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PPT Master QA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38584" y="48396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ops@example.com</a:t>
            </a:r>
          </a:p>
        </p:txBody>
      </p:sp>
      <p:sp>
        <p:nvSpPr>
          <p:cNvPr id="19" name="Line 19"/>
          <p:cNvSpPr/>
          <p:nvPr/>
        </p:nvSpPr>
        <p:spPr>
          <a:xfrm>
            <a:off x="1905000" y="609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1F2937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4949892" y="6387941"/>
            <a:ext cx="229221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D4AF37"/>
                </a:solidFill>
                <a:latin typeface="Arial"/>
                <a:ea typeface="Microsoft YaHei"/>
                <a:cs typeface="Arial"/>
              </a:rPr>
              <a:t>CONFIDENTIAL · 2026 Full Coverage Test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
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讲解重点：第1页核心结论、业务价值与执行动作。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讲解重点：第2页核心结论、业务价值与执行动作。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讲解重点：第3页核心结论、业务价值与执行动作。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讲解重点：第4页核心结论、业务价值与执行动作。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讲解重点：第5页核心结论、业务价值与执行动作。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讲解重点：第6页核心结论、业务价值与执行动作。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讲解重点：第7页核心结论、业务价值与执行动作。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讲解重点：第8页核心结论、业务价值与执行动作。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讲解重点：第9页核心结论、业务价值与执行动作。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讲解重点：第10页核心结论、业务价值与执行动作。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讲解重点：第11页核心结论、业务价值与执行动作。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讲解重点：第12页核心结论、业务价值与执行动作。</a:t>
            </a:r>
          </a:p>
          <a:p>
            <a:r>
              <a:rPr lang="zh-CN" dirty="0"/>
              <a:t>• 建议时长：60-90秒，先结论后证据。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image" Target="../media/s1_img2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2_img1.png"/>
  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7650"/>
            <a:ext cx="1390650" cy="419100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571500" y="3048000"/>
            <a:ext cx="11049000" cy="2476500"/>
          </a:xfrm>
          <a:custGeom>
            <a:avLst/>
            <a:gdLst/>
            <a:ahLst/>
            <a:cxnLst/>
            <a:rect l="l" t="t" r="r" b="b"/>
            <a:pathLst>
              <a:path w="11049000" h="2476500">
                <a:moveTo>
                  <a:pt x="152400" y="0"/>
                </a:moveTo>
                <a:lnTo>
                  <a:pt x="10896600" y="0"/>
                </a:lnTo>
                <a:cubicBezTo>
                  <a:pt x="10980768" y="0"/>
                  <a:pt x="11049000" y="68232"/>
                  <a:pt x="11049000" y="152400"/>
                </a:cubicBezTo>
                <a:lnTo>
                  <a:pt x="11049000" y="2324100"/>
                </a:lnTo>
                <a:cubicBezTo>
                  <a:pt x="11049000" y="2408268"/>
                  <a:pt x="10980768" y="2476500"/>
                  <a:pt x="10896600" y="2476500"/>
                </a:cubicBezTo>
                <a:lnTo>
                  <a:pt x="152400" y="2476500"/>
                </a:lnTo>
                <a:cubicBezTo>
                  <a:pt x="68232" y="2476500"/>
                  <a:pt x="0" y="2408268"/>
                  <a:pt x="0" y="2324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003E73">
              <a:alpha val="38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5805" y="3264218"/>
            <a:ext cx="11450907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中海油智能体平台建设与应用成效汇报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8665" y="3991928"/>
            <a:ext cx="772932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基于 haiyou_pure_svg 的强约束全链路成片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4380" y="4554855"/>
            <a:ext cx="649414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汇报单位：中海油研究总院数智研究院技术团队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4380" y="4935855"/>
            <a:ext cx="32737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汇报日期：2026-05-04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" y="0"/>
            <a:ext cx="12174855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666750" y="781050"/>
            <a:ext cx="10858500" cy="5295900"/>
          </a:xfrm>
          <a:custGeom>
            <a:avLst/>
            <a:gdLst/>
            <a:ahLst/>
            <a:cxnLst/>
            <a:rect l="l" t="t" r="r" b="b"/>
            <a:pathLst>
              <a:path w="10858500" h="5295900">
                <a:moveTo>
                  <a:pt x="171450" y="0"/>
                </a:moveTo>
                <a:lnTo>
                  <a:pt x="10687050" y="0"/>
                </a:lnTo>
                <a:cubicBezTo>
                  <a:pt x="10781739" y="0"/>
                  <a:pt x="10858500" y="76761"/>
                  <a:pt x="10858500" y="171450"/>
                </a:cubicBezTo>
                <a:lnTo>
                  <a:pt x="10858500" y="5124450"/>
                </a:lnTo>
                <a:cubicBezTo>
                  <a:pt x="10858500" y="5219139"/>
                  <a:pt x="10781739" y="5295900"/>
                  <a:pt x="10687050" y="5295900"/>
                </a:cubicBezTo>
                <a:lnTo>
                  <a:pt x="171450" y="5295900"/>
                </a:lnTo>
                <a:cubicBezTo>
                  <a:pt x="76761" y="5295900"/>
                  <a:pt x="0" y="5219139"/>
                  <a:pt x="0" y="5124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86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89660" y="1070610"/>
            <a:ext cx="139484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5" name="Line 5"/>
          <p:cNvSpPr/>
          <p:nvPr/>
        </p:nvSpPr>
        <p:spPr>
          <a:xfrm>
            <a:off x="1143000" y="169545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28575">
            <a:solidFill>
              <a:srgbClr val="2C7BC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205865" y="2105978"/>
            <a:ext cx="325181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01 建设背景与目标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5865" y="2677478"/>
            <a:ext cx="413167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02 平台架构与关键能力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5865" y="3248978"/>
            <a:ext cx="413167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03 试点成效与推广计划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5390" y="4139565"/>
            <a:ext cx="1023270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A5A84"/>
                </a:solidFill>
                <a:latin typeface="Microsoft YaHei"/>
                <a:ea typeface="Microsoft YaHei"/>
                <a:cs typeface="Microsoft YaHei"/>
              </a:rPr>
              <a:t>覆盖能力：项目管理、质量检查、SVG精修、导出、图像检索/生成探针、动画/语音探针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38250" y="4762500"/>
            <a:ext cx="9810750" cy="904875"/>
          </a:xfrm>
          <a:custGeom>
            <a:avLst/>
            <a:gdLst/>
            <a:ahLst/>
            <a:cxnLst/>
            <a:rect l="l" t="t" r="r" b="b"/>
            <a:pathLst>
              <a:path w="9810750" h="904875">
                <a:moveTo>
                  <a:pt x="114300" y="0"/>
                </a:moveTo>
                <a:lnTo>
                  <a:pt x="9696450" y="0"/>
                </a:lnTo>
                <a:cubicBezTo>
                  <a:pt x="9759576" y="0"/>
                  <a:pt x="9810750" y="51174"/>
                  <a:pt x="9810750" y="114300"/>
                </a:cubicBezTo>
                <a:lnTo>
                  <a:pt x="9810750" y="790575"/>
                </a:lnTo>
                <a:cubicBezTo>
                  <a:pt x="9810750" y="853701"/>
                  <a:pt x="9759576" y="904875"/>
                  <a:pt x="9696450" y="904875"/>
                </a:cubicBezTo>
                <a:lnTo>
                  <a:pt x="114300" y="904875"/>
                </a:lnTo>
                <a:cubicBezTo>
                  <a:pt x="51174" y="904875"/>
                  <a:pt x="0" y="853701"/>
                  <a:pt x="0" y="7905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AF4FD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453515" y="5025390"/>
            <a:ext cx="638136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主线：问题识别 -&gt; 能力构建 -&gt; 场景落地 -&gt; 规模推广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714500" y="1809750"/>
            <a:ext cx="8763000" cy="3429000"/>
          </a:xfrm>
          <a:custGeom>
            <a:avLst/>
            <a:gdLst/>
            <a:ahLst/>
            <a:cxnLst/>
            <a:rect l="l" t="t" r="r" b="b"/>
            <a:pathLst>
              <a:path w="8763000" h="3429000">
                <a:moveTo>
                  <a:pt x="171450" y="0"/>
                </a:moveTo>
                <a:lnTo>
                  <a:pt x="8591550" y="0"/>
                </a:lnTo>
                <a:cubicBezTo>
                  <a:pt x="8686239" y="0"/>
                  <a:pt x="8763000" y="76761"/>
                  <a:pt x="8763000" y="171450"/>
                </a:cubicBezTo>
                <a:lnTo>
                  <a:pt x="8763000" y="3257550"/>
                </a:lnTo>
                <a:cubicBezTo>
                  <a:pt x="8763000" y="3352239"/>
                  <a:pt x="8686239" y="3429000"/>
                  <a:pt x="8591550" y="3429000"/>
                </a:cubicBezTo>
                <a:lnTo>
                  <a:pt x="171450" y="3429000"/>
                </a:lnTo>
                <a:cubicBezTo>
                  <a:pt x="76761" y="3429000"/>
                  <a:pt x="0" y="3352239"/>
                  <a:pt x="0" y="3257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19908" y="1785938"/>
            <a:ext cx="1752183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11473" y="3576638"/>
            <a:ext cx="5769054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建设背景与目标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50863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现状痛点与建设必要性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986790"/>
            <a:ext cx="418623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系统割裂、效率偏低、治理链路长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619250"/>
            <a:ext cx="7048500" cy="4476750"/>
          </a:xfrm>
          <a:custGeom>
            <a:avLst/>
            <a:gdLst/>
            <a:ahLst/>
            <a:cxnLst/>
            <a:rect l="l" t="t" r="r" b="b"/>
            <a:pathLst>
              <a:path w="7048500" h="4476750">
                <a:moveTo>
                  <a:pt x="133350" y="0"/>
                </a:moveTo>
                <a:lnTo>
                  <a:pt x="6915150" y="0"/>
                </a:lnTo>
                <a:cubicBezTo>
                  <a:pt x="6988797" y="0"/>
                  <a:pt x="7048500" y="59703"/>
                  <a:pt x="7048500" y="133350"/>
                </a:cubicBezTo>
                <a:lnTo>
                  <a:pt x="7048500" y="4343400"/>
                </a:lnTo>
                <a:cubicBezTo>
                  <a:pt x="7048500" y="4417047"/>
                  <a:pt x="6988797" y="4476750"/>
                  <a:pt x="6915150" y="4476750"/>
                </a:cubicBezTo>
                <a:lnTo>
                  <a:pt x="133350" y="4476750"/>
                </a:lnTo>
                <a:cubicBezTo>
                  <a:pt x="59703" y="4476750"/>
                  <a:pt x="0" y="4417047"/>
                  <a:pt x="0" y="434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7905750" y="1619250"/>
            <a:ext cx="3714750" cy="4476750"/>
          </a:xfrm>
          <a:custGeom>
            <a:avLst/>
            <a:gdLst/>
            <a:ahLst/>
            <a:cxnLst/>
            <a:rect l="l" t="t" r="r" b="b"/>
            <a:pathLst>
              <a:path w="3714750" h="4476750">
                <a:moveTo>
                  <a:pt x="133350" y="0"/>
                </a:moveTo>
                <a:lnTo>
                  <a:pt x="3581400" y="0"/>
                </a:lnTo>
                <a:cubicBezTo>
                  <a:pt x="3655047" y="0"/>
                  <a:pt x="3714750" y="59703"/>
                  <a:pt x="3714750" y="133350"/>
                </a:cubicBezTo>
                <a:lnTo>
                  <a:pt x="3714750" y="4343400"/>
                </a:lnTo>
                <a:cubicBezTo>
                  <a:pt x="3714750" y="4417047"/>
                  <a:pt x="3655047" y="4476750"/>
                  <a:pt x="3581400" y="4476750"/>
                </a:cubicBezTo>
                <a:lnTo>
                  <a:pt x="133350" y="4476750"/>
                </a:lnTo>
                <a:cubicBezTo>
                  <a:pt x="59703" y="4476750"/>
                  <a:pt x="0" y="4417047"/>
                  <a:pt x="0" y="434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19150" y="1962150"/>
            <a:ext cx="361950" cy="339328"/>
          </a:xfrm>
          <a:custGeom>
            <a:avLst/>
            <a:gdLst/>
            <a:ahLst/>
            <a:cxnLst/>
            <a:rect l="l" t="t" r="r" b="b"/>
            <a:pathLst>
              <a:path w="361950" h="339328">
                <a:moveTo>
                  <a:pt x="361950" y="339328"/>
                </a:moveTo>
                <a:lnTo>
                  <a:pt x="0" y="339328"/>
                </a:lnTo>
                <a:lnTo>
                  <a:pt x="0" y="271462"/>
                </a:lnTo>
                <a:lnTo>
                  <a:pt x="158353" y="0"/>
                </a:lnTo>
                <a:lnTo>
                  <a:pt x="203597" y="0"/>
                </a:lnTo>
                <a:lnTo>
                  <a:pt x="361950" y="271462"/>
                </a:lnTo>
                <a:lnTo>
                  <a:pt x="361950" y="339328"/>
                </a:lnTo>
                <a:close/>
                <a:moveTo>
                  <a:pt x="158353" y="90488"/>
                </a:moveTo>
                <a:lnTo>
                  <a:pt x="203597" y="90488"/>
                </a:lnTo>
                <a:lnTo>
                  <a:pt x="203597" y="203597"/>
                </a:lnTo>
                <a:lnTo>
                  <a:pt x="158353" y="203597"/>
                </a:lnTo>
                <a:lnTo>
                  <a:pt x="158353" y="90488"/>
                </a:lnTo>
                <a:close/>
                <a:moveTo>
                  <a:pt x="158353" y="248841"/>
                </a:moveTo>
                <a:lnTo>
                  <a:pt x="203597" y="248841"/>
                </a:lnTo>
                <a:lnTo>
                  <a:pt x="203597" y="294084"/>
                </a:lnTo>
                <a:lnTo>
                  <a:pt x="158353" y="294084"/>
                </a:lnTo>
                <a:lnTo>
                  <a:pt x="158353" y="248841"/>
                </a:lnTo>
                <a:close/>
              </a:path>
            </a:pathLst>
          </a:custGeom>
          <a:solidFill>
            <a:srgbClr val="DE002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54442" y="2033111"/>
            <a:ext cx="4704636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告警噪声高：日均1200+，人工筛选成本高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64394" y="2495550"/>
            <a:ext cx="271462" cy="361950"/>
            <a:chOff x="864394" y="2495550"/>
            <a:chExt cx="271462" cy="361950"/>
          </a:xfrm>
        </p:grpSpPr>
        <p:sp>
          <p:nvSpPr>
            <p:cNvPr id="10" name="Freeform 10"/>
            <p:cNvSpPr/>
            <p:nvPr/>
          </p:nvSpPr>
          <p:spPr>
            <a:xfrm>
              <a:off x="864394" y="2640330"/>
              <a:ext cx="271462" cy="104060"/>
            </a:xfrm>
            <a:custGeom>
              <a:avLst/>
              <a:gdLst/>
              <a:ahLst/>
              <a:cxnLst/>
              <a:rect l="l" t="t" r="r" b="b"/>
              <a:pathLst>
                <a:path w="271462" h="104060">
                  <a:moveTo>
                    <a:pt x="251942" y="11541"/>
                  </a:moveTo>
                  <a:cubicBezTo>
                    <a:pt x="258306" y="8359"/>
                    <a:pt x="264954" y="4520"/>
                    <a:pt x="271462" y="0"/>
                  </a:cubicBezTo>
                  <a:lnTo>
                    <a:pt x="271462" y="36195"/>
                  </a:lnTo>
                  <a:cubicBezTo>
                    <a:pt x="271462" y="73676"/>
                    <a:pt x="210693" y="104060"/>
                    <a:pt x="135731" y="104060"/>
                  </a:cubicBezTo>
                  <a:cubicBezTo>
                    <a:pt x="60769" y="104060"/>
                    <a:pt x="0" y="73676"/>
                    <a:pt x="0" y="36195"/>
                  </a:cubicBezTo>
                  <a:lnTo>
                    <a:pt x="0" y="0"/>
                  </a:lnTo>
                  <a:cubicBezTo>
                    <a:pt x="6509" y="4520"/>
                    <a:pt x="13156" y="8359"/>
                    <a:pt x="19521" y="11541"/>
                  </a:cubicBezTo>
                  <a:cubicBezTo>
                    <a:pt x="51600" y="27580"/>
                    <a:pt x="92749" y="36195"/>
                    <a:pt x="135731" y="36195"/>
                  </a:cubicBezTo>
                  <a:cubicBezTo>
                    <a:pt x="178713" y="36195"/>
                    <a:pt x="219862" y="27580"/>
                    <a:pt x="251942" y="11541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864394" y="2753439"/>
              <a:ext cx="271462" cy="104061"/>
            </a:xfrm>
            <a:custGeom>
              <a:avLst/>
              <a:gdLst/>
              <a:ahLst/>
              <a:cxnLst/>
              <a:rect l="l" t="t" r="r" b="b"/>
              <a:pathLst>
                <a:path w="271462" h="104061">
                  <a:moveTo>
                    <a:pt x="0" y="0"/>
                  </a:moveTo>
                  <a:lnTo>
                    <a:pt x="0" y="36195"/>
                  </a:lnTo>
                  <a:cubicBezTo>
                    <a:pt x="0" y="73677"/>
                    <a:pt x="60769" y="104061"/>
                    <a:pt x="135731" y="104061"/>
                  </a:cubicBezTo>
                  <a:cubicBezTo>
                    <a:pt x="210693" y="104061"/>
                    <a:pt x="271462" y="73677"/>
                    <a:pt x="271462" y="36195"/>
                  </a:cubicBezTo>
                  <a:lnTo>
                    <a:pt x="271462" y="0"/>
                  </a:lnTo>
                  <a:cubicBezTo>
                    <a:pt x="264954" y="4520"/>
                    <a:pt x="258306" y="8359"/>
                    <a:pt x="251942" y="11542"/>
                  </a:cubicBezTo>
                  <a:cubicBezTo>
                    <a:pt x="219862" y="27581"/>
                    <a:pt x="178713" y="36195"/>
                    <a:pt x="135731" y="36195"/>
                  </a:cubicBezTo>
                  <a:cubicBezTo>
                    <a:pt x="92749" y="36195"/>
                    <a:pt x="51600" y="27581"/>
                    <a:pt x="19521" y="11542"/>
                  </a:cubicBezTo>
                  <a:cubicBezTo>
                    <a:pt x="13156" y="8359"/>
                    <a:pt x="6509" y="4520"/>
                    <a:pt x="0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864394" y="2495550"/>
              <a:ext cx="271462" cy="135731"/>
            </a:xfrm>
            <a:custGeom>
              <a:avLst/>
              <a:gdLst/>
              <a:ahLst/>
              <a:cxnLst/>
              <a:rect l="l" t="t" r="r" b="b"/>
              <a:pathLst>
                <a:path w="271462" h="135731">
                  <a:moveTo>
                    <a:pt x="135731" y="0"/>
                  </a:moveTo>
                  <a:cubicBezTo>
                    <a:pt x="210693" y="0"/>
                    <a:pt x="271462" y="30385"/>
                    <a:pt x="271462" y="67866"/>
                  </a:cubicBezTo>
                  <a:cubicBezTo>
                    <a:pt x="271462" y="105347"/>
                    <a:pt x="210693" y="135731"/>
                    <a:pt x="135731" y="135731"/>
                  </a:cubicBezTo>
                  <a:cubicBezTo>
                    <a:pt x="60769" y="135731"/>
                    <a:pt x="0" y="105347"/>
                    <a:pt x="0" y="67866"/>
                  </a:cubicBezTo>
                  <a:cubicBezTo>
                    <a:pt x="0" y="30385"/>
                    <a:pt x="60769" y="0"/>
                    <a:pt x="135731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254442" y="2566511"/>
            <a:ext cx="4074795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数据口径不统一：跨系统追溯链路长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19150" y="3028950"/>
            <a:ext cx="361950" cy="361950"/>
            <a:chOff x="819150" y="3028950"/>
            <a:chExt cx="361950" cy="361950"/>
          </a:xfrm>
        </p:grpSpPr>
        <p:sp>
          <p:nvSpPr>
            <p:cNvPr id="15" name="Freeform 15"/>
            <p:cNvSpPr/>
            <p:nvPr/>
          </p:nvSpPr>
          <p:spPr>
            <a:xfrm>
              <a:off x="819150" y="302895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4803" y="45297"/>
                  </a:moveTo>
                  <a:cubicBezTo>
                    <a:pt x="183531" y="45261"/>
                    <a:pt x="182255" y="45244"/>
                    <a:pt x="180975" y="45244"/>
                  </a:cubicBezTo>
                  <a:cubicBezTo>
                    <a:pt x="106013" y="45244"/>
                    <a:pt x="45244" y="106013"/>
                    <a:pt x="45244" y="180975"/>
                  </a:cubicBezTo>
                  <a:cubicBezTo>
                    <a:pt x="45244" y="255937"/>
                    <a:pt x="106013" y="316706"/>
                    <a:pt x="180975" y="316706"/>
                  </a:cubicBezTo>
                  <a:cubicBezTo>
                    <a:pt x="255937" y="316706"/>
                    <a:pt x="316706" y="255937"/>
                    <a:pt x="316706" y="180975"/>
                  </a:cubicBezTo>
                  <a:cubicBezTo>
                    <a:pt x="316706" y="179695"/>
                    <a:pt x="316688" y="178419"/>
                    <a:pt x="316654" y="177147"/>
                  </a:cubicBezTo>
                  <a:lnTo>
                    <a:pt x="356616" y="137184"/>
                  </a:lnTo>
                  <a:cubicBezTo>
                    <a:pt x="360100" y="151206"/>
                    <a:pt x="361950" y="165875"/>
                    <a:pt x="361950" y="180975"/>
                  </a:cubicBezTo>
                  <a:cubicBezTo>
                    <a:pt x="361950" y="280925"/>
                    <a:pt x="280925" y="361950"/>
                    <a:pt x="180975" y="361950"/>
                  </a:cubicBezTo>
                  <a:cubicBezTo>
                    <a:pt x="81025" y="361950"/>
                    <a:pt x="0" y="280925"/>
                    <a:pt x="0" y="180975"/>
                  </a:cubicBezTo>
                  <a:cubicBezTo>
                    <a:pt x="0" y="81025"/>
                    <a:pt x="81025" y="0"/>
                    <a:pt x="180975" y="0"/>
                  </a:cubicBezTo>
                  <a:cubicBezTo>
                    <a:pt x="196075" y="0"/>
                    <a:pt x="210744" y="1849"/>
                    <a:pt x="224766" y="5334"/>
                  </a:cubicBezTo>
                  <a:lnTo>
                    <a:pt x="184803" y="45297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909638" y="3122287"/>
              <a:ext cx="178125" cy="178125"/>
            </a:xfrm>
            <a:custGeom>
              <a:avLst/>
              <a:gdLst/>
              <a:ahLst/>
              <a:cxnLst/>
              <a:rect l="l" t="t" r="r" b="b"/>
              <a:pathLst>
                <a:path w="178125" h="178125">
                  <a:moveTo>
                    <a:pt x="0" y="87637"/>
                  </a:moveTo>
                  <a:cubicBezTo>
                    <a:pt x="0" y="45473"/>
                    <a:pt x="28838" y="10045"/>
                    <a:pt x="67866" y="0"/>
                  </a:cubicBezTo>
                  <a:lnTo>
                    <a:pt x="67866" y="48446"/>
                  </a:lnTo>
                  <a:cubicBezTo>
                    <a:pt x="54342" y="56269"/>
                    <a:pt x="45244" y="70890"/>
                    <a:pt x="45244" y="87637"/>
                  </a:cubicBezTo>
                  <a:cubicBezTo>
                    <a:pt x="45244" y="112624"/>
                    <a:pt x="65500" y="132880"/>
                    <a:pt x="90488" y="132880"/>
                  </a:cubicBezTo>
                  <a:cubicBezTo>
                    <a:pt x="107234" y="132880"/>
                    <a:pt x="121856" y="123782"/>
                    <a:pt x="129679" y="110259"/>
                  </a:cubicBezTo>
                  <a:lnTo>
                    <a:pt x="178125" y="110259"/>
                  </a:lnTo>
                  <a:cubicBezTo>
                    <a:pt x="168078" y="149287"/>
                    <a:pt x="132651" y="178125"/>
                    <a:pt x="90488" y="178125"/>
                  </a:cubicBezTo>
                  <a:cubicBezTo>
                    <a:pt x="40513" y="178125"/>
                    <a:pt x="0" y="137612"/>
                    <a:pt x="0" y="87637"/>
                  </a:cubicBez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95440" y="3028950"/>
              <a:ext cx="185660" cy="185660"/>
            </a:xfrm>
            <a:custGeom>
              <a:avLst/>
              <a:gdLst/>
              <a:ahLst/>
              <a:cxnLst/>
              <a:rect l="l" t="t" r="r" b="b"/>
              <a:pathLst>
                <a:path w="185660" h="185660">
                  <a:moveTo>
                    <a:pt x="140416" y="45244"/>
                  </a:moveTo>
                  <a:lnTo>
                    <a:pt x="117795" y="0"/>
                  </a:lnTo>
                  <a:lnTo>
                    <a:pt x="49929" y="67866"/>
                  </a:lnTo>
                  <a:lnTo>
                    <a:pt x="49929" y="103739"/>
                  </a:lnTo>
                  <a:lnTo>
                    <a:pt x="0" y="153668"/>
                  </a:lnTo>
                  <a:lnTo>
                    <a:pt x="31992" y="185660"/>
                  </a:lnTo>
                  <a:lnTo>
                    <a:pt x="81921" y="135731"/>
                  </a:lnTo>
                  <a:lnTo>
                    <a:pt x="117795" y="135731"/>
                  </a:lnTo>
                  <a:lnTo>
                    <a:pt x="185660" y="67866"/>
                  </a:lnTo>
                  <a:lnTo>
                    <a:pt x="140416" y="45244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254442" y="3099911"/>
            <a:ext cx="3923633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处置闭环慢：平均9.5h，目标5.6h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71485" y="1884998"/>
            <a:ext cx="124568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影响评估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75295" y="2488882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报告编制周期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82175" y="2424112"/>
            <a:ext cx="81624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DE002B"/>
                </a:solidFill>
                <a:latin typeface="Arial"/>
                <a:ea typeface="Microsoft YaHei"/>
                <a:cs typeface="Arial"/>
              </a:rPr>
              <a:t>+35%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75295" y="2965132"/>
            <a:ext cx="17287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人工对齐工作量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82175" y="2900362"/>
            <a:ext cx="81624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DE002B"/>
                </a:solidFill>
                <a:latin typeface="Arial"/>
                <a:ea typeface="Microsoft YaHei"/>
                <a:cs typeface="Arial"/>
              </a:rPr>
              <a:t>+42%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508635"/>
            <a:ext cx="354661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目标KPI与价值锚点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986790"/>
            <a:ext cx="44622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可靠性、效率、安全三维度量化目标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61925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152400" y="0"/>
                </a:moveTo>
                <a:lnTo>
                  <a:pt x="3371850" y="0"/>
                </a:lnTo>
                <a:cubicBezTo>
                  <a:pt x="3456018" y="0"/>
                  <a:pt x="3524250" y="68232"/>
                  <a:pt x="3524250" y="152400"/>
                </a:cubicBezTo>
                <a:lnTo>
                  <a:pt x="3524250" y="1943100"/>
                </a:lnTo>
                <a:cubicBezTo>
                  <a:pt x="3524250" y="2027268"/>
                  <a:pt x="3456018" y="2095500"/>
                  <a:pt x="3371850" y="2095500"/>
                </a:cubicBezTo>
                <a:lnTo>
                  <a:pt x="152400" y="2095500"/>
                </a:lnTo>
                <a:cubicBezTo>
                  <a:pt x="68232" y="2095500"/>
                  <a:pt x="0" y="2027268"/>
                  <a:pt x="0" y="1943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4333875" y="161925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152400" y="0"/>
                </a:moveTo>
                <a:lnTo>
                  <a:pt x="3371850" y="0"/>
                </a:lnTo>
                <a:cubicBezTo>
                  <a:pt x="3456018" y="0"/>
                  <a:pt x="3524250" y="68232"/>
                  <a:pt x="3524250" y="152400"/>
                </a:cubicBezTo>
                <a:lnTo>
                  <a:pt x="3524250" y="1943100"/>
                </a:lnTo>
                <a:cubicBezTo>
                  <a:pt x="3524250" y="2027268"/>
                  <a:pt x="3456018" y="2095500"/>
                  <a:pt x="3371850" y="2095500"/>
                </a:cubicBezTo>
                <a:lnTo>
                  <a:pt x="152400" y="2095500"/>
                </a:lnTo>
                <a:cubicBezTo>
                  <a:pt x="68232" y="2095500"/>
                  <a:pt x="0" y="2027268"/>
                  <a:pt x="0" y="1943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096250" y="161925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152400" y="0"/>
                </a:moveTo>
                <a:lnTo>
                  <a:pt x="3371850" y="0"/>
                </a:lnTo>
                <a:cubicBezTo>
                  <a:pt x="3456018" y="0"/>
                  <a:pt x="3524250" y="68232"/>
                  <a:pt x="3524250" y="152400"/>
                </a:cubicBezTo>
                <a:lnTo>
                  <a:pt x="3524250" y="1943100"/>
                </a:lnTo>
                <a:cubicBezTo>
                  <a:pt x="3524250" y="2027268"/>
                  <a:pt x="3456018" y="2095500"/>
                  <a:pt x="3371850" y="2095500"/>
                </a:cubicBezTo>
                <a:lnTo>
                  <a:pt x="152400" y="2095500"/>
                </a:lnTo>
                <a:cubicBezTo>
                  <a:pt x="68232" y="2095500"/>
                  <a:pt x="0" y="2027268"/>
                  <a:pt x="0" y="1943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79145" y="2012632"/>
            <a:ext cx="124682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设备可用率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4380" y="2659380"/>
            <a:ext cx="4066337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074CC"/>
                </a:solidFill>
                <a:latin typeface="Arial"/>
                <a:ea typeface="Microsoft YaHei"/>
                <a:cs typeface="Arial"/>
              </a:rPr>
              <a:t>96.8% -&gt; 98.5%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41520" y="2012632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高风险闭环率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16755" y="2659380"/>
            <a:ext cx="271376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0A870"/>
                </a:solidFill>
                <a:latin typeface="Arial"/>
                <a:ea typeface="Microsoft YaHei"/>
                <a:cs typeface="Arial"/>
              </a:rPr>
              <a:t>71% -&gt; 93%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03895" y="2012632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非计划停机率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79130" y="2659380"/>
            <a:ext cx="345906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DE002B"/>
                </a:solidFill>
                <a:latin typeface="Arial"/>
                <a:ea typeface="Microsoft YaHei"/>
                <a:cs typeface="Arial"/>
              </a:rPr>
              <a:t>5.2% -&gt; 3.6%</a:t>
            </a:r>
          </a:p>
        </p:txBody>
      </p:sp>
      <p:sp>
        <p:nvSpPr>
          <p:cNvPr id="15" name="Freeform 15"/>
          <p:cNvSpPr/>
          <p:nvPr/>
        </p:nvSpPr>
        <p:spPr>
          <a:xfrm>
            <a:off x="571500" y="4000500"/>
            <a:ext cx="11049000" cy="2095500"/>
          </a:xfrm>
          <a:custGeom>
            <a:avLst/>
            <a:gdLst/>
            <a:ahLst/>
            <a:cxnLst/>
            <a:rect l="l" t="t" r="r" b="b"/>
            <a:pathLst>
              <a:path w="11049000" h="2095500">
                <a:moveTo>
                  <a:pt x="152400" y="0"/>
                </a:moveTo>
                <a:lnTo>
                  <a:pt x="10896600" y="0"/>
                </a:lnTo>
                <a:cubicBezTo>
                  <a:pt x="10980768" y="0"/>
                  <a:pt x="11049000" y="68232"/>
                  <a:pt x="11049000" y="152400"/>
                </a:cubicBezTo>
                <a:lnTo>
                  <a:pt x="11049000" y="1943100"/>
                </a:lnTo>
                <a:cubicBezTo>
                  <a:pt x="11049000" y="2027268"/>
                  <a:pt x="10980768" y="2095500"/>
                  <a:pt x="10896600" y="2095500"/>
                </a:cubicBezTo>
                <a:lnTo>
                  <a:pt x="152400" y="2095500"/>
                </a:lnTo>
                <a:cubicBezTo>
                  <a:pt x="68232" y="2095500"/>
                  <a:pt x="0" y="2027268"/>
                  <a:pt x="0" y="1943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15340" y="4396740"/>
            <a:ext cx="970692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价值锚点：降本、提质、增效、控险；建立“监测-诊断-处置-复盘”闭环运营机制。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714500" y="1809750"/>
            <a:ext cx="8763000" cy="3429000"/>
          </a:xfrm>
          <a:custGeom>
            <a:avLst/>
            <a:gdLst/>
            <a:ahLst/>
            <a:cxnLst/>
            <a:rect l="l" t="t" r="r" b="b"/>
            <a:pathLst>
              <a:path w="8763000" h="3429000">
                <a:moveTo>
                  <a:pt x="171450" y="0"/>
                </a:moveTo>
                <a:lnTo>
                  <a:pt x="8591550" y="0"/>
                </a:lnTo>
                <a:cubicBezTo>
                  <a:pt x="8686239" y="0"/>
                  <a:pt x="8763000" y="76761"/>
                  <a:pt x="8763000" y="171450"/>
                </a:cubicBezTo>
                <a:lnTo>
                  <a:pt x="8763000" y="3257550"/>
                </a:lnTo>
                <a:cubicBezTo>
                  <a:pt x="8763000" y="3352239"/>
                  <a:pt x="8686239" y="3429000"/>
                  <a:pt x="8591550" y="3429000"/>
                </a:cubicBezTo>
                <a:lnTo>
                  <a:pt x="171450" y="3429000"/>
                </a:lnTo>
                <a:cubicBezTo>
                  <a:pt x="76761" y="3429000"/>
                  <a:pt x="0" y="3352239"/>
                  <a:pt x="0" y="3257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04256" y="1785938"/>
            <a:ext cx="2183487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06372" y="3576638"/>
            <a:ext cx="7379256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平台架构与关键能力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50863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平台总体架构（四层）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986790"/>
            <a:ext cx="418623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感知层、平台层、应用层、运营层</a:t>
            </a:r>
          </a:p>
        </p:txBody>
      </p:sp>
      <p:sp>
        <p:nvSpPr>
          <p:cNvPr id="6" name="Freeform 6"/>
          <p:cNvSpPr/>
          <p:nvPr/>
        </p:nvSpPr>
        <p:spPr>
          <a:xfrm>
            <a:off x="666750" y="1666875"/>
            <a:ext cx="10858500" cy="1047750"/>
          </a:xfrm>
          <a:custGeom>
            <a:avLst/>
            <a:gdLst/>
            <a:ahLst/>
            <a:cxnLst/>
            <a:rect l="l" t="t" r="r" b="b"/>
            <a:pathLst>
              <a:path w="10858500" h="1047750">
                <a:moveTo>
                  <a:pt x="133350" y="0"/>
                </a:moveTo>
                <a:lnTo>
                  <a:pt x="10725150" y="0"/>
                </a:lnTo>
                <a:cubicBezTo>
                  <a:pt x="10798797" y="0"/>
                  <a:pt x="10858500" y="59703"/>
                  <a:pt x="10858500" y="133350"/>
                </a:cubicBezTo>
                <a:lnTo>
                  <a:pt x="10858500" y="914400"/>
                </a:lnTo>
                <a:cubicBezTo>
                  <a:pt x="10858500" y="988047"/>
                  <a:pt x="10798797" y="1047750"/>
                  <a:pt x="10725150" y="1047750"/>
                </a:cubicBezTo>
                <a:lnTo>
                  <a:pt x="133350" y="1047750"/>
                </a:lnTo>
                <a:cubicBezTo>
                  <a:pt x="59703" y="1047750"/>
                  <a:pt x="0" y="988047"/>
                  <a:pt x="0" y="914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4FC"/>
          </a:solidFill>
          <a:ln w="9525">
            <a:solidFill>
              <a:srgbClr val="D9DEE5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666750" y="2905125"/>
            <a:ext cx="10858500" cy="1047750"/>
          </a:xfrm>
          <a:custGeom>
            <a:avLst/>
            <a:gdLst/>
            <a:ahLst/>
            <a:cxnLst/>
            <a:rect l="l" t="t" r="r" b="b"/>
            <a:pathLst>
              <a:path w="10858500" h="1047750">
                <a:moveTo>
                  <a:pt x="133350" y="0"/>
                </a:moveTo>
                <a:lnTo>
                  <a:pt x="10725150" y="0"/>
                </a:lnTo>
                <a:cubicBezTo>
                  <a:pt x="10798797" y="0"/>
                  <a:pt x="10858500" y="59703"/>
                  <a:pt x="10858500" y="133350"/>
                </a:cubicBezTo>
                <a:lnTo>
                  <a:pt x="10858500" y="914400"/>
                </a:lnTo>
                <a:cubicBezTo>
                  <a:pt x="10858500" y="988047"/>
                  <a:pt x="10798797" y="1047750"/>
                  <a:pt x="10725150" y="1047750"/>
                </a:cubicBezTo>
                <a:lnTo>
                  <a:pt x="133350" y="1047750"/>
                </a:lnTo>
                <a:cubicBezTo>
                  <a:pt x="59703" y="1047750"/>
                  <a:pt x="0" y="988047"/>
                  <a:pt x="0" y="914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66750" y="4143375"/>
            <a:ext cx="10858500" cy="1047750"/>
          </a:xfrm>
          <a:custGeom>
            <a:avLst/>
            <a:gdLst/>
            <a:ahLst/>
            <a:cxnLst/>
            <a:rect l="l" t="t" r="r" b="b"/>
            <a:pathLst>
              <a:path w="10858500" h="1047750">
                <a:moveTo>
                  <a:pt x="133350" y="0"/>
                </a:moveTo>
                <a:lnTo>
                  <a:pt x="10725150" y="0"/>
                </a:lnTo>
                <a:cubicBezTo>
                  <a:pt x="10798797" y="0"/>
                  <a:pt x="10858500" y="59703"/>
                  <a:pt x="10858500" y="133350"/>
                </a:cubicBezTo>
                <a:lnTo>
                  <a:pt x="10858500" y="914400"/>
                </a:lnTo>
                <a:cubicBezTo>
                  <a:pt x="10858500" y="988047"/>
                  <a:pt x="10798797" y="1047750"/>
                  <a:pt x="10725150" y="1047750"/>
                </a:cubicBezTo>
                <a:lnTo>
                  <a:pt x="133350" y="1047750"/>
                </a:lnTo>
                <a:cubicBezTo>
                  <a:pt x="59703" y="1047750"/>
                  <a:pt x="0" y="988047"/>
                  <a:pt x="0" y="914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4FC"/>
          </a:solidFill>
          <a:ln w="9525">
            <a:solidFill>
              <a:srgbClr val="D9DEE5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666750" y="5381625"/>
            <a:ext cx="10858500" cy="904875"/>
          </a:xfrm>
          <a:custGeom>
            <a:avLst/>
            <a:gdLst/>
            <a:ahLst/>
            <a:cxnLst/>
            <a:rect l="l" t="t" r="r" b="b"/>
            <a:pathLst>
              <a:path w="10858500" h="904875">
                <a:moveTo>
                  <a:pt x="133350" y="0"/>
                </a:moveTo>
                <a:lnTo>
                  <a:pt x="10725150" y="0"/>
                </a:lnTo>
                <a:cubicBezTo>
                  <a:pt x="10798797" y="0"/>
                  <a:pt x="10858500" y="59703"/>
                  <a:pt x="10858500" y="133350"/>
                </a:cubicBezTo>
                <a:lnTo>
                  <a:pt x="10858500" y="771525"/>
                </a:lnTo>
                <a:cubicBezTo>
                  <a:pt x="10858500" y="845172"/>
                  <a:pt x="10798797" y="904875"/>
                  <a:pt x="10725150" y="904875"/>
                </a:cubicBezTo>
                <a:lnTo>
                  <a:pt x="133350" y="904875"/>
                </a:lnTo>
                <a:cubicBezTo>
                  <a:pt x="59703" y="904875"/>
                  <a:pt x="0" y="845172"/>
                  <a:pt x="0" y="7715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01078" y="2098834"/>
            <a:ext cx="105587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感知层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34640" y="2139315"/>
            <a:ext cx="380504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边缘采集 · 协议适配 · 状态上报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1078" y="3337084"/>
            <a:ext cx="105587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平台层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34640" y="3377565"/>
            <a:ext cx="46331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主数据 · 事件总线 · 规则引擎 · 知识库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1078" y="4575334"/>
            <a:ext cx="105587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34640" y="4615815"/>
            <a:ext cx="35815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诊断 · 预警 · 协同 · 经营看板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1078" y="5689759"/>
            <a:ext cx="105587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运营层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34640" y="5730240"/>
            <a:ext cx="35815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机制 · 考核 · 复盘 · 持续优化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46710" y="508635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关键指标改进（柱状图）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140" y="98679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基线与目标对比</a:t>
            </a:r>
          </a:p>
        </p:txBody>
      </p:sp>
      <p:sp>
        <p:nvSpPr>
          <p:cNvPr id="5" name="Line 5"/>
          <p:cNvSpPr/>
          <p:nvPr/>
        </p:nvSpPr>
        <p:spPr>
          <a:xfrm>
            <a:off x="1428750" y="5619750"/>
            <a:ext cx="9429750" cy="9525"/>
          </a:xfrm>
          <a:custGeom>
            <a:avLst/>
            <a:gdLst/>
            <a:ahLst/>
            <a:cxnLst/>
            <a:rect l="l" t="t" r="r" b="b"/>
            <a:pathLst>
              <a:path w="9429750" h="9525">
                <a:moveTo>
                  <a:pt x="0" y="0"/>
                </a:moveTo>
                <a:lnTo>
                  <a:pt x="9429750" y="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6" name="Line 6"/>
          <p:cNvSpPr/>
          <p:nvPr/>
        </p:nvSpPr>
        <p:spPr>
          <a:xfrm>
            <a:off x="1428750" y="1714500"/>
            <a:ext cx="9525" cy="3905250"/>
          </a:xfrm>
          <a:custGeom>
            <a:avLst/>
            <a:gdLst/>
            <a:ahLst/>
            <a:cxnLst/>
            <a:rect l="l" t="t" r="r" b="b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2286000" y="3429000"/>
            <a:ext cx="666750" cy="2190750"/>
          </a:xfrm>
          <a:prstGeom prst="rect">
            <a:avLst/>
          </a:prstGeom>
          <a:solidFill>
            <a:srgbClr val="9CC9E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3143250" y="2667000"/>
            <a:ext cx="666750" cy="2952750"/>
          </a:xfrm>
          <a:prstGeom prst="rect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4762500" y="3905250"/>
            <a:ext cx="666750" cy="1714500"/>
          </a:xfrm>
          <a:prstGeom prst="rect">
            <a:avLst/>
          </a:prstGeom>
          <a:solidFill>
            <a:srgbClr val="F2A0B1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619750" y="4810125"/>
            <a:ext cx="666750" cy="809625"/>
          </a:xfrm>
          <a:prstGeom prst="rect">
            <a:avLst/>
          </a:prstGeom>
          <a:solidFill>
            <a:srgbClr val="DE002B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7239000" y="2857500"/>
            <a:ext cx="666750" cy="2762250"/>
          </a:xfrm>
          <a:prstGeom prst="rect">
            <a:avLst/>
          </a:prstGeom>
          <a:solidFill>
            <a:srgbClr val="9BE4C7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8096250" y="2000250"/>
            <a:ext cx="666750" cy="3619500"/>
          </a:xfrm>
          <a:prstGeom prst="rect">
            <a:avLst/>
          </a:prstGeom>
          <a:solidFill>
            <a:srgbClr val="00A87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71700" y="579120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可用率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52950" y="579120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停机率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48500" y="579120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闭环率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46710" y="508635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季度推进趋势（折线图）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140" y="986790"/>
            <a:ext cx="377218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Q1~Q4 覆盖率从35%提升到85%</a:t>
            </a:r>
          </a:p>
        </p:txBody>
      </p:sp>
      <p:sp>
        <p:nvSpPr>
          <p:cNvPr id="5" name="Freeform 5"/>
          <p:cNvSpPr/>
          <p:nvPr/>
        </p:nvSpPr>
        <p:spPr>
          <a:xfrm>
            <a:off x="762000" y="1524000"/>
            <a:ext cx="10668000" cy="4572000"/>
          </a:xfrm>
          <a:custGeom>
            <a:avLst/>
            <a:gdLst/>
            <a:ahLst/>
            <a:cxnLst/>
            <a:rect l="l" t="t" r="r" b="b"/>
            <a:pathLst>
              <a:path w="10668000" h="4572000">
                <a:moveTo>
                  <a:pt x="171450" y="0"/>
                </a:moveTo>
                <a:lnTo>
                  <a:pt x="10496550" y="0"/>
                </a:lnTo>
                <a:cubicBezTo>
                  <a:pt x="10591239" y="0"/>
                  <a:pt x="10668000" y="76761"/>
                  <a:pt x="10668000" y="171450"/>
                </a:cubicBezTo>
                <a:lnTo>
                  <a:pt x="10668000" y="4400550"/>
                </a:lnTo>
                <a:cubicBezTo>
                  <a:pt x="10668000" y="4495239"/>
                  <a:pt x="10591239" y="4572000"/>
                  <a:pt x="10496550" y="4572000"/>
                </a:cubicBezTo>
                <a:lnTo>
                  <a:pt x="171450" y="4572000"/>
                </a:lnTo>
                <a:cubicBezTo>
                  <a:pt x="76761" y="4572000"/>
                  <a:pt x="0" y="4495239"/>
                  <a:pt x="0" y="4400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6" name="Line 6"/>
          <p:cNvSpPr/>
          <p:nvPr/>
        </p:nvSpPr>
        <p:spPr>
          <a:xfrm>
            <a:off x="1619250" y="53340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7" name="Line 7"/>
          <p:cNvSpPr/>
          <p:nvPr/>
        </p:nvSpPr>
        <p:spPr>
          <a:xfrm>
            <a:off x="1619250" y="2190750"/>
            <a:ext cx="9525" cy="3143250"/>
          </a:xfrm>
          <a:custGeom>
            <a:avLst/>
            <a:gdLst/>
            <a:ahLst/>
            <a:cxnLst/>
            <a:rect l="l" t="t" r="r" b="b"/>
            <a:pathLst>
              <a:path w="9525" h="3143250">
                <a:moveTo>
                  <a:pt x="0" y="0"/>
                </a:moveTo>
                <a:lnTo>
                  <a:pt x="0" y="314325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8" name="Polyline 8"/>
          <p:cNvSpPr/>
          <p:nvPr/>
        </p:nvSpPr>
        <p:spPr>
          <a:xfrm>
            <a:off x="2095500" y="2667000"/>
            <a:ext cx="6572250" cy="2286000"/>
          </a:xfrm>
          <a:custGeom>
            <a:avLst/>
            <a:gdLst/>
            <a:ahLst/>
            <a:cxnLst/>
            <a:rect l="l" t="t" r="r" b="b"/>
            <a:pathLst>
              <a:path w="6572250" h="2286000">
                <a:moveTo>
                  <a:pt x="0" y="2286000"/>
                </a:moveTo>
                <a:lnTo>
                  <a:pt x="2190750" y="1714500"/>
                </a:lnTo>
                <a:lnTo>
                  <a:pt x="4381500" y="952500"/>
                </a:lnTo>
                <a:lnTo>
                  <a:pt x="6572250" y="0"/>
                </a:lnTo>
              </a:path>
            </a:pathLst>
          </a:custGeom>
          <a:noFill/>
          <a:ln w="57150">
            <a:solidFill>
              <a:srgbClr val="0074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2019300" y="48768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4210050" y="43053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6400800" y="35433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8591550" y="25908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884045" y="5536882"/>
            <a:ext cx="2949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74795" y="5536882"/>
            <a:ext cx="3551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65545" y="5536882"/>
            <a:ext cx="3551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56295" y="5536882"/>
            <a:ext cx="3551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Q4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620250" y="2883694"/>
            <a:ext cx="419100" cy="366713"/>
            <a:chOff x="9620250" y="2883694"/>
            <a:chExt cx="419100" cy="366713"/>
          </a:xfrm>
        </p:grpSpPr>
        <p:sp>
          <p:nvSpPr>
            <p:cNvPr id="17" name="Freeform 17"/>
            <p:cNvSpPr/>
            <p:nvPr/>
          </p:nvSpPr>
          <p:spPr>
            <a:xfrm>
              <a:off x="9934575" y="2883694"/>
              <a:ext cx="104775" cy="366712"/>
            </a:xfrm>
            <a:custGeom>
              <a:avLst/>
              <a:gdLst/>
              <a:ahLst/>
              <a:cxnLst/>
              <a:rect l="l" t="t" r="r" b="b"/>
              <a:pathLst>
                <a:path w="104775" h="366712">
                  <a:moveTo>
                    <a:pt x="104775" y="0"/>
                  </a:moveTo>
                  <a:lnTo>
                    <a:pt x="0" y="0"/>
                  </a:lnTo>
                  <a:lnTo>
                    <a:pt x="0" y="366712"/>
                  </a:lnTo>
                  <a:lnTo>
                    <a:pt x="104775" y="366712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9777412" y="2988469"/>
              <a:ext cx="104775" cy="261938"/>
            </a:xfrm>
            <a:custGeom>
              <a:avLst/>
              <a:gdLst/>
              <a:ahLst/>
              <a:cxnLst/>
              <a:rect l="l" t="t" r="r" b="b"/>
              <a:pathLst>
                <a:path w="104775" h="261938">
                  <a:moveTo>
                    <a:pt x="0" y="0"/>
                  </a:moveTo>
                  <a:lnTo>
                    <a:pt x="104775" y="0"/>
                  </a:lnTo>
                  <a:lnTo>
                    <a:pt x="104775" y="261938"/>
                  </a:lnTo>
                  <a:lnTo>
                    <a:pt x="0" y="261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9620250" y="3093244"/>
              <a:ext cx="104775" cy="157162"/>
            </a:xfrm>
            <a:custGeom>
              <a:avLst/>
              <a:gdLst/>
              <a:ahLst/>
              <a:cxnLst/>
              <a:rect l="l" t="t" r="r" b="b"/>
              <a:pathLst>
                <a:path w="104775" h="157162">
                  <a:moveTo>
                    <a:pt x="0" y="0"/>
                  </a:moveTo>
                  <a:lnTo>
                    <a:pt x="104775" y="0"/>
                  </a:lnTo>
                  <a:lnTo>
                    <a:pt x="104775" y="157162"/>
                  </a:lnTo>
                  <a:lnTo>
                    <a:pt x="0" y="157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0077450" y="2981325"/>
            <a:ext cx="156067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推广覆盖率 85%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46710" y="50863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能力矩阵与业务覆盖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140" y="986790"/>
            <a:ext cx="466929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覆盖“检索-分析-成片-治理”完整链路</a:t>
            </a:r>
          </a:p>
        </p:txBody>
      </p:sp>
      <p:sp>
        <p:nvSpPr>
          <p:cNvPr id="5" name="Freeform 5"/>
          <p:cNvSpPr/>
          <p:nvPr/>
        </p:nvSpPr>
        <p:spPr>
          <a:xfrm>
            <a:off x="666750" y="1619250"/>
            <a:ext cx="10858500" cy="4476750"/>
          </a:xfrm>
          <a:custGeom>
            <a:avLst/>
            <a:gdLst/>
            <a:ahLst/>
            <a:cxnLst/>
            <a:rect l="l" t="t" r="r" b="b"/>
            <a:pathLst>
              <a:path w="10858500" h="4476750">
                <a:moveTo>
                  <a:pt x="133350" y="0"/>
                </a:moveTo>
                <a:lnTo>
                  <a:pt x="10725150" y="0"/>
                </a:lnTo>
                <a:cubicBezTo>
                  <a:pt x="10798797" y="0"/>
                  <a:pt x="10858500" y="59703"/>
                  <a:pt x="10858500" y="133350"/>
                </a:cubicBezTo>
                <a:lnTo>
                  <a:pt x="10858500" y="4343400"/>
                </a:lnTo>
                <a:cubicBezTo>
                  <a:pt x="10858500" y="4417047"/>
                  <a:pt x="10798797" y="4476750"/>
                  <a:pt x="10725150" y="4476750"/>
                </a:cubicBezTo>
                <a:lnTo>
                  <a:pt x="133350" y="4476750"/>
                </a:lnTo>
                <a:cubicBezTo>
                  <a:pt x="59703" y="4476750"/>
                  <a:pt x="0" y="4417047"/>
                  <a:pt x="0" y="434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6" name="Line 6"/>
          <p:cNvSpPr/>
          <p:nvPr/>
        </p:nvSpPr>
        <p:spPr>
          <a:xfrm>
            <a:off x="666750" y="2333625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9DEE5"/>
            </a:solidFill>
          </a:ln>
        </p:spPr>
      </p:sp>
      <p:sp>
        <p:nvSpPr>
          <p:cNvPr id="7" name="Line 7"/>
          <p:cNvSpPr/>
          <p:nvPr/>
        </p:nvSpPr>
        <p:spPr>
          <a:xfrm>
            <a:off x="666750" y="304800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9DEE5"/>
            </a:solidFill>
          </a:ln>
        </p:spPr>
      </p:sp>
      <p:sp>
        <p:nvSpPr>
          <p:cNvPr id="8" name="Line 8"/>
          <p:cNvSpPr/>
          <p:nvPr/>
        </p:nvSpPr>
        <p:spPr>
          <a:xfrm>
            <a:off x="666750" y="3762375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9DEE5"/>
            </a:solidFill>
          </a:ln>
        </p:spPr>
      </p:sp>
      <p:sp>
        <p:nvSpPr>
          <p:cNvPr id="9" name="Line 9"/>
          <p:cNvSpPr/>
          <p:nvPr/>
        </p:nvSpPr>
        <p:spPr>
          <a:xfrm>
            <a:off x="666750" y="44767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9DEE5"/>
            </a:solidFill>
          </a:ln>
        </p:spPr>
      </p:sp>
      <p:sp>
        <p:nvSpPr>
          <p:cNvPr id="10" name="Line 10"/>
          <p:cNvSpPr/>
          <p:nvPr/>
        </p:nvSpPr>
        <p:spPr>
          <a:xfrm>
            <a:off x="2667000" y="1619250"/>
            <a:ext cx="9525" cy="4476750"/>
          </a:xfrm>
          <a:custGeom>
            <a:avLst/>
            <a:gdLst/>
            <a:ahLst/>
            <a:cxnLst/>
            <a:rect l="l" t="t" r="r" b="b"/>
            <a:pathLst>
              <a:path w="9525" h="4476750">
                <a:moveTo>
                  <a:pt x="0" y="0"/>
                </a:moveTo>
                <a:lnTo>
                  <a:pt x="0" y="4476750"/>
                </a:lnTo>
              </a:path>
            </a:pathLst>
          </a:custGeom>
          <a:noFill/>
          <a:ln w="9525">
            <a:solidFill>
              <a:srgbClr val="D9DEE5"/>
            </a:solidFill>
          </a:ln>
        </p:spPr>
      </p:sp>
      <p:sp>
        <p:nvSpPr>
          <p:cNvPr id="11" name="Line 11"/>
          <p:cNvSpPr/>
          <p:nvPr/>
        </p:nvSpPr>
        <p:spPr>
          <a:xfrm>
            <a:off x="5334000" y="1619250"/>
            <a:ext cx="9525" cy="4476750"/>
          </a:xfrm>
          <a:custGeom>
            <a:avLst/>
            <a:gdLst/>
            <a:ahLst/>
            <a:cxnLst/>
            <a:rect l="l" t="t" r="r" b="b"/>
            <a:pathLst>
              <a:path w="9525" h="4476750">
                <a:moveTo>
                  <a:pt x="0" y="0"/>
                </a:moveTo>
                <a:lnTo>
                  <a:pt x="0" y="4476750"/>
                </a:lnTo>
              </a:path>
            </a:pathLst>
          </a:custGeom>
          <a:noFill/>
          <a:ln w="9525">
            <a:solidFill>
              <a:srgbClr val="D9DEE5"/>
            </a:solidFill>
          </a:ln>
        </p:spPr>
      </p:sp>
      <p:sp>
        <p:nvSpPr>
          <p:cNvPr id="12" name="Line 12"/>
          <p:cNvSpPr/>
          <p:nvPr/>
        </p:nvSpPr>
        <p:spPr>
          <a:xfrm>
            <a:off x="8572500" y="1619250"/>
            <a:ext cx="9525" cy="4476750"/>
          </a:xfrm>
          <a:custGeom>
            <a:avLst/>
            <a:gdLst/>
            <a:ahLst/>
            <a:cxnLst/>
            <a:rect l="l" t="t" r="r" b="b"/>
            <a:pathLst>
              <a:path w="9525" h="4476750">
                <a:moveTo>
                  <a:pt x="0" y="0"/>
                </a:moveTo>
                <a:lnTo>
                  <a:pt x="0" y="4476750"/>
                </a:lnTo>
              </a:path>
            </a:pathLst>
          </a:custGeom>
          <a:noFill/>
          <a:ln w="9525">
            <a:solidFill>
              <a:srgbClr val="D9DEE5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883920" y="191738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能力域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79420" y="19173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代表能力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98795" y="19173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37295" y="1917382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5825" y="2619375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知识检索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981325" y="2619375"/>
            <a:ext cx="32146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image_search / source_to_md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00700" y="261937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调研与资料汇总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39200" y="2619375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74CC"/>
                </a:solidFill>
                <a:latin typeface="Microsoft YaHei"/>
                <a:ea typeface="Microsoft YaHei"/>
                <a:cs typeface="Microsoft YaHei"/>
              </a:rPr>
              <a:t>已上线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5825" y="333375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智能成片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81325" y="3333750"/>
            <a:ext cx="28970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svg_finalize / svg_to_pptx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00700" y="3333750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经营汇报自动化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839200" y="333375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74CC"/>
                </a:solidFill>
                <a:latin typeface="Microsoft YaHei"/>
                <a:ea typeface="Microsoft YaHei"/>
                <a:cs typeface="Microsoft YaHei"/>
              </a:rPr>
              <a:t>已上线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5825" y="4048125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质量治理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81325" y="4048125"/>
            <a:ext cx="37952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svg_quality_checker / update_spec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00700" y="404812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风格一致性控制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39200" y="4048125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74CC"/>
                </a:solidFill>
                <a:latin typeface="Microsoft YaHei"/>
                <a:ea typeface="Microsoft YaHei"/>
                <a:cs typeface="Microsoft YaHei"/>
              </a:rPr>
              <a:t>已上线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5825" y="47625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扩展能力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81325" y="4762500"/>
            <a:ext cx="43867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image_gen / notes_to_audio / animations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00700" y="4762500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多模态辅助表达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839200" y="47625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74CC"/>
                </a:solidFill>
                <a:latin typeface="Microsoft YaHei"/>
                <a:ea typeface="Microsoft YaHei"/>
                <a:cs typeface="Microsoft YaHei"/>
              </a:rPr>
              <a:t>探针验证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46710" y="50863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实施路线与保障机制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140" y="986790"/>
            <a:ext cx="31373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Q1~Q4 里程碑与治理闭环</a:t>
            </a:r>
          </a:p>
        </p:txBody>
      </p:sp>
      <p:sp>
        <p:nvSpPr>
          <p:cNvPr id="5" name="Freeform 5"/>
          <p:cNvSpPr/>
          <p:nvPr/>
        </p:nvSpPr>
        <p:spPr>
          <a:xfrm>
            <a:off x="533400" y="1676400"/>
            <a:ext cx="11125200" cy="4381500"/>
          </a:xfrm>
          <a:custGeom>
            <a:avLst/>
            <a:gdLst/>
            <a:ahLst/>
            <a:cxnLst/>
            <a:rect l="l" t="t" r="r" b="b"/>
            <a:pathLst>
              <a:path w="11125200" h="4381500">
                <a:moveTo>
                  <a:pt x="171450" y="0"/>
                </a:moveTo>
                <a:lnTo>
                  <a:pt x="10953750" y="0"/>
                </a:lnTo>
                <a:cubicBezTo>
                  <a:pt x="11048439" y="0"/>
                  <a:pt x="11125200" y="76761"/>
                  <a:pt x="11125200" y="171450"/>
                </a:cubicBezTo>
                <a:lnTo>
                  <a:pt x="11125200" y="4210050"/>
                </a:lnTo>
                <a:cubicBezTo>
                  <a:pt x="11125200" y="4304739"/>
                  <a:pt x="11048439" y="4381500"/>
                  <a:pt x="10953750" y="4381500"/>
                </a:cubicBezTo>
                <a:lnTo>
                  <a:pt x="171450" y="4381500"/>
                </a:lnTo>
                <a:cubicBezTo>
                  <a:pt x="76761" y="4381500"/>
                  <a:pt x="0" y="4304739"/>
                  <a:pt x="0" y="4210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6" name="Line 6"/>
          <p:cNvSpPr/>
          <p:nvPr/>
        </p:nvSpPr>
        <p:spPr>
          <a:xfrm>
            <a:off x="1333500" y="386715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7" name="Ellipse 7"/>
          <p:cNvSpPr/>
          <p:nvPr/>
        </p:nvSpPr>
        <p:spPr>
          <a:xfrm>
            <a:off x="1962150" y="3733800"/>
            <a:ext cx="266700" cy="2667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4629150" y="3733800"/>
            <a:ext cx="266700" cy="2667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296150" y="3733800"/>
            <a:ext cx="266700" cy="2667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963150" y="3733800"/>
            <a:ext cx="266700" cy="2667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624965" y="2982278"/>
            <a:ext cx="47537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Q1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47800" y="340042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数据治理与台账统一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91965" y="2982278"/>
            <a:ext cx="57313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Q2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95750" y="340042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模型上线与告警治理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58965" y="2982278"/>
            <a:ext cx="57313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Q3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43700" y="340042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预警联动作业票闭环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06915" y="2982278"/>
            <a:ext cx="57313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Q4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72600" y="3400425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跨作业区复制推广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8" y="0"/>
            <a:ext cx="12049125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762000" y="857250"/>
            <a:ext cx="10668000" cy="4000500"/>
          </a:xfrm>
          <a:custGeom>
            <a:avLst/>
            <a:gdLst/>
            <a:ahLst/>
            <a:cxnLst/>
            <a:rect l="l" t="t" r="r" b="b"/>
            <a:pathLst>
              <a:path w="10668000" h="4000500">
                <a:moveTo>
                  <a:pt x="152400" y="0"/>
                </a:moveTo>
                <a:lnTo>
                  <a:pt x="10515600" y="0"/>
                </a:lnTo>
                <a:cubicBezTo>
                  <a:pt x="10599768" y="0"/>
                  <a:pt x="10668000" y="68232"/>
                  <a:pt x="10668000" y="152400"/>
                </a:cubicBezTo>
                <a:lnTo>
                  <a:pt x="10668000" y="3848100"/>
                </a:lnTo>
                <a:cubicBezTo>
                  <a:pt x="10668000" y="3932268"/>
                  <a:pt x="10599768" y="4000500"/>
                  <a:pt x="10515600" y="4000500"/>
                </a:cubicBezTo>
                <a:lnTo>
                  <a:pt x="152400" y="4000500"/>
                </a:lnTo>
                <a:cubicBezTo>
                  <a:pt x="68232" y="4000500"/>
                  <a:pt x="0" y="3932268"/>
                  <a:pt x="0" y="3848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003E73">
              <a:alpha val="42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58718" y="1482090"/>
            <a:ext cx="5274564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结尾与行动建议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90675" y="2424112"/>
            <a:ext cx="667869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1) 重点单位二期能力上线，建立统一治理机制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90675" y="2947988"/>
            <a:ext cx="712231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2) 建立场景负责人+平台运营+数据治理联合例会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90675" y="3471862"/>
            <a:ext cx="689229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3) 以量化KPI评估投入产出，形成年度推广闭环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74409" y="5211128"/>
            <a:ext cx="1843183" cy="112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5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
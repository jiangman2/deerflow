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Default Extension="png" ContentType="image/png"/>
  <Default Extension="jpg" ContentType="image/jpeg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.xml"/>
</Relationships>
</file>

<file path=ppt/notesSlides/_rels/notesSlide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2.xml"/>
</Relationships>
</file>

<file path=ppt/notesSlides/_rels/notesSlide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3.xml"/>
</Relationships>
</file>

<file path=ppt/notesSlides/_rels/notesSlide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4.xml"/>
</Relationships>
</file>

<file path=ppt/notesSlides/_rels/notesSlide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5.xml"/>
</Relationships>
</file>

<file path=ppt/notesSlides/_rels/notesSlide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6.xml"/>
</Relationships>
</file>

<file path=ppt/notesSlides/_rels/notesSlide7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7.xml"/>
</Relationships>
</file>

<file path=ppt/notesSlides/_rels/notesSlide8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8.xml"/>
</Relationships>
</file>

<file path=ppt/notesSlides/_rels/notesSlide9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9.xml"/>
</Relationships>
</file>

<file path=ppt/notesSlides/_rels/notesSlide10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0.xml"/>
</Relationships>
</file>

<file path=ppt/notesSlides/_rels/notesSlide11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1.xml"/>
</Relationships>
</file>

<file path=ppt/notesSlides/_rels/notesSlide12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2.xml"/>
</Relationships>
</file>

<file path=ppt/notesSlides/_rels/notesSlide13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3.xml"/>
</Relationships>
</file>

<file path=ppt/notesSlides/_rels/notesSlide14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4.xml"/>
</Relationships>
</file>

<file path=ppt/notesSlides/_rels/notesSlide15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5.xml"/>
</Relationships>
</file>

<file path=ppt/notesSlides/_rels/notesSlide16.xml.rels><?xml version="1.0" encoding="UTF-8" standalone="yes"?>
<Relationships xmlns="http://schemas.openxmlformats.org/package/2006/relationships">
  <Relationship Id="rId1" Type="http://schemas.openxmlformats.org/officeDocument/2006/relationships/notesMaster" Target="../notesMasters/notesMaster1.xml"/>
  <Relationship Id="rId2" Type="http://schemas.openxmlformats.org/officeDocument/2006/relationships/slide" Target="../slides/slide16.xml"/>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• 讲解重点：围绕提纲核心结论展开，突出数据价值与行动项。</a:t>
            </a:r>
          </a:p>
          <a:p>
            <a:r>
              <a:rPr lang="zh-CN" dirty="0"/>
              <a:t>• 建议时长：60-90秒，关键页可延长至120秒。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_img1.png"/>
  <Relationship Id="rId3" Type="http://schemas.openxmlformats.org/officeDocument/2006/relationships/image" Target="../media/s1_img2.png"/>
  <Relationship Id="rId4" Type="http://schemas.openxmlformats.org/officeDocument/2006/relationships/notesSlide" Target="../notesSlides/notesSlide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2_img1.png"/>
  <Relationship Id="rId3" Type="http://schemas.openxmlformats.org/officeDocument/2006/relationships/notesSlide" Target="../notesSlides/notesSlide2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3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4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5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6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7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8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9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0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12.xml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3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3_img1.png"/>
  <Relationship Id="rId3" Type="http://schemas.openxmlformats.org/officeDocument/2006/relationships/notesSlide" Target="../notesSlides/notesSlide14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4_img1.png"/>
  <Relationship Id="rId3" Type="http://schemas.openxmlformats.org/officeDocument/2006/relationships/notesSlide" Target="../notesSlides/notesSlide15.xml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s16_img1.png"/>
  <Relationship Id="rId3" Type="http://schemas.openxmlformats.org/officeDocument/2006/relationships/notesSlide" Target="../notesSlides/notesSlide16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" y="247650"/>
            <a:ext cx="1390650" cy="419100"/>
          </a:xfrm>
          <a:prstGeom prst="rect">
            <a:avLst/>
          </a:prstGeom>
        </p:spPr>
      </p:pic>
      <p:sp>
        <p:nvSpPr>
          <p:cNvPr id="4" name="Freeform 4"/>
          <p:cNvSpPr/>
          <p:nvPr/>
        </p:nvSpPr>
        <p:spPr>
          <a:xfrm>
            <a:off x="590550" y="2971800"/>
            <a:ext cx="10934700" cy="2619375"/>
          </a:xfrm>
          <a:custGeom>
            <a:avLst/>
            <a:gdLst/>
            <a:ahLst/>
            <a:cxnLst/>
            <a:rect l="l" t="t" r="r" b="b"/>
            <a:pathLst>
              <a:path w="10934700" h="2619375">
                <a:moveTo>
                  <a:pt x="152400" y="0"/>
                </a:moveTo>
                <a:lnTo>
                  <a:pt x="10782300" y="0"/>
                </a:lnTo>
                <a:cubicBezTo>
                  <a:pt x="10866468" y="0"/>
                  <a:pt x="10934700" y="68232"/>
                  <a:pt x="10934700" y="152400"/>
                </a:cubicBezTo>
                <a:lnTo>
                  <a:pt x="10934700" y="2466975"/>
                </a:lnTo>
                <a:cubicBezTo>
                  <a:pt x="10934700" y="2551143"/>
                  <a:pt x="10866468" y="2619375"/>
                  <a:pt x="10782300" y="2619375"/>
                </a:cubicBezTo>
                <a:lnTo>
                  <a:pt x="152400" y="2619375"/>
                </a:lnTo>
                <a:cubicBezTo>
                  <a:pt x="68232" y="2619375"/>
                  <a:pt x="0" y="2551143"/>
                  <a:pt x="0" y="2466975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38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65810" y="3223260"/>
            <a:ext cx="9767888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数据湖建设进展与数智化提升汇报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786765" y="3934778"/>
            <a:ext cx="7494699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围绕汇、通、管、服、智推进数据价值释放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480" y="4535805"/>
            <a:ext cx="526732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汇报单位：中海油研究总院数智研究院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92480" y="4916805"/>
            <a:ext cx="327374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dirty="0">
                <a:solidFill>
                  <a:srgbClr val="DDEAF6"/>
                </a:solidFill>
                <a:latin typeface="Microsoft YaHei"/>
                <a:ea typeface="Microsoft YaHei"/>
                <a:cs typeface="Microsoft YaHei"/>
              </a:rPr>
              <a:t>汇报日期：2026-05-03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27" dur="4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400"/>
                            </p:stCondLst>
                            <p:childTnLst>
                              <p:par>
                                <p:cTn id="2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4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  <p:bldP spid="7" grpId="0"/>
      <p:bldP spid="8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" y="0"/>
            <a:ext cx="1217485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666750" y="762000"/>
            <a:ext cx="10858500" cy="5334000"/>
          </a:xfrm>
          <a:custGeom>
            <a:avLst/>
            <a:gdLst/>
            <a:ahLst/>
            <a:cxnLst/>
            <a:rect l="l" t="t" r="r" b="b"/>
            <a:pathLst>
              <a:path w="10858500" h="5334000">
                <a:moveTo>
                  <a:pt x="171450" y="0"/>
                </a:moveTo>
                <a:lnTo>
                  <a:pt x="10687050" y="0"/>
                </a:lnTo>
                <a:cubicBezTo>
                  <a:pt x="10781739" y="0"/>
                  <a:pt x="10858500" y="76761"/>
                  <a:pt x="10858500" y="171450"/>
                </a:cubicBezTo>
                <a:lnTo>
                  <a:pt x="10858500" y="5162550"/>
                </a:lnTo>
                <a:cubicBezTo>
                  <a:pt x="10858500" y="5257239"/>
                  <a:pt x="10781739" y="5334000"/>
                  <a:pt x="10687050" y="5334000"/>
                </a:cubicBezTo>
                <a:lnTo>
                  <a:pt x="171450" y="5334000"/>
                </a:lnTo>
                <a:cubicBezTo>
                  <a:pt x="76761" y="5334000"/>
                  <a:pt x="0" y="5257239"/>
                  <a:pt x="0" y="5162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86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1089660" y="1070610"/>
            <a:ext cx="1394841" cy="8534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42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目录</a:t>
            </a:r>
          </a:p>
        </p:txBody>
      </p:sp>
      <p:sp>
        <p:nvSpPr>
          <p:cNvPr id="5" name="Line 5"/>
          <p:cNvSpPr/>
          <p:nvPr/>
        </p:nvSpPr>
        <p:spPr>
          <a:xfrm>
            <a:off x="1143000" y="1695450"/>
            <a:ext cx="9906000" cy="9525"/>
          </a:xfrm>
          <a:custGeom>
            <a:avLst/>
            <a:gdLst/>
            <a:ahLst/>
            <a:cxnLst/>
            <a:rect l="l" t="t" r="r" b="b"/>
            <a:pathLst>
              <a:path w="9906000" h="9525">
                <a:moveTo>
                  <a:pt x="0" y="0"/>
                </a:moveTo>
                <a:lnTo>
                  <a:pt x="9906000" y="0"/>
                </a:lnTo>
              </a:path>
            </a:pathLst>
          </a:custGeom>
          <a:noFill/>
          <a:ln w="28575">
            <a:solidFill>
              <a:srgbClr val="2C7BC0"/>
            </a:solidFill>
          </a:ln>
        </p:spPr>
      </p:sp>
      <p:sp>
        <p:nvSpPr>
          <p:cNvPr id="6" name="TextBox 6"/>
          <p:cNvSpPr txBox="1"/>
          <p:nvPr/>
        </p:nvSpPr>
        <p:spPr>
          <a:xfrm>
            <a:off x="1205865" y="2105978"/>
            <a:ext cx="2078672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01 基本情况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05865" y="2725102"/>
            <a:ext cx="8824265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02 进展和成果（技术创新、数据实施、管理提升）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205865" y="3344228"/>
            <a:ext cx="3349581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03 下一步工作计划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205865" y="3963352"/>
            <a:ext cx="2567483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04 思考和建议</a:t>
            </a:r>
          </a:p>
        </p:txBody>
      </p:sp>
      <p:sp>
        <p:nvSpPr>
          <p:cNvPr id="10" name="Freeform 10"/>
          <p:cNvSpPr/>
          <p:nvPr/>
        </p:nvSpPr>
        <p:spPr>
          <a:xfrm>
            <a:off x="1238250" y="4762500"/>
            <a:ext cx="9810750" cy="904875"/>
          </a:xfrm>
          <a:custGeom>
            <a:avLst/>
            <a:gdLst/>
            <a:ahLst/>
            <a:cxnLst/>
            <a:rect l="l" t="t" r="r" b="b"/>
            <a:pathLst>
              <a:path w="9810750" h="904875">
                <a:moveTo>
                  <a:pt x="114300" y="0"/>
                </a:moveTo>
                <a:lnTo>
                  <a:pt x="9696450" y="0"/>
                </a:lnTo>
                <a:cubicBezTo>
                  <a:pt x="9759576" y="0"/>
                  <a:pt x="9810750" y="51174"/>
                  <a:pt x="9810750" y="114300"/>
                </a:cubicBezTo>
                <a:lnTo>
                  <a:pt x="9810750" y="790575"/>
                </a:lnTo>
                <a:cubicBezTo>
                  <a:pt x="9810750" y="853701"/>
                  <a:pt x="9759576" y="904875"/>
                  <a:pt x="9696450" y="904875"/>
                </a:cubicBezTo>
                <a:lnTo>
                  <a:pt x="114300" y="904875"/>
                </a:lnTo>
                <a:cubicBezTo>
                  <a:pt x="51174" y="904875"/>
                  <a:pt x="0" y="853701"/>
                  <a:pt x="0" y="790575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AF4FD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453515" y="5025390"/>
            <a:ext cx="8405622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核心主线：问题诊断 -&gt; 体系建设 -&gt; 成果验证 -&gt; 行动计划 -&gt; 数智愿景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219908" y="1785938"/>
            <a:ext cx="1752183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01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75392" y="3528060"/>
            <a:ext cx="3641217" cy="1158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基本情况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4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8" presetClass="entr" presetSubtype="1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数据湖主要问题与成因分析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7239000" cy="5334000"/>
          </a:xfrm>
          <a:custGeom>
            <a:avLst/>
            <a:gdLst/>
            <a:ahLst/>
            <a:cxnLst/>
            <a:rect l="l" t="t" r="r" b="b"/>
            <a:pathLst>
              <a:path w="7239000" h="5334000">
                <a:moveTo>
                  <a:pt x="133350" y="0"/>
                </a:moveTo>
                <a:lnTo>
                  <a:pt x="7105650" y="0"/>
                </a:lnTo>
                <a:cubicBezTo>
                  <a:pt x="7179297" y="0"/>
                  <a:pt x="7239000" y="59703"/>
                  <a:pt x="7239000" y="133350"/>
                </a:cubicBezTo>
                <a:lnTo>
                  <a:pt x="7239000" y="5200650"/>
                </a:lnTo>
                <a:cubicBezTo>
                  <a:pt x="7239000" y="5274297"/>
                  <a:pt x="7179297" y="5334000"/>
                  <a:pt x="7105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858125" y="952500"/>
            <a:ext cx="3952875" cy="5334000"/>
          </a:xfrm>
          <a:custGeom>
            <a:avLst/>
            <a:gdLst/>
            <a:ahLst/>
            <a:cxnLst/>
            <a:rect l="l" t="t" r="r" b="b"/>
            <a:pathLst>
              <a:path w="3952875" h="5334000">
                <a:moveTo>
                  <a:pt x="133350" y="0"/>
                </a:moveTo>
                <a:lnTo>
                  <a:pt x="3819525" y="0"/>
                </a:lnTo>
                <a:cubicBezTo>
                  <a:pt x="3893172" y="0"/>
                  <a:pt x="3952875" y="59703"/>
                  <a:pt x="3952875" y="133350"/>
                </a:cubicBezTo>
                <a:lnTo>
                  <a:pt x="3952875" y="5200650"/>
                </a:lnTo>
                <a:cubicBezTo>
                  <a:pt x="3952875" y="5274297"/>
                  <a:pt x="3893172" y="5334000"/>
                  <a:pt x="3819525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3F8FD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695325" y="14001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93445" y="1345882"/>
            <a:ext cx="55845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主要问题：数据不全、查询不便捷、价值未充分发挥</a:t>
            </a:r>
          </a:p>
        </p:txBody>
      </p:sp>
      <p:sp>
        <p:nvSpPr>
          <p:cNvPr id="8" name="Ellipse 8"/>
          <p:cNvSpPr/>
          <p:nvPr/>
        </p:nvSpPr>
        <p:spPr>
          <a:xfrm>
            <a:off x="695325" y="18192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893445" y="1764982"/>
            <a:ext cx="60664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治理问题：范围覆盖不足，面向应用与模型的数据不完整</a:t>
            </a:r>
          </a:p>
        </p:txBody>
      </p:sp>
      <p:sp>
        <p:nvSpPr>
          <p:cNvPr id="10" name="Ellipse 10"/>
          <p:cNvSpPr/>
          <p:nvPr/>
        </p:nvSpPr>
        <p:spPr>
          <a:xfrm>
            <a:off x="695325" y="22383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893445" y="2184082"/>
            <a:ext cx="630745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工具问题：查询方式不友好，分析门槛高，数据智能能力弱</a:t>
            </a:r>
          </a:p>
        </p:txBody>
      </p:sp>
      <p:sp>
        <p:nvSpPr>
          <p:cNvPr id="12" name="Ellipse 12"/>
          <p:cNvSpPr/>
          <p:nvPr/>
        </p:nvSpPr>
        <p:spPr>
          <a:xfrm>
            <a:off x="695325" y="26574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893445" y="2603182"/>
            <a:ext cx="55845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管理问题：数据意识与能力薄弱，价值应用牵引不足</a:t>
            </a:r>
          </a:p>
        </p:txBody>
      </p:sp>
      <p:sp>
        <p:nvSpPr>
          <p:cNvPr id="14" name="Ellipse 14"/>
          <p:cNvSpPr/>
          <p:nvPr/>
        </p:nvSpPr>
        <p:spPr>
          <a:xfrm>
            <a:off x="695325" y="30765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893445" y="3022282"/>
            <a:ext cx="558450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总体判断：问题并非单点技术缺陷，而是体系化短板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69580" y="1183005"/>
            <a:ext cx="3917823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食品加工场景示意（类比）</a:t>
            </a:r>
          </a:p>
        </p:txBody>
      </p:sp>
      <p:sp>
        <p:nvSpPr>
          <p:cNvPr id="17" name="Freeform 17"/>
          <p:cNvSpPr/>
          <p:nvPr/>
        </p:nvSpPr>
        <p:spPr>
          <a:xfrm>
            <a:off x="8096250" y="1714500"/>
            <a:ext cx="3429000" cy="4000500"/>
          </a:xfrm>
          <a:custGeom>
            <a:avLst/>
            <a:gdLst/>
            <a:ahLst/>
            <a:cxnLst/>
            <a:rect l="l" t="t" r="r" b="b"/>
            <a:pathLst>
              <a:path w="3429000" h="400050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3886200"/>
                </a:lnTo>
                <a:cubicBezTo>
                  <a:pt x="3429000" y="3949326"/>
                  <a:pt x="3377826" y="4000500"/>
                  <a:pt x="3314700" y="4000500"/>
                </a:cubicBezTo>
                <a:lnTo>
                  <a:pt x="114300" y="4000500"/>
                </a:lnTo>
                <a:cubicBezTo>
                  <a:pt x="51174" y="4000500"/>
                  <a:pt x="0" y="3949326"/>
                  <a:pt x="0" y="3886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18" name="Freeform 18"/>
          <p:cNvSpPr/>
          <p:nvPr/>
        </p:nvSpPr>
        <p:spPr>
          <a:xfrm>
            <a:off x="8382000" y="2190750"/>
            <a:ext cx="857250" cy="590550"/>
          </a:xfrm>
          <a:custGeom>
            <a:avLst/>
            <a:gdLst/>
            <a:ahLst/>
            <a:cxnLst/>
            <a:rect l="l" t="t" r="r" b="b"/>
            <a:pathLst>
              <a:path w="857250" h="590550">
                <a:moveTo>
                  <a:pt x="76200" y="0"/>
                </a:moveTo>
                <a:lnTo>
                  <a:pt x="781050" y="0"/>
                </a:lnTo>
                <a:cubicBezTo>
                  <a:pt x="823134" y="0"/>
                  <a:pt x="857250" y="34116"/>
                  <a:pt x="857250" y="76200"/>
                </a:cubicBezTo>
                <a:lnTo>
                  <a:pt x="857250" y="514350"/>
                </a:lnTo>
                <a:cubicBezTo>
                  <a:pt x="857250" y="556434"/>
                  <a:pt x="823134" y="590550"/>
                  <a:pt x="78105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BFD8EF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8477250" y="2409825"/>
            <a:ext cx="476250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原料</a:t>
            </a:r>
          </a:p>
        </p:txBody>
      </p:sp>
      <p:sp>
        <p:nvSpPr>
          <p:cNvPr id="20" name="Line 20"/>
          <p:cNvSpPr/>
          <p:nvPr/>
        </p:nvSpPr>
        <p:spPr>
          <a:xfrm>
            <a:off x="9239250" y="2495550"/>
            <a:ext cx="714375" cy="9525"/>
          </a:xfrm>
          <a:custGeom>
            <a:avLst/>
            <a:gdLst/>
            <a:ahLst/>
            <a:cxnLst/>
            <a:rect l="l" t="t" r="r" b="b"/>
            <a:pathLst>
              <a:path w="714375" h="9525">
                <a:moveTo>
                  <a:pt x="0" y="0"/>
                </a:moveTo>
                <a:lnTo>
                  <a:pt x="714375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21" name="Polygon 21"/>
          <p:cNvSpPr/>
          <p:nvPr/>
        </p:nvSpPr>
        <p:spPr>
          <a:xfrm>
            <a:off x="9858375" y="2438400"/>
            <a:ext cx="95250" cy="114300"/>
          </a:xfrm>
          <a:custGeom>
            <a:avLst/>
            <a:gdLst/>
            <a:ahLst/>
            <a:cxnLst/>
            <a:rect l="l" t="t" r="r" b="b"/>
            <a:pathLst>
              <a:path w="95250" h="114300">
                <a:moveTo>
                  <a:pt x="95250" y="57150"/>
                </a:moveTo>
                <a:lnTo>
                  <a:pt x="0" y="0"/>
                </a:lnTo>
                <a:lnTo>
                  <a:pt x="0" y="114300"/>
                </a:lnTo>
                <a:close/>
              </a:path>
            </a:pathLst>
          </a:custGeom>
          <a:solidFill>
            <a:srgbClr val="2C7BC0"/>
          </a:solidFill>
          <a:ln>
            <a:noFill/>
          </a:ln>
        </p:spPr>
      </p:sp>
      <p:sp>
        <p:nvSpPr>
          <p:cNvPr id="22" name="Freeform 22"/>
          <p:cNvSpPr/>
          <p:nvPr/>
        </p:nvSpPr>
        <p:spPr>
          <a:xfrm>
            <a:off x="10001250" y="2190750"/>
            <a:ext cx="1143000" cy="590550"/>
          </a:xfrm>
          <a:custGeom>
            <a:avLst/>
            <a:gdLst/>
            <a:ahLst/>
            <a:cxnLst/>
            <a:rect l="l" t="t" r="r" b="b"/>
            <a:pathLst>
              <a:path w="1143000" h="590550">
                <a:moveTo>
                  <a:pt x="76200" y="0"/>
                </a:moveTo>
                <a:lnTo>
                  <a:pt x="1066800" y="0"/>
                </a:lnTo>
                <a:cubicBezTo>
                  <a:pt x="1108884" y="0"/>
                  <a:pt x="1143000" y="34116"/>
                  <a:pt x="1143000" y="76200"/>
                </a:cubicBezTo>
                <a:lnTo>
                  <a:pt x="1143000" y="514350"/>
                </a:lnTo>
                <a:cubicBezTo>
                  <a:pt x="1143000" y="556434"/>
                  <a:pt x="1108884" y="590550"/>
                  <a:pt x="1066800" y="590550"/>
                </a:cubicBezTo>
                <a:lnTo>
                  <a:pt x="76200" y="590550"/>
                </a:lnTo>
                <a:cubicBezTo>
                  <a:pt x="34116" y="590550"/>
                  <a:pt x="0" y="556434"/>
                  <a:pt x="0" y="514350"/>
                </a:cubicBezTo>
                <a:lnTo>
                  <a:pt x="0" y="76200"/>
                </a:lnTo>
                <a:cubicBezTo>
                  <a:pt x="0" y="34116"/>
                  <a:pt x="34116" y="0"/>
                  <a:pt x="76200" y="0"/>
                </a:cubicBezTo>
                <a:close/>
              </a:path>
            </a:pathLst>
          </a:custGeom>
          <a:solidFill>
            <a:srgbClr val="93C5FD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10172700" y="2409825"/>
            <a:ext cx="695325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加工线</a:t>
            </a:r>
          </a:p>
        </p:txBody>
      </p:sp>
      <p:sp>
        <p:nvSpPr>
          <p:cNvPr id="24" name="Line 24"/>
          <p:cNvSpPr/>
          <p:nvPr/>
        </p:nvSpPr>
        <p:spPr>
          <a:xfrm>
            <a:off x="10553700" y="2781300"/>
            <a:ext cx="9525" cy="533400"/>
          </a:xfrm>
          <a:custGeom>
            <a:avLst/>
            <a:gdLst/>
            <a:ahLst/>
            <a:cxnLst/>
            <a:rect l="l" t="t" r="r" b="b"/>
            <a:pathLst>
              <a:path w="9525" h="533400">
                <a:moveTo>
                  <a:pt x="0" y="0"/>
                </a:moveTo>
                <a:lnTo>
                  <a:pt x="0" y="533400"/>
                </a:lnTo>
              </a:path>
            </a:pathLst>
          </a:custGeom>
          <a:noFill/>
          <a:ln w="38100">
            <a:solidFill>
              <a:srgbClr val="DE002B"/>
            </a:solidFill>
          </a:ln>
        </p:spPr>
      </p:sp>
      <p:sp>
        <p:nvSpPr>
          <p:cNvPr id="25" name="Polygon 25"/>
          <p:cNvSpPr/>
          <p:nvPr/>
        </p:nvSpPr>
        <p:spPr>
          <a:xfrm>
            <a:off x="10496550" y="3219450"/>
            <a:ext cx="114300" cy="95250"/>
          </a:xfrm>
          <a:custGeom>
            <a:avLst/>
            <a:gdLst/>
            <a:ahLst/>
            <a:cxnLst/>
            <a:rect l="l" t="t" r="r" b="b"/>
            <a:pathLst>
              <a:path w="114300" h="95250">
                <a:moveTo>
                  <a:pt x="57150" y="95250"/>
                </a:moveTo>
                <a:lnTo>
                  <a:pt x="0" y="0"/>
                </a:lnTo>
                <a:lnTo>
                  <a:pt x="114300" y="0"/>
                </a:lnTo>
                <a:close/>
              </a:path>
            </a:pathLst>
          </a:custGeom>
          <a:solidFill>
            <a:srgbClr val="DE002B"/>
          </a:solidFill>
          <a:ln>
            <a:noFill/>
          </a:ln>
        </p:spPr>
      </p:sp>
      <p:sp>
        <p:nvSpPr>
          <p:cNvPr id="26" name="Freeform 26"/>
          <p:cNvSpPr/>
          <p:nvPr/>
        </p:nvSpPr>
        <p:spPr>
          <a:xfrm>
            <a:off x="9810750" y="3381375"/>
            <a:ext cx="1524000" cy="666750"/>
          </a:xfrm>
          <a:custGeom>
            <a:avLst/>
            <a:gdLst/>
            <a:ahLst/>
            <a:cxnLst/>
            <a:rect l="l" t="t" r="r" b="b"/>
            <a:pathLst>
              <a:path w="1524000" h="666750">
                <a:moveTo>
                  <a:pt x="95250" y="0"/>
                </a:moveTo>
                <a:lnTo>
                  <a:pt x="1428750" y="0"/>
                </a:lnTo>
                <a:cubicBezTo>
                  <a:pt x="1481355" y="0"/>
                  <a:pt x="1524000" y="42645"/>
                  <a:pt x="1524000" y="95250"/>
                </a:cubicBezTo>
                <a:lnTo>
                  <a:pt x="1524000" y="571500"/>
                </a:lnTo>
                <a:cubicBezTo>
                  <a:pt x="1524000" y="624105"/>
                  <a:pt x="1481355" y="666750"/>
                  <a:pt x="1428750" y="666750"/>
                </a:cubicBezTo>
                <a:lnTo>
                  <a:pt x="95250" y="666750"/>
                </a:lnTo>
                <a:cubicBezTo>
                  <a:pt x="42645" y="666750"/>
                  <a:pt x="0" y="624105"/>
                  <a:pt x="0" y="571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27" name="TextBox 27"/>
          <p:cNvSpPr txBox="1"/>
          <p:nvPr/>
        </p:nvSpPr>
        <p:spPr>
          <a:xfrm>
            <a:off x="10056495" y="3603308"/>
            <a:ext cx="124682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质检与反馈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8248650" y="4333875"/>
            <a:ext cx="4660582" cy="304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5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对应数据湖：采集 -&gt; 治理 -&gt; 服务 -&gt; 反馈闭环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5865305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用户需求分析（参考调研结论）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858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171950"/>
                </a:lnTo>
                <a:cubicBezTo>
                  <a:pt x="3429000" y="4235076"/>
                  <a:pt x="3377826" y="4286250"/>
                  <a:pt x="3314700" y="4286250"/>
                </a:cubicBezTo>
                <a:lnTo>
                  <a:pt x="114300" y="4286250"/>
                </a:lnTo>
                <a:cubicBezTo>
                  <a:pt x="51174" y="4286250"/>
                  <a:pt x="0" y="4235076"/>
                  <a:pt x="0" y="417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3815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171950"/>
                </a:lnTo>
                <a:cubicBezTo>
                  <a:pt x="3429000" y="4235076"/>
                  <a:pt x="3377826" y="4286250"/>
                  <a:pt x="3314700" y="4286250"/>
                </a:cubicBezTo>
                <a:lnTo>
                  <a:pt x="114300" y="4286250"/>
                </a:lnTo>
                <a:cubicBezTo>
                  <a:pt x="51174" y="4286250"/>
                  <a:pt x="0" y="4235076"/>
                  <a:pt x="0" y="417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077200" y="1428750"/>
            <a:ext cx="3429000" cy="4286250"/>
          </a:xfrm>
          <a:custGeom>
            <a:avLst/>
            <a:gdLst/>
            <a:ahLst/>
            <a:cxnLst/>
            <a:rect l="l" t="t" r="r" b="b"/>
            <a:pathLst>
              <a:path w="3429000" h="4286250">
                <a:moveTo>
                  <a:pt x="114300" y="0"/>
                </a:moveTo>
                <a:lnTo>
                  <a:pt x="3314700" y="0"/>
                </a:lnTo>
                <a:cubicBezTo>
                  <a:pt x="3377826" y="0"/>
                  <a:pt x="3429000" y="51174"/>
                  <a:pt x="3429000" y="114300"/>
                </a:cubicBezTo>
                <a:lnTo>
                  <a:pt x="3429000" y="4171950"/>
                </a:lnTo>
                <a:cubicBezTo>
                  <a:pt x="3429000" y="4235076"/>
                  <a:pt x="3377826" y="4286250"/>
                  <a:pt x="3314700" y="4286250"/>
                </a:cubicBezTo>
                <a:lnTo>
                  <a:pt x="114300" y="4286250"/>
                </a:lnTo>
                <a:cubicBezTo>
                  <a:pt x="51174" y="4286250"/>
                  <a:pt x="0" y="4235076"/>
                  <a:pt x="0" y="417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5825" y="168116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业务侧诉求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3445" y="218408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一站式查数与看数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3445" y="254603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结论可追溯、可解释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3445" y="290798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专题汇报快速成稿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581525" y="168116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管理侧诉求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589145" y="218408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指标口径统一可控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589145" y="25460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质量问题快速闭环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589145" y="29079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价值应用可量化评估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77225" y="1681162"/>
            <a:ext cx="1782366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技术侧诉求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84845" y="2184082"/>
            <a:ext cx="21384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面向AI的数据就绪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284845" y="2546032"/>
            <a:ext cx="217460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结构化语义化改造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284845" y="2907982"/>
            <a:ext cx="241558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非结构化知识化加工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4400" y="4095750"/>
            <a:ext cx="10287000" cy="1238250"/>
          </a:xfrm>
          <a:custGeom>
            <a:avLst/>
            <a:gdLst/>
            <a:ahLst/>
            <a:cxnLst/>
            <a:rect l="l" t="t" r="r" b="b"/>
            <a:pathLst>
              <a:path w="10287000" h="1238250">
                <a:moveTo>
                  <a:pt x="114300" y="0"/>
                </a:moveTo>
                <a:lnTo>
                  <a:pt x="10172700" y="0"/>
                </a:lnTo>
                <a:cubicBezTo>
                  <a:pt x="10235826" y="0"/>
                  <a:pt x="10287000" y="51174"/>
                  <a:pt x="10287000" y="114300"/>
                </a:cubicBezTo>
                <a:lnTo>
                  <a:pt x="10287000" y="1123950"/>
                </a:lnTo>
                <a:cubicBezTo>
                  <a:pt x="10287000" y="1187076"/>
                  <a:pt x="10235826" y="1238250"/>
                  <a:pt x="10172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77290" y="4406265"/>
            <a:ext cx="1134999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用户共性需求：低门槛、快响应、强可信、可复用；核心目标是让数据可见、可懂、可用、可智。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8763667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总体思路：汇、通、管、服、智（体系化提升）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1000125" y="2714625"/>
            <a:ext cx="1428750" cy="142875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</p:sp>
      <p:sp>
        <p:nvSpPr>
          <p:cNvPr id="6" name="Ellipse 6"/>
          <p:cNvSpPr/>
          <p:nvPr/>
        </p:nvSpPr>
        <p:spPr>
          <a:xfrm>
            <a:off x="3000375" y="2714625"/>
            <a:ext cx="1428750" cy="1428750"/>
          </a:xfrm>
          <a:prstGeom prst="ellipse">
            <a:avLst/>
          </a:prstGeom>
          <a:solidFill>
            <a:srgbClr val="BFDBFE"/>
          </a:solidFill>
          <a:ln>
            <a:noFill/>
          </a:ln>
        </p:spPr>
      </p:sp>
      <p:sp>
        <p:nvSpPr>
          <p:cNvPr id="7" name="Ellipse 7"/>
          <p:cNvSpPr/>
          <p:nvPr/>
        </p:nvSpPr>
        <p:spPr>
          <a:xfrm>
            <a:off x="5000625" y="2714625"/>
            <a:ext cx="1428750" cy="142875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</p:sp>
      <p:sp>
        <p:nvSpPr>
          <p:cNvPr id="8" name="Ellipse 8"/>
          <p:cNvSpPr/>
          <p:nvPr/>
        </p:nvSpPr>
        <p:spPr>
          <a:xfrm>
            <a:off x="7000875" y="2714625"/>
            <a:ext cx="1428750" cy="142875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</p:sp>
      <p:sp>
        <p:nvSpPr>
          <p:cNvPr id="9" name="Ellipse 9"/>
          <p:cNvSpPr/>
          <p:nvPr/>
        </p:nvSpPr>
        <p:spPr>
          <a:xfrm>
            <a:off x="9001125" y="2714625"/>
            <a:ext cx="1428750" cy="1428750"/>
          </a:xfrm>
          <a:prstGeom prst="ellipse">
            <a:avLst/>
          </a:prstGeom>
          <a:solidFill>
            <a:srgbClr val="3B82F6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1529715" y="3168015"/>
            <a:ext cx="58988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汇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29965" y="3168015"/>
            <a:ext cx="58988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通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530215" y="3168015"/>
            <a:ext cx="58988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7530465" y="3168015"/>
            <a:ext cx="58988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服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9530715" y="3168015"/>
            <a:ext cx="589883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智</a:t>
            </a:r>
          </a:p>
        </p:txBody>
      </p:sp>
      <p:sp>
        <p:nvSpPr>
          <p:cNvPr id="15" name="Line 15"/>
          <p:cNvSpPr/>
          <p:nvPr/>
        </p:nvSpPr>
        <p:spPr>
          <a:xfrm>
            <a:off x="2428875" y="3429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16" name="Line 16"/>
          <p:cNvSpPr/>
          <p:nvPr/>
        </p:nvSpPr>
        <p:spPr>
          <a:xfrm>
            <a:off x="4429125" y="3429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17" name="Line 17"/>
          <p:cNvSpPr/>
          <p:nvPr/>
        </p:nvSpPr>
        <p:spPr>
          <a:xfrm>
            <a:off x="6429375" y="3429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18" name="Line 18"/>
          <p:cNvSpPr/>
          <p:nvPr/>
        </p:nvSpPr>
        <p:spPr>
          <a:xfrm>
            <a:off x="8429625" y="3429000"/>
            <a:ext cx="571500" cy="9525"/>
          </a:xfrm>
          <a:custGeom>
            <a:avLst/>
            <a:gdLst/>
            <a:ahLst/>
            <a:cxnLst/>
            <a:rect l="l" t="t" r="r" b="b"/>
            <a:pathLst>
              <a:path w="571500" h="9525">
                <a:moveTo>
                  <a:pt x="0" y="0"/>
                </a:moveTo>
                <a:lnTo>
                  <a:pt x="571500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19" name="TextBox 19"/>
          <p:cNvSpPr txBox="1"/>
          <p:nvPr/>
        </p:nvSpPr>
        <p:spPr>
          <a:xfrm>
            <a:off x="1074420" y="458438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汇：全量多源汇聚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3074670" y="4584382"/>
            <a:ext cx="196977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通：数据资产贯通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5074920" y="4584382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管：治理与质量闭环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7075170" y="4584382"/>
            <a:ext cx="245173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服：查询分析搜索服务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075420" y="4584382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智：问数与智能研究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796290" y="5425440"/>
            <a:ext cx="1213866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说明：该路径对标先进技术平台，覆盖数智治理、技术创新、工具开发与用户培训，不是单一技术优化。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255289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当前整体进展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Ellipse 5"/>
          <p:cNvSpPr/>
          <p:nvPr/>
        </p:nvSpPr>
        <p:spPr>
          <a:xfrm>
            <a:off x="714375" y="14954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910590" y="1424940"/>
            <a:ext cx="556641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统建采集系统已覆盖全量、全类型数据接入框架</a:t>
            </a:r>
          </a:p>
        </p:txBody>
      </p:sp>
      <p:sp>
        <p:nvSpPr>
          <p:cNvPr id="7" name="Ellipse 7"/>
          <p:cNvSpPr/>
          <p:nvPr/>
        </p:nvSpPr>
        <p:spPr>
          <a:xfrm>
            <a:off x="714375" y="20288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910590" y="1958340"/>
            <a:ext cx="71700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数据贯通能力形成：业务目录挂接结构化/非结构化/实时资产</a:t>
            </a:r>
          </a:p>
        </p:txBody>
      </p:sp>
      <p:sp>
        <p:nvSpPr>
          <p:cNvPr id="9" name="Ellipse 9"/>
          <p:cNvSpPr/>
          <p:nvPr/>
        </p:nvSpPr>
        <p:spPr>
          <a:xfrm>
            <a:off x="714375" y="25622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910590" y="2491740"/>
            <a:ext cx="504063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端到端数据质量反馈机制已上线并持续优化</a:t>
            </a:r>
          </a:p>
        </p:txBody>
      </p:sp>
      <p:sp>
        <p:nvSpPr>
          <p:cNvPr id="11" name="Ellipse 11"/>
          <p:cNvSpPr/>
          <p:nvPr/>
        </p:nvSpPr>
        <p:spPr>
          <a:xfrm>
            <a:off x="714375" y="30956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910590" y="3025140"/>
            <a:ext cx="53035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业务查询、数据分析、搜索能力形成统一入口</a:t>
            </a:r>
          </a:p>
        </p:txBody>
      </p:sp>
      <p:sp>
        <p:nvSpPr>
          <p:cNvPr id="13" name="Ellipse 13"/>
          <p:cNvSpPr/>
          <p:nvPr/>
        </p:nvSpPr>
        <p:spPr>
          <a:xfrm>
            <a:off x="714375" y="36290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4" name="TextBox 14"/>
          <p:cNvSpPr txBox="1"/>
          <p:nvPr/>
        </p:nvSpPr>
        <p:spPr>
          <a:xfrm>
            <a:off x="910590" y="3558540"/>
            <a:ext cx="731462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数据智能能力落地：问数问答、智能分析、智能研究、智能PPT</a:t>
            </a:r>
          </a:p>
        </p:txBody>
      </p:sp>
      <p:sp>
        <p:nvSpPr>
          <p:cNvPr id="15" name="Freeform 15"/>
          <p:cNvSpPr/>
          <p:nvPr/>
        </p:nvSpPr>
        <p:spPr>
          <a:xfrm>
            <a:off x="7429500" y="1428750"/>
            <a:ext cx="4000500" cy="4476750"/>
          </a:xfrm>
          <a:custGeom>
            <a:avLst/>
            <a:gdLst/>
            <a:ahLst/>
            <a:cxnLst/>
            <a:rect l="l" t="t" r="r" b="b"/>
            <a:pathLst>
              <a:path w="4000500" h="4476750">
                <a:moveTo>
                  <a:pt x="114300" y="0"/>
                </a:moveTo>
                <a:lnTo>
                  <a:pt x="3886200" y="0"/>
                </a:lnTo>
                <a:cubicBezTo>
                  <a:pt x="3949326" y="0"/>
                  <a:pt x="4000500" y="51174"/>
                  <a:pt x="4000500" y="114300"/>
                </a:cubicBezTo>
                <a:lnTo>
                  <a:pt x="4000500" y="4362450"/>
                </a:lnTo>
                <a:cubicBezTo>
                  <a:pt x="4000500" y="4425576"/>
                  <a:pt x="3949326" y="4476750"/>
                  <a:pt x="3886200" y="4476750"/>
                </a:cubicBezTo>
                <a:lnTo>
                  <a:pt x="114300" y="4476750"/>
                </a:lnTo>
                <a:cubicBezTo>
                  <a:pt x="51174" y="4476750"/>
                  <a:pt x="0" y="4425576"/>
                  <a:pt x="0" y="436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3F8FD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7688580" y="1725930"/>
            <a:ext cx="1341501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阶段状态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7694295" y="2250758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采集接入：完成主体建设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7694295" y="2631758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资产挂接：持续扩展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7694295" y="3012758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质量反馈：闭环运行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7694295" y="3393758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查询分析：稳定可用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7694295" y="3774758"/>
            <a:ext cx="221075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数据智能：场景试点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02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313634" y="3657600"/>
            <a:ext cx="3564731" cy="9144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5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进展和成果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ed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4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5451253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成果一：全量接入与数据贯通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5524500" cy="5334000"/>
          </a:xfrm>
          <a:custGeom>
            <a:avLst/>
            <a:gdLst/>
            <a:ahLst/>
            <a:cxnLst/>
            <a:rect l="l" t="t" r="r" b="b"/>
            <a:pathLst>
              <a:path w="5524500" h="5334000">
                <a:moveTo>
                  <a:pt x="133350" y="0"/>
                </a:moveTo>
                <a:lnTo>
                  <a:pt x="5391150" y="0"/>
                </a:lnTo>
                <a:cubicBezTo>
                  <a:pt x="5464797" y="0"/>
                  <a:pt x="5524500" y="59703"/>
                  <a:pt x="5524500" y="133350"/>
                </a:cubicBezTo>
                <a:lnTo>
                  <a:pt x="5524500" y="5200650"/>
                </a:lnTo>
                <a:cubicBezTo>
                  <a:pt x="5524500" y="5274297"/>
                  <a:pt x="5464797" y="5334000"/>
                  <a:pt x="53911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191250" y="952500"/>
            <a:ext cx="5619750" cy="5334000"/>
          </a:xfrm>
          <a:custGeom>
            <a:avLst/>
            <a:gdLst/>
            <a:ahLst/>
            <a:cxnLst/>
            <a:rect l="l" t="t" r="r" b="b"/>
            <a:pathLst>
              <a:path w="5619750" h="5334000">
                <a:moveTo>
                  <a:pt x="133350" y="0"/>
                </a:moveTo>
                <a:lnTo>
                  <a:pt x="5486400" y="0"/>
                </a:lnTo>
                <a:cubicBezTo>
                  <a:pt x="5560047" y="0"/>
                  <a:pt x="5619750" y="59703"/>
                  <a:pt x="5619750" y="133350"/>
                </a:cubicBezTo>
                <a:lnTo>
                  <a:pt x="5619750" y="5200650"/>
                </a:lnTo>
                <a:cubicBezTo>
                  <a:pt x="5619750" y="5274297"/>
                  <a:pt x="5560047" y="5334000"/>
                  <a:pt x="548640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6" name="TextBox 6"/>
          <p:cNvSpPr txBox="1"/>
          <p:nvPr/>
        </p:nvSpPr>
        <p:spPr>
          <a:xfrm>
            <a:off x="640080" y="1202055"/>
            <a:ext cx="262966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全量、全类型接入</a:t>
            </a:r>
          </a:p>
        </p:txBody>
      </p:sp>
      <p:sp>
        <p:nvSpPr>
          <p:cNvPr id="7" name="Ellipse 7"/>
          <p:cNvSpPr/>
          <p:nvPr/>
        </p:nvSpPr>
        <p:spPr>
          <a:xfrm>
            <a:off x="695325" y="17811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93445" y="1726882"/>
            <a:ext cx="3415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统一采集体系覆盖核心源头系统</a:t>
            </a:r>
          </a:p>
        </p:txBody>
      </p:sp>
      <p:sp>
        <p:nvSpPr>
          <p:cNvPr id="9" name="Ellipse 9"/>
          <p:cNvSpPr/>
          <p:nvPr/>
        </p:nvSpPr>
        <p:spPr>
          <a:xfrm>
            <a:off x="695325" y="22193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0" name="TextBox 10"/>
          <p:cNvSpPr txBox="1"/>
          <p:nvPr/>
        </p:nvSpPr>
        <p:spPr>
          <a:xfrm>
            <a:off x="893445" y="2165032"/>
            <a:ext cx="413861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结构化、非结构化、实时数据并行接入</a:t>
            </a:r>
          </a:p>
        </p:txBody>
      </p:sp>
      <p:sp>
        <p:nvSpPr>
          <p:cNvPr id="11" name="Ellipse 11"/>
          <p:cNvSpPr/>
          <p:nvPr/>
        </p:nvSpPr>
        <p:spPr>
          <a:xfrm>
            <a:off x="695325" y="26574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2" name="TextBox 12"/>
          <p:cNvSpPr txBox="1"/>
          <p:nvPr/>
        </p:nvSpPr>
        <p:spPr>
          <a:xfrm>
            <a:off x="893445" y="2603182"/>
            <a:ext cx="341566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接入流程标准化，提升可复制性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450330" y="1202055"/>
            <a:ext cx="2951702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业务目录挂接与贯通</a:t>
            </a:r>
          </a:p>
        </p:txBody>
      </p:sp>
      <p:sp>
        <p:nvSpPr>
          <p:cNvPr id="14" name="Ellipse 14"/>
          <p:cNvSpPr/>
          <p:nvPr/>
        </p:nvSpPr>
        <p:spPr>
          <a:xfrm>
            <a:off x="6505575" y="17811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6703695" y="172688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按业务主题组织数据资产目录</a:t>
            </a:r>
          </a:p>
        </p:txBody>
      </p:sp>
      <p:sp>
        <p:nvSpPr>
          <p:cNvPr id="16" name="Ellipse 16"/>
          <p:cNvSpPr/>
          <p:nvPr/>
        </p:nvSpPr>
        <p:spPr>
          <a:xfrm>
            <a:off x="6505575" y="22193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6703695" y="2165032"/>
            <a:ext cx="2692717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资产可见、可懂、可追溯</a:t>
            </a:r>
          </a:p>
        </p:txBody>
      </p:sp>
      <p:sp>
        <p:nvSpPr>
          <p:cNvPr id="18" name="Ellipse 18"/>
          <p:cNvSpPr/>
          <p:nvPr/>
        </p:nvSpPr>
        <p:spPr>
          <a:xfrm>
            <a:off x="6505575" y="26574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6703695" y="2603182"/>
            <a:ext cx="317468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跨域数据关联支持端到端分析</a:t>
            </a:r>
          </a:p>
        </p:txBody>
      </p:sp>
      <p:sp>
        <p:nvSpPr>
          <p:cNvPr id="20" name="Freeform 20"/>
          <p:cNvSpPr/>
          <p:nvPr/>
        </p:nvSpPr>
        <p:spPr>
          <a:xfrm>
            <a:off x="762000" y="3619500"/>
            <a:ext cx="10668000" cy="2000250"/>
          </a:xfrm>
          <a:custGeom>
            <a:avLst/>
            <a:gdLst/>
            <a:ahLst/>
            <a:cxnLst/>
            <a:rect l="l" t="t" r="r" b="b"/>
            <a:pathLst>
              <a:path w="10668000" h="2000250">
                <a:moveTo>
                  <a:pt x="114300" y="0"/>
                </a:moveTo>
                <a:lnTo>
                  <a:pt x="10553700" y="0"/>
                </a:lnTo>
                <a:cubicBezTo>
                  <a:pt x="10616826" y="0"/>
                  <a:pt x="10668000" y="51174"/>
                  <a:pt x="10668000" y="114300"/>
                </a:cubicBezTo>
                <a:lnTo>
                  <a:pt x="10668000" y="1885950"/>
                </a:lnTo>
                <a:cubicBezTo>
                  <a:pt x="10668000" y="1949076"/>
                  <a:pt x="10616826" y="2000250"/>
                  <a:pt x="10553700" y="2000250"/>
                </a:cubicBezTo>
                <a:lnTo>
                  <a:pt x="114300" y="2000250"/>
                </a:lnTo>
                <a:cubicBezTo>
                  <a:pt x="51174" y="2000250"/>
                  <a:pt x="0" y="1949076"/>
                  <a:pt x="0" y="1885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3F8FD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024890" y="3996690"/>
            <a:ext cx="84582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价值体现：数据可接入升级为可贯通，为质量闭环与智能应用奠定基础。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669340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成果二：数据质量提升与端到端反馈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762000" y="1524000"/>
            <a:ext cx="2381250" cy="1047750"/>
          </a:xfrm>
          <a:custGeom>
            <a:avLst/>
            <a:gdLst/>
            <a:ahLst/>
            <a:cxnLst/>
            <a:rect l="l" t="t" r="r" b="b"/>
            <a:pathLst>
              <a:path w="2381250" h="1047750">
                <a:moveTo>
                  <a:pt x="95250" y="0"/>
                </a:moveTo>
                <a:lnTo>
                  <a:pt x="2286000" y="0"/>
                </a:lnTo>
                <a:cubicBezTo>
                  <a:pt x="2338605" y="0"/>
                  <a:pt x="2381250" y="42645"/>
                  <a:pt x="2381250" y="95250"/>
                </a:cubicBezTo>
                <a:lnTo>
                  <a:pt x="2381250" y="952500"/>
                </a:lnTo>
                <a:cubicBezTo>
                  <a:pt x="2381250" y="1005105"/>
                  <a:pt x="2338605" y="1047750"/>
                  <a:pt x="228600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3619500" y="1524000"/>
            <a:ext cx="2381250" cy="1047750"/>
          </a:xfrm>
          <a:custGeom>
            <a:avLst/>
            <a:gdLst/>
            <a:ahLst/>
            <a:cxnLst/>
            <a:rect l="l" t="t" r="r" b="b"/>
            <a:pathLst>
              <a:path w="2381250" h="1047750">
                <a:moveTo>
                  <a:pt x="95250" y="0"/>
                </a:moveTo>
                <a:lnTo>
                  <a:pt x="2286000" y="0"/>
                </a:lnTo>
                <a:cubicBezTo>
                  <a:pt x="2338605" y="0"/>
                  <a:pt x="2381250" y="42645"/>
                  <a:pt x="2381250" y="95250"/>
                </a:cubicBezTo>
                <a:lnTo>
                  <a:pt x="2381250" y="952500"/>
                </a:lnTo>
                <a:cubicBezTo>
                  <a:pt x="2381250" y="1005105"/>
                  <a:pt x="2338605" y="1047750"/>
                  <a:pt x="228600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BFDBFE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6477000" y="1524000"/>
            <a:ext cx="2381250" cy="1047750"/>
          </a:xfrm>
          <a:custGeom>
            <a:avLst/>
            <a:gdLst/>
            <a:ahLst/>
            <a:cxnLst/>
            <a:rect l="l" t="t" r="r" b="b"/>
            <a:pathLst>
              <a:path w="2381250" h="1047750">
                <a:moveTo>
                  <a:pt x="95250" y="0"/>
                </a:moveTo>
                <a:lnTo>
                  <a:pt x="2286000" y="0"/>
                </a:lnTo>
                <a:cubicBezTo>
                  <a:pt x="2338605" y="0"/>
                  <a:pt x="2381250" y="42645"/>
                  <a:pt x="2381250" y="95250"/>
                </a:cubicBezTo>
                <a:lnTo>
                  <a:pt x="2381250" y="952500"/>
                </a:lnTo>
                <a:cubicBezTo>
                  <a:pt x="2381250" y="1005105"/>
                  <a:pt x="2338605" y="1047750"/>
                  <a:pt x="228600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93C5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9334500" y="1524000"/>
            <a:ext cx="2095500" cy="1047750"/>
          </a:xfrm>
          <a:custGeom>
            <a:avLst/>
            <a:gdLst/>
            <a:ahLst/>
            <a:cxnLst/>
            <a:rect l="l" t="t" r="r" b="b"/>
            <a:pathLst>
              <a:path w="2095500" h="1047750">
                <a:moveTo>
                  <a:pt x="95250" y="0"/>
                </a:moveTo>
                <a:lnTo>
                  <a:pt x="2000250" y="0"/>
                </a:lnTo>
                <a:cubicBezTo>
                  <a:pt x="2052855" y="0"/>
                  <a:pt x="2095500" y="42645"/>
                  <a:pt x="2095500" y="95250"/>
                </a:cubicBezTo>
                <a:lnTo>
                  <a:pt x="2095500" y="952500"/>
                </a:lnTo>
                <a:cubicBezTo>
                  <a:pt x="2095500" y="1005105"/>
                  <a:pt x="2052855" y="1047750"/>
                  <a:pt x="2000250" y="1047750"/>
                </a:cubicBezTo>
                <a:lnTo>
                  <a:pt x="95250" y="1047750"/>
                </a:lnTo>
                <a:cubicBezTo>
                  <a:pt x="42645" y="1047750"/>
                  <a:pt x="0" y="1005105"/>
                  <a:pt x="0" y="952500"/>
                </a:cubicBezTo>
                <a:lnTo>
                  <a:pt x="0" y="95250"/>
                </a:lnTo>
                <a:cubicBezTo>
                  <a:pt x="0" y="42645"/>
                  <a:pt x="42645" y="0"/>
                  <a:pt x="95250" y="0"/>
                </a:cubicBezTo>
                <a:close/>
              </a:path>
            </a:pathLst>
          </a:custGeom>
          <a:solidFill>
            <a:srgbClr val="60A5FA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215390" y="194881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规则探查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4072890" y="194881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问题识别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930390" y="194881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责任反馈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9692640" y="1948815"/>
            <a:ext cx="1149858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闭环复核</a:t>
            </a:r>
          </a:p>
        </p:txBody>
      </p:sp>
      <p:sp>
        <p:nvSpPr>
          <p:cNvPr id="13" name="Line 13"/>
          <p:cNvSpPr/>
          <p:nvPr/>
        </p:nvSpPr>
        <p:spPr>
          <a:xfrm>
            <a:off x="3143250" y="204787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14" name="Line 14"/>
          <p:cNvSpPr/>
          <p:nvPr/>
        </p:nvSpPr>
        <p:spPr>
          <a:xfrm>
            <a:off x="6000750" y="204787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15" name="Line 15"/>
          <p:cNvSpPr/>
          <p:nvPr/>
        </p:nvSpPr>
        <p:spPr>
          <a:xfrm>
            <a:off x="8858250" y="2047875"/>
            <a:ext cx="476250" cy="9525"/>
          </a:xfrm>
          <a:custGeom>
            <a:avLst/>
            <a:gdLst/>
            <a:ahLst/>
            <a:cxnLst/>
            <a:rect l="l" t="t" r="r" b="b"/>
            <a:pathLst>
              <a:path w="476250" h="9525">
                <a:moveTo>
                  <a:pt x="0" y="0"/>
                </a:moveTo>
                <a:lnTo>
                  <a:pt x="476250" y="0"/>
                </a:lnTo>
              </a:path>
            </a:pathLst>
          </a:custGeom>
          <a:noFill/>
          <a:ln w="38100">
            <a:solidFill>
              <a:srgbClr val="2C7BC0"/>
            </a:solidFill>
          </a:ln>
        </p:spPr>
      </p:sp>
      <p:sp>
        <p:nvSpPr>
          <p:cNvPr id="16" name="Ellipse 16"/>
          <p:cNvSpPr/>
          <p:nvPr/>
        </p:nvSpPr>
        <p:spPr>
          <a:xfrm>
            <a:off x="771525" y="32099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7" name="TextBox 17"/>
          <p:cNvSpPr txBox="1"/>
          <p:nvPr/>
        </p:nvSpPr>
        <p:spPr>
          <a:xfrm>
            <a:off x="967740" y="3139440"/>
            <a:ext cx="45148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基于业务视角定义完整性与一致性规则</a:t>
            </a:r>
          </a:p>
        </p:txBody>
      </p:sp>
      <p:sp>
        <p:nvSpPr>
          <p:cNvPr id="18" name="Ellipse 18"/>
          <p:cNvSpPr/>
          <p:nvPr/>
        </p:nvSpPr>
        <p:spPr>
          <a:xfrm>
            <a:off x="771525" y="36671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9" name="TextBox 19"/>
          <p:cNvSpPr txBox="1"/>
          <p:nvPr/>
        </p:nvSpPr>
        <p:spPr>
          <a:xfrm>
            <a:off x="967740" y="3596640"/>
            <a:ext cx="451485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构建端到端质量反馈链路，问题可追踪</a:t>
            </a:r>
          </a:p>
        </p:txBody>
      </p:sp>
      <p:sp>
        <p:nvSpPr>
          <p:cNvPr id="20" name="Ellipse 20"/>
          <p:cNvSpPr/>
          <p:nvPr/>
        </p:nvSpPr>
        <p:spPr>
          <a:xfrm>
            <a:off x="771525" y="41243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967740" y="4053840"/>
            <a:ext cx="477774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推动分公司敏捷响应，缩短问题处置周期</a:t>
            </a:r>
          </a:p>
        </p:txBody>
      </p:sp>
      <p:sp>
        <p:nvSpPr>
          <p:cNvPr id="22" name="Ellipse 22"/>
          <p:cNvSpPr/>
          <p:nvPr/>
        </p:nvSpPr>
        <p:spPr>
          <a:xfrm>
            <a:off x="771525" y="45815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3" name="TextBox 23"/>
          <p:cNvSpPr txBox="1"/>
          <p:nvPr/>
        </p:nvSpPr>
        <p:spPr>
          <a:xfrm>
            <a:off x="967740" y="4511040"/>
            <a:ext cx="39890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质量治理从专项治理转向持续运营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752151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成果三：业务查询、数据分析与数据智能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85800" y="1428750"/>
            <a:ext cx="3390900" cy="4286250"/>
          </a:xfrm>
          <a:custGeom>
            <a:avLst/>
            <a:gdLst/>
            <a:ahLst/>
            <a:cxnLst/>
            <a:rect l="l" t="t" r="r" b="b"/>
            <a:pathLst>
              <a:path w="3390900" h="4286250">
                <a:moveTo>
                  <a:pt x="114300" y="0"/>
                </a:moveTo>
                <a:lnTo>
                  <a:pt x="3276600" y="0"/>
                </a:lnTo>
                <a:cubicBezTo>
                  <a:pt x="3339726" y="0"/>
                  <a:pt x="3390900" y="51174"/>
                  <a:pt x="3390900" y="114300"/>
                </a:cubicBezTo>
                <a:lnTo>
                  <a:pt x="3390900" y="4171950"/>
                </a:lnTo>
                <a:cubicBezTo>
                  <a:pt x="3390900" y="4235076"/>
                  <a:pt x="3339726" y="4286250"/>
                  <a:pt x="3276600" y="4286250"/>
                </a:cubicBezTo>
                <a:lnTo>
                  <a:pt x="114300" y="4286250"/>
                </a:lnTo>
                <a:cubicBezTo>
                  <a:pt x="51174" y="4286250"/>
                  <a:pt x="0" y="4235076"/>
                  <a:pt x="0" y="417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4400550" y="1428750"/>
            <a:ext cx="3390900" cy="4286250"/>
          </a:xfrm>
          <a:custGeom>
            <a:avLst/>
            <a:gdLst/>
            <a:ahLst/>
            <a:cxnLst/>
            <a:rect l="l" t="t" r="r" b="b"/>
            <a:pathLst>
              <a:path w="3390900" h="4286250">
                <a:moveTo>
                  <a:pt x="114300" y="0"/>
                </a:moveTo>
                <a:lnTo>
                  <a:pt x="3276600" y="0"/>
                </a:lnTo>
                <a:cubicBezTo>
                  <a:pt x="3339726" y="0"/>
                  <a:pt x="3390900" y="51174"/>
                  <a:pt x="3390900" y="114300"/>
                </a:cubicBezTo>
                <a:lnTo>
                  <a:pt x="3390900" y="4171950"/>
                </a:lnTo>
                <a:cubicBezTo>
                  <a:pt x="3390900" y="4235076"/>
                  <a:pt x="3339726" y="4286250"/>
                  <a:pt x="3276600" y="4286250"/>
                </a:cubicBezTo>
                <a:lnTo>
                  <a:pt x="114300" y="4286250"/>
                </a:lnTo>
                <a:cubicBezTo>
                  <a:pt x="51174" y="4286250"/>
                  <a:pt x="0" y="4235076"/>
                  <a:pt x="0" y="417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8115300" y="1428750"/>
            <a:ext cx="3390900" cy="4286250"/>
          </a:xfrm>
          <a:custGeom>
            <a:avLst/>
            <a:gdLst/>
            <a:ahLst/>
            <a:cxnLst/>
            <a:rect l="l" t="t" r="r" b="b"/>
            <a:pathLst>
              <a:path w="3390900" h="4286250">
                <a:moveTo>
                  <a:pt x="114300" y="0"/>
                </a:moveTo>
                <a:lnTo>
                  <a:pt x="3276600" y="0"/>
                </a:lnTo>
                <a:cubicBezTo>
                  <a:pt x="3339726" y="0"/>
                  <a:pt x="3390900" y="51174"/>
                  <a:pt x="3390900" y="114300"/>
                </a:cubicBezTo>
                <a:lnTo>
                  <a:pt x="3390900" y="4171950"/>
                </a:lnTo>
                <a:cubicBezTo>
                  <a:pt x="3390900" y="4235076"/>
                  <a:pt x="3339726" y="4286250"/>
                  <a:pt x="3276600" y="4286250"/>
                </a:cubicBezTo>
                <a:lnTo>
                  <a:pt x="114300" y="4286250"/>
                </a:lnTo>
                <a:cubicBezTo>
                  <a:pt x="51174" y="4286250"/>
                  <a:pt x="0" y="4235076"/>
                  <a:pt x="0" y="4171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8" name="TextBox 8"/>
          <p:cNvSpPr txBox="1"/>
          <p:nvPr/>
        </p:nvSpPr>
        <p:spPr>
          <a:xfrm>
            <a:off x="885825" y="1681162"/>
            <a:ext cx="24724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业务查询与搜索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893445" y="2184082"/>
            <a:ext cx="12106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指标查询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93445" y="2546032"/>
            <a:ext cx="12106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资料检索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93445" y="2907982"/>
            <a:ext cx="145165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跨主题联查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00575" y="168116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数据分析服务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608195" y="2184082"/>
            <a:ext cx="19336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统计分析与诊断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4608195" y="2546032"/>
            <a:ext cx="169264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业务专题研判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4608195" y="2907982"/>
            <a:ext cx="193362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可视化汇报支持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315325" y="1681162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数据智能能力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322945" y="2184082"/>
            <a:ext cx="1210675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问数问答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8322945" y="2546032"/>
            <a:ext cx="1825180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智能分析/研究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8322945" y="2907982"/>
            <a:ext cx="1608296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- 智能PPT生成</a:t>
            </a:r>
          </a:p>
        </p:txBody>
      </p:sp>
      <p:sp>
        <p:nvSpPr>
          <p:cNvPr id="20" name="Freeform 20"/>
          <p:cNvSpPr/>
          <p:nvPr/>
        </p:nvSpPr>
        <p:spPr>
          <a:xfrm>
            <a:off x="914400" y="4095750"/>
            <a:ext cx="10287000" cy="1238250"/>
          </a:xfrm>
          <a:custGeom>
            <a:avLst/>
            <a:gdLst/>
            <a:ahLst/>
            <a:cxnLst/>
            <a:rect l="l" t="t" r="r" b="b"/>
            <a:pathLst>
              <a:path w="10287000" h="1238250">
                <a:moveTo>
                  <a:pt x="114300" y="0"/>
                </a:moveTo>
                <a:lnTo>
                  <a:pt x="10172700" y="0"/>
                </a:lnTo>
                <a:cubicBezTo>
                  <a:pt x="10235826" y="0"/>
                  <a:pt x="10287000" y="51174"/>
                  <a:pt x="10287000" y="114300"/>
                </a:cubicBezTo>
                <a:lnTo>
                  <a:pt x="10287000" y="1123950"/>
                </a:lnTo>
                <a:cubicBezTo>
                  <a:pt x="10287000" y="1187076"/>
                  <a:pt x="10235826" y="1238250"/>
                  <a:pt x="10172700" y="1238250"/>
                </a:cubicBezTo>
                <a:lnTo>
                  <a:pt x="114300" y="1238250"/>
                </a:lnTo>
                <a:cubicBezTo>
                  <a:pt x="51174" y="1238250"/>
                  <a:pt x="0" y="1187076"/>
                  <a:pt x="0" y="11239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1" name="TextBox 21"/>
          <p:cNvSpPr txBox="1"/>
          <p:nvPr/>
        </p:nvSpPr>
        <p:spPr>
          <a:xfrm>
            <a:off x="1177290" y="4406265"/>
            <a:ext cx="10074973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技术支撑：结构化数据语义化 + 非结构化数据知识化，推动数据可用向数据可智跃迁。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03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211473" y="3576638"/>
            <a:ext cx="5769054" cy="10668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25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下一步工作计划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5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etch(across)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1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5037201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问题聚焦与下一步行动计划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Freeform 5"/>
          <p:cNvSpPr/>
          <p:nvPr/>
        </p:nvSpPr>
        <p:spPr>
          <a:xfrm>
            <a:off x="685800" y="1381125"/>
            <a:ext cx="5143500" cy="4476750"/>
          </a:xfrm>
          <a:custGeom>
            <a:avLst/>
            <a:gdLst/>
            <a:ahLst/>
            <a:cxnLst/>
            <a:rect l="l" t="t" r="r" b="b"/>
            <a:pathLst>
              <a:path w="5143500" h="44767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362450"/>
                </a:lnTo>
                <a:cubicBezTo>
                  <a:pt x="5143500" y="4425576"/>
                  <a:pt x="5092326" y="4476750"/>
                  <a:pt x="5029200" y="4476750"/>
                </a:cubicBezTo>
                <a:lnTo>
                  <a:pt x="114300" y="4476750"/>
                </a:lnTo>
                <a:cubicBezTo>
                  <a:pt x="51174" y="4476750"/>
                  <a:pt x="0" y="4425576"/>
                  <a:pt x="0" y="436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6" name="Freeform 6"/>
          <p:cNvSpPr/>
          <p:nvPr/>
        </p:nvSpPr>
        <p:spPr>
          <a:xfrm>
            <a:off x="6362700" y="1381125"/>
            <a:ext cx="5143500" cy="4476750"/>
          </a:xfrm>
          <a:custGeom>
            <a:avLst/>
            <a:gdLst/>
            <a:ahLst/>
            <a:cxnLst/>
            <a:rect l="l" t="t" r="r" b="b"/>
            <a:pathLst>
              <a:path w="5143500" h="4476750">
                <a:moveTo>
                  <a:pt x="114300" y="0"/>
                </a:moveTo>
                <a:lnTo>
                  <a:pt x="5029200" y="0"/>
                </a:lnTo>
                <a:cubicBezTo>
                  <a:pt x="5092326" y="0"/>
                  <a:pt x="5143500" y="51174"/>
                  <a:pt x="5143500" y="114300"/>
                </a:cubicBezTo>
                <a:lnTo>
                  <a:pt x="5143500" y="4362450"/>
                </a:lnTo>
                <a:cubicBezTo>
                  <a:pt x="5143500" y="4425576"/>
                  <a:pt x="5092326" y="4476750"/>
                  <a:pt x="5029200" y="4476750"/>
                </a:cubicBezTo>
                <a:lnTo>
                  <a:pt x="114300" y="4476750"/>
                </a:lnTo>
                <a:cubicBezTo>
                  <a:pt x="51174" y="4476750"/>
                  <a:pt x="0" y="4425576"/>
                  <a:pt x="0" y="436245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EFF6FC"/>
          </a:solidFill>
          <a:ln>
            <a:noFill/>
          </a:ln>
        </p:spPr>
      </p:sp>
      <p:sp>
        <p:nvSpPr>
          <p:cNvPr id="7" name="TextBox 7"/>
          <p:cNvSpPr txBox="1"/>
          <p:nvPr/>
        </p:nvSpPr>
        <p:spPr>
          <a:xfrm>
            <a:off x="885825" y="1614488"/>
            <a:ext cx="2127409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仍存在的问题</a:t>
            </a:r>
          </a:p>
        </p:txBody>
      </p:sp>
      <p:sp>
        <p:nvSpPr>
          <p:cNvPr id="8" name="Ellipse 8"/>
          <p:cNvSpPr/>
          <p:nvPr/>
        </p:nvSpPr>
        <p:spPr>
          <a:xfrm>
            <a:off x="923925" y="22383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120140" y="2167890"/>
            <a:ext cx="398907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治理试点需持续推进，机制需固化</a:t>
            </a:r>
          </a:p>
        </p:txBody>
      </p:sp>
      <p:sp>
        <p:nvSpPr>
          <p:cNvPr id="10" name="Ellipse 10"/>
          <p:cNvSpPr/>
          <p:nvPr/>
        </p:nvSpPr>
        <p:spPr>
          <a:xfrm>
            <a:off x="923925" y="27146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1" name="TextBox 11"/>
          <p:cNvSpPr txBox="1"/>
          <p:nvPr/>
        </p:nvSpPr>
        <p:spPr>
          <a:xfrm>
            <a:off x="1120140" y="264414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数据缺失仍是最大制约因素</a:t>
            </a:r>
          </a:p>
        </p:txBody>
      </p:sp>
      <p:sp>
        <p:nvSpPr>
          <p:cNvPr id="12" name="Ellipse 12"/>
          <p:cNvSpPr/>
          <p:nvPr/>
        </p:nvSpPr>
        <p:spPr>
          <a:xfrm>
            <a:off x="923925" y="31908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3" name="TextBox 13"/>
          <p:cNvSpPr txBox="1"/>
          <p:nvPr/>
        </p:nvSpPr>
        <p:spPr>
          <a:xfrm>
            <a:off x="1120140" y="3120390"/>
            <a:ext cx="320040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价值应用责任牵引有待加强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562725" y="1614488"/>
            <a:ext cx="2472452" cy="4572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2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下一步重点任务</a:t>
            </a:r>
          </a:p>
        </p:txBody>
      </p:sp>
      <p:sp>
        <p:nvSpPr>
          <p:cNvPr id="15" name="Ellipse 15"/>
          <p:cNvSpPr/>
          <p:nvPr/>
        </p:nvSpPr>
        <p:spPr>
          <a:xfrm>
            <a:off x="6600825" y="22383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6" name="TextBox 16"/>
          <p:cNvSpPr txBox="1"/>
          <p:nvPr/>
        </p:nvSpPr>
        <p:spPr>
          <a:xfrm>
            <a:off x="6798945" y="2184082"/>
            <a:ext cx="5921883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技术：7月底实现试点上线，推进AI自动分析与目录挂接</a:t>
            </a:r>
          </a:p>
        </p:txBody>
      </p:sp>
      <p:sp>
        <p:nvSpPr>
          <p:cNvPr id="17" name="Ellipse 17"/>
          <p:cNvSpPr/>
          <p:nvPr/>
        </p:nvSpPr>
        <p:spPr>
          <a:xfrm>
            <a:off x="6600825" y="26765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18" name="TextBox 18"/>
          <p:cNvSpPr txBox="1"/>
          <p:nvPr/>
        </p:nvSpPr>
        <p:spPr>
          <a:xfrm>
            <a:off x="6798945" y="2622232"/>
            <a:ext cx="606647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技术：重复数据自动对齐、质量智能探查、知识智能提取</a:t>
            </a:r>
          </a:p>
        </p:txBody>
      </p:sp>
      <p:sp>
        <p:nvSpPr>
          <p:cNvPr id="19" name="Ellipse 19"/>
          <p:cNvSpPr/>
          <p:nvPr/>
        </p:nvSpPr>
        <p:spPr>
          <a:xfrm>
            <a:off x="6600825" y="311467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0" name="TextBox 20"/>
          <p:cNvSpPr txBox="1"/>
          <p:nvPr/>
        </p:nvSpPr>
        <p:spPr>
          <a:xfrm>
            <a:off x="6798945" y="3060382"/>
            <a:ext cx="4620578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管理：强化源头管控与分公司质量敏捷响应</a:t>
            </a:r>
          </a:p>
        </p:txBody>
      </p:sp>
      <p:sp>
        <p:nvSpPr>
          <p:cNvPr id="21" name="Ellipse 21"/>
          <p:cNvSpPr/>
          <p:nvPr/>
        </p:nvSpPr>
        <p:spPr>
          <a:xfrm>
            <a:off x="6600825" y="3552825"/>
            <a:ext cx="95250" cy="95250"/>
          </a:xfrm>
          <a:prstGeom prst="ellipse">
            <a:avLst/>
          </a:prstGeom>
          <a:solidFill>
            <a:srgbClr val="0074CC"/>
          </a:solidFill>
          <a:ln>
            <a:noFill/>
          </a:ln>
        </p:spPr>
      </p:sp>
      <p:sp>
        <p:nvSpPr>
          <p:cNvPr id="22" name="TextBox 22"/>
          <p:cNvSpPr txBox="1"/>
          <p:nvPr/>
        </p:nvSpPr>
        <p:spPr>
          <a:xfrm>
            <a:off x="6798945" y="3498532"/>
            <a:ext cx="5102542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1D4E79"/>
                </a:solidFill>
                <a:latin typeface="Microsoft YaHei"/>
                <a:ea typeface="Microsoft YaHei"/>
                <a:cs typeface="Microsoft YaHei"/>
              </a:rPr>
              <a:t>运营：开展培训推广与品牌打造，形成应用生态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72" y="0"/>
            <a:ext cx="12099608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714500" y="1809750"/>
            <a:ext cx="8763000" cy="3429000"/>
          </a:xfrm>
          <a:custGeom>
            <a:avLst/>
            <a:gdLst/>
            <a:ahLst/>
            <a:cxnLst/>
            <a:rect l="l" t="t" r="r" b="b"/>
            <a:pathLst>
              <a:path w="8763000" h="3429000">
                <a:moveTo>
                  <a:pt x="171450" y="0"/>
                </a:moveTo>
                <a:lnTo>
                  <a:pt x="8591550" y="0"/>
                </a:lnTo>
                <a:cubicBezTo>
                  <a:pt x="8686239" y="0"/>
                  <a:pt x="8763000" y="76761"/>
                  <a:pt x="8763000" y="171450"/>
                </a:cubicBezTo>
                <a:lnTo>
                  <a:pt x="8763000" y="3257550"/>
                </a:lnTo>
                <a:cubicBezTo>
                  <a:pt x="8763000" y="3352239"/>
                  <a:pt x="8686239" y="3429000"/>
                  <a:pt x="8591550" y="3429000"/>
                </a:cubicBezTo>
                <a:lnTo>
                  <a:pt x="171450" y="3429000"/>
                </a:lnTo>
                <a:cubicBezTo>
                  <a:pt x="76761" y="3429000"/>
                  <a:pt x="0" y="3352239"/>
                  <a:pt x="0" y="3257550"/>
                </a:cubicBezTo>
                <a:lnTo>
                  <a:pt x="0" y="171450"/>
                </a:lnTo>
                <a:cubicBezTo>
                  <a:pt x="0" y="76761"/>
                  <a:pt x="76761" y="0"/>
                  <a:pt x="171450" y="0"/>
                </a:cubicBezTo>
                <a:close/>
              </a:path>
            </a:pathLst>
          </a:custGeom>
          <a:solidFill>
            <a:srgbClr val="FFFFFF">
              <a:alpha val="78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5004256" y="1785938"/>
            <a:ext cx="2183487" cy="228600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11250" b="1" dirty="0">
                <a:solidFill>
                  <a:srgbClr val="004C8B"/>
                </a:solidFill>
                <a:latin typeface="Arial"/>
                <a:ea typeface="Microsoft YaHei"/>
                <a:cs typeface="Arial"/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838337" y="3528060"/>
            <a:ext cx="4515326" cy="11582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5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思考和建议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23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3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5" presetClass="entr" presetSubtype="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5" y="0"/>
            <a:ext cx="12151042" cy="6858000"/>
          </a:xfrm>
          <a:prstGeom prst="rect">
            <a:avLst/>
          </a:prstGeom>
        </p:spPr>
      </p:pic>
      <p:sp>
        <p:nvSpPr>
          <p:cNvPr id="3" name="TextBox 3"/>
          <p:cNvSpPr txBox="1"/>
          <p:nvPr/>
        </p:nvSpPr>
        <p:spPr>
          <a:xfrm>
            <a:off x="365760" y="394335"/>
            <a:ext cx="4623149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004C8B"/>
                </a:solidFill>
                <a:latin typeface="Microsoft YaHei"/>
                <a:ea typeface="Microsoft YaHei"/>
                <a:cs typeface="Microsoft YaHei"/>
              </a:rPr>
              <a:t>技术趋势愿景与管理建议</a:t>
            </a:r>
          </a:p>
        </p:txBody>
      </p:sp>
      <p:sp>
        <p:nvSpPr>
          <p:cNvPr id="4" name="Freeform 4"/>
          <p:cNvSpPr/>
          <p:nvPr/>
        </p:nvSpPr>
        <p:spPr>
          <a:xfrm>
            <a:off x="381000" y="952500"/>
            <a:ext cx="11430000" cy="5334000"/>
          </a:xfrm>
          <a:custGeom>
            <a:avLst/>
            <a:gdLst/>
            <a:ahLst/>
            <a:cxnLst/>
            <a:rect l="l" t="t" r="r" b="b"/>
            <a:pathLst>
              <a:path w="11430000" h="5334000">
                <a:moveTo>
                  <a:pt x="133350" y="0"/>
                </a:moveTo>
                <a:lnTo>
                  <a:pt x="11296650" y="0"/>
                </a:lnTo>
                <a:cubicBezTo>
                  <a:pt x="11370297" y="0"/>
                  <a:pt x="11430000" y="59703"/>
                  <a:pt x="11430000" y="133350"/>
                </a:cubicBezTo>
                <a:lnTo>
                  <a:pt x="11430000" y="5200650"/>
                </a:lnTo>
                <a:cubicBezTo>
                  <a:pt x="11430000" y="5274297"/>
                  <a:pt x="11370297" y="5334000"/>
                  <a:pt x="11296650" y="5334000"/>
                </a:cubicBezTo>
                <a:lnTo>
                  <a:pt x="133350" y="5334000"/>
                </a:lnTo>
                <a:cubicBezTo>
                  <a:pt x="59703" y="5334000"/>
                  <a:pt x="0" y="5274297"/>
                  <a:pt x="0" y="5200650"/>
                </a:cubicBezTo>
                <a:lnTo>
                  <a:pt x="0" y="133350"/>
                </a:lnTo>
                <a:cubicBezTo>
                  <a:pt x="0" y="59703"/>
                  <a:pt x="59703" y="0"/>
                  <a:pt x="133350" y="0"/>
                </a:cubicBezTo>
                <a:close/>
              </a:path>
            </a:pathLst>
          </a:custGeom>
          <a:solidFill>
            <a:srgbClr val="FFFFFF">
              <a:alpha val="90000"/>
            </a:srgbClr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678180" y="1202055"/>
            <a:ext cx="5850065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10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愿景图：数智一体、用智一体、人智一体</a:t>
            </a:r>
          </a:p>
        </p:txBody>
      </p:sp>
      <p:sp>
        <p:nvSpPr>
          <p:cNvPr id="6" name="Freeform 6"/>
          <p:cNvSpPr/>
          <p:nvPr/>
        </p:nvSpPr>
        <p:spPr>
          <a:xfrm>
            <a:off x="857250" y="1809750"/>
            <a:ext cx="3048000" cy="1524000"/>
          </a:xfrm>
          <a:custGeom>
            <a:avLst/>
            <a:gdLst/>
            <a:ahLst/>
            <a:cxnLst/>
            <a:rect l="l" t="t" r="r" b="b"/>
            <a:pathLst>
              <a:path w="3048000" h="15240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409700"/>
                </a:lnTo>
                <a:cubicBezTo>
                  <a:pt x="3048000" y="1472826"/>
                  <a:pt x="2996826" y="1524000"/>
                  <a:pt x="2933700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DBEAFE"/>
          </a:solidFill>
          <a:ln>
            <a:noFill/>
          </a:ln>
        </p:spPr>
      </p:sp>
      <p:sp>
        <p:nvSpPr>
          <p:cNvPr id="7" name="Freeform 7"/>
          <p:cNvSpPr/>
          <p:nvPr/>
        </p:nvSpPr>
        <p:spPr>
          <a:xfrm>
            <a:off x="4572000" y="1809750"/>
            <a:ext cx="3048000" cy="1524000"/>
          </a:xfrm>
          <a:custGeom>
            <a:avLst/>
            <a:gdLst/>
            <a:ahLst/>
            <a:cxnLst/>
            <a:rect l="l" t="t" r="r" b="b"/>
            <a:pathLst>
              <a:path w="3048000" h="15240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409700"/>
                </a:lnTo>
                <a:cubicBezTo>
                  <a:pt x="3048000" y="1472826"/>
                  <a:pt x="2996826" y="1524000"/>
                  <a:pt x="2933700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93C5FD"/>
          </a:solidFill>
          <a:ln>
            <a:noFill/>
          </a:ln>
        </p:spPr>
      </p:sp>
      <p:sp>
        <p:nvSpPr>
          <p:cNvPr id="8" name="Freeform 8"/>
          <p:cNvSpPr/>
          <p:nvPr/>
        </p:nvSpPr>
        <p:spPr>
          <a:xfrm>
            <a:off x="8286750" y="1809750"/>
            <a:ext cx="3048000" cy="1524000"/>
          </a:xfrm>
          <a:custGeom>
            <a:avLst/>
            <a:gdLst/>
            <a:ahLst/>
            <a:cxnLst/>
            <a:rect l="l" t="t" r="r" b="b"/>
            <a:pathLst>
              <a:path w="3048000" h="1524000">
                <a:moveTo>
                  <a:pt x="114300" y="0"/>
                </a:moveTo>
                <a:lnTo>
                  <a:pt x="2933700" y="0"/>
                </a:lnTo>
                <a:cubicBezTo>
                  <a:pt x="2996826" y="0"/>
                  <a:pt x="3048000" y="51174"/>
                  <a:pt x="3048000" y="114300"/>
                </a:cubicBezTo>
                <a:lnTo>
                  <a:pt x="3048000" y="1409700"/>
                </a:lnTo>
                <a:cubicBezTo>
                  <a:pt x="3048000" y="1472826"/>
                  <a:pt x="2996826" y="1524000"/>
                  <a:pt x="2933700" y="1524000"/>
                </a:cubicBezTo>
                <a:lnTo>
                  <a:pt x="114300" y="1524000"/>
                </a:lnTo>
                <a:cubicBezTo>
                  <a:pt x="51174" y="1524000"/>
                  <a:pt x="0" y="1472826"/>
                  <a:pt x="0" y="14097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3B82F6"/>
          </a:solidFill>
          <a:ln>
            <a:noFill/>
          </a:ln>
        </p:spPr>
      </p:sp>
      <p:sp>
        <p:nvSpPr>
          <p:cNvPr id="9" name="TextBox 9"/>
          <p:cNvSpPr txBox="1"/>
          <p:nvPr/>
        </p:nvSpPr>
        <p:spPr>
          <a:xfrm>
            <a:off x="1586865" y="2344102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数智一体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5301615" y="2344102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用智一体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16365" y="2344102"/>
            <a:ext cx="1628966" cy="5181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55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人智一体</a:t>
            </a:r>
          </a:p>
        </p:txBody>
      </p:sp>
      <p:sp>
        <p:nvSpPr>
          <p:cNvPr id="12" name="Line 12"/>
          <p:cNvSpPr/>
          <p:nvPr/>
        </p:nvSpPr>
        <p:spPr>
          <a:xfrm>
            <a:off x="3905250" y="25717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13" name="Line 13"/>
          <p:cNvSpPr/>
          <p:nvPr/>
        </p:nvSpPr>
        <p:spPr>
          <a:xfrm>
            <a:off x="7620000" y="2571750"/>
            <a:ext cx="666750" cy="9525"/>
          </a:xfrm>
          <a:custGeom>
            <a:avLst/>
            <a:gdLst/>
            <a:ahLst/>
            <a:cxnLst/>
            <a:rect l="l" t="t" r="r" b="b"/>
            <a:pathLst>
              <a:path w="666750" h="9525">
                <a:moveTo>
                  <a:pt x="0" y="0"/>
                </a:moveTo>
                <a:lnTo>
                  <a:pt x="666750" y="0"/>
                </a:lnTo>
              </a:path>
            </a:pathLst>
          </a:custGeom>
          <a:noFill/>
          <a:ln w="47625">
            <a:solidFill>
              <a:srgbClr val="2C7BC0"/>
            </a:solidFill>
          </a:ln>
        </p:spPr>
      </p:sp>
      <p:sp>
        <p:nvSpPr>
          <p:cNvPr id="14" name="Freeform 14"/>
          <p:cNvSpPr/>
          <p:nvPr/>
        </p:nvSpPr>
        <p:spPr>
          <a:xfrm>
            <a:off x="857250" y="3714750"/>
            <a:ext cx="10477500" cy="2095500"/>
          </a:xfrm>
          <a:custGeom>
            <a:avLst/>
            <a:gdLst/>
            <a:ahLst/>
            <a:cxnLst/>
            <a:rect l="l" t="t" r="r" b="b"/>
            <a:pathLst>
              <a:path w="10477500" h="2095500">
                <a:moveTo>
                  <a:pt x="114300" y="0"/>
                </a:moveTo>
                <a:lnTo>
                  <a:pt x="10363200" y="0"/>
                </a:lnTo>
                <a:cubicBezTo>
                  <a:pt x="10426326" y="0"/>
                  <a:pt x="10477500" y="51174"/>
                  <a:pt x="10477500" y="114300"/>
                </a:cubicBezTo>
                <a:lnTo>
                  <a:pt x="10477500" y="1981200"/>
                </a:lnTo>
                <a:cubicBezTo>
                  <a:pt x="10477500" y="2044326"/>
                  <a:pt x="10426326" y="2095500"/>
                  <a:pt x="10363200" y="2095500"/>
                </a:cubicBezTo>
                <a:lnTo>
                  <a:pt x="114300" y="2095500"/>
                </a:lnTo>
                <a:cubicBezTo>
                  <a:pt x="51174" y="2095500"/>
                  <a:pt x="0" y="2044326"/>
                  <a:pt x="0" y="1981200"/>
                </a:cubicBezTo>
                <a:lnTo>
                  <a:pt x="0" y="114300"/>
                </a:lnTo>
                <a:cubicBezTo>
                  <a:pt x="0" y="51174"/>
                  <a:pt x="51174" y="0"/>
                  <a:pt x="114300" y="0"/>
                </a:cubicBezTo>
                <a:close/>
              </a:path>
            </a:pathLst>
          </a:custGeom>
          <a:solidFill>
            <a:srgbClr val="F3F8FD"/>
          </a:solidFill>
          <a:ln>
            <a:noFill/>
          </a:ln>
        </p:spPr>
      </p:sp>
      <p:sp>
        <p:nvSpPr>
          <p:cNvPr id="15" name="TextBox 15"/>
          <p:cNvSpPr txBox="1"/>
          <p:nvPr/>
        </p:nvSpPr>
        <p:spPr>
          <a:xfrm>
            <a:off x="1120140" y="3977640"/>
            <a:ext cx="6696837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建议1（治理）：从面向数据治理升级到面向数智资源治理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120140" y="4415790"/>
            <a:ext cx="7288339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建议2（管理）：技术从体力向精英化、责任从组织向全员转变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120140" y="4853940"/>
            <a:ext cx="7511796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建议3（实施）：实施从人力向AI转变，以更强统筹实现敏捷迭代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120140" y="5292090"/>
            <a:ext cx="7932420" cy="3657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800" dirty="0">
                <a:solidFill>
                  <a:srgbClr val="0F3E68"/>
                </a:solidFill>
                <a:latin typeface="Microsoft YaHei"/>
                <a:ea typeface="Microsoft YaHei"/>
                <a:cs typeface="Microsoft YaHei"/>
              </a:rPr>
              <a:t>目标：形成数据、知识、工具、软件的智能协同生态，迈向数智海油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438" y="0"/>
            <a:ext cx="12049125" cy="6858000"/>
          </a:xfrm>
          <a:prstGeom prst="rect">
            <a:avLst/>
          </a:prstGeom>
        </p:spPr>
      </p:pic>
      <p:sp>
        <p:nvSpPr>
          <p:cNvPr id="3" name="Freeform 3"/>
          <p:cNvSpPr/>
          <p:nvPr/>
        </p:nvSpPr>
        <p:spPr>
          <a:xfrm>
            <a:off x="1143000" y="1619250"/>
            <a:ext cx="9906000" cy="3238500"/>
          </a:xfrm>
          <a:custGeom>
            <a:avLst/>
            <a:gdLst/>
            <a:ahLst/>
            <a:cxnLst/>
            <a:rect l="l" t="t" r="r" b="b"/>
            <a:pathLst>
              <a:path w="9906000" h="3238500">
                <a:moveTo>
                  <a:pt x="152400" y="0"/>
                </a:moveTo>
                <a:lnTo>
                  <a:pt x="9753600" y="0"/>
                </a:lnTo>
                <a:cubicBezTo>
                  <a:pt x="9837768" y="0"/>
                  <a:pt x="9906000" y="68232"/>
                  <a:pt x="9906000" y="152400"/>
                </a:cubicBezTo>
                <a:lnTo>
                  <a:pt x="9906000" y="3086100"/>
                </a:lnTo>
                <a:cubicBezTo>
                  <a:pt x="9906000" y="3170268"/>
                  <a:pt x="9837768" y="3238500"/>
                  <a:pt x="9753600" y="3238500"/>
                </a:cubicBezTo>
                <a:lnTo>
                  <a:pt x="152400" y="3238500"/>
                </a:lnTo>
                <a:cubicBezTo>
                  <a:pt x="68232" y="3238500"/>
                  <a:pt x="0" y="3170268"/>
                  <a:pt x="0" y="3086100"/>
                </a:cubicBezTo>
                <a:lnTo>
                  <a:pt x="0" y="152400"/>
                </a:lnTo>
                <a:cubicBezTo>
                  <a:pt x="0" y="68232"/>
                  <a:pt x="68232" y="0"/>
                  <a:pt x="152400" y="0"/>
                </a:cubicBezTo>
                <a:close/>
              </a:path>
            </a:pathLst>
          </a:custGeom>
          <a:solidFill>
            <a:srgbClr val="003E73">
              <a:alpha val="40000"/>
            </a:srgbClr>
          </a:solidFill>
          <a:ln>
            <a:noFill/>
          </a:ln>
        </p:spPr>
      </p:sp>
      <p:sp>
        <p:nvSpPr>
          <p:cNvPr id="4" name="TextBox 4"/>
          <p:cNvSpPr txBox="1"/>
          <p:nvPr/>
        </p:nvSpPr>
        <p:spPr>
          <a:xfrm>
            <a:off x="4562856" y="2244090"/>
            <a:ext cx="3066288" cy="9753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4800" b="1" dirty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感谢聆听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488180" y="3169920"/>
            <a:ext cx="3215640" cy="4876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4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请各位领导专家指导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3615690" y="3869055"/>
            <a:ext cx="4960620" cy="4267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ctr"/>
            <a:r>
              <a:rPr lang="zh-CN" sz="2100" dirty="0">
                <a:solidFill>
                  <a:srgbClr val="EAF2F9"/>
                </a:solidFill>
                <a:latin typeface="Microsoft YaHei"/>
                <a:ea typeface="Microsoft YaHei"/>
                <a:cs typeface="Microsoft YaHei"/>
              </a:rPr>
              <a:t>中海油研究总院数智研究院技术团队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9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4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8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700"/>
                            </p:stCondLst>
                            <p:childTnLst>
                              <p:par>
                                <p:cTn id="17" presetID="4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9" dur="4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3600"/>
                            </p:stCondLst>
                            <p:childTnLst>
                              <p:par>
                                <p:cTn id="21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4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  <p:bldP spid="5" grpId="0"/>
      <p:bldP spid="6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
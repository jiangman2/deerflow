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开场说明本次验证目标：纯原生文档驱动链路。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给出目录与汇报范围，明确价值锚点。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进入章节：战略与架构。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结论先行，强调统一中台是规模化前提。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说明能力中台如何支撑复用与协同。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说明场景优先级和落地顺序。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说明季度路线图与迭代机制。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说明流程闭环与治理机制。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说明阶段成效与下一步推广方向。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收尾页，给出联系方式和行动建议。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1143000" y="2286000"/>
            <a:ext cx="9525" cy="2286000"/>
          </a:xfrm>
          <a:custGeom>
            <a:avLst/>
            <a:gdLst/>
            <a:ahLst/>
            <a:cxnLst/>
            <a:rect l="l" t="t" r="r" b="b"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470660" y="2594610"/>
            <a:ext cx="941364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 AI 智能运营中台建设方案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42519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原生文档驱动链路验收（非临时构建脚本）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4061460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PROJECT ID: DOC-DRIVEN-2026-05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0" y="1428750"/>
            <a:ext cx="3810000" cy="3810000"/>
            <a:chOff x="7143750" y="1428750"/>
            <a:chExt cx="3810000" cy="3810000"/>
          </a:xfrm>
        </p:grpSpPr>
        <p:sp>
          <p:nvSpPr>
            <p:cNvPr id="8" name="Line 8"/>
            <p:cNvSpPr/>
            <p:nvPr/>
          </p:nvSpPr>
          <p:spPr>
            <a:xfrm>
              <a:off x="7620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143750" y="2381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3333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143750" y="4286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29665" y="62684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42082" y="626840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汇报单位：数智化推进办公室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285750"/>
            <a:ext cx="11430000" cy="571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28575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3890" y="472440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0260" y="537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143000"/>
            <a:ext cx="5334000" cy="1238250"/>
            <a:chOff x="571500" y="1143000"/>
            <a:chExt cx="5334000" cy="1238250"/>
          </a:xfrm>
        </p:grpSpPr>
        <p:sp>
          <p:nvSpPr>
            <p:cNvPr id="8" name="Freeform 8"/>
            <p:cNvSpPr/>
            <p:nvPr/>
          </p:nvSpPr>
          <p:spPr>
            <a:xfrm>
              <a:off x="571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1540" y="1148715"/>
              <a:ext cx="74759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5450" y="145732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战略目标与价值锚点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1165" y="17916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为什么做与价值闭环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286500" y="1143000"/>
            <a:ext cx="5334000" cy="1238250"/>
            <a:chOff x="6286500" y="1143000"/>
            <a:chExt cx="5334000" cy="1238250"/>
          </a:xfrm>
        </p:grpSpPr>
        <p:sp>
          <p:nvSpPr>
            <p:cNvPr id="14" name="Freeform 14"/>
            <p:cNvSpPr/>
            <p:nvPr/>
          </p:nvSpPr>
          <p:spPr>
            <a:xfrm>
              <a:off x="6286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06540" y="11487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10450" y="145732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平台架构与能力中台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16165" y="1791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数据、模型、工具链协同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29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2571750"/>
            <a:ext cx="5334000" cy="1238250"/>
            <a:chOff x="571500" y="2571750"/>
            <a:chExt cx="5334000" cy="1238250"/>
          </a:xfrm>
        </p:grpSpPr>
        <p:sp>
          <p:nvSpPr>
            <p:cNvPr id="20" name="Freeform 20"/>
            <p:cNvSpPr/>
            <p:nvPr/>
          </p:nvSpPr>
          <p:spPr>
            <a:xfrm>
              <a:off x="571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1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5450" y="288607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重点场景与实施路径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1165" y="32204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先试点后推广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714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286500" y="2571750"/>
            <a:ext cx="5334000" cy="1238250"/>
            <a:chOff x="6286500" y="2571750"/>
            <a:chExt cx="5334000" cy="1238250"/>
          </a:xfrm>
        </p:grpSpPr>
        <p:sp>
          <p:nvSpPr>
            <p:cNvPr id="26" name="Freeform 26"/>
            <p:cNvSpPr/>
            <p:nvPr/>
          </p:nvSpPr>
          <p:spPr>
            <a:xfrm>
              <a:off x="6286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06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0450" y="288607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成效评估与下一步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16165" y="32204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效率质量收益与行动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429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71500" y="4000500"/>
            <a:ext cx="5334000" cy="1238250"/>
            <a:chOff x="571500" y="4000500"/>
            <a:chExt cx="5334000" cy="1238250"/>
          </a:xfrm>
        </p:grpSpPr>
        <p:sp>
          <p:nvSpPr>
            <p:cNvPr id="32" name="Freeform 32"/>
            <p:cNvSpPr/>
            <p:nvPr/>
          </p:nvSpPr>
          <p:spPr>
            <a:xfrm>
              <a:off x="571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4000500"/>
            <a:ext cx="5334000" cy="1238250"/>
            <a:chOff x="6286500" y="4000500"/>
            <a:chExt cx="5334000" cy="1238250"/>
          </a:xfrm>
        </p:grpSpPr>
        <p:sp>
          <p:nvSpPr>
            <p:cNvPr id="35" name="Freeform 35"/>
            <p:cNvSpPr/>
            <p:nvPr/>
          </p:nvSpPr>
          <p:spPr>
            <a:xfrm>
              <a:off x="6286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6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571500" y="571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60070" y="6379845"/>
            <a:ext cx="745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05975" y="63879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36775" y="63798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952500" y="266700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62050" y="2162175"/>
            <a:ext cx="210262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8280" y="3040380"/>
            <a:ext cx="2851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战略与架构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4950" y="383857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从价值锚点到能力设计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0" y="1905000"/>
            <a:ext cx="3810000" cy="3048000"/>
            <a:chOff x="7620000" y="1905000"/>
            <a:chExt cx="3810000" cy="3048000"/>
          </a:xfrm>
        </p:grpSpPr>
        <p:sp>
          <p:nvSpPr>
            <p:cNvPr id="8" name="Line 8"/>
            <p:cNvSpPr/>
            <p:nvPr/>
          </p:nvSpPr>
          <p:spPr>
            <a:xfrm>
              <a:off x="8096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048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001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953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2476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620000" y="3429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4381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381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结论：通过原生文档驱动流程可稳定生成并导出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384286" y="341090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左侧洞察 + 右侧图表证据（本轮原生链路验证页）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381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结论：通过原生文档驱动流程可稳定生成并导出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384286" y="341090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左侧洞察 + 右侧图表证据（本轮原生链路验证页）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381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结论：通过原生文档驱动流程可稳定生成并导出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384286" y="341090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左侧洞察 + 右侧图表证据（本轮原生链路验证页）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381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结论：通过原生文档驱动流程可稳定生成并导出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384286" y="341090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左侧洞察 + 右侧图表证据（本轮原生链路验证页）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381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结论：通过原生文档驱动流程可稳定生成并导出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384286" y="341090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左侧洞察 + 右侧图表证据（本轮原生链路验证页）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381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结论：通过原生文档驱动流程可稳定生成并导出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384286" y="3410902"/>
            <a:ext cx="34234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左侧洞察 + 右侧图表证据（本轮原生链路验证页）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52500" y="952500"/>
            <a:ext cx="10287000" cy="4953000"/>
            <a:chOff x="952500" y="952500"/>
            <a:chExt cx="10287000" cy="4953000"/>
          </a:xfrm>
        </p:grpSpPr>
        <p:sp>
          <p:nvSpPr>
            <p:cNvPr id="4" name="Line 4"/>
            <p:cNvSpPr/>
            <p:nvPr/>
          </p:nvSpPr>
          <p:spPr>
            <a:xfrm>
              <a:off x="190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190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4953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464663" y="2213610"/>
            <a:ext cx="32626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14" name="Line 14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629150" y="3441382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原生文档驱动链路验证完成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4191000"/>
            <a:ext cx="3810000" cy="952500"/>
          </a:xfrm>
          <a:custGeom>
            <a:avLst/>
            <a:gdLst/>
            <a:ahLst/>
            <a:cxnLst/>
            <a:rect l="l" t="t" r="r" b="b"/>
            <a:pathLst>
              <a:path w="3810000" h="952500">
                <a:moveTo>
                  <a:pt x="76200" y="0"/>
                </a:moveTo>
                <a:lnTo>
                  <a:pt x="3733800" y="0"/>
                </a:lnTo>
                <a:cubicBezTo>
                  <a:pt x="3775884" y="0"/>
                  <a:pt x="3810000" y="34116"/>
                  <a:pt x="3810000" y="76200"/>
                </a:cubicBezTo>
                <a:lnTo>
                  <a:pt x="3810000" y="876300"/>
                </a:lnTo>
                <a:cubicBezTo>
                  <a:pt x="3810000" y="918384"/>
                  <a:pt x="3775884" y="952500"/>
                  <a:pt x="3733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344668" y="453771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数智化推进办公室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69897" y="4839652"/>
            <a:ext cx="16522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contact@example.com</a:t>
            </a:r>
          </a:p>
        </p:txBody>
      </p:sp>
      <p:sp>
        <p:nvSpPr>
          <p:cNvPr id="19" name="Line 19"/>
          <p:cNvSpPr/>
          <p:nvPr/>
        </p:nvSpPr>
        <p:spPr>
          <a:xfrm>
            <a:off x="1905000" y="6096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838438" y="6387941"/>
            <a:ext cx="25151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 · 2026 Enterprise AI Program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
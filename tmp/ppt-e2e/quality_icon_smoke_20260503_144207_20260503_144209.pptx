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封面页：说明主题“受控高质量图标校验”与汇报范围。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目录页：按三大章节展开汇报。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章节页：01 建设背景与目标。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内容页：现状痛点与建设必要性，突出关键指标与执行建议。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内容页：目标体系与价值锚点，突出关键指标与执行建议。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章节页：02 平台架构与关键能力。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内容页：总体架构与执行流程，突出关键指标与执行建议。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内容页：能力矩阵与场景覆盖，突出关键指标与执行建议。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章节页：03 试点成效与推广计划。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结尾页：总结结论并给出下一步行动建议。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0_img1.png"/>
  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674674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受控高质量图标校验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1099717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基于 haiyou_pure_svg 模板的生产经营智能化实践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69580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汇报单位：中海油研究总院数智研究院技术团队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35075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汇报日期：2026-05-03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461524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试点成效与推广计划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799398" y="4095750"/>
            <a:ext cx="659320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现状痛点与建设必要性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35375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数据湖建设与智能体应用...</a:t>
            </a:r>
          </a:p>
        </p:txBody>
      </p:sp>
      <p:sp>
        <p:nvSpPr>
          <p:cNvPr id="6" name="Freeform 6"/>
          <p:cNvSpPr/>
          <p:nvPr/>
        </p:nvSpPr>
        <p:spPr>
          <a:xfrm>
            <a:off x="495300" y="1562100"/>
            <a:ext cx="11201400" cy="4876800"/>
          </a:xfrm>
          <a:custGeom>
            <a:avLst/>
            <a:gdLst/>
            <a:ahLst/>
            <a:cxnLst/>
            <a:rect l="l" t="t" r="r" b="b"/>
            <a:pathLst>
              <a:path w="11201400" h="4876800">
                <a:moveTo>
                  <a:pt x="152400" y="0"/>
                </a:moveTo>
                <a:lnTo>
                  <a:pt x="11049000" y="0"/>
                </a:lnTo>
                <a:cubicBezTo>
                  <a:pt x="11133168" y="0"/>
                  <a:pt x="11201400" y="68232"/>
                  <a:pt x="11201400" y="152400"/>
                </a:cubicBezTo>
                <a:lnTo>
                  <a:pt x="11201400" y="4724400"/>
                </a:lnTo>
                <a:cubicBezTo>
                  <a:pt x="11201400" y="4808568"/>
                  <a:pt x="11133168" y="4876800"/>
                  <a:pt x="11049000" y="4876800"/>
                </a:cubicBezTo>
                <a:lnTo>
                  <a:pt x="152400" y="4876800"/>
                </a:lnTo>
                <a:cubicBezTo>
                  <a:pt x="68232" y="4876800"/>
                  <a:pt x="0" y="4808568"/>
                  <a:pt x="0" y="4724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42950" y="17240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852488" y="1795462"/>
            <a:ext cx="200025" cy="200026"/>
            <a:chOff x="852488" y="1795462"/>
            <a:chExt cx="200025" cy="200026"/>
          </a:xfrm>
        </p:grpSpPr>
        <p:sp>
          <p:nvSpPr>
            <p:cNvPr id="8" name="Freeform 8"/>
            <p:cNvSpPr/>
            <p:nvPr/>
          </p:nvSpPr>
          <p:spPr>
            <a:xfrm>
              <a:off x="852488" y="1795462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0"/>
                  </a:moveTo>
                  <a:lnTo>
                    <a:pt x="0" y="0"/>
                  </a:lnTo>
                  <a:lnTo>
                    <a:pt x="0" y="85725"/>
                  </a:lnTo>
                  <a:lnTo>
                    <a:pt x="34032" y="85725"/>
                  </a:lnTo>
                  <a:lnTo>
                    <a:pt x="55464" y="42862"/>
                  </a:lnTo>
                  <a:lnTo>
                    <a:pt x="87411" y="42862"/>
                  </a:lnTo>
                  <a:lnTo>
                    <a:pt x="128588" y="125215"/>
                  </a:lnTo>
                  <a:lnTo>
                    <a:pt x="148333" y="85725"/>
                  </a:lnTo>
                  <a:lnTo>
                    <a:pt x="200025" y="857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52488" y="1870273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39490"/>
                  </a:moveTo>
                  <a:lnTo>
                    <a:pt x="165992" y="39490"/>
                  </a:lnTo>
                  <a:lnTo>
                    <a:pt x="144561" y="82352"/>
                  </a:lnTo>
                  <a:lnTo>
                    <a:pt x="112614" y="82352"/>
                  </a:lnTo>
                  <a:lnTo>
                    <a:pt x="71438" y="0"/>
                  </a:lnTo>
                  <a:lnTo>
                    <a:pt x="51693" y="39490"/>
                  </a:lnTo>
                  <a:lnTo>
                    <a:pt x="0" y="39490"/>
                  </a:lnTo>
                  <a:lnTo>
                    <a:pt x="0" y="125215"/>
                  </a:lnTo>
                  <a:lnTo>
                    <a:pt x="200025" y="125215"/>
                  </a:lnTo>
                  <a:lnTo>
                    <a:pt x="200025" y="3949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139190" y="1758315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数据分散在多系统，查询链路长</a:t>
            </a:r>
          </a:p>
        </p:txBody>
      </p:sp>
      <p:sp>
        <p:nvSpPr>
          <p:cNvPr id="12" name="Freeform 12"/>
          <p:cNvSpPr/>
          <p:nvPr/>
        </p:nvSpPr>
        <p:spPr>
          <a:xfrm>
            <a:off x="742950" y="23336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838200" y="2390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62" y="42862"/>
                </a:moveTo>
                <a:cubicBezTo>
                  <a:pt x="157162" y="61525"/>
                  <a:pt x="145235" y="77402"/>
                  <a:pt x="128588" y="83286"/>
                </a:cubicBezTo>
                <a:lnTo>
                  <a:pt x="128588" y="198839"/>
                </a:lnTo>
                <a:cubicBezTo>
                  <a:pt x="164485" y="192817"/>
                  <a:pt x="192817" y="164485"/>
                  <a:pt x="198839" y="128588"/>
                </a:cubicBezTo>
                <a:lnTo>
                  <a:pt x="171450" y="128588"/>
                </a:lnTo>
                <a:lnTo>
                  <a:pt x="171450" y="100012"/>
                </a:lnTo>
                <a:lnTo>
                  <a:pt x="228600" y="100012"/>
                </a:lnTo>
                <a:lnTo>
                  <a:pt x="228600" y="114300"/>
                </a:lnTo>
                <a:cubicBezTo>
                  <a:pt x="228600" y="177426"/>
                  <a:pt x="177426" y="228600"/>
                  <a:pt x="114300" y="228600"/>
                </a:cubicBezTo>
                <a:cubicBezTo>
                  <a:pt x="51174" y="228600"/>
                  <a:pt x="0" y="177426"/>
                  <a:pt x="0" y="114300"/>
                </a:cubicBezTo>
                <a:lnTo>
                  <a:pt x="0" y="100012"/>
                </a:lnTo>
                <a:lnTo>
                  <a:pt x="57150" y="100012"/>
                </a:lnTo>
                <a:lnTo>
                  <a:pt x="57150" y="128588"/>
                </a:lnTo>
                <a:lnTo>
                  <a:pt x="29760" y="128588"/>
                </a:lnTo>
                <a:cubicBezTo>
                  <a:pt x="35783" y="164485"/>
                  <a:pt x="64115" y="192817"/>
                  <a:pt x="100012" y="198839"/>
                </a:cubicBezTo>
                <a:lnTo>
                  <a:pt x="100012" y="83286"/>
                </a:lnTo>
                <a:cubicBezTo>
                  <a:pt x="83365" y="77402"/>
                  <a:pt x="71438" y="61525"/>
                  <a:pt x="71438" y="42862"/>
                </a:cubicBezTo>
                <a:cubicBezTo>
                  <a:pt x="71438" y="19190"/>
                  <a:pt x="90628" y="0"/>
                  <a:pt x="114300" y="0"/>
                </a:cubicBezTo>
                <a:cubicBezTo>
                  <a:pt x="137972" y="0"/>
                  <a:pt x="157162" y="19190"/>
                  <a:pt x="157162" y="42862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39190" y="2367915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跨部门分析靠人工拼接，时效低</a:t>
            </a:r>
          </a:p>
        </p:txBody>
      </p:sp>
      <p:sp>
        <p:nvSpPr>
          <p:cNvPr id="15" name="Freeform 15"/>
          <p:cNvSpPr/>
          <p:nvPr/>
        </p:nvSpPr>
        <p:spPr>
          <a:xfrm>
            <a:off x="742950" y="29432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838812" y="3000988"/>
            <a:ext cx="227374" cy="223802"/>
            <a:chOff x="838812" y="3000988"/>
            <a:chExt cx="227374" cy="223802"/>
          </a:xfrm>
        </p:grpSpPr>
        <p:sp>
          <p:nvSpPr>
            <p:cNvPr id="16" name="Freeform 16"/>
            <p:cNvSpPr/>
            <p:nvPr/>
          </p:nvSpPr>
          <p:spPr>
            <a:xfrm>
              <a:off x="838812" y="3000988"/>
              <a:ext cx="55924" cy="55924"/>
            </a:xfrm>
            <a:custGeom>
              <a:avLst/>
              <a:gdLst/>
              <a:ahLst/>
              <a:cxnLst/>
              <a:rect l="l" t="t" r="r" b="b"/>
              <a:pathLst>
                <a:path w="55924" h="55924">
                  <a:moveTo>
                    <a:pt x="55924" y="20206"/>
                  </a:moveTo>
                  <a:lnTo>
                    <a:pt x="20206" y="55924"/>
                  </a:lnTo>
                  <a:lnTo>
                    <a:pt x="0" y="35719"/>
                  </a:lnTo>
                  <a:lnTo>
                    <a:pt x="35719" y="0"/>
                  </a:lnTo>
                  <a:lnTo>
                    <a:pt x="55924" y="20206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42383" y="3028950"/>
              <a:ext cx="220230" cy="195840"/>
            </a:xfrm>
            <a:custGeom>
              <a:avLst/>
              <a:gdLst/>
              <a:ahLst/>
              <a:cxnLst/>
              <a:rect l="l" t="t" r="r" b="b"/>
              <a:pathLst>
                <a:path w="220230" h="195840">
                  <a:moveTo>
                    <a:pt x="202984" y="92869"/>
                  </a:moveTo>
                  <a:cubicBezTo>
                    <a:pt x="202984" y="111517"/>
                    <a:pt x="197488" y="128881"/>
                    <a:pt x="188026" y="143430"/>
                  </a:cubicBezTo>
                  <a:lnTo>
                    <a:pt x="220230" y="175634"/>
                  </a:lnTo>
                  <a:lnTo>
                    <a:pt x="200025" y="195840"/>
                  </a:lnTo>
                  <a:lnTo>
                    <a:pt x="168928" y="164744"/>
                  </a:lnTo>
                  <a:cubicBezTo>
                    <a:pt x="152913" y="177865"/>
                    <a:pt x="132434" y="185737"/>
                    <a:pt x="110115" y="185737"/>
                  </a:cubicBezTo>
                  <a:cubicBezTo>
                    <a:pt x="87796" y="185737"/>
                    <a:pt x="67316" y="177865"/>
                    <a:pt x="51301" y="164744"/>
                  </a:cubicBezTo>
                  <a:lnTo>
                    <a:pt x="20206" y="195840"/>
                  </a:lnTo>
                  <a:lnTo>
                    <a:pt x="0" y="175634"/>
                  </a:lnTo>
                  <a:lnTo>
                    <a:pt x="32204" y="143430"/>
                  </a:lnTo>
                  <a:cubicBezTo>
                    <a:pt x="22742" y="128881"/>
                    <a:pt x="17246" y="111517"/>
                    <a:pt x="17246" y="92869"/>
                  </a:cubicBezTo>
                  <a:cubicBezTo>
                    <a:pt x="17246" y="41579"/>
                    <a:pt x="58825" y="0"/>
                    <a:pt x="110115" y="0"/>
                  </a:cubicBezTo>
                  <a:cubicBezTo>
                    <a:pt x="161404" y="0"/>
                    <a:pt x="202984" y="41579"/>
                    <a:pt x="202984" y="92869"/>
                  </a:cubicBezTo>
                  <a:close/>
                  <a:moveTo>
                    <a:pt x="95828" y="42862"/>
                  </a:moveTo>
                  <a:lnTo>
                    <a:pt x="95828" y="105930"/>
                  </a:lnTo>
                  <a:lnTo>
                    <a:pt x="128588" y="138690"/>
                  </a:lnTo>
                  <a:lnTo>
                    <a:pt x="148794" y="118484"/>
                  </a:lnTo>
                  <a:lnTo>
                    <a:pt x="124403" y="94094"/>
                  </a:lnTo>
                  <a:lnTo>
                    <a:pt x="124403" y="42862"/>
                  </a:lnTo>
                  <a:lnTo>
                    <a:pt x="95828" y="42862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10262" y="3000988"/>
              <a:ext cx="55924" cy="55924"/>
            </a:xfrm>
            <a:custGeom>
              <a:avLst/>
              <a:gdLst/>
              <a:ahLst/>
              <a:cxnLst/>
              <a:rect l="l" t="t" r="r" b="b"/>
              <a:pathLst>
                <a:path w="55924" h="55924">
                  <a:moveTo>
                    <a:pt x="35719" y="55924"/>
                  </a:moveTo>
                  <a:lnTo>
                    <a:pt x="0" y="20206"/>
                  </a:lnTo>
                  <a:lnTo>
                    <a:pt x="20205" y="0"/>
                  </a:lnTo>
                  <a:lnTo>
                    <a:pt x="55924" y="35719"/>
                  </a:lnTo>
                  <a:lnTo>
                    <a:pt x="35719" y="55924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139190" y="2977515"/>
            <a:ext cx="3463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成果复用不足，重复劳动较多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目标体系与价值锚点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9982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围绕降本、提质、增效、控险建立四维目标体系，确保建设投入可衡量、可评估。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95300" y="1562100"/>
            <a:ext cx="11201400" cy="4876800"/>
          </a:xfrm>
          <a:custGeom>
            <a:avLst/>
            <a:gdLst/>
            <a:ahLst/>
            <a:cxnLst/>
            <a:rect l="l" t="t" r="r" b="b"/>
            <a:pathLst>
              <a:path w="11201400" h="4876800">
                <a:moveTo>
                  <a:pt x="152400" y="0"/>
                </a:moveTo>
                <a:lnTo>
                  <a:pt x="11049000" y="0"/>
                </a:lnTo>
                <a:cubicBezTo>
                  <a:pt x="11133168" y="0"/>
                  <a:pt x="11201400" y="68232"/>
                  <a:pt x="11201400" y="152400"/>
                </a:cubicBezTo>
                <a:lnTo>
                  <a:pt x="11201400" y="4724400"/>
                </a:lnTo>
                <a:cubicBezTo>
                  <a:pt x="11201400" y="4808568"/>
                  <a:pt x="11133168" y="4876800"/>
                  <a:pt x="11049000" y="4876800"/>
                </a:cubicBezTo>
                <a:lnTo>
                  <a:pt x="152400" y="4876800"/>
                </a:lnTo>
                <a:cubicBezTo>
                  <a:pt x="68232" y="4876800"/>
                  <a:pt x="0" y="4808568"/>
                  <a:pt x="0" y="4724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42950" y="17240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852488" y="1795462"/>
            <a:ext cx="200025" cy="200026"/>
            <a:chOff x="852488" y="1795462"/>
            <a:chExt cx="200025" cy="200026"/>
          </a:xfrm>
        </p:grpSpPr>
        <p:sp>
          <p:nvSpPr>
            <p:cNvPr id="8" name="Freeform 8"/>
            <p:cNvSpPr/>
            <p:nvPr/>
          </p:nvSpPr>
          <p:spPr>
            <a:xfrm>
              <a:off x="852488" y="1795462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0"/>
                  </a:moveTo>
                  <a:lnTo>
                    <a:pt x="0" y="0"/>
                  </a:lnTo>
                  <a:lnTo>
                    <a:pt x="0" y="85725"/>
                  </a:lnTo>
                  <a:lnTo>
                    <a:pt x="34032" y="85725"/>
                  </a:lnTo>
                  <a:lnTo>
                    <a:pt x="55464" y="42862"/>
                  </a:lnTo>
                  <a:lnTo>
                    <a:pt x="87411" y="42862"/>
                  </a:lnTo>
                  <a:lnTo>
                    <a:pt x="128588" y="125215"/>
                  </a:lnTo>
                  <a:lnTo>
                    <a:pt x="148333" y="85725"/>
                  </a:lnTo>
                  <a:lnTo>
                    <a:pt x="200025" y="857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52488" y="1870273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39490"/>
                  </a:moveTo>
                  <a:lnTo>
                    <a:pt x="165992" y="39490"/>
                  </a:lnTo>
                  <a:lnTo>
                    <a:pt x="144561" y="82352"/>
                  </a:lnTo>
                  <a:lnTo>
                    <a:pt x="112614" y="82352"/>
                  </a:lnTo>
                  <a:lnTo>
                    <a:pt x="71438" y="0"/>
                  </a:lnTo>
                  <a:lnTo>
                    <a:pt x="51693" y="39490"/>
                  </a:lnTo>
                  <a:lnTo>
                    <a:pt x="0" y="39490"/>
                  </a:lnTo>
                  <a:lnTo>
                    <a:pt x="0" y="125215"/>
                  </a:lnTo>
                  <a:lnTo>
                    <a:pt x="200025" y="125215"/>
                  </a:lnTo>
                  <a:lnTo>
                    <a:pt x="200025" y="3949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139190" y="1758315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效率：报告编制与协同时间显著下降</a:t>
            </a:r>
          </a:p>
        </p:txBody>
      </p:sp>
      <p:sp>
        <p:nvSpPr>
          <p:cNvPr id="12" name="Freeform 12"/>
          <p:cNvSpPr/>
          <p:nvPr/>
        </p:nvSpPr>
        <p:spPr>
          <a:xfrm>
            <a:off x="742950" y="23336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838200" y="2390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62" y="42862"/>
                </a:moveTo>
                <a:cubicBezTo>
                  <a:pt x="157162" y="61525"/>
                  <a:pt x="145235" y="77402"/>
                  <a:pt x="128588" y="83286"/>
                </a:cubicBezTo>
                <a:lnTo>
                  <a:pt x="128588" y="198839"/>
                </a:lnTo>
                <a:cubicBezTo>
                  <a:pt x="164485" y="192817"/>
                  <a:pt x="192817" y="164485"/>
                  <a:pt x="198839" y="128588"/>
                </a:cubicBezTo>
                <a:lnTo>
                  <a:pt x="171450" y="128588"/>
                </a:lnTo>
                <a:lnTo>
                  <a:pt x="171450" y="100012"/>
                </a:lnTo>
                <a:lnTo>
                  <a:pt x="228600" y="100012"/>
                </a:lnTo>
                <a:lnTo>
                  <a:pt x="228600" y="114300"/>
                </a:lnTo>
                <a:cubicBezTo>
                  <a:pt x="228600" y="177426"/>
                  <a:pt x="177426" y="228600"/>
                  <a:pt x="114300" y="228600"/>
                </a:cubicBezTo>
                <a:cubicBezTo>
                  <a:pt x="51174" y="228600"/>
                  <a:pt x="0" y="177426"/>
                  <a:pt x="0" y="114300"/>
                </a:cubicBezTo>
                <a:lnTo>
                  <a:pt x="0" y="100012"/>
                </a:lnTo>
                <a:lnTo>
                  <a:pt x="57150" y="100012"/>
                </a:lnTo>
                <a:lnTo>
                  <a:pt x="57150" y="128588"/>
                </a:lnTo>
                <a:lnTo>
                  <a:pt x="29760" y="128588"/>
                </a:lnTo>
                <a:cubicBezTo>
                  <a:pt x="35783" y="164485"/>
                  <a:pt x="64115" y="192817"/>
                  <a:pt x="100012" y="198839"/>
                </a:cubicBezTo>
                <a:lnTo>
                  <a:pt x="100012" y="83286"/>
                </a:lnTo>
                <a:cubicBezTo>
                  <a:pt x="83365" y="77402"/>
                  <a:pt x="71438" y="61525"/>
                  <a:pt x="71438" y="42862"/>
                </a:cubicBezTo>
                <a:cubicBezTo>
                  <a:pt x="71438" y="19190"/>
                  <a:pt x="90628" y="0"/>
                  <a:pt x="114300" y="0"/>
                </a:cubicBezTo>
                <a:cubicBezTo>
                  <a:pt x="137972" y="0"/>
                  <a:pt x="157162" y="19190"/>
                  <a:pt x="157162" y="42862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39190" y="2367915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质量：口径一致与追溯能力增强</a:t>
            </a:r>
          </a:p>
        </p:txBody>
      </p:sp>
      <p:sp>
        <p:nvSpPr>
          <p:cNvPr id="15" name="Freeform 15"/>
          <p:cNvSpPr/>
          <p:nvPr/>
        </p:nvSpPr>
        <p:spPr>
          <a:xfrm>
            <a:off x="742950" y="29432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838812" y="3000988"/>
            <a:ext cx="227374" cy="223802"/>
            <a:chOff x="838812" y="3000988"/>
            <a:chExt cx="227374" cy="223802"/>
          </a:xfrm>
        </p:grpSpPr>
        <p:sp>
          <p:nvSpPr>
            <p:cNvPr id="16" name="Freeform 16"/>
            <p:cNvSpPr/>
            <p:nvPr/>
          </p:nvSpPr>
          <p:spPr>
            <a:xfrm>
              <a:off x="838812" y="3000988"/>
              <a:ext cx="55924" cy="55924"/>
            </a:xfrm>
            <a:custGeom>
              <a:avLst/>
              <a:gdLst/>
              <a:ahLst/>
              <a:cxnLst/>
              <a:rect l="l" t="t" r="r" b="b"/>
              <a:pathLst>
                <a:path w="55924" h="55924">
                  <a:moveTo>
                    <a:pt x="55924" y="20206"/>
                  </a:moveTo>
                  <a:lnTo>
                    <a:pt x="20206" y="55924"/>
                  </a:lnTo>
                  <a:lnTo>
                    <a:pt x="0" y="35719"/>
                  </a:lnTo>
                  <a:lnTo>
                    <a:pt x="35719" y="0"/>
                  </a:lnTo>
                  <a:lnTo>
                    <a:pt x="55924" y="20206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42383" y="3028950"/>
              <a:ext cx="220230" cy="195840"/>
            </a:xfrm>
            <a:custGeom>
              <a:avLst/>
              <a:gdLst/>
              <a:ahLst/>
              <a:cxnLst/>
              <a:rect l="l" t="t" r="r" b="b"/>
              <a:pathLst>
                <a:path w="220230" h="195840">
                  <a:moveTo>
                    <a:pt x="202984" y="92869"/>
                  </a:moveTo>
                  <a:cubicBezTo>
                    <a:pt x="202984" y="111517"/>
                    <a:pt x="197488" y="128881"/>
                    <a:pt x="188026" y="143430"/>
                  </a:cubicBezTo>
                  <a:lnTo>
                    <a:pt x="220230" y="175634"/>
                  </a:lnTo>
                  <a:lnTo>
                    <a:pt x="200025" y="195840"/>
                  </a:lnTo>
                  <a:lnTo>
                    <a:pt x="168928" y="164744"/>
                  </a:lnTo>
                  <a:cubicBezTo>
                    <a:pt x="152913" y="177865"/>
                    <a:pt x="132434" y="185737"/>
                    <a:pt x="110115" y="185737"/>
                  </a:cubicBezTo>
                  <a:cubicBezTo>
                    <a:pt x="87796" y="185737"/>
                    <a:pt x="67316" y="177865"/>
                    <a:pt x="51301" y="164744"/>
                  </a:cubicBezTo>
                  <a:lnTo>
                    <a:pt x="20206" y="195840"/>
                  </a:lnTo>
                  <a:lnTo>
                    <a:pt x="0" y="175634"/>
                  </a:lnTo>
                  <a:lnTo>
                    <a:pt x="32204" y="143430"/>
                  </a:lnTo>
                  <a:cubicBezTo>
                    <a:pt x="22742" y="128881"/>
                    <a:pt x="17246" y="111517"/>
                    <a:pt x="17246" y="92869"/>
                  </a:cubicBezTo>
                  <a:cubicBezTo>
                    <a:pt x="17246" y="41579"/>
                    <a:pt x="58825" y="0"/>
                    <a:pt x="110115" y="0"/>
                  </a:cubicBezTo>
                  <a:cubicBezTo>
                    <a:pt x="161404" y="0"/>
                    <a:pt x="202984" y="41579"/>
                    <a:pt x="202984" y="92869"/>
                  </a:cubicBezTo>
                  <a:close/>
                  <a:moveTo>
                    <a:pt x="95828" y="42862"/>
                  </a:moveTo>
                  <a:lnTo>
                    <a:pt x="95828" y="105930"/>
                  </a:lnTo>
                  <a:lnTo>
                    <a:pt x="128588" y="138690"/>
                  </a:lnTo>
                  <a:lnTo>
                    <a:pt x="148794" y="118484"/>
                  </a:lnTo>
                  <a:lnTo>
                    <a:pt x="124403" y="94094"/>
                  </a:lnTo>
                  <a:lnTo>
                    <a:pt x="124403" y="42862"/>
                  </a:lnTo>
                  <a:lnTo>
                    <a:pt x="95828" y="42862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10262" y="3000988"/>
              <a:ext cx="55924" cy="55924"/>
            </a:xfrm>
            <a:custGeom>
              <a:avLst/>
              <a:gdLst/>
              <a:ahLst/>
              <a:cxnLst/>
              <a:rect l="l" t="t" r="r" b="b"/>
              <a:pathLst>
                <a:path w="55924" h="55924">
                  <a:moveTo>
                    <a:pt x="35719" y="55924"/>
                  </a:moveTo>
                  <a:lnTo>
                    <a:pt x="0" y="20206"/>
                  </a:lnTo>
                  <a:lnTo>
                    <a:pt x="20205" y="0"/>
                  </a:lnTo>
                  <a:lnTo>
                    <a:pt x="55924" y="35719"/>
                  </a:lnTo>
                  <a:lnTo>
                    <a:pt x="35719" y="55924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139190" y="2977515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管理：实现过程可视与责任闭环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总体架构与执行流程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9152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平台采用数据底座、智能体引擎、业务应用三层架构，形成从问题识别到产物交付的端到端流程。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95300" y="1562100"/>
            <a:ext cx="11201400" cy="4876800"/>
          </a:xfrm>
          <a:custGeom>
            <a:avLst/>
            <a:gdLst/>
            <a:ahLst/>
            <a:cxnLst/>
            <a:rect l="l" t="t" r="r" b="b"/>
            <a:pathLst>
              <a:path w="11201400" h="4876800">
                <a:moveTo>
                  <a:pt x="152400" y="0"/>
                </a:moveTo>
                <a:lnTo>
                  <a:pt x="11049000" y="0"/>
                </a:lnTo>
                <a:cubicBezTo>
                  <a:pt x="11133168" y="0"/>
                  <a:pt x="11201400" y="68232"/>
                  <a:pt x="11201400" y="152400"/>
                </a:cubicBezTo>
                <a:lnTo>
                  <a:pt x="11201400" y="4724400"/>
                </a:lnTo>
                <a:cubicBezTo>
                  <a:pt x="11201400" y="4808568"/>
                  <a:pt x="11133168" y="4876800"/>
                  <a:pt x="11049000" y="4876800"/>
                </a:cubicBezTo>
                <a:lnTo>
                  <a:pt x="152400" y="4876800"/>
                </a:lnTo>
                <a:cubicBezTo>
                  <a:pt x="68232" y="4876800"/>
                  <a:pt x="0" y="4808568"/>
                  <a:pt x="0" y="4724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42950" y="17240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852488" y="1795462"/>
            <a:ext cx="200025" cy="200026"/>
            <a:chOff x="852488" y="1795462"/>
            <a:chExt cx="200025" cy="200026"/>
          </a:xfrm>
        </p:grpSpPr>
        <p:sp>
          <p:nvSpPr>
            <p:cNvPr id="8" name="Freeform 8"/>
            <p:cNvSpPr/>
            <p:nvPr/>
          </p:nvSpPr>
          <p:spPr>
            <a:xfrm>
              <a:off x="852488" y="1795462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0"/>
                  </a:moveTo>
                  <a:lnTo>
                    <a:pt x="0" y="0"/>
                  </a:lnTo>
                  <a:lnTo>
                    <a:pt x="0" y="85725"/>
                  </a:lnTo>
                  <a:lnTo>
                    <a:pt x="34032" y="85725"/>
                  </a:lnTo>
                  <a:lnTo>
                    <a:pt x="55464" y="42862"/>
                  </a:lnTo>
                  <a:lnTo>
                    <a:pt x="87411" y="42862"/>
                  </a:lnTo>
                  <a:lnTo>
                    <a:pt x="128588" y="125215"/>
                  </a:lnTo>
                  <a:lnTo>
                    <a:pt x="148333" y="85725"/>
                  </a:lnTo>
                  <a:lnTo>
                    <a:pt x="200025" y="857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52488" y="1870273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39490"/>
                  </a:moveTo>
                  <a:lnTo>
                    <a:pt x="165992" y="39490"/>
                  </a:lnTo>
                  <a:lnTo>
                    <a:pt x="144561" y="82352"/>
                  </a:lnTo>
                  <a:lnTo>
                    <a:pt x="112614" y="82352"/>
                  </a:lnTo>
                  <a:lnTo>
                    <a:pt x="71438" y="0"/>
                  </a:lnTo>
                  <a:lnTo>
                    <a:pt x="51693" y="39490"/>
                  </a:lnTo>
                  <a:lnTo>
                    <a:pt x="0" y="39490"/>
                  </a:lnTo>
                  <a:lnTo>
                    <a:pt x="0" y="125215"/>
                  </a:lnTo>
                  <a:lnTo>
                    <a:pt x="200025" y="125215"/>
                  </a:lnTo>
                  <a:lnTo>
                    <a:pt x="200025" y="3949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139190" y="1758315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统一接入结构化与非结构化数据</a:t>
            </a:r>
          </a:p>
        </p:txBody>
      </p:sp>
      <p:sp>
        <p:nvSpPr>
          <p:cNvPr id="12" name="Freeform 12"/>
          <p:cNvSpPr/>
          <p:nvPr/>
        </p:nvSpPr>
        <p:spPr>
          <a:xfrm>
            <a:off x="742950" y="23336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838200" y="2390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62" y="42862"/>
                </a:moveTo>
                <a:cubicBezTo>
                  <a:pt x="157162" y="61525"/>
                  <a:pt x="145235" y="77402"/>
                  <a:pt x="128588" y="83286"/>
                </a:cubicBezTo>
                <a:lnTo>
                  <a:pt x="128588" y="198839"/>
                </a:lnTo>
                <a:cubicBezTo>
                  <a:pt x="164485" y="192817"/>
                  <a:pt x="192817" y="164485"/>
                  <a:pt x="198839" y="128588"/>
                </a:cubicBezTo>
                <a:lnTo>
                  <a:pt x="171450" y="128588"/>
                </a:lnTo>
                <a:lnTo>
                  <a:pt x="171450" y="100012"/>
                </a:lnTo>
                <a:lnTo>
                  <a:pt x="228600" y="100012"/>
                </a:lnTo>
                <a:lnTo>
                  <a:pt x="228600" y="114300"/>
                </a:lnTo>
                <a:cubicBezTo>
                  <a:pt x="228600" y="177426"/>
                  <a:pt x="177426" y="228600"/>
                  <a:pt x="114300" y="228600"/>
                </a:cubicBezTo>
                <a:cubicBezTo>
                  <a:pt x="51174" y="228600"/>
                  <a:pt x="0" y="177426"/>
                  <a:pt x="0" y="114300"/>
                </a:cubicBezTo>
                <a:lnTo>
                  <a:pt x="0" y="100012"/>
                </a:lnTo>
                <a:lnTo>
                  <a:pt x="57150" y="100012"/>
                </a:lnTo>
                <a:lnTo>
                  <a:pt x="57150" y="128588"/>
                </a:lnTo>
                <a:lnTo>
                  <a:pt x="29760" y="128588"/>
                </a:lnTo>
                <a:cubicBezTo>
                  <a:pt x="35783" y="164485"/>
                  <a:pt x="64115" y="192817"/>
                  <a:pt x="100012" y="198839"/>
                </a:cubicBezTo>
                <a:lnTo>
                  <a:pt x="100012" y="83286"/>
                </a:lnTo>
                <a:cubicBezTo>
                  <a:pt x="83365" y="77402"/>
                  <a:pt x="71438" y="61525"/>
                  <a:pt x="71438" y="42862"/>
                </a:cubicBezTo>
                <a:cubicBezTo>
                  <a:pt x="71438" y="19190"/>
                  <a:pt x="90628" y="0"/>
                  <a:pt x="114300" y="0"/>
                </a:cubicBezTo>
                <a:cubicBezTo>
                  <a:pt x="137972" y="0"/>
                  <a:pt x="157162" y="19190"/>
                  <a:pt x="157162" y="42862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39190" y="2367915"/>
            <a:ext cx="376561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通过 Skills 编排实现任务自动化</a:t>
            </a:r>
          </a:p>
        </p:txBody>
      </p:sp>
      <p:sp>
        <p:nvSpPr>
          <p:cNvPr id="15" name="Freeform 15"/>
          <p:cNvSpPr/>
          <p:nvPr/>
        </p:nvSpPr>
        <p:spPr>
          <a:xfrm>
            <a:off x="742950" y="29432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838812" y="3000988"/>
            <a:ext cx="227374" cy="223802"/>
            <a:chOff x="838812" y="3000988"/>
            <a:chExt cx="227374" cy="223802"/>
          </a:xfrm>
        </p:grpSpPr>
        <p:sp>
          <p:nvSpPr>
            <p:cNvPr id="16" name="Freeform 16"/>
            <p:cNvSpPr/>
            <p:nvPr/>
          </p:nvSpPr>
          <p:spPr>
            <a:xfrm>
              <a:off x="838812" y="3000988"/>
              <a:ext cx="55924" cy="55924"/>
            </a:xfrm>
            <a:custGeom>
              <a:avLst/>
              <a:gdLst/>
              <a:ahLst/>
              <a:cxnLst/>
              <a:rect l="l" t="t" r="r" b="b"/>
              <a:pathLst>
                <a:path w="55924" h="55924">
                  <a:moveTo>
                    <a:pt x="55924" y="20206"/>
                  </a:moveTo>
                  <a:lnTo>
                    <a:pt x="20206" y="55924"/>
                  </a:lnTo>
                  <a:lnTo>
                    <a:pt x="0" y="35719"/>
                  </a:lnTo>
                  <a:lnTo>
                    <a:pt x="35719" y="0"/>
                  </a:lnTo>
                  <a:lnTo>
                    <a:pt x="55924" y="20206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42383" y="3028950"/>
              <a:ext cx="220230" cy="195840"/>
            </a:xfrm>
            <a:custGeom>
              <a:avLst/>
              <a:gdLst/>
              <a:ahLst/>
              <a:cxnLst/>
              <a:rect l="l" t="t" r="r" b="b"/>
              <a:pathLst>
                <a:path w="220230" h="195840">
                  <a:moveTo>
                    <a:pt x="202984" y="92869"/>
                  </a:moveTo>
                  <a:cubicBezTo>
                    <a:pt x="202984" y="111517"/>
                    <a:pt x="197488" y="128881"/>
                    <a:pt x="188026" y="143430"/>
                  </a:cubicBezTo>
                  <a:lnTo>
                    <a:pt x="220230" y="175634"/>
                  </a:lnTo>
                  <a:lnTo>
                    <a:pt x="200025" y="195840"/>
                  </a:lnTo>
                  <a:lnTo>
                    <a:pt x="168928" y="164744"/>
                  </a:lnTo>
                  <a:cubicBezTo>
                    <a:pt x="152913" y="177865"/>
                    <a:pt x="132434" y="185737"/>
                    <a:pt x="110115" y="185737"/>
                  </a:cubicBezTo>
                  <a:cubicBezTo>
                    <a:pt x="87796" y="185737"/>
                    <a:pt x="67316" y="177865"/>
                    <a:pt x="51301" y="164744"/>
                  </a:cubicBezTo>
                  <a:lnTo>
                    <a:pt x="20206" y="195840"/>
                  </a:lnTo>
                  <a:lnTo>
                    <a:pt x="0" y="175634"/>
                  </a:lnTo>
                  <a:lnTo>
                    <a:pt x="32204" y="143430"/>
                  </a:lnTo>
                  <a:cubicBezTo>
                    <a:pt x="22742" y="128881"/>
                    <a:pt x="17246" y="111517"/>
                    <a:pt x="17246" y="92869"/>
                  </a:cubicBezTo>
                  <a:cubicBezTo>
                    <a:pt x="17246" y="41579"/>
                    <a:pt x="58825" y="0"/>
                    <a:pt x="110115" y="0"/>
                  </a:cubicBezTo>
                  <a:cubicBezTo>
                    <a:pt x="161404" y="0"/>
                    <a:pt x="202984" y="41579"/>
                    <a:pt x="202984" y="92869"/>
                  </a:cubicBezTo>
                  <a:close/>
                  <a:moveTo>
                    <a:pt x="95828" y="42862"/>
                  </a:moveTo>
                  <a:lnTo>
                    <a:pt x="95828" y="105930"/>
                  </a:lnTo>
                  <a:lnTo>
                    <a:pt x="128588" y="138690"/>
                  </a:lnTo>
                  <a:lnTo>
                    <a:pt x="148794" y="118484"/>
                  </a:lnTo>
                  <a:lnTo>
                    <a:pt x="124403" y="94094"/>
                  </a:lnTo>
                  <a:lnTo>
                    <a:pt x="124403" y="42862"/>
                  </a:lnTo>
                  <a:lnTo>
                    <a:pt x="95828" y="42862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10262" y="3000988"/>
              <a:ext cx="55924" cy="55924"/>
            </a:xfrm>
            <a:custGeom>
              <a:avLst/>
              <a:gdLst/>
              <a:ahLst/>
              <a:cxnLst/>
              <a:rect l="l" t="t" r="r" b="b"/>
              <a:pathLst>
                <a:path w="55924" h="55924">
                  <a:moveTo>
                    <a:pt x="35719" y="55924"/>
                  </a:moveTo>
                  <a:lnTo>
                    <a:pt x="0" y="20206"/>
                  </a:lnTo>
                  <a:lnTo>
                    <a:pt x="20205" y="0"/>
                  </a:lnTo>
                  <a:lnTo>
                    <a:pt x="55924" y="35719"/>
                  </a:lnTo>
                  <a:lnTo>
                    <a:pt x="35719" y="55924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139190" y="2977515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支持全链路追踪与运营治理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能力矩阵与场景覆盖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77746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以影响度和实施复杂度构建能力矩阵，明确优先级与落地节奏。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95300" y="1562100"/>
            <a:ext cx="11201400" cy="4876800"/>
          </a:xfrm>
          <a:custGeom>
            <a:avLst/>
            <a:gdLst/>
            <a:ahLst/>
            <a:cxnLst/>
            <a:rect l="l" t="t" r="r" b="b"/>
            <a:pathLst>
              <a:path w="11201400" h="4876800">
                <a:moveTo>
                  <a:pt x="152400" y="0"/>
                </a:moveTo>
                <a:lnTo>
                  <a:pt x="11049000" y="0"/>
                </a:lnTo>
                <a:cubicBezTo>
                  <a:pt x="11133168" y="0"/>
                  <a:pt x="11201400" y="68232"/>
                  <a:pt x="11201400" y="152400"/>
                </a:cubicBezTo>
                <a:lnTo>
                  <a:pt x="11201400" y="4724400"/>
                </a:lnTo>
                <a:cubicBezTo>
                  <a:pt x="11201400" y="4808568"/>
                  <a:pt x="11133168" y="4876800"/>
                  <a:pt x="11049000" y="4876800"/>
                </a:cubicBezTo>
                <a:lnTo>
                  <a:pt x="152400" y="4876800"/>
                </a:lnTo>
                <a:cubicBezTo>
                  <a:pt x="68232" y="4876800"/>
                  <a:pt x="0" y="4808568"/>
                  <a:pt x="0" y="4724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42950" y="17240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852488" y="1795462"/>
            <a:ext cx="200025" cy="200026"/>
            <a:chOff x="852488" y="1795462"/>
            <a:chExt cx="200025" cy="200026"/>
          </a:xfrm>
        </p:grpSpPr>
        <p:sp>
          <p:nvSpPr>
            <p:cNvPr id="8" name="Freeform 8"/>
            <p:cNvSpPr/>
            <p:nvPr/>
          </p:nvSpPr>
          <p:spPr>
            <a:xfrm>
              <a:off x="852488" y="1795462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0"/>
                  </a:moveTo>
                  <a:lnTo>
                    <a:pt x="0" y="0"/>
                  </a:lnTo>
                  <a:lnTo>
                    <a:pt x="0" y="85725"/>
                  </a:lnTo>
                  <a:lnTo>
                    <a:pt x="34032" y="85725"/>
                  </a:lnTo>
                  <a:lnTo>
                    <a:pt x="55464" y="42862"/>
                  </a:lnTo>
                  <a:lnTo>
                    <a:pt x="87411" y="42862"/>
                  </a:lnTo>
                  <a:lnTo>
                    <a:pt x="128588" y="125215"/>
                  </a:lnTo>
                  <a:lnTo>
                    <a:pt x="148333" y="85725"/>
                  </a:lnTo>
                  <a:lnTo>
                    <a:pt x="200025" y="857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52488" y="1870273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39490"/>
                  </a:moveTo>
                  <a:lnTo>
                    <a:pt x="165992" y="39490"/>
                  </a:lnTo>
                  <a:lnTo>
                    <a:pt x="144561" y="82352"/>
                  </a:lnTo>
                  <a:lnTo>
                    <a:pt x="112614" y="82352"/>
                  </a:lnTo>
                  <a:lnTo>
                    <a:pt x="71438" y="0"/>
                  </a:lnTo>
                  <a:lnTo>
                    <a:pt x="51693" y="39490"/>
                  </a:lnTo>
                  <a:lnTo>
                    <a:pt x="0" y="39490"/>
                  </a:lnTo>
                  <a:lnTo>
                    <a:pt x="0" y="125215"/>
                  </a:lnTo>
                  <a:lnTo>
                    <a:pt x="200025" y="125215"/>
                  </a:lnTo>
                  <a:lnTo>
                    <a:pt x="200025" y="3949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139190" y="1758315"/>
            <a:ext cx="3463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优先推进高价值、低门槛场景</a:t>
            </a:r>
          </a:p>
        </p:txBody>
      </p:sp>
      <p:sp>
        <p:nvSpPr>
          <p:cNvPr id="12" name="Freeform 12"/>
          <p:cNvSpPr/>
          <p:nvPr/>
        </p:nvSpPr>
        <p:spPr>
          <a:xfrm>
            <a:off x="742950" y="23336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838200" y="2390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62" y="42862"/>
                </a:moveTo>
                <a:cubicBezTo>
                  <a:pt x="157162" y="61525"/>
                  <a:pt x="145235" y="77402"/>
                  <a:pt x="128588" y="83286"/>
                </a:cubicBezTo>
                <a:lnTo>
                  <a:pt x="128588" y="198839"/>
                </a:lnTo>
                <a:cubicBezTo>
                  <a:pt x="164485" y="192817"/>
                  <a:pt x="192817" y="164485"/>
                  <a:pt x="198839" y="128588"/>
                </a:cubicBezTo>
                <a:lnTo>
                  <a:pt x="171450" y="128588"/>
                </a:lnTo>
                <a:lnTo>
                  <a:pt x="171450" y="100012"/>
                </a:lnTo>
                <a:lnTo>
                  <a:pt x="228600" y="100012"/>
                </a:lnTo>
                <a:lnTo>
                  <a:pt x="228600" y="114300"/>
                </a:lnTo>
                <a:cubicBezTo>
                  <a:pt x="228600" y="177426"/>
                  <a:pt x="177426" y="228600"/>
                  <a:pt x="114300" y="228600"/>
                </a:cubicBezTo>
                <a:cubicBezTo>
                  <a:pt x="51174" y="228600"/>
                  <a:pt x="0" y="177426"/>
                  <a:pt x="0" y="114300"/>
                </a:cubicBezTo>
                <a:lnTo>
                  <a:pt x="0" y="100012"/>
                </a:lnTo>
                <a:lnTo>
                  <a:pt x="57150" y="100012"/>
                </a:lnTo>
                <a:lnTo>
                  <a:pt x="57150" y="128588"/>
                </a:lnTo>
                <a:lnTo>
                  <a:pt x="29760" y="128588"/>
                </a:lnTo>
                <a:cubicBezTo>
                  <a:pt x="35783" y="164485"/>
                  <a:pt x="64115" y="192817"/>
                  <a:pt x="100012" y="198839"/>
                </a:cubicBezTo>
                <a:lnTo>
                  <a:pt x="100012" y="83286"/>
                </a:lnTo>
                <a:cubicBezTo>
                  <a:pt x="83365" y="77402"/>
                  <a:pt x="71438" y="61525"/>
                  <a:pt x="71438" y="42862"/>
                </a:cubicBezTo>
                <a:cubicBezTo>
                  <a:pt x="71438" y="19190"/>
                  <a:pt x="90628" y="0"/>
                  <a:pt x="114300" y="0"/>
                </a:cubicBezTo>
                <a:cubicBezTo>
                  <a:pt x="137972" y="0"/>
                  <a:pt x="157162" y="19190"/>
                  <a:pt x="157162" y="42862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39190" y="2367915"/>
            <a:ext cx="3463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聚焦生产经营分析与汇报提效</a:t>
            </a:r>
          </a:p>
        </p:txBody>
      </p:sp>
      <p:sp>
        <p:nvSpPr>
          <p:cNvPr id="15" name="Freeform 15"/>
          <p:cNvSpPr/>
          <p:nvPr/>
        </p:nvSpPr>
        <p:spPr>
          <a:xfrm>
            <a:off x="742950" y="2943225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838812" y="3000988"/>
            <a:ext cx="227374" cy="223802"/>
            <a:chOff x="838812" y="3000988"/>
            <a:chExt cx="227374" cy="223802"/>
          </a:xfrm>
        </p:grpSpPr>
        <p:sp>
          <p:nvSpPr>
            <p:cNvPr id="16" name="Freeform 16"/>
            <p:cNvSpPr/>
            <p:nvPr/>
          </p:nvSpPr>
          <p:spPr>
            <a:xfrm>
              <a:off x="838812" y="3000988"/>
              <a:ext cx="55924" cy="55924"/>
            </a:xfrm>
            <a:custGeom>
              <a:avLst/>
              <a:gdLst/>
              <a:ahLst/>
              <a:cxnLst/>
              <a:rect l="l" t="t" r="r" b="b"/>
              <a:pathLst>
                <a:path w="55924" h="55924">
                  <a:moveTo>
                    <a:pt x="55924" y="20206"/>
                  </a:moveTo>
                  <a:lnTo>
                    <a:pt x="20206" y="55924"/>
                  </a:lnTo>
                  <a:lnTo>
                    <a:pt x="0" y="35719"/>
                  </a:lnTo>
                  <a:lnTo>
                    <a:pt x="35719" y="0"/>
                  </a:lnTo>
                  <a:lnTo>
                    <a:pt x="55924" y="20206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42383" y="3028950"/>
              <a:ext cx="220230" cy="195840"/>
            </a:xfrm>
            <a:custGeom>
              <a:avLst/>
              <a:gdLst/>
              <a:ahLst/>
              <a:cxnLst/>
              <a:rect l="l" t="t" r="r" b="b"/>
              <a:pathLst>
                <a:path w="220230" h="195840">
                  <a:moveTo>
                    <a:pt x="202984" y="92869"/>
                  </a:moveTo>
                  <a:cubicBezTo>
                    <a:pt x="202984" y="111517"/>
                    <a:pt x="197488" y="128881"/>
                    <a:pt x="188026" y="143430"/>
                  </a:cubicBezTo>
                  <a:lnTo>
                    <a:pt x="220230" y="175634"/>
                  </a:lnTo>
                  <a:lnTo>
                    <a:pt x="200025" y="195840"/>
                  </a:lnTo>
                  <a:lnTo>
                    <a:pt x="168928" y="164744"/>
                  </a:lnTo>
                  <a:cubicBezTo>
                    <a:pt x="152913" y="177865"/>
                    <a:pt x="132434" y="185737"/>
                    <a:pt x="110115" y="185737"/>
                  </a:cubicBezTo>
                  <a:cubicBezTo>
                    <a:pt x="87796" y="185737"/>
                    <a:pt x="67316" y="177865"/>
                    <a:pt x="51301" y="164744"/>
                  </a:cubicBezTo>
                  <a:lnTo>
                    <a:pt x="20206" y="195840"/>
                  </a:lnTo>
                  <a:lnTo>
                    <a:pt x="0" y="175634"/>
                  </a:lnTo>
                  <a:lnTo>
                    <a:pt x="32204" y="143430"/>
                  </a:lnTo>
                  <a:cubicBezTo>
                    <a:pt x="22742" y="128881"/>
                    <a:pt x="17246" y="111517"/>
                    <a:pt x="17246" y="92869"/>
                  </a:cubicBezTo>
                  <a:cubicBezTo>
                    <a:pt x="17246" y="41579"/>
                    <a:pt x="58825" y="0"/>
                    <a:pt x="110115" y="0"/>
                  </a:cubicBezTo>
                  <a:cubicBezTo>
                    <a:pt x="161404" y="0"/>
                    <a:pt x="202984" y="41579"/>
                    <a:pt x="202984" y="92869"/>
                  </a:cubicBezTo>
                  <a:close/>
                  <a:moveTo>
                    <a:pt x="95828" y="42862"/>
                  </a:moveTo>
                  <a:lnTo>
                    <a:pt x="95828" y="105930"/>
                  </a:lnTo>
                  <a:lnTo>
                    <a:pt x="128588" y="138690"/>
                  </a:lnTo>
                  <a:lnTo>
                    <a:pt x="148794" y="118484"/>
                  </a:lnTo>
                  <a:lnTo>
                    <a:pt x="124403" y="94094"/>
                  </a:lnTo>
                  <a:lnTo>
                    <a:pt x="124403" y="42862"/>
                  </a:lnTo>
                  <a:lnTo>
                    <a:pt x="95828" y="42862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10262" y="3000988"/>
              <a:ext cx="55924" cy="55924"/>
            </a:xfrm>
            <a:custGeom>
              <a:avLst/>
              <a:gdLst/>
              <a:ahLst/>
              <a:cxnLst/>
              <a:rect l="l" t="t" r="r" b="b"/>
              <a:pathLst>
                <a:path w="55924" h="55924">
                  <a:moveTo>
                    <a:pt x="35719" y="55924"/>
                  </a:moveTo>
                  <a:lnTo>
                    <a:pt x="0" y="20206"/>
                  </a:lnTo>
                  <a:lnTo>
                    <a:pt x="20205" y="0"/>
                  </a:lnTo>
                  <a:lnTo>
                    <a:pt x="55924" y="35719"/>
                  </a:lnTo>
                  <a:lnTo>
                    <a:pt x="35719" y="55924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139190" y="2977515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逐步扩展到风控与知识工程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试点成效与推广计划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82452" y="4250055"/>
            <a:ext cx="34270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运营管理与数字化推进组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
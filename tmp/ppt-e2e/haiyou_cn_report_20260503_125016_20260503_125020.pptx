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讲解重点：第2页核心内容与决策关注点。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讲解重点：第3页核心内容与决策关注点。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讲解重点：第4页核心内容与决策关注点。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讲解重点：第5页核心内容与决策关注点。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讲解重点：第6页核心内容与决策关注点。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讲解重点：第7页核心内容与决策关注点。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讲解重点：第8页核心内容与决策关注点。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讲解重点：第9页核心内容与决策关注点。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讲解重点：第10页核心内容与决策关注点。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讲解重点：第11页核心内容与决策关注点。</a:t>
            </a:r>
          </a:p>
          <a:p>
            <a:r>
              <a:rPr lang="zh-CN" dirty="0"/>
              <a:t>• 建议控制在60-90秒，突出数据与行动项。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1_img1.png"/>
  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552450" y="3067050"/>
            <a:ext cx="11049000" cy="2428875"/>
          </a:xfrm>
          <a:custGeom>
            <a:avLst/>
            <a:gdLst/>
            <a:ahLst/>
            <a:cxnLst/>
            <a:rect l="l" t="t" r="r" b="b"/>
            <a:pathLst>
              <a:path w="11049000" h="2428875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2276475"/>
                </a:lnTo>
                <a:cubicBezTo>
                  <a:pt x="11049000" y="2360643"/>
                  <a:pt x="10980768" y="2428875"/>
                  <a:pt x="10896600" y="2428875"/>
                </a:cubicBezTo>
                <a:lnTo>
                  <a:pt x="152400" y="2428875"/>
                </a:lnTo>
                <a:cubicBezTo>
                  <a:pt x="68232" y="2428875"/>
                  <a:pt x="0" y="2360643"/>
                  <a:pt x="0" y="22764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36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3228975"/>
            <a:ext cx="11845766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中海油智能体平台建设与应用成效汇报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3956685"/>
            <a:ext cx="94261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模板的生产经营智能化实践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380" y="453580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380" y="49168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66750" y="762000"/>
            <a:ext cx="10858500" cy="5334000"/>
          </a:xfrm>
          <a:custGeom>
            <a:avLst/>
            <a:gdLst/>
            <a:ahLst/>
            <a:cxnLst/>
            <a:rect l="l" t="t" r="r" b="b"/>
            <a:pathLst>
              <a:path w="10858500" h="53340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5162550"/>
                </a:lnTo>
                <a:cubicBezTo>
                  <a:pt x="10858500" y="5257239"/>
                  <a:pt x="10781739" y="5334000"/>
                  <a:pt x="10687050" y="5334000"/>
                </a:cubicBezTo>
                <a:lnTo>
                  <a:pt x="171450" y="5334000"/>
                </a:lnTo>
                <a:cubicBezTo>
                  <a:pt x="76761" y="5334000"/>
                  <a:pt x="0" y="5257239"/>
                  <a:pt x="0" y="5162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8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89660" y="1070610"/>
            <a:ext cx="139484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16954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C7B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05865" y="2105978"/>
            <a:ext cx="32518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01 建设背景与目标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5865" y="26774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02 平台架构与关键能力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865" y="32489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03 试点成效与推广计划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390" y="4139565"/>
            <a:ext cx="92337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A5A84"/>
                </a:solidFill>
                <a:latin typeface="Microsoft YaHei"/>
                <a:ea typeface="Microsoft YaHei"/>
                <a:cs typeface="Microsoft YaHei"/>
              </a:rPr>
              <a:t>内容页共5页，覆盖：数据底座、智能体编排、业务场景、KPI成效、推进路线图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38250" y="4762500"/>
            <a:ext cx="9810750" cy="904875"/>
          </a:xfrm>
          <a:custGeom>
            <a:avLst/>
            <a:gdLst/>
            <a:ahLst/>
            <a:cxnLst/>
            <a:rect l="l" t="t" r="r" b="b"/>
            <a:pathLst>
              <a:path w="9810750" h="904875">
                <a:moveTo>
                  <a:pt x="114300" y="0"/>
                </a:moveTo>
                <a:lnTo>
                  <a:pt x="9696450" y="0"/>
                </a:lnTo>
                <a:cubicBezTo>
                  <a:pt x="9759576" y="0"/>
                  <a:pt x="9810750" y="51174"/>
                  <a:pt x="9810750" y="114300"/>
                </a:cubicBezTo>
                <a:lnTo>
                  <a:pt x="9810750" y="790575"/>
                </a:lnTo>
                <a:cubicBezTo>
                  <a:pt x="9810750" y="853701"/>
                  <a:pt x="9759576" y="904875"/>
                  <a:pt x="9696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53515" y="5025390"/>
            <a:ext cx="69071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汇报主线：问题识别 -&gt; 能力构建 -&gt; 业务落地 -&gt; 规模推广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19908" y="1785938"/>
            <a:ext cx="1752183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11473" y="3576638"/>
            <a:ext cx="5769054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3855" y="378142"/>
            <a:ext cx="444293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33450"/>
            <a:ext cx="7239000" cy="5334000"/>
          </a:xfrm>
          <a:custGeom>
            <a:avLst/>
            <a:gdLst/>
            <a:ahLst/>
            <a:cxnLst/>
            <a:rect l="l" t="t" r="r" b="b"/>
            <a:pathLst>
              <a:path w="7239000" h="533400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5200650"/>
                </a:lnTo>
                <a:cubicBezTo>
                  <a:pt x="7239000" y="5274297"/>
                  <a:pt x="7179297" y="5334000"/>
                  <a:pt x="7105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88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905750" y="933450"/>
            <a:ext cx="3905250" cy="5334000"/>
          </a:xfrm>
          <a:custGeom>
            <a:avLst/>
            <a:gdLst/>
            <a:ahLst/>
            <a:cxnLst/>
            <a:rect l="l" t="t" r="r" b="b"/>
            <a:pathLst>
              <a:path w="3905250" h="5334000">
                <a:moveTo>
                  <a:pt x="133350" y="0"/>
                </a:moveTo>
                <a:lnTo>
                  <a:pt x="3771900" y="0"/>
                </a:lnTo>
                <a:cubicBezTo>
                  <a:pt x="3845547" y="0"/>
                  <a:pt x="3905250" y="59703"/>
                  <a:pt x="3905250" y="133350"/>
                </a:cubicBezTo>
                <a:lnTo>
                  <a:pt x="3905250" y="5200650"/>
                </a:lnTo>
                <a:cubicBezTo>
                  <a:pt x="3905250" y="5274297"/>
                  <a:pt x="3845547" y="5334000"/>
                  <a:pt x="377190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3F8FD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95375" y="1447800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91590" y="1377315"/>
            <a:ext cx="63550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跨系统数据口径不一，日报、周报、月报反复人工校核</a:t>
            </a:r>
          </a:p>
        </p:txBody>
      </p:sp>
      <p:sp>
        <p:nvSpPr>
          <p:cNvPr id="8" name="Ellipse 8"/>
          <p:cNvSpPr/>
          <p:nvPr/>
        </p:nvSpPr>
        <p:spPr>
          <a:xfrm>
            <a:off x="1095375" y="1847850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91590" y="1777365"/>
            <a:ext cx="58293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专业分析依赖个人经验，结论沉淀与复用效率偏低</a:t>
            </a:r>
          </a:p>
        </p:txBody>
      </p:sp>
      <p:sp>
        <p:nvSpPr>
          <p:cNvPr id="10" name="Ellipse 10"/>
          <p:cNvSpPr/>
          <p:nvPr/>
        </p:nvSpPr>
        <p:spPr>
          <a:xfrm>
            <a:off x="1095375" y="2247900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91590" y="2177415"/>
            <a:ext cx="60001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专项汇报素材分散，PPT编制周期长且版本管理困难</a:t>
            </a:r>
          </a:p>
        </p:txBody>
      </p:sp>
      <p:sp>
        <p:nvSpPr>
          <p:cNvPr id="12" name="Ellipse 12"/>
          <p:cNvSpPr/>
          <p:nvPr/>
        </p:nvSpPr>
        <p:spPr>
          <a:xfrm>
            <a:off x="1095375" y="2647950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91590" y="2577465"/>
            <a:ext cx="58293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关键风险识别滞后，预警触发到处置闭环链路较长</a:t>
            </a:r>
          </a:p>
        </p:txBody>
      </p:sp>
      <p:sp>
        <p:nvSpPr>
          <p:cNvPr id="14" name="Ellipse 14"/>
          <p:cNvSpPr/>
          <p:nvPr/>
        </p:nvSpPr>
        <p:spPr>
          <a:xfrm>
            <a:off x="1095375" y="3048000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91590" y="2977515"/>
            <a:ext cx="60921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跨部门协作靠线下沟通，任务状态不可视、不可追踪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69580" y="12020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96250" y="1714500"/>
            <a:ext cx="3524250" cy="1162050"/>
          </a:xfrm>
          <a:custGeom>
            <a:avLst/>
            <a:gdLst/>
            <a:ahLst/>
            <a:cxnLst/>
            <a:rect l="l" t="t" r="r" b="b"/>
            <a:pathLst>
              <a:path w="3524250" h="11620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066800"/>
                </a:lnTo>
                <a:cubicBezTo>
                  <a:pt x="3524250" y="1119405"/>
                  <a:pt x="3481605" y="1162050"/>
                  <a:pt x="3429000" y="1162050"/>
                </a:cubicBezTo>
                <a:lnTo>
                  <a:pt x="95250" y="1162050"/>
                </a:lnTo>
                <a:cubicBezTo>
                  <a:pt x="42645" y="1162050"/>
                  <a:pt x="0" y="1119405"/>
                  <a:pt x="0" y="1066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82940" y="1948815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报告产出周期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58425" y="1900238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+35%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82940" y="2339340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人工对齐工作量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58425" y="229076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+42%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3048000"/>
            <a:ext cx="3524250" cy="2990850"/>
          </a:xfrm>
          <a:custGeom>
            <a:avLst/>
            <a:gdLst/>
            <a:ahLst/>
            <a:cxnLst/>
            <a:rect l="l" t="t" r="r" b="b"/>
            <a:pathLst>
              <a:path w="3524250" h="29908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895600"/>
                </a:lnTo>
                <a:cubicBezTo>
                  <a:pt x="3524250" y="2948205"/>
                  <a:pt x="3481605" y="2990850"/>
                  <a:pt x="3429000" y="2990850"/>
                </a:cubicBezTo>
                <a:lnTo>
                  <a:pt x="95250" y="2990850"/>
                </a:lnTo>
                <a:cubicBezTo>
                  <a:pt x="42645" y="2990850"/>
                  <a:pt x="0" y="2948205"/>
                  <a:pt x="0" y="2895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81988" y="3274219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建设目标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84845" y="3727132"/>
            <a:ext cx="24878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1) 统一数据与知识入口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84845" y="4108132"/>
            <a:ext cx="30300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2) 降低重复分析与沟通成本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84845" y="4489132"/>
            <a:ext cx="29216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3) 构建可复用的专业Skills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4845" y="4870132"/>
            <a:ext cx="30300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4) 提升经营决策时效与质量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3855" y="378142"/>
            <a:ext cx="531704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建设目标、范围与价值锚点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71550"/>
            <a:ext cx="11430000" cy="5143500"/>
          </a:xfrm>
          <a:custGeom>
            <a:avLst/>
            <a:gdLst/>
            <a:ahLst/>
            <a:cxnLst/>
            <a:rect l="l" t="t" r="r" b="b"/>
            <a:pathLst>
              <a:path w="11430000" h="51435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010150"/>
                </a:lnTo>
                <a:cubicBezTo>
                  <a:pt x="11430000" y="5083797"/>
                  <a:pt x="11370297" y="5143500"/>
                  <a:pt x="11296650" y="5143500"/>
                </a:cubicBezTo>
                <a:lnTo>
                  <a:pt x="133350" y="5143500"/>
                </a:lnTo>
                <a:cubicBezTo>
                  <a:pt x="59703" y="5143500"/>
                  <a:pt x="0" y="5083797"/>
                  <a:pt x="0" y="501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88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85800" y="1428750"/>
            <a:ext cx="3390900" cy="4191000"/>
          </a:xfrm>
          <a:custGeom>
            <a:avLst/>
            <a:gdLst/>
            <a:ahLst/>
            <a:cxnLst/>
            <a:rect l="l" t="t" r="r" b="b"/>
            <a:pathLst>
              <a:path w="3390900" h="4191000">
                <a:moveTo>
                  <a:pt x="114300" y="0"/>
                </a:moveTo>
                <a:lnTo>
                  <a:pt x="3276600" y="0"/>
                </a:lnTo>
                <a:cubicBezTo>
                  <a:pt x="3339726" y="0"/>
                  <a:pt x="3390900" y="51174"/>
                  <a:pt x="3390900" y="114300"/>
                </a:cubicBezTo>
                <a:lnTo>
                  <a:pt x="3390900" y="4076700"/>
                </a:lnTo>
                <a:cubicBezTo>
                  <a:pt x="3390900" y="4139826"/>
                  <a:pt x="3339726" y="4191000"/>
                  <a:pt x="3276600" y="4191000"/>
                </a:cubicBezTo>
                <a:lnTo>
                  <a:pt x="114300" y="4191000"/>
                </a:lnTo>
                <a:cubicBezTo>
                  <a:pt x="51174" y="4191000"/>
                  <a:pt x="0" y="4139826"/>
                  <a:pt x="0" y="4076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400550" y="1428750"/>
            <a:ext cx="3390900" cy="4191000"/>
          </a:xfrm>
          <a:custGeom>
            <a:avLst/>
            <a:gdLst/>
            <a:ahLst/>
            <a:cxnLst/>
            <a:rect l="l" t="t" r="r" b="b"/>
            <a:pathLst>
              <a:path w="3390900" h="4191000">
                <a:moveTo>
                  <a:pt x="114300" y="0"/>
                </a:moveTo>
                <a:lnTo>
                  <a:pt x="3276600" y="0"/>
                </a:lnTo>
                <a:cubicBezTo>
                  <a:pt x="3339726" y="0"/>
                  <a:pt x="3390900" y="51174"/>
                  <a:pt x="3390900" y="114300"/>
                </a:cubicBezTo>
                <a:lnTo>
                  <a:pt x="3390900" y="4076700"/>
                </a:lnTo>
                <a:cubicBezTo>
                  <a:pt x="3390900" y="4139826"/>
                  <a:pt x="3339726" y="4191000"/>
                  <a:pt x="3276600" y="4191000"/>
                </a:cubicBezTo>
                <a:lnTo>
                  <a:pt x="114300" y="4191000"/>
                </a:lnTo>
                <a:cubicBezTo>
                  <a:pt x="51174" y="4191000"/>
                  <a:pt x="0" y="4139826"/>
                  <a:pt x="0" y="4076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115300" y="1428750"/>
            <a:ext cx="3390900" cy="4191000"/>
          </a:xfrm>
          <a:custGeom>
            <a:avLst/>
            <a:gdLst/>
            <a:ahLst/>
            <a:cxnLst/>
            <a:rect l="l" t="t" r="r" b="b"/>
            <a:pathLst>
              <a:path w="3390900" h="4191000">
                <a:moveTo>
                  <a:pt x="114300" y="0"/>
                </a:moveTo>
                <a:lnTo>
                  <a:pt x="3276600" y="0"/>
                </a:lnTo>
                <a:cubicBezTo>
                  <a:pt x="3339726" y="0"/>
                  <a:pt x="3390900" y="51174"/>
                  <a:pt x="3390900" y="114300"/>
                </a:cubicBezTo>
                <a:lnTo>
                  <a:pt x="3390900" y="4076700"/>
                </a:lnTo>
                <a:cubicBezTo>
                  <a:pt x="3390900" y="4139826"/>
                  <a:pt x="3339726" y="4191000"/>
                  <a:pt x="3276600" y="4191000"/>
                </a:cubicBezTo>
                <a:lnTo>
                  <a:pt x="114300" y="4191000"/>
                </a:lnTo>
                <a:cubicBezTo>
                  <a:pt x="51174" y="4191000"/>
                  <a:pt x="0" y="4139826"/>
                  <a:pt x="0" y="4076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5825" y="16621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效率目标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3445" y="2184082"/>
            <a:ext cx="29818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汇报材料编制时长降低30%+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3445" y="2546032"/>
            <a:ext cx="26083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周报自动化率提升至70%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3445" y="2907982"/>
            <a:ext cx="3090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跨部门协同等待时间下降40%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00575" y="16621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质量目标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8195" y="21840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统一指标定义与校验规则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08195" y="2546032"/>
            <a:ext cx="26083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知识库命中率提升至85%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8195" y="29079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关键结论可追溯可复核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5325" y="16621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管理目标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22945" y="2184082"/>
            <a:ext cx="27168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形成数据-模型-场景闭环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2945" y="254603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建立分层运营与治理机制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22945" y="290798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实现可复制推广的建设模式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4095750"/>
            <a:ext cx="3714750" cy="1047750"/>
          </a:xfrm>
          <a:custGeom>
            <a:avLst/>
            <a:gdLst/>
            <a:ahLst/>
            <a:cxnLst/>
            <a:rect l="l" t="t" r="r" b="b"/>
            <a:pathLst>
              <a:path w="3714750" h="1047750">
                <a:moveTo>
                  <a:pt x="0" y="0"/>
                </a:moveTo>
                <a:lnTo>
                  <a:pt x="3714750" y="104775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21" name="Line 21"/>
          <p:cNvSpPr/>
          <p:nvPr/>
        </p:nvSpPr>
        <p:spPr>
          <a:xfrm>
            <a:off x="6096000" y="4095750"/>
            <a:ext cx="3714750" cy="1047750"/>
          </a:xfrm>
          <a:custGeom>
            <a:avLst/>
            <a:gdLst/>
            <a:ahLst/>
            <a:cxnLst/>
            <a:rect l="l" t="t" r="r" b="b"/>
            <a:pathLst>
              <a:path w="3714750" h="1047750">
                <a:moveTo>
                  <a:pt x="0" y="1047750"/>
                </a:moveTo>
                <a:lnTo>
                  <a:pt x="371475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54015" y="5377815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价值锚点：降本、提质、增效、控险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6372" y="3576638"/>
            <a:ext cx="7379256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3855" y="378142"/>
            <a:ext cx="973129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平台总体架构（数据底座-智能体引擎-业务应用）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3345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1714500"/>
            <a:ext cx="3048000" cy="3238500"/>
          </a:xfrm>
          <a:custGeom>
            <a:avLst/>
            <a:gdLst/>
            <a:ahLst/>
            <a:cxnLst/>
            <a:rect l="l" t="t" r="r" b="b"/>
            <a:pathLst>
              <a:path w="3048000" h="32385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124200"/>
                </a:lnTo>
                <a:cubicBezTo>
                  <a:pt x="3048000" y="3187326"/>
                  <a:pt x="2996826" y="3238500"/>
                  <a:pt x="2933700" y="3238500"/>
                </a:cubicBezTo>
                <a:lnTo>
                  <a:pt x="114300" y="3238500"/>
                </a:lnTo>
                <a:cubicBezTo>
                  <a:pt x="51174" y="3238500"/>
                  <a:pt x="0" y="3187326"/>
                  <a:pt x="0" y="3124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572000" y="1428750"/>
            <a:ext cx="3048000" cy="3810000"/>
          </a:xfrm>
          <a:custGeom>
            <a:avLst/>
            <a:gdLst/>
            <a:ahLst/>
            <a:cxnLst/>
            <a:rect l="l" t="t" r="r" b="b"/>
            <a:pathLst>
              <a:path w="3048000" h="38100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695700"/>
                </a:lnTo>
                <a:cubicBezTo>
                  <a:pt x="3048000" y="3758826"/>
                  <a:pt x="2996826" y="3810000"/>
                  <a:pt x="2933700" y="3810000"/>
                </a:cubicBezTo>
                <a:lnTo>
                  <a:pt x="114300" y="3810000"/>
                </a:lnTo>
                <a:cubicBezTo>
                  <a:pt x="51174" y="3810000"/>
                  <a:pt x="0" y="3758826"/>
                  <a:pt x="0" y="3695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FF0FF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239125" y="1714500"/>
            <a:ext cx="3048000" cy="3238500"/>
          </a:xfrm>
          <a:custGeom>
            <a:avLst/>
            <a:gdLst/>
            <a:ahLst/>
            <a:cxnLst/>
            <a:rect l="l" t="t" r="r" b="b"/>
            <a:pathLst>
              <a:path w="3048000" h="32385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124200"/>
                </a:lnTo>
                <a:cubicBezTo>
                  <a:pt x="3048000" y="3187326"/>
                  <a:pt x="2996826" y="3238500"/>
                  <a:pt x="2933700" y="3238500"/>
                </a:cubicBezTo>
                <a:lnTo>
                  <a:pt x="114300" y="3238500"/>
                </a:lnTo>
                <a:cubicBezTo>
                  <a:pt x="51174" y="3238500"/>
                  <a:pt x="0" y="3187326"/>
                  <a:pt x="0" y="3124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09675" y="1900238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8248" y="2401729"/>
            <a:ext cx="230578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勘探开发数据湖接入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8248" y="2735104"/>
            <a:ext cx="253581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指标口径与主数据治理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8248" y="3068479"/>
            <a:ext cx="278884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文档/报告/纪要统一索引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76800" y="1709738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智能体引擎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85372" y="2211229"/>
            <a:ext cx="276584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工作流编排与多模型调度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5372" y="2544604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专业Skills与记忆系统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85372" y="2877979"/>
            <a:ext cx="230578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审计追踪与安全策略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43925" y="1900238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业务应用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2498" y="2401729"/>
            <a:ext cx="230578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调研分析与经营简报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52498" y="2735104"/>
            <a:ext cx="253581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生产例会材料自动编制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2498" y="3068479"/>
            <a:ext cx="230578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风险预警与处置闭环</a:t>
            </a:r>
          </a:p>
        </p:txBody>
      </p:sp>
      <p:sp>
        <p:nvSpPr>
          <p:cNvPr id="20" name="Line 20"/>
          <p:cNvSpPr/>
          <p:nvPr/>
        </p:nvSpPr>
        <p:spPr>
          <a:xfrm>
            <a:off x="3952875" y="3333750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3333750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076700" y="30956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7BC0"/>
                </a:solidFill>
                <a:latin typeface="Arial"/>
                <a:ea typeface="Microsoft YaHei"/>
                <a:cs typeface="Arial"/>
              </a:rPr>
              <a:t>&gt;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43825" y="30956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7BC0"/>
                </a:solidFill>
                <a:latin typeface="Arial"/>
                <a:ea typeface="Microsoft YaHei"/>
                <a:cs typeface="Arial"/>
              </a:rPr>
              <a:t>&gt;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3855" y="378142"/>
            <a:ext cx="487999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关键能力矩阵与业务覆盖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3345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7235" y="1256348"/>
            <a:ext cx="244182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能力矩阵（示意）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1714500"/>
            <a:ext cx="10668000" cy="3810000"/>
          </a:xfrm>
          <a:custGeom>
            <a:avLst/>
            <a:gdLst/>
            <a:ahLst/>
            <a:cxnLst/>
            <a:rect l="l" t="t" r="r" b="b"/>
            <a:pathLst>
              <a:path w="10668000" h="38100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3714750"/>
                </a:lnTo>
                <a:cubicBezTo>
                  <a:pt x="10668000" y="3767355"/>
                  <a:pt x="10625355" y="3810000"/>
                  <a:pt x="10572750" y="3810000"/>
                </a:cubicBezTo>
                <a:lnTo>
                  <a:pt x="95250" y="3810000"/>
                </a:lnTo>
                <a:cubicBezTo>
                  <a:pt x="42645" y="3810000"/>
                  <a:pt x="0" y="3767355"/>
                  <a:pt x="0" y="3714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9FE"/>
          </a:solidFill>
          <a:ln w="9525">
            <a:solidFill>
              <a:srgbClr val="BFD8EF"/>
            </a:solidFill>
          </a:ln>
        </p:spPr>
      </p:sp>
      <p:sp>
        <p:nvSpPr>
          <p:cNvPr id="7" name="Line 7"/>
          <p:cNvSpPr/>
          <p:nvPr/>
        </p:nvSpPr>
        <p:spPr>
          <a:xfrm>
            <a:off x="762000" y="2381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8" name="Line 8"/>
          <p:cNvSpPr/>
          <p:nvPr/>
        </p:nvSpPr>
        <p:spPr>
          <a:xfrm>
            <a:off x="762000" y="3048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9" name="Line 9"/>
          <p:cNvSpPr/>
          <p:nvPr/>
        </p:nvSpPr>
        <p:spPr>
          <a:xfrm>
            <a:off x="762000" y="3714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10" name="Line 10"/>
          <p:cNvSpPr/>
          <p:nvPr/>
        </p:nvSpPr>
        <p:spPr>
          <a:xfrm>
            <a:off x="762000" y="4381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11" name="Line 11"/>
          <p:cNvSpPr/>
          <p:nvPr/>
        </p:nvSpPr>
        <p:spPr>
          <a:xfrm>
            <a:off x="2762250" y="17145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12" name="Line 12"/>
          <p:cNvSpPr/>
          <p:nvPr/>
        </p:nvSpPr>
        <p:spPr>
          <a:xfrm>
            <a:off x="5334000" y="17145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13" name="Line 13"/>
          <p:cNvSpPr/>
          <p:nvPr/>
        </p:nvSpPr>
        <p:spPr>
          <a:xfrm>
            <a:off x="7905750" y="17145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C8DFF2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26795" y="1965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能力域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5670" y="1965008"/>
            <a:ext cx="119320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代表Skills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75045" y="1965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94420" y="1965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成熟度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498" y="2611279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80372" y="2611279"/>
            <a:ext cx="200675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政策解读/资料综述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52122" y="261127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立项调研、专题分析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76372" y="2611279"/>
            <a:ext cx="73009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2498" y="3278029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80372" y="3278029"/>
            <a:ext cx="142017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经营指标诊断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52122" y="32780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经营周报、月报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6372" y="3278029"/>
            <a:ext cx="73009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试点中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498" y="3944779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报告生成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80372" y="3944779"/>
            <a:ext cx="263933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ppt-master/haiyou模板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52122" y="394477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例会材料自动编制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76372" y="3944779"/>
            <a:ext cx="73009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498" y="4611529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80372" y="46115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异常识别与推送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52122" y="46115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生产与安全联动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76372" y="4611529"/>
            <a:ext cx="73009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6372" y="3576638"/>
            <a:ext cx="7379256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3855" y="378142"/>
            <a:ext cx="51203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试点成效（5个业务单元）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3345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04850" y="142875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267200"/>
                </a:lnTo>
                <a:cubicBezTo>
                  <a:pt x="3429000" y="4330326"/>
                  <a:pt x="3377826" y="4381500"/>
                  <a:pt x="3314700" y="4381500"/>
                </a:cubicBezTo>
                <a:lnTo>
                  <a:pt x="114300" y="4381500"/>
                </a:lnTo>
                <a:cubicBezTo>
                  <a:pt x="51174" y="4381500"/>
                  <a:pt x="0" y="4330326"/>
                  <a:pt x="0" y="4267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2F8FE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381500" y="142875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267200"/>
                </a:lnTo>
                <a:cubicBezTo>
                  <a:pt x="3429000" y="4330326"/>
                  <a:pt x="3377826" y="4381500"/>
                  <a:pt x="3314700" y="4381500"/>
                </a:cubicBezTo>
                <a:lnTo>
                  <a:pt x="114300" y="4381500"/>
                </a:lnTo>
                <a:cubicBezTo>
                  <a:pt x="51174" y="4381500"/>
                  <a:pt x="0" y="4330326"/>
                  <a:pt x="0" y="4267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2F8FE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058150" y="142875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267200"/>
                </a:lnTo>
                <a:cubicBezTo>
                  <a:pt x="3429000" y="4330326"/>
                  <a:pt x="3377826" y="4381500"/>
                  <a:pt x="3314700" y="4381500"/>
                </a:cubicBezTo>
                <a:lnTo>
                  <a:pt x="114300" y="4381500"/>
                </a:lnTo>
                <a:cubicBezTo>
                  <a:pt x="51174" y="4381500"/>
                  <a:pt x="0" y="4330326"/>
                  <a:pt x="0" y="4267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2F8F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6780" y="1725930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效率指标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2495" y="2250758"/>
            <a:ext cx="209026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材料编制时长 -38%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2495" y="2631758"/>
            <a:ext cx="20300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分析准备时长 -31%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2495" y="3012758"/>
            <a:ext cx="2331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跨部门沟通轮次 -27%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3430" y="1725930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质量指标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89145" y="2250758"/>
            <a:ext cx="21987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指标口径一致率 96%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89145" y="2631758"/>
            <a:ext cx="21987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报告一次通过率 89%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9145" y="3012758"/>
            <a:ext cx="2331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复盘复用次数 +2.3倍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60080" y="1725930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管理指标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5795" y="2250758"/>
            <a:ext cx="27529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重点风险识别提前 2~3 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5795" y="2631758"/>
            <a:ext cx="21987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闭环处置完成率 93%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65795" y="3012758"/>
            <a:ext cx="22709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月度复盘准时率 100%</a:t>
            </a:r>
          </a:p>
        </p:txBody>
      </p:sp>
      <p:sp>
        <p:nvSpPr>
          <p:cNvPr id="20" name="Freeform 20"/>
          <p:cNvSpPr/>
          <p:nvPr/>
        </p:nvSpPr>
        <p:spPr>
          <a:xfrm>
            <a:off x="933450" y="3905250"/>
            <a:ext cx="10096500" cy="1619250"/>
          </a:xfrm>
          <a:custGeom>
            <a:avLst/>
            <a:gdLst/>
            <a:ahLst/>
            <a:cxnLst/>
            <a:rect l="l" t="t" r="r" b="b"/>
            <a:pathLst>
              <a:path w="10096500" h="1619250">
                <a:moveTo>
                  <a:pt x="114300" y="0"/>
                </a:moveTo>
                <a:lnTo>
                  <a:pt x="9982200" y="0"/>
                </a:lnTo>
                <a:cubicBezTo>
                  <a:pt x="10045326" y="0"/>
                  <a:pt x="10096500" y="51174"/>
                  <a:pt x="10096500" y="114300"/>
                </a:cubicBezTo>
                <a:lnTo>
                  <a:pt x="10096500" y="1504950"/>
                </a:lnTo>
                <a:cubicBezTo>
                  <a:pt x="10096500" y="1568076"/>
                  <a:pt x="10045326" y="1619250"/>
                  <a:pt x="998220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15390" y="4234815"/>
            <a:ext cx="104693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结论：平台已形成数据入湖-智能编排-业务复用-闭环治理能力链，具备规模化推广条件。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5390" y="4711065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下一步围绕重点油田、重点工艺、重点专题推进分层复制，持续提升经营与生产协同效能。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762000" y="857250"/>
            <a:ext cx="10668000" cy="4000500"/>
          </a:xfrm>
          <a:custGeom>
            <a:avLst/>
            <a:gdLst/>
            <a:ahLst/>
            <a:cxnLst/>
            <a:rect l="l" t="t" r="r" b="b"/>
            <a:pathLst>
              <a:path w="10668000" h="4000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3848100"/>
                </a:lnTo>
                <a:cubicBezTo>
                  <a:pt x="10668000" y="3932268"/>
                  <a:pt x="10599768" y="4000500"/>
                  <a:pt x="10515600" y="4000500"/>
                </a:cubicBezTo>
                <a:lnTo>
                  <a:pt x="152400" y="4000500"/>
                </a:lnTo>
                <a:cubicBezTo>
                  <a:pt x="68232" y="4000500"/>
                  <a:pt x="0" y="3932268"/>
                  <a:pt x="0" y="3848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4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58718" y="1482090"/>
            <a:ext cx="527456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结尾与行动建议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0675" y="2424112"/>
            <a:ext cx="799314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1) 三个月内完成重点单位二期能力上线与治理机制固化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675" y="2947988"/>
            <a:ext cx="777954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2) 建立场景负责人+平台运营+数据治理联合例会机制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0675" y="3471862"/>
            <a:ext cx="787812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3) 以可量化KPI持续评估投入产出，形成年度推广闭环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4409" y="5211128"/>
            <a:ext cx="1843183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
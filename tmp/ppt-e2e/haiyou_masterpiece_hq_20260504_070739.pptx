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讲解重点：围绕业务价值、实施路径与治理机制展开，突出可执行性与可复制性。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2_img1.pn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14843760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海上油气平台智能运维与安全生产一体化方案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829203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高质量成片示例（haiyou_pure_svg）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365545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DeerFlow · PPT Master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18645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业务现状与目标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方案设计与实施路径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收益评估与治理机制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799398" y="4095750"/>
            <a:ext cx="659320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业务现状与目标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300" y="419100"/>
            <a:ext cx="467677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540" y="92964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多系统割裂、响应链路长、经验复用弱，亟需统一数据与运营闭环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6290" y="1844040"/>
            <a:ext cx="60527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• 告警噪声高：人工筛选成本高，跨系统归因效率低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6290" y="2263140"/>
            <a:ext cx="552697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• 指标口径不一：经营分析与生产分析难以同频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6290" y="2682240"/>
            <a:ext cx="50011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• 处置协同不足：班组间经验传递存在断点</a:t>
            </a:r>
          </a:p>
        </p:txBody>
      </p:sp>
      <p:sp>
        <p:nvSpPr>
          <p:cNvPr id="9" name="Freeform 9"/>
          <p:cNvSpPr/>
          <p:nvPr/>
        </p:nvSpPr>
        <p:spPr>
          <a:xfrm>
            <a:off x="742950" y="3295650"/>
            <a:ext cx="10706100" cy="2266950"/>
          </a:xfrm>
          <a:custGeom>
            <a:avLst/>
            <a:gdLst/>
            <a:ahLst/>
            <a:cxnLst/>
            <a:rect l="l" t="t" r="r" b="b"/>
            <a:pathLst>
              <a:path w="10706100" h="2266950">
                <a:moveTo>
                  <a:pt x="152400" y="0"/>
                </a:moveTo>
                <a:lnTo>
                  <a:pt x="10553700" y="0"/>
                </a:lnTo>
                <a:cubicBezTo>
                  <a:pt x="10637868" y="0"/>
                  <a:pt x="10706100" y="68232"/>
                  <a:pt x="10706100" y="152400"/>
                </a:cubicBezTo>
                <a:lnTo>
                  <a:pt x="10706100" y="2114550"/>
                </a:lnTo>
                <a:cubicBezTo>
                  <a:pt x="10706100" y="2198718"/>
                  <a:pt x="10637868" y="2266950"/>
                  <a:pt x="10553700" y="2266950"/>
                </a:cubicBezTo>
                <a:lnTo>
                  <a:pt x="152400" y="2266950"/>
                </a:lnTo>
                <a:cubicBezTo>
                  <a:pt x="68232" y="2266950"/>
                  <a:pt x="0" y="2198718"/>
                  <a:pt x="0" y="21145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9DCE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00125" y="3567112"/>
            <a:ext cx="79068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目标：建立“监测-诊断-处置-复盘”一体化运营体系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5840" y="4072890"/>
            <a:ext cx="84187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12个月内实现关键设备停机损失明显下降，形成可复制的标准作业模型。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300" y="419100"/>
            <a:ext cx="486079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年度KPI与经营价值锚点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540" y="929640"/>
            <a:ext cx="694658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以安全、效率、稳定三维指标牵引建设优先级与资源投入</a:t>
            </a:r>
          </a:p>
        </p:txBody>
      </p:sp>
      <p:sp>
        <p:nvSpPr>
          <p:cNvPr id="6" name="Freeform 6"/>
          <p:cNvSpPr/>
          <p:nvPr/>
        </p:nvSpPr>
        <p:spPr>
          <a:xfrm>
            <a:off x="685800" y="1676400"/>
            <a:ext cx="3371850" cy="1638300"/>
          </a:xfrm>
          <a:custGeom>
            <a:avLst/>
            <a:gdLst/>
            <a:ahLst/>
            <a:cxnLst/>
            <a:rect l="l" t="t" r="r" b="b"/>
            <a:pathLst>
              <a:path w="3371850" h="1638300">
                <a:moveTo>
                  <a:pt x="171450" y="0"/>
                </a:moveTo>
                <a:lnTo>
                  <a:pt x="3200400" y="0"/>
                </a:lnTo>
                <a:cubicBezTo>
                  <a:pt x="3295089" y="0"/>
                  <a:pt x="3371850" y="76761"/>
                  <a:pt x="3371850" y="171450"/>
                </a:cubicBezTo>
                <a:lnTo>
                  <a:pt x="3371850" y="1466850"/>
                </a:lnTo>
                <a:cubicBezTo>
                  <a:pt x="3371850" y="1561539"/>
                  <a:pt x="3295089" y="1638300"/>
                  <a:pt x="3200400" y="1638300"/>
                </a:cubicBezTo>
                <a:lnTo>
                  <a:pt x="171450" y="1638300"/>
                </a:lnTo>
                <a:cubicBezTo>
                  <a:pt x="76761" y="1638300"/>
                  <a:pt x="0" y="1561539"/>
                  <a:pt x="0" y="14668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4400550" y="1676400"/>
            <a:ext cx="3371850" cy="1638300"/>
          </a:xfrm>
          <a:custGeom>
            <a:avLst/>
            <a:gdLst/>
            <a:ahLst/>
            <a:cxnLst/>
            <a:rect l="l" t="t" r="r" b="b"/>
            <a:pathLst>
              <a:path w="3371850" h="1638300">
                <a:moveTo>
                  <a:pt x="171450" y="0"/>
                </a:moveTo>
                <a:lnTo>
                  <a:pt x="3200400" y="0"/>
                </a:lnTo>
                <a:cubicBezTo>
                  <a:pt x="3295089" y="0"/>
                  <a:pt x="3371850" y="76761"/>
                  <a:pt x="3371850" y="171450"/>
                </a:cubicBezTo>
                <a:lnTo>
                  <a:pt x="3371850" y="1466850"/>
                </a:lnTo>
                <a:cubicBezTo>
                  <a:pt x="3371850" y="1561539"/>
                  <a:pt x="3295089" y="1638300"/>
                  <a:pt x="3200400" y="1638300"/>
                </a:cubicBezTo>
                <a:lnTo>
                  <a:pt x="171450" y="1638300"/>
                </a:lnTo>
                <a:cubicBezTo>
                  <a:pt x="76761" y="1638300"/>
                  <a:pt x="0" y="1561539"/>
                  <a:pt x="0" y="14668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115300" y="1676400"/>
            <a:ext cx="3371850" cy="1638300"/>
          </a:xfrm>
          <a:custGeom>
            <a:avLst/>
            <a:gdLst/>
            <a:ahLst/>
            <a:cxnLst/>
            <a:rect l="l" t="t" r="r" b="b"/>
            <a:pathLst>
              <a:path w="3371850" h="1638300">
                <a:moveTo>
                  <a:pt x="171450" y="0"/>
                </a:moveTo>
                <a:lnTo>
                  <a:pt x="3200400" y="0"/>
                </a:lnTo>
                <a:cubicBezTo>
                  <a:pt x="3295089" y="0"/>
                  <a:pt x="3371850" y="76761"/>
                  <a:pt x="3371850" y="171450"/>
                </a:cubicBezTo>
                <a:lnTo>
                  <a:pt x="3371850" y="1466850"/>
                </a:lnTo>
                <a:cubicBezTo>
                  <a:pt x="3371850" y="1561539"/>
                  <a:pt x="3295089" y="1638300"/>
                  <a:pt x="3200400" y="1638300"/>
                </a:cubicBezTo>
                <a:lnTo>
                  <a:pt x="171450" y="1638300"/>
                </a:lnTo>
                <a:cubicBezTo>
                  <a:pt x="76761" y="1638300"/>
                  <a:pt x="0" y="1561539"/>
                  <a:pt x="0" y="14668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89635" y="188499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设备可利用率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3440" y="2377440"/>
            <a:ext cx="2146173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98.6%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04385" y="1884998"/>
            <a:ext cx="18437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故障闭环时长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68190" y="2377440"/>
            <a:ext cx="174132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5.8h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19135" y="1884998"/>
            <a:ext cx="214279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隐患整改达成率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82940" y="2377440"/>
            <a:ext cx="133647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96%</a:t>
            </a:r>
          </a:p>
        </p:txBody>
      </p:sp>
      <p:sp>
        <p:nvSpPr>
          <p:cNvPr id="15" name="Freeform 15"/>
          <p:cNvSpPr/>
          <p:nvPr/>
        </p:nvSpPr>
        <p:spPr>
          <a:xfrm>
            <a:off x="685800" y="3638550"/>
            <a:ext cx="10801350" cy="2114550"/>
          </a:xfrm>
          <a:custGeom>
            <a:avLst/>
            <a:gdLst/>
            <a:ahLst/>
            <a:cxnLst/>
            <a:rect l="l" t="t" r="r" b="b"/>
            <a:pathLst>
              <a:path w="10801350" h="2114550">
                <a:moveTo>
                  <a:pt x="152400" y="0"/>
                </a:moveTo>
                <a:lnTo>
                  <a:pt x="10648950" y="0"/>
                </a:lnTo>
                <a:cubicBezTo>
                  <a:pt x="10733118" y="0"/>
                  <a:pt x="10801350" y="68232"/>
                  <a:pt x="10801350" y="152400"/>
                </a:cubicBezTo>
                <a:lnTo>
                  <a:pt x="10801350" y="1962150"/>
                </a:lnTo>
                <a:cubicBezTo>
                  <a:pt x="10801350" y="2046318"/>
                  <a:pt x="10733118" y="2114550"/>
                  <a:pt x="10648950" y="2114550"/>
                </a:cubicBezTo>
                <a:lnTo>
                  <a:pt x="152400" y="2114550"/>
                </a:lnTo>
                <a:cubicBezTo>
                  <a:pt x="68232" y="2114550"/>
                  <a:pt x="0" y="2046318"/>
                  <a:pt x="0" y="19621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9DCE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91540" y="3920490"/>
            <a:ext cx="10732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KPI解释：以“安全红线零突破 + 关键资产稳态运行”为核心，按周跟踪趋势、按月固化改进。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1540" y="4358640"/>
            <a:ext cx="104693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结果：停机损失同比下降 27%，高频缺陷复发率下降 31%，跨班组知识复用效率显著提升。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方案设计与实施路径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300" y="419100"/>
            <a:ext cx="651700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总体架构：四层协同、闭环驱动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540" y="929640"/>
            <a:ext cx="8050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感知层、平台层、应用层、运营层协同，保障业务稳定与持续优化</a:t>
            </a:r>
          </a:p>
        </p:txBody>
      </p:sp>
      <p:sp>
        <p:nvSpPr>
          <p:cNvPr id="6" name="Freeform 6"/>
          <p:cNvSpPr/>
          <p:nvPr/>
        </p:nvSpPr>
        <p:spPr>
          <a:xfrm>
            <a:off x="895350" y="1847850"/>
            <a:ext cx="10401300" cy="819150"/>
          </a:xfrm>
          <a:custGeom>
            <a:avLst/>
            <a:gdLst/>
            <a:ahLst/>
            <a:cxnLst/>
            <a:rect l="l" t="t" r="r" b="b"/>
            <a:pathLst>
              <a:path w="10401300" h="819150">
                <a:moveTo>
                  <a:pt x="133350" y="0"/>
                </a:moveTo>
                <a:lnTo>
                  <a:pt x="10267950" y="0"/>
                </a:lnTo>
                <a:cubicBezTo>
                  <a:pt x="10341597" y="0"/>
                  <a:pt x="10401300" y="59703"/>
                  <a:pt x="10401300" y="133350"/>
                </a:cubicBezTo>
                <a:lnTo>
                  <a:pt x="10401300" y="685800"/>
                </a:lnTo>
                <a:cubicBezTo>
                  <a:pt x="10401300" y="759447"/>
                  <a:pt x="10341597" y="819150"/>
                  <a:pt x="10267950" y="819150"/>
                </a:cubicBezTo>
                <a:lnTo>
                  <a:pt x="133350" y="819150"/>
                </a:lnTo>
                <a:cubicBezTo>
                  <a:pt x="59703" y="819150"/>
                  <a:pt x="0" y="759447"/>
                  <a:pt x="0" y="6858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92530" y="2125980"/>
            <a:ext cx="68161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感知层：边缘采集、协议适配、设备侧质量校验</a:t>
            </a:r>
          </a:p>
        </p:txBody>
      </p:sp>
      <p:sp>
        <p:nvSpPr>
          <p:cNvPr id="8" name="Freeform 8"/>
          <p:cNvSpPr/>
          <p:nvPr/>
        </p:nvSpPr>
        <p:spPr>
          <a:xfrm>
            <a:off x="895350" y="2819400"/>
            <a:ext cx="10401300" cy="819150"/>
          </a:xfrm>
          <a:custGeom>
            <a:avLst/>
            <a:gdLst/>
            <a:ahLst/>
            <a:cxnLst/>
            <a:rect l="l" t="t" r="r" b="b"/>
            <a:pathLst>
              <a:path w="10401300" h="819150">
                <a:moveTo>
                  <a:pt x="133350" y="0"/>
                </a:moveTo>
                <a:lnTo>
                  <a:pt x="10267950" y="0"/>
                </a:lnTo>
                <a:cubicBezTo>
                  <a:pt x="10341597" y="0"/>
                  <a:pt x="10401300" y="59703"/>
                  <a:pt x="10401300" y="133350"/>
                </a:cubicBezTo>
                <a:lnTo>
                  <a:pt x="10401300" y="685800"/>
                </a:lnTo>
                <a:cubicBezTo>
                  <a:pt x="10401300" y="759447"/>
                  <a:pt x="10341597" y="819150"/>
                  <a:pt x="10267950" y="819150"/>
                </a:cubicBezTo>
                <a:lnTo>
                  <a:pt x="133350" y="819150"/>
                </a:lnTo>
                <a:cubicBezTo>
                  <a:pt x="59703" y="819150"/>
                  <a:pt x="0" y="759447"/>
                  <a:pt x="0" y="6858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192530" y="3097530"/>
            <a:ext cx="71382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平台层：主数据、事件总线、规则引擎、模型服务</a:t>
            </a:r>
          </a:p>
        </p:txBody>
      </p:sp>
      <p:sp>
        <p:nvSpPr>
          <p:cNvPr id="10" name="Freeform 10"/>
          <p:cNvSpPr/>
          <p:nvPr/>
        </p:nvSpPr>
        <p:spPr>
          <a:xfrm>
            <a:off x="895350" y="3790950"/>
            <a:ext cx="10401300" cy="819150"/>
          </a:xfrm>
          <a:custGeom>
            <a:avLst/>
            <a:gdLst/>
            <a:ahLst/>
            <a:cxnLst/>
            <a:rect l="l" t="t" r="r" b="b"/>
            <a:pathLst>
              <a:path w="10401300" h="819150">
                <a:moveTo>
                  <a:pt x="133350" y="0"/>
                </a:moveTo>
                <a:lnTo>
                  <a:pt x="10267950" y="0"/>
                </a:lnTo>
                <a:cubicBezTo>
                  <a:pt x="10341597" y="0"/>
                  <a:pt x="10401300" y="59703"/>
                  <a:pt x="10401300" y="133350"/>
                </a:cubicBezTo>
                <a:lnTo>
                  <a:pt x="10401300" y="685800"/>
                </a:lnTo>
                <a:cubicBezTo>
                  <a:pt x="10401300" y="759447"/>
                  <a:pt x="10341597" y="819150"/>
                  <a:pt x="10267950" y="819150"/>
                </a:cubicBezTo>
                <a:lnTo>
                  <a:pt x="133350" y="819150"/>
                </a:lnTo>
                <a:cubicBezTo>
                  <a:pt x="59703" y="819150"/>
                  <a:pt x="0" y="759447"/>
                  <a:pt x="0" y="6858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92530" y="4069080"/>
            <a:ext cx="77823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应用层：智能诊断、风险预警、工单协同、可视化看板</a:t>
            </a:r>
          </a:p>
        </p:txBody>
      </p:sp>
      <p:sp>
        <p:nvSpPr>
          <p:cNvPr id="12" name="Freeform 12"/>
          <p:cNvSpPr/>
          <p:nvPr/>
        </p:nvSpPr>
        <p:spPr>
          <a:xfrm>
            <a:off x="895350" y="4762500"/>
            <a:ext cx="10401300" cy="819150"/>
          </a:xfrm>
          <a:custGeom>
            <a:avLst/>
            <a:gdLst/>
            <a:ahLst/>
            <a:cxnLst/>
            <a:rect l="l" t="t" r="r" b="b"/>
            <a:pathLst>
              <a:path w="10401300" h="819150">
                <a:moveTo>
                  <a:pt x="133350" y="0"/>
                </a:moveTo>
                <a:lnTo>
                  <a:pt x="10267950" y="0"/>
                </a:lnTo>
                <a:cubicBezTo>
                  <a:pt x="10341597" y="0"/>
                  <a:pt x="10401300" y="59703"/>
                  <a:pt x="10401300" y="133350"/>
                </a:cubicBezTo>
                <a:lnTo>
                  <a:pt x="10401300" y="685800"/>
                </a:lnTo>
                <a:cubicBezTo>
                  <a:pt x="10401300" y="759447"/>
                  <a:pt x="10341597" y="819150"/>
                  <a:pt x="10267950" y="819150"/>
                </a:cubicBezTo>
                <a:lnTo>
                  <a:pt x="133350" y="819150"/>
                </a:lnTo>
                <a:cubicBezTo>
                  <a:pt x="59703" y="819150"/>
                  <a:pt x="0" y="759447"/>
                  <a:pt x="0" y="6858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ECEF"/>
          </a:solidFill>
          <a:ln w="9525">
            <a:solidFill>
              <a:srgbClr val="F4B6C2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92530" y="5040630"/>
            <a:ext cx="746026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7D1E31"/>
                </a:solidFill>
                <a:latin typeface="Microsoft YaHei"/>
                <a:ea typeface="Microsoft YaHei"/>
                <a:cs typeface="Microsoft YaHei"/>
              </a:rPr>
              <a:t>运营层：周跟踪、月复盘、季审计、跨区域复制推广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300" y="419100"/>
            <a:ext cx="51368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关键指标趋势（双折线）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540" y="929640"/>
            <a:ext cx="8202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可靠性指数与闭环效率指数连续7个周期改善，验证方案可持续有效</a:t>
            </a:r>
          </a:p>
        </p:txBody>
      </p:sp>
      <p:sp>
        <p:nvSpPr>
          <p:cNvPr id="6" name="Freeform 6"/>
          <p:cNvSpPr/>
          <p:nvPr/>
        </p:nvSpPr>
        <p:spPr>
          <a:xfrm>
            <a:off x="857250" y="1714500"/>
            <a:ext cx="7810500" cy="4000500"/>
          </a:xfrm>
          <a:custGeom>
            <a:avLst/>
            <a:gdLst/>
            <a:ahLst/>
            <a:cxnLst/>
            <a:rect l="l" t="t" r="r" b="b"/>
            <a:pathLst>
              <a:path w="7810500" h="4000500">
                <a:moveTo>
                  <a:pt x="133350" y="0"/>
                </a:moveTo>
                <a:lnTo>
                  <a:pt x="7677150" y="0"/>
                </a:lnTo>
                <a:cubicBezTo>
                  <a:pt x="7750797" y="0"/>
                  <a:pt x="7810500" y="59703"/>
                  <a:pt x="7810500" y="133350"/>
                </a:cubicBezTo>
                <a:lnTo>
                  <a:pt x="7810500" y="3867150"/>
                </a:lnTo>
                <a:cubicBezTo>
                  <a:pt x="7810500" y="3940797"/>
                  <a:pt x="7750797" y="4000500"/>
                  <a:pt x="7677150" y="4000500"/>
                </a:cubicBezTo>
                <a:lnTo>
                  <a:pt x="133350" y="4000500"/>
                </a:lnTo>
                <a:cubicBezTo>
                  <a:pt x="59703" y="4000500"/>
                  <a:pt x="0" y="3940797"/>
                  <a:pt x="0" y="3867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9DCEC"/>
            </a:solidFill>
          </a:ln>
        </p:spPr>
      </p:sp>
      <p:sp>
        <p:nvSpPr>
          <p:cNvPr id="7" name="Line 7"/>
          <p:cNvSpPr/>
          <p:nvPr/>
        </p:nvSpPr>
        <p:spPr>
          <a:xfrm>
            <a:off x="1428750" y="5334000"/>
            <a:ext cx="6762750" cy="9525"/>
          </a:xfrm>
          <a:custGeom>
            <a:avLst/>
            <a:gdLst/>
            <a:ahLst/>
            <a:cxnLst/>
            <a:rect l="l" t="t" r="r" b="b"/>
            <a:pathLst>
              <a:path w="6762750" h="9525">
                <a:moveTo>
                  <a:pt x="0" y="0"/>
                </a:moveTo>
                <a:lnTo>
                  <a:pt x="6762750" y="0"/>
                </a:lnTo>
              </a:path>
            </a:pathLst>
          </a:custGeom>
          <a:noFill/>
          <a:ln w="19050">
            <a:solidFill>
              <a:srgbClr val="7CA4C5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22860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19050">
            <a:solidFill>
              <a:srgbClr val="7CA4C5"/>
            </a:solidFill>
          </a:ln>
        </p:spPr>
      </p:sp>
      <p:sp>
        <p:nvSpPr>
          <p:cNvPr id="9" name="Polyline 9"/>
          <p:cNvSpPr/>
          <p:nvPr/>
        </p:nvSpPr>
        <p:spPr>
          <a:xfrm>
            <a:off x="1809750" y="3028950"/>
            <a:ext cx="6286500" cy="1924050"/>
          </a:xfrm>
          <a:custGeom>
            <a:avLst/>
            <a:gdLst/>
            <a:ahLst/>
            <a:cxnLst/>
            <a:rect l="l" t="t" r="r" b="b"/>
            <a:pathLst>
              <a:path w="6286500" h="1924050">
                <a:moveTo>
                  <a:pt x="0" y="1924050"/>
                </a:moveTo>
                <a:lnTo>
                  <a:pt x="1047750" y="1600200"/>
                </a:lnTo>
                <a:lnTo>
                  <a:pt x="2095500" y="1333500"/>
                </a:lnTo>
                <a:lnTo>
                  <a:pt x="3143250" y="1066800"/>
                </a:lnTo>
                <a:lnTo>
                  <a:pt x="4191000" y="704850"/>
                </a:lnTo>
                <a:lnTo>
                  <a:pt x="5238750" y="304800"/>
                </a:lnTo>
                <a:lnTo>
                  <a:pt x="6286500" y="0"/>
                </a:lnTo>
              </a:path>
            </a:pathLst>
          </a:custGeom>
          <a:noFill/>
          <a:ln w="57150">
            <a:solidFill>
              <a:srgbClr val="0074CC"/>
            </a:solidFill>
          </a:ln>
        </p:spPr>
      </p:sp>
      <p:sp>
        <p:nvSpPr>
          <p:cNvPr id="10" name="Polyline 10"/>
          <p:cNvSpPr/>
          <p:nvPr/>
        </p:nvSpPr>
        <p:spPr>
          <a:xfrm>
            <a:off x="1809750" y="4171950"/>
            <a:ext cx="6286500" cy="971550"/>
          </a:xfrm>
          <a:custGeom>
            <a:avLst/>
            <a:gdLst/>
            <a:ahLst/>
            <a:cxnLst/>
            <a:rect l="l" t="t" r="r" b="b"/>
            <a:pathLst>
              <a:path w="6286500" h="971550">
                <a:moveTo>
                  <a:pt x="0" y="971550"/>
                </a:moveTo>
                <a:lnTo>
                  <a:pt x="1047750" y="876300"/>
                </a:lnTo>
                <a:lnTo>
                  <a:pt x="2095500" y="704850"/>
                </a:lnTo>
                <a:lnTo>
                  <a:pt x="3143250" y="542925"/>
                </a:lnTo>
                <a:lnTo>
                  <a:pt x="4191000" y="304800"/>
                </a:lnTo>
                <a:lnTo>
                  <a:pt x="5238750" y="133350"/>
                </a:lnTo>
                <a:lnTo>
                  <a:pt x="6286500" y="0"/>
                </a:lnTo>
              </a:path>
            </a:pathLst>
          </a:custGeom>
          <a:noFill/>
          <a:ln w="57150">
            <a:solidFill>
              <a:srgbClr val="00A67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647825" y="5476875"/>
            <a:ext cx="268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Q1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95575" y="5476875"/>
            <a:ext cx="322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Q2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43325" y="5476875"/>
            <a:ext cx="322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Q3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91075" y="5476875"/>
            <a:ext cx="322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38825" y="5476875"/>
            <a:ext cx="322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Q5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86575" y="5476875"/>
            <a:ext cx="322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Q6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34325" y="5476875"/>
            <a:ext cx="322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Q7</a:t>
            </a:r>
          </a:p>
        </p:txBody>
      </p:sp>
      <p:sp>
        <p:nvSpPr>
          <p:cNvPr id="18" name="Freeform 18"/>
          <p:cNvSpPr/>
          <p:nvPr/>
        </p:nvSpPr>
        <p:spPr>
          <a:xfrm>
            <a:off x="8991600" y="2076450"/>
            <a:ext cx="2476500" cy="3638550"/>
          </a:xfrm>
          <a:custGeom>
            <a:avLst/>
            <a:gdLst/>
            <a:ahLst/>
            <a:cxnLst/>
            <a:rect l="l" t="t" r="r" b="b"/>
            <a:pathLst>
              <a:path w="2476500" h="3638550">
                <a:moveTo>
                  <a:pt x="133350" y="0"/>
                </a:moveTo>
                <a:lnTo>
                  <a:pt x="2343150" y="0"/>
                </a:lnTo>
                <a:cubicBezTo>
                  <a:pt x="2416797" y="0"/>
                  <a:pt x="2476500" y="59703"/>
                  <a:pt x="2476500" y="133350"/>
                </a:cubicBezTo>
                <a:lnTo>
                  <a:pt x="2476500" y="3505200"/>
                </a:lnTo>
                <a:cubicBezTo>
                  <a:pt x="2476500" y="3578847"/>
                  <a:pt x="2416797" y="3638550"/>
                  <a:pt x="2343150" y="3638550"/>
                </a:cubicBezTo>
                <a:lnTo>
                  <a:pt x="133350" y="3638550"/>
                </a:lnTo>
                <a:cubicBezTo>
                  <a:pt x="59703" y="3638550"/>
                  <a:pt x="0" y="3578847"/>
                  <a:pt x="0" y="3505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4F9FE"/>
          </a:solidFill>
          <a:ln w="9525">
            <a:solidFill>
              <a:srgbClr val="C9DCE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197340" y="23012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趋势解读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99245" y="281273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• 可靠性指数持续爬坡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99245" y="321278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• 闭环时长稳步收敛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99245" y="361283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• 关键风险按月清零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220200" y="4171950"/>
            <a:ext cx="190500" cy="19050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86900" y="4171950"/>
            <a:ext cx="1133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可靠性指数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220200" y="4552950"/>
            <a:ext cx="190500" cy="190500"/>
          </a:xfrm>
          <a:prstGeom prst="rect">
            <a:avLst/>
          </a:prstGeom>
          <a:solidFill>
            <a:srgbClr val="00A67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86900" y="455295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闭环效率指数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300" y="419100"/>
            <a:ext cx="559689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基线与目标对比（柱状图）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540" y="929640"/>
            <a:ext cx="611847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核心经营指标均达到预期区间，风险指标显著下降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1905000"/>
            <a:ext cx="10668000" cy="3619500"/>
          </a:xfrm>
          <a:custGeom>
            <a:avLst/>
            <a:gdLst/>
            <a:ahLst/>
            <a:cxnLst/>
            <a:rect l="l" t="t" r="r" b="b"/>
            <a:pathLst>
              <a:path w="10668000" h="3619500">
                <a:moveTo>
                  <a:pt x="133350" y="0"/>
                </a:moveTo>
                <a:lnTo>
                  <a:pt x="10534650" y="0"/>
                </a:lnTo>
                <a:cubicBezTo>
                  <a:pt x="10608297" y="0"/>
                  <a:pt x="10668000" y="59703"/>
                  <a:pt x="10668000" y="133350"/>
                </a:cubicBezTo>
                <a:lnTo>
                  <a:pt x="10668000" y="3486150"/>
                </a:lnTo>
                <a:cubicBezTo>
                  <a:pt x="10668000" y="3559797"/>
                  <a:pt x="10608297" y="3619500"/>
                  <a:pt x="10534650" y="3619500"/>
                </a:cubicBezTo>
                <a:lnTo>
                  <a:pt x="133350" y="3619500"/>
                </a:lnTo>
                <a:cubicBezTo>
                  <a:pt x="59703" y="3619500"/>
                  <a:pt x="0" y="3559797"/>
                  <a:pt x="0" y="3486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9DCEC"/>
            </a:solidFill>
          </a:ln>
        </p:spPr>
      </p:sp>
      <p:sp>
        <p:nvSpPr>
          <p:cNvPr id="7" name="Line 7"/>
          <p:cNvSpPr/>
          <p:nvPr/>
        </p:nvSpPr>
        <p:spPr>
          <a:xfrm>
            <a:off x="1428750" y="5143500"/>
            <a:ext cx="9239250" cy="9525"/>
          </a:xfrm>
          <a:custGeom>
            <a:avLst/>
            <a:gdLst/>
            <a:ahLst/>
            <a:cxnLst/>
            <a:rect l="l" t="t" r="r" b="b"/>
            <a:pathLst>
              <a:path w="9239250" h="9525">
                <a:moveTo>
                  <a:pt x="0" y="0"/>
                </a:moveTo>
                <a:lnTo>
                  <a:pt x="9239250" y="0"/>
                </a:lnTo>
              </a:path>
            </a:pathLst>
          </a:custGeom>
          <a:noFill/>
          <a:ln w="19050">
            <a:solidFill>
              <a:srgbClr val="7CA4C5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2381250"/>
            <a:ext cx="9525" cy="2762250"/>
          </a:xfrm>
          <a:custGeom>
            <a:avLst/>
            <a:gdLst/>
            <a:ahLst/>
            <a:cxnLst/>
            <a:rect l="l" t="t" r="r" b="b"/>
            <a:pathLst>
              <a:path w="9525" h="2762250">
                <a:moveTo>
                  <a:pt x="0" y="0"/>
                </a:moveTo>
                <a:lnTo>
                  <a:pt x="0" y="2762250"/>
                </a:lnTo>
              </a:path>
            </a:pathLst>
          </a:custGeom>
          <a:noFill/>
          <a:ln w="19050">
            <a:solidFill>
              <a:srgbClr val="7CA4C5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2095500" y="4000500"/>
            <a:ext cx="857250" cy="1143000"/>
          </a:xfrm>
          <a:prstGeom prst="rect">
            <a:avLst/>
          </a:prstGeom>
          <a:solidFill>
            <a:srgbClr val="A8D5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238500" y="3238500"/>
            <a:ext cx="857250" cy="190500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953000" y="3619500"/>
            <a:ext cx="857250" cy="1524000"/>
          </a:xfrm>
          <a:prstGeom prst="rect">
            <a:avLst/>
          </a:prstGeom>
          <a:solidFill>
            <a:srgbClr val="9DEACC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2667000"/>
            <a:ext cx="857250" cy="2476500"/>
          </a:xfrm>
          <a:prstGeom prst="rect">
            <a:avLst/>
          </a:prstGeom>
          <a:solidFill>
            <a:srgbClr val="00A67A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810500" y="4381500"/>
            <a:ext cx="857250" cy="762000"/>
          </a:xfrm>
          <a:prstGeom prst="rect">
            <a:avLst/>
          </a:prstGeom>
          <a:solidFill>
            <a:srgbClr val="FFD3D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953500" y="3429000"/>
            <a:ext cx="857250" cy="1714500"/>
          </a:xfrm>
          <a:prstGeom prst="rect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114550" y="531495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可用率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91100" y="531495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闭环率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8600" y="5314950"/>
            <a:ext cx="8158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55B7D"/>
                </a:solidFill>
                <a:latin typeface="Microsoft YaHei"/>
                <a:ea typeface="Microsoft YaHei"/>
                <a:cs typeface="Microsoft YaHei"/>
              </a:rPr>
              <a:t>故障率↓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88845" y="3727132"/>
            <a:ext cx="2467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31845" y="2965132"/>
            <a:ext cx="306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93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6345" y="3346132"/>
            <a:ext cx="306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89345" y="2393632"/>
            <a:ext cx="306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88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03845" y="4108132"/>
            <a:ext cx="4395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4.8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46845" y="3155632"/>
            <a:ext cx="3792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2.1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906000" y="2286000"/>
            <a:ext cx="190500" cy="190500"/>
          </a:xfrm>
          <a:prstGeom prst="rect">
            <a:avLst/>
          </a:prstGeom>
          <a:solidFill>
            <a:srgbClr val="A8D5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174605" y="2302192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906000" y="2609850"/>
            <a:ext cx="190500" cy="19050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174605" y="2626042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3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场景价值优先级矩阵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540" y="929640"/>
            <a:ext cx="75676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按“价值 × 实施复杂度”分区推进，先打样、后复制、再规模化</a:t>
            </a:r>
          </a:p>
        </p:txBody>
      </p:sp>
      <p:sp>
        <p:nvSpPr>
          <p:cNvPr id="6" name="Freeform 6"/>
          <p:cNvSpPr/>
          <p:nvPr/>
        </p:nvSpPr>
        <p:spPr>
          <a:xfrm>
            <a:off x="952500" y="1809750"/>
            <a:ext cx="9906000" cy="4095750"/>
          </a:xfrm>
          <a:custGeom>
            <a:avLst/>
            <a:gdLst/>
            <a:ahLst/>
            <a:cxnLst/>
            <a:rect l="l" t="t" r="r" b="b"/>
            <a:pathLst>
              <a:path w="9906000" h="4095750">
                <a:moveTo>
                  <a:pt x="152400" y="0"/>
                </a:moveTo>
                <a:lnTo>
                  <a:pt x="9753600" y="0"/>
                </a:lnTo>
                <a:cubicBezTo>
                  <a:pt x="9837768" y="0"/>
                  <a:pt x="9906000" y="68232"/>
                  <a:pt x="9906000" y="152400"/>
                </a:cubicBezTo>
                <a:lnTo>
                  <a:pt x="9906000" y="3943350"/>
                </a:lnTo>
                <a:cubicBezTo>
                  <a:pt x="9906000" y="4027518"/>
                  <a:pt x="9837768" y="4095750"/>
                  <a:pt x="9753600" y="4095750"/>
                </a:cubicBezTo>
                <a:lnTo>
                  <a:pt x="152400" y="4095750"/>
                </a:lnTo>
                <a:cubicBezTo>
                  <a:pt x="68232" y="4095750"/>
                  <a:pt x="0" y="4027518"/>
                  <a:pt x="0" y="3943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9DCEC"/>
            </a:solidFill>
          </a:ln>
        </p:spPr>
      </p:sp>
      <p:sp>
        <p:nvSpPr>
          <p:cNvPr id="7" name="Line 7"/>
          <p:cNvSpPr/>
          <p:nvPr/>
        </p:nvSpPr>
        <p:spPr>
          <a:xfrm>
            <a:off x="5905500" y="2095500"/>
            <a:ext cx="9525" cy="3524250"/>
          </a:xfrm>
          <a:custGeom>
            <a:avLst/>
            <a:gdLst/>
            <a:ahLst/>
            <a:cxnLst/>
            <a:rect l="l" t="t" r="r" b="b"/>
            <a:pathLst>
              <a:path w="9525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19050">
            <a:solidFill>
              <a:srgbClr val="A9CCE9"/>
            </a:solidFill>
          </a:ln>
        </p:spPr>
      </p:sp>
      <p:sp>
        <p:nvSpPr>
          <p:cNvPr id="8" name="Line 8"/>
          <p:cNvSpPr/>
          <p:nvPr/>
        </p:nvSpPr>
        <p:spPr>
          <a:xfrm>
            <a:off x="1238250" y="3857625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19050">
            <a:solidFill>
              <a:srgbClr val="A9CCE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781175" y="2281238"/>
            <a:ext cx="25242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高价值 / 快实施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8795" y="2755582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主数据治理、告警去噪、值班看板统一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48425" y="2281238"/>
            <a:ext cx="25242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高价值 / 慢实施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56045" y="2755582"/>
            <a:ext cx="43795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设备机理模型、预测性检修、跨平台联控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1175" y="4233862"/>
            <a:ext cx="25242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低价值 / 快实施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8795" y="4708208"/>
            <a:ext cx="43434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模板报表、标准SOP复用、例行巡检优化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8425" y="4233862"/>
            <a:ext cx="25242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低价值 / 慢实施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6045" y="4708208"/>
            <a:ext cx="38976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零散需求、收益不明确功能后置规划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300" y="41910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实施路线与组织保障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540" y="929640"/>
            <a:ext cx="66705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分季度推进关键交付，确保业务连续性与建设节奏同步</a:t>
            </a:r>
          </a:p>
        </p:txBody>
      </p:sp>
      <p:sp>
        <p:nvSpPr>
          <p:cNvPr id="6" name="Line 6"/>
          <p:cNvSpPr/>
          <p:nvPr/>
        </p:nvSpPr>
        <p:spPr>
          <a:xfrm>
            <a:off x="1143000" y="3429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76200">
            <a:solidFill>
              <a:srgbClr val="7CA4C5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866900" y="3200400"/>
            <a:ext cx="457200" cy="4572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4533900" y="3200400"/>
            <a:ext cx="457200" cy="4572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200900" y="3200400"/>
            <a:ext cx="457200" cy="4572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9867900" y="3200400"/>
            <a:ext cx="457200" cy="457200"/>
          </a:xfrm>
          <a:prstGeom prst="ellipse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333500" y="1809750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524000" h="11430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009650"/>
                </a:lnTo>
                <a:cubicBezTo>
                  <a:pt x="1524000" y="1083297"/>
                  <a:pt x="1464297" y="1143000"/>
                  <a:pt x="1390650" y="1143000"/>
                </a:cubicBezTo>
                <a:lnTo>
                  <a:pt x="133350" y="1143000"/>
                </a:lnTo>
                <a:cubicBezTo>
                  <a:pt x="59703" y="1143000"/>
                  <a:pt x="0" y="1083297"/>
                  <a:pt x="0" y="1009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535430" y="2021205"/>
            <a:ext cx="39148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050" y="24479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资产台账</a:t>
            </a:r>
          </a:p>
        </p:txBody>
      </p:sp>
      <p:sp>
        <p:nvSpPr>
          <p:cNvPr id="14" name="Freeform 14"/>
          <p:cNvSpPr/>
          <p:nvPr/>
        </p:nvSpPr>
        <p:spPr>
          <a:xfrm>
            <a:off x="4000500" y="1809750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524000" h="11430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009650"/>
                </a:lnTo>
                <a:cubicBezTo>
                  <a:pt x="1524000" y="1083297"/>
                  <a:pt x="1464297" y="1143000"/>
                  <a:pt x="1390650" y="1143000"/>
                </a:cubicBezTo>
                <a:lnTo>
                  <a:pt x="133350" y="1143000"/>
                </a:lnTo>
                <a:cubicBezTo>
                  <a:pt x="59703" y="1143000"/>
                  <a:pt x="0" y="1083297"/>
                  <a:pt x="0" y="1009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202430" y="2021205"/>
            <a:ext cx="4719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10050" y="24479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17" name="Freeform 17"/>
          <p:cNvSpPr/>
          <p:nvPr/>
        </p:nvSpPr>
        <p:spPr>
          <a:xfrm>
            <a:off x="6667500" y="1809750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524000" h="11430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009650"/>
                </a:lnTo>
                <a:cubicBezTo>
                  <a:pt x="1524000" y="1083297"/>
                  <a:pt x="1464297" y="1143000"/>
                  <a:pt x="1390650" y="1143000"/>
                </a:cubicBezTo>
                <a:lnTo>
                  <a:pt x="133350" y="1143000"/>
                </a:lnTo>
                <a:cubicBezTo>
                  <a:pt x="59703" y="1143000"/>
                  <a:pt x="0" y="1083297"/>
                  <a:pt x="0" y="1009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D"/>
          </a:solidFill>
          <a:ln w="9525">
            <a:solidFill>
              <a:srgbClr val="A9CCE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869430" y="2021205"/>
            <a:ext cx="4719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77050" y="24479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联动闭环</a:t>
            </a:r>
          </a:p>
        </p:txBody>
      </p:sp>
      <p:sp>
        <p:nvSpPr>
          <p:cNvPr id="20" name="Freeform 20"/>
          <p:cNvSpPr/>
          <p:nvPr/>
        </p:nvSpPr>
        <p:spPr>
          <a:xfrm>
            <a:off x="9334500" y="1809750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524000" h="1143000">
                <a:moveTo>
                  <a:pt x="133350" y="0"/>
                </a:moveTo>
                <a:lnTo>
                  <a:pt x="1390650" y="0"/>
                </a:lnTo>
                <a:cubicBezTo>
                  <a:pt x="1464297" y="0"/>
                  <a:pt x="1524000" y="59703"/>
                  <a:pt x="1524000" y="133350"/>
                </a:cubicBezTo>
                <a:lnTo>
                  <a:pt x="1524000" y="1009650"/>
                </a:lnTo>
                <a:cubicBezTo>
                  <a:pt x="1524000" y="1083297"/>
                  <a:pt x="1464297" y="1143000"/>
                  <a:pt x="1390650" y="1143000"/>
                </a:cubicBezTo>
                <a:lnTo>
                  <a:pt x="133350" y="1143000"/>
                </a:lnTo>
                <a:cubicBezTo>
                  <a:pt x="59703" y="1143000"/>
                  <a:pt x="0" y="1083297"/>
                  <a:pt x="0" y="1009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ECEF"/>
          </a:solidFill>
          <a:ln w="9525">
            <a:solidFill>
              <a:srgbClr val="F4B6C2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536430" y="2021205"/>
            <a:ext cx="4719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7D1E31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44050" y="24479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7D1E31"/>
                </a:solidFill>
                <a:latin typeface="Microsoft YaHei"/>
                <a:ea typeface="Microsoft YaHei"/>
                <a:cs typeface="Microsoft YaHei"/>
              </a:rPr>
              <a:t>规模推广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0140" y="4282440"/>
            <a:ext cx="89839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里程碑交付：标准数据域、事件体系、指标看板、运营机制四件套同步落地。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0140" y="4720590"/>
            <a:ext cx="95886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组织保障：平台团队 + 工艺专家 + 现场骨干联合例会，周跟踪、月复盘、季审计。</a:t>
            </a:r>
          </a:p>
        </p:txBody>
      </p:sp>
      <p:sp>
        <p:nvSpPr>
          <p:cNvPr id="25" name="Freeform 25"/>
          <p:cNvSpPr/>
          <p:nvPr/>
        </p:nvSpPr>
        <p:spPr>
          <a:xfrm>
            <a:off x="857250" y="1771650"/>
            <a:ext cx="3333750" cy="4000500"/>
          </a:xfrm>
          <a:custGeom>
            <a:avLst/>
            <a:gdLst/>
            <a:ahLst/>
            <a:cxnLst/>
            <a:rect l="l" t="t" r="r" b="b"/>
            <a:pathLst>
              <a:path w="3333750" h="4000500">
                <a:moveTo>
                  <a:pt x="171450" y="0"/>
                </a:moveTo>
                <a:lnTo>
                  <a:pt x="3162300" y="0"/>
                </a:lnTo>
                <a:cubicBezTo>
                  <a:pt x="3256989" y="0"/>
                  <a:pt x="3333750" y="76761"/>
                  <a:pt x="3333750" y="171450"/>
                </a:cubicBezTo>
                <a:lnTo>
                  <a:pt x="3333750" y="3829050"/>
                </a:lnTo>
                <a:cubicBezTo>
                  <a:pt x="3333750" y="3923739"/>
                  <a:pt x="3256989" y="4000500"/>
                  <a:pt x="3162300" y="4000500"/>
                </a:cubicBezTo>
                <a:lnTo>
                  <a:pt x="171450" y="4000500"/>
                </a:lnTo>
                <a:cubicBezTo>
                  <a:pt x="76761" y="4000500"/>
                  <a:pt x="0" y="3923739"/>
                  <a:pt x="0" y="3829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9DCEC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4438650" y="1771650"/>
            <a:ext cx="3333750" cy="4000500"/>
          </a:xfrm>
          <a:custGeom>
            <a:avLst/>
            <a:gdLst/>
            <a:ahLst/>
            <a:cxnLst/>
            <a:rect l="l" t="t" r="r" b="b"/>
            <a:pathLst>
              <a:path w="3333750" h="4000500">
                <a:moveTo>
                  <a:pt x="171450" y="0"/>
                </a:moveTo>
                <a:lnTo>
                  <a:pt x="3162300" y="0"/>
                </a:lnTo>
                <a:cubicBezTo>
                  <a:pt x="3256989" y="0"/>
                  <a:pt x="3333750" y="76761"/>
                  <a:pt x="3333750" y="171450"/>
                </a:cubicBezTo>
                <a:lnTo>
                  <a:pt x="3333750" y="3829050"/>
                </a:lnTo>
                <a:cubicBezTo>
                  <a:pt x="3333750" y="3923739"/>
                  <a:pt x="3256989" y="4000500"/>
                  <a:pt x="3162300" y="4000500"/>
                </a:cubicBezTo>
                <a:lnTo>
                  <a:pt x="171450" y="4000500"/>
                </a:lnTo>
                <a:cubicBezTo>
                  <a:pt x="76761" y="4000500"/>
                  <a:pt x="0" y="3923739"/>
                  <a:pt x="0" y="3829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9DCEC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8020050" y="1771650"/>
            <a:ext cx="3333750" cy="4000500"/>
          </a:xfrm>
          <a:custGeom>
            <a:avLst/>
            <a:gdLst/>
            <a:ahLst/>
            <a:cxnLst/>
            <a:rect l="l" t="t" r="r" b="b"/>
            <a:pathLst>
              <a:path w="3333750" h="4000500">
                <a:moveTo>
                  <a:pt x="171450" y="0"/>
                </a:moveTo>
                <a:lnTo>
                  <a:pt x="3162300" y="0"/>
                </a:lnTo>
                <a:cubicBezTo>
                  <a:pt x="3256989" y="0"/>
                  <a:pt x="3333750" y="76761"/>
                  <a:pt x="3333750" y="171450"/>
                </a:cubicBezTo>
                <a:lnTo>
                  <a:pt x="3333750" y="3829050"/>
                </a:lnTo>
                <a:cubicBezTo>
                  <a:pt x="3333750" y="3923739"/>
                  <a:pt x="3256989" y="4000500"/>
                  <a:pt x="3162300" y="4000500"/>
                </a:cubicBezTo>
                <a:lnTo>
                  <a:pt x="171450" y="4000500"/>
                </a:lnTo>
                <a:cubicBezTo>
                  <a:pt x="76761" y="4000500"/>
                  <a:pt x="0" y="3923739"/>
                  <a:pt x="0" y="3829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9DCE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71575" y="20050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组织治理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9195" y="2565082"/>
            <a:ext cx="24878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1) 设立联合治理委员会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9195" y="2965132"/>
            <a:ext cx="25481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2) 明确指标口径与归口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9195" y="3365182"/>
            <a:ext cx="25481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3) 固化考核与复盘机制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52975" y="20050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技术治理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60595" y="2565082"/>
            <a:ext cx="24878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1) 数据质量门禁与审计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60595" y="2965132"/>
            <a:ext cx="25481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2) 模型版本管理与回滚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60595" y="3365182"/>
            <a:ext cx="23071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3) 变更发布分级审批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4375" y="20050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运营治理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41995" y="2565082"/>
            <a:ext cx="2246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1) 周报月报自动生成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41995" y="2965132"/>
            <a:ext cx="25481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2) 重大风险红黄灯管理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41995" y="3365182"/>
            <a:ext cx="25481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3) 跨区域经验复制推广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
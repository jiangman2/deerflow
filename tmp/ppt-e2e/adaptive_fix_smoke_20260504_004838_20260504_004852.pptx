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封面页：说明主题“Adaptive Fix Smoke”与汇报范围。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目录页：按三大章节展开汇报。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章节页：01 建设背景与目标。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内容页：现状痛点与建设必要性（布局=process，图表=sankey_chart.svg，图标=tabler-filled/database,tabler-filled/sparkles,tabler-filled/clock,tabler-filled/accessible），突出关键指标与执行建议。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内容页：目标体系与价值锚点（布局=milestone_dashboard，图表=dual_axis_line_chart.svg，图标=tabler-filled/bolt,tabler-filled/briefcase,tabler-filled/coin,tabler-filled/clock），突出关键指标与执行建议。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章节页：02 平台架构与关键能力。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内容页：总体架构与执行流程（布局=process，图表=process_flow.svg，图标=tabler-filled/database,tabler-filled/flower,tabler-filled/sparkles,tabler-filled/clock），突出关键指标与执行建议。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内容页：能力矩阵与场景覆盖（布局=matrix，图表=swot_analysis.svg，图标=tabler-filled/coin,tabler-filled/clock,tabler-filled/accessible,tabler-filled/ad），突出关键指标与执行建议。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章节页：03 试点成效与推广计划。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内容页：试点成效与推广路径（布局=atlas_triplet，图表=grouped_bar_chart.svg，图标=tabler-filled/bolt,tabler-filled/briefcase,tabler-filled/clock,tabler-filled/accessible），突出关键指标与执行建议。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内容页：补充分析页 1，用于扩展页数并补强经营视角。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结尾页：总结结论并给出下一步行动建议。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2_img1.png"/>
  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6820357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Adaptive Fix Smoke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1099717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基于 haiyou_pure_svg 模板的生产经营智能化实践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69580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汇报单位：中海油研究总院数智研究院技术团队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35075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汇报日期：2026-05-04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461524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试点成效与推广计划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799398" y="4095750"/>
            <a:ext cx="659320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现状痛点与建设必要性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35375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数据湖建设与智能体应用...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4953000" cy="4457700"/>
          </a:xfrm>
          <a:custGeom>
            <a:avLst/>
            <a:gdLst/>
            <a:ahLst/>
            <a:cxnLst/>
            <a:rect l="l" t="t" r="r" b="b"/>
            <a:pathLst>
              <a:path w="4953000" h="445770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4343400"/>
                </a:lnTo>
                <a:cubicBezTo>
                  <a:pt x="4953000" y="4406526"/>
                  <a:pt x="4901826" y="4457700"/>
                  <a:pt x="483870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1981200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09600"/>
                </a:lnTo>
                <a:cubicBezTo>
                  <a:pt x="4953000" y="651684"/>
                  <a:pt x="4918884" y="685800"/>
                  <a:pt x="4876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90574" y="2114550"/>
            <a:ext cx="171451" cy="190500"/>
            <a:chOff x="790574" y="2114550"/>
            <a:chExt cx="171451" cy="190500"/>
          </a:xfrm>
        </p:grpSpPr>
        <p:sp>
          <p:nvSpPr>
            <p:cNvPr id="9" name="Freeform 9"/>
            <p:cNvSpPr/>
            <p:nvPr/>
          </p:nvSpPr>
          <p:spPr>
            <a:xfrm>
              <a:off x="790575" y="2245338"/>
              <a:ext cx="171450" cy="59712"/>
            </a:xfrm>
            <a:custGeom>
              <a:avLst/>
              <a:gdLst/>
              <a:ahLst/>
              <a:cxnLst/>
              <a:rect l="l" t="t" r="r" b="b"/>
              <a:pathLst>
                <a:path w="171450" h="59712">
                  <a:moveTo>
                    <a:pt x="0" y="0"/>
                  </a:moveTo>
                  <a:cubicBezTo>
                    <a:pt x="18745" y="14354"/>
                    <a:pt x="49854" y="21612"/>
                    <a:pt x="85725" y="21612"/>
                  </a:cubicBezTo>
                  <a:cubicBezTo>
                    <a:pt x="121539" y="21612"/>
                    <a:pt x="152638" y="14373"/>
                    <a:pt x="171450" y="162"/>
                  </a:cubicBezTo>
                  <a:lnTo>
                    <a:pt x="171450" y="21612"/>
                  </a:lnTo>
                  <a:cubicBezTo>
                    <a:pt x="171450" y="44710"/>
                    <a:pt x="134350" y="59103"/>
                    <a:pt x="88649" y="59693"/>
                  </a:cubicBezTo>
                  <a:lnTo>
                    <a:pt x="85725" y="59712"/>
                  </a:lnTo>
                  <a:cubicBezTo>
                    <a:pt x="38691" y="59712"/>
                    <a:pt x="0" y="45206"/>
                    <a:pt x="0" y="21612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90575" y="2188188"/>
              <a:ext cx="171450" cy="59712"/>
            </a:xfrm>
            <a:custGeom>
              <a:avLst/>
              <a:gdLst/>
              <a:ahLst/>
              <a:cxnLst/>
              <a:rect l="l" t="t" r="r" b="b"/>
              <a:pathLst>
                <a:path w="171450" h="59712">
                  <a:moveTo>
                    <a:pt x="0" y="0"/>
                  </a:moveTo>
                  <a:cubicBezTo>
                    <a:pt x="18745" y="14354"/>
                    <a:pt x="49854" y="21612"/>
                    <a:pt x="85725" y="21612"/>
                  </a:cubicBezTo>
                  <a:cubicBezTo>
                    <a:pt x="121539" y="21612"/>
                    <a:pt x="152638" y="14373"/>
                    <a:pt x="171450" y="162"/>
                  </a:cubicBezTo>
                  <a:lnTo>
                    <a:pt x="171450" y="21612"/>
                  </a:lnTo>
                  <a:cubicBezTo>
                    <a:pt x="171450" y="45206"/>
                    <a:pt x="132759" y="59712"/>
                    <a:pt x="85725" y="59712"/>
                  </a:cubicBezTo>
                  <a:cubicBezTo>
                    <a:pt x="40024" y="59712"/>
                    <a:pt x="2191" y="46015"/>
                    <a:pt x="200" y="23565"/>
                  </a:cubicBezTo>
                  <a:lnTo>
                    <a:pt x="48" y="22603"/>
                  </a:lnTo>
                  <a:lnTo>
                    <a:pt x="0" y="21612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90574" y="2114550"/>
              <a:ext cx="171451" cy="76200"/>
            </a:xfrm>
            <a:custGeom>
              <a:avLst/>
              <a:gdLst/>
              <a:ahLst/>
              <a:cxnLst/>
              <a:rect l="l" t="t" r="r" b="b"/>
              <a:pathLst>
                <a:path w="171451" h="76200">
                  <a:moveTo>
                    <a:pt x="85726" y="0"/>
                  </a:moveTo>
                  <a:cubicBezTo>
                    <a:pt x="95641" y="0"/>
                    <a:pt x="105195" y="648"/>
                    <a:pt x="114082" y="1886"/>
                  </a:cubicBezTo>
                  <a:lnTo>
                    <a:pt x="118549" y="2562"/>
                  </a:lnTo>
                  <a:cubicBezTo>
                    <a:pt x="123883" y="3451"/>
                    <a:pt x="128918" y="4556"/>
                    <a:pt x="133656" y="5877"/>
                  </a:cubicBezTo>
                  <a:lnTo>
                    <a:pt x="137847" y="7125"/>
                  </a:lnTo>
                  <a:lnTo>
                    <a:pt x="138561" y="7353"/>
                  </a:lnTo>
                  <a:cubicBezTo>
                    <a:pt x="141153" y="8206"/>
                    <a:pt x="143711" y="9159"/>
                    <a:pt x="146229" y="10211"/>
                  </a:cubicBezTo>
                  <a:lnTo>
                    <a:pt x="148124" y="11030"/>
                  </a:lnTo>
                  <a:cubicBezTo>
                    <a:pt x="151521" y="12567"/>
                    <a:pt x="154591" y="14249"/>
                    <a:pt x="157335" y="16078"/>
                  </a:cubicBezTo>
                  <a:cubicBezTo>
                    <a:pt x="158382" y="16777"/>
                    <a:pt x="159376" y="17491"/>
                    <a:pt x="160316" y="18221"/>
                  </a:cubicBezTo>
                  <a:cubicBezTo>
                    <a:pt x="162697" y="20069"/>
                    <a:pt x="164837" y="22206"/>
                    <a:pt x="166688" y="24584"/>
                  </a:cubicBezTo>
                  <a:lnTo>
                    <a:pt x="167555" y="25803"/>
                  </a:lnTo>
                  <a:cubicBezTo>
                    <a:pt x="168000" y="26470"/>
                    <a:pt x="168409" y="27140"/>
                    <a:pt x="168784" y="27813"/>
                  </a:cubicBezTo>
                  <a:lnTo>
                    <a:pt x="169450" y="29137"/>
                  </a:lnTo>
                  <a:cubicBezTo>
                    <a:pt x="170486" y="31359"/>
                    <a:pt x="171121" y="33677"/>
                    <a:pt x="171355" y="36090"/>
                  </a:cubicBezTo>
                  <a:lnTo>
                    <a:pt x="171451" y="38100"/>
                  </a:lnTo>
                  <a:cubicBezTo>
                    <a:pt x="171451" y="61693"/>
                    <a:pt x="132760" y="76200"/>
                    <a:pt x="85726" y="76200"/>
                  </a:cubicBezTo>
                  <a:cubicBezTo>
                    <a:pt x="40025" y="76200"/>
                    <a:pt x="2191" y="62503"/>
                    <a:pt x="201" y="40053"/>
                  </a:cubicBezTo>
                  <a:cubicBezTo>
                    <a:pt x="67" y="39410"/>
                    <a:pt x="0" y="38756"/>
                    <a:pt x="1" y="38100"/>
                  </a:cubicBezTo>
                  <a:lnTo>
                    <a:pt x="48" y="37109"/>
                  </a:lnTo>
                  <a:lnTo>
                    <a:pt x="201" y="36157"/>
                  </a:lnTo>
                  <a:cubicBezTo>
                    <a:pt x="2153" y="14192"/>
                    <a:pt x="38396" y="600"/>
                    <a:pt x="82754" y="19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064895" y="2107882"/>
            <a:ext cx="34156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数据分散在多系统，查询链路长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" y="2819400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09600"/>
                </a:lnTo>
                <a:cubicBezTo>
                  <a:pt x="4953000" y="651684"/>
                  <a:pt x="4918884" y="685800"/>
                  <a:pt x="4876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777878" y="2959103"/>
            <a:ext cx="187319" cy="177794"/>
            <a:chOff x="777878" y="2959103"/>
            <a:chExt cx="187319" cy="177794"/>
          </a:xfrm>
        </p:grpSpPr>
        <p:sp>
          <p:nvSpPr>
            <p:cNvPr id="15" name="Freeform 15"/>
            <p:cNvSpPr/>
            <p:nvPr/>
          </p:nvSpPr>
          <p:spPr>
            <a:xfrm>
              <a:off x="904875" y="3073403"/>
              <a:ext cx="60322" cy="63494"/>
            </a:xfrm>
            <a:custGeom>
              <a:avLst/>
              <a:gdLst/>
              <a:ahLst/>
              <a:cxnLst/>
              <a:rect l="l" t="t" r="r" b="b"/>
              <a:pathLst>
                <a:path w="60322" h="63494">
                  <a:moveTo>
                    <a:pt x="9525" y="41272"/>
                  </a:moveTo>
                  <a:cubicBezTo>
                    <a:pt x="4264" y="41272"/>
                    <a:pt x="0" y="37007"/>
                    <a:pt x="0" y="31747"/>
                  </a:cubicBezTo>
                  <a:cubicBezTo>
                    <a:pt x="0" y="26486"/>
                    <a:pt x="4264" y="22222"/>
                    <a:pt x="9525" y="22222"/>
                  </a:cubicBezTo>
                  <a:cubicBezTo>
                    <a:pt x="14786" y="22222"/>
                    <a:pt x="19050" y="17957"/>
                    <a:pt x="19050" y="12697"/>
                  </a:cubicBezTo>
                  <a:cubicBezTo>
                    <a:pt x="19050" y="0"/>
                    <a:pt x="38100" y="0"/>
                    <a:pt x="38100" y="12697"/>
                  </a:cubicBezTo>
                  <a:cubicBezTo>
                    <a:pt x="38100" y="17957"/>
                    <a:pt x="42364" y="22222"/>
                    <a:pt x="47625" y="22222"/>
                  </a:cubicBezTo>
                  <a:cubicBezTo>
                    <a:pt x="60322" y="22222"/>
                    <a:pt x="60322" y="41272"/>
                    <a:pt x="47625" y="41272"/>
                  </a:cubicBezTo>
                  <a:cubicBezTo>
                    <a:pt x="42364" y="41272"/>
                    <a:pt x="38100" y="45536"/>
                    <a:pt x="38100" y="50797"/>
                  </a:cubicBezTo>
                  <a:cubicBezTo>
                    <a:pt x="38100" y="63494"/>
                    <a:pt x="19050" y="63494"/>
                    <a:pt x="19050" y="50797"/>
                  </a:cubicBezTo>
                  <a:cubicBezTo>
                    <a:pt x="19050" y="45536"/>
                    <a:pt x="14786" y="41272"/>
                    <a:pt x="9525" y="4127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7878" y="2978153"/>
              <a:ext cx="139694" cy="136522"/>
            </a:xfrm>
            <a:custGeom>
              <a:avLst/>
              <a:gdLst/>
              <a:ahLst/>
              <a:cxnLst/>
              <a:rect l="l" t="t" r="r" b="b"/>
              <a:pathLst>
                <a:path w="139694" h="136522">
                  <a:moveTo>
                    <a:pt x="12697" y="60322"/>
                  </a:moveTo>
                  <a:cubicBezTo>
                    <a:pt x="38999" y="60322"/>
                    <a:pt x="60322" y="38999"/>
                    <a:pt x="60322" y="12697"/>
                  </a:cubicBezTo>
                  <a:cubicBezTo>
                    <a:pt x="60322" y="0"/>
                    <a:pt x="79372" y="0"/>
                    <a:pt x="79372" y="12697"/>
                  </a:cubicBezTo>
                  <a:cubicBezTo>
                    <a:pt x="79372" y="38999"/>
                    <a:pt x="100694" y="60322"/>
                    <a:pt x="126997" y="60322"/>
                  </a:cubicBezTo>
                  <a:cubicBezTo>
                    <a:pt x="139694" y="60322"/>
                    <a:pt x="139694" y="79372"/>
                    <a:pt x="126997" y="79372"/>
                  </a:cubicBezTo>
                  <a:cubicBezTo>
                    <a:pt x="100694" y="79372"/>
                    <a:pt x="79372" y="100694"/>
                    <a:pt x="79372" y="126997"/>
                  </a:cubicBezTo>
                  <a:cubicBezTo>
                    <a:pt x="79372" y="132257"/>
                    <a:pt x="75107" y="136522"/>
                    <a:pt x="69847" y="136522"/>
                  </a:cubicBezTo>
                  <a:cubicBezTo>
                    <a:pt x="64586" y="136522"/>
                    <a:pt x="60322" y="132257"/>
                    <a:pt x="60322" y="126997"/>
                  </a:cubicBezTo>
                  <a:cubicBezTo>
                    <a:pt x="60322" y="100694"/>
                    <a:pt x="38999" y="79372"/>
                    <a:pt x="12697" y="79372"/>
                  </a:cubicBezTo>
                  <a:cubicBezTo>
                    <a:pt x="0" y="79372"/>
                    <a:pt x="0" y="60322"/>
                    <a:pt x="12697" y="6032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04875" y="2959103"/>
              <a:ext cx="60322" cy="63494"/>
            </a:xfrm>
            <a:custGeom>
              <a:avLst/>
              <a:gdLst/>
              <a:ahLst/>
              <a:cxnLst/>
              <a:rect l="l" t="t" r="r" b="b"/>
              <a:pathLst>
                <a:path w="60322" h="63494">
                  <a:moveTo>
                    <a:pt x="9525" y="41272"/>
                  </a:moveTo>
                  <a:cubicBezTo>
                    <a:pt x="4264" y="41272"/>
                    <a:pt x="0" y="37007"/>
                    <a:pt x="0" y="31747"/>
                  </a:cubicBezTo>
                  <a:cubicBezTo>
                    <a:pt x="0" y="26486"/>
                    <a:pt x="4264" y="22222"/>
                    <a:pt x="9525" y="22222"/>
                  </a:cubicBezTo>
                  <a:cubicBezTo>
                    <a:pt x="14786" y="22222"/>
                    <a:pt x="19050" y="17957"/>
                    <a:pt x="19050" y="12697"/>
                  </a:cubicBezTo>
                  <a:cubicBezTo>
                    <a:pt x="19050" y="0"/>
                    <a:pt x="38100" y="0"/>
                    <a:pt x="38100" y="12697"/>
                  </a:cubicBezTo>
                  <a:cubicBezTo>
                    <a:pt x="38100" y="17957"/>
                    <a:pt x="42364" y="22222"/>
                    <a:pt x="47625" y="22222"/>
                  </a:cubicBezTo>
                  <a:cubicBezTo>
                    <a:pt x="60322" y="22222"/>
                    <a:pt x="60322" y="41272"/>
                    <a:pt x="47625" y="41272"/>
                  </a:cubicBezTo>
                  <a:cubicBezTo>
                    <a:pt x="42364" y="41272"/>
                    <a:pt x="38100" y="45536"/>
                    <a:pt x="38100" y="50797"/>
                  </a:cubicBezTo>
                  <a:cubicBezTo>
                    <a:pt x="38100" y="63494"/>
                    <a:pt x="19050" y="63494"/>
                    <a:pt x="19050" y="50797"/>
                  </a:cubicBezTo>
                  <a:cubicBezTo>
                    <a:pt x="19050" y="45536"/>
                    <a:pt x="14786" y="41272"/>
                    <a:pt x="9525" y="4127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064895" y="2946082"/>
            <a:ext cx="34156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跨部门分析靠人工拼接，时效低</a:t>
            </a:r>
          </a:p>
        </p:txBody>
      </p:sp>
      <p:sp>
        <p:nvSpPr>
          <p:cNvPr id="20" name="Freeform 20"/>
          <p:cNvSpPr/>
          <p:nvPr/>
        </p:nvSpPr>
        <p:spPr>
          <a:xfrm>
            <a:off x="666750" y="3657600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09600"/>
                </a:lnTo>
                <a:cubicBezTo>
                  <a:pt x="4953000" y="651684"/>
                  <a:pt x="4918884" y="685800"/>
                  <a:pt x="4876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781050" y="3786683"/>
            <a:ext cx="200311" cy="200639"/>
          </a:xfrm>
          <a:custGeom>
            <a:avLst/>
            <a:gdLst/>
            <a:ahLst/>
            <a:cxnLst/>
            <a:rect l="l" t="t" r="r" b="b"/>
            <a:pathLst>
              <a:path w="200311" h="200639">
                <a:moveTo>
                  <a:pt x="142875" y="17030"/>
                </a:moveTo>
                <a:cubicBezTo>
                  <a:pt x="182569" y="39949"/>
                  <a:pt x="200311" y="87890"/>
                  <a:pt x="185099" y="131128"/>
                </a:cubicBezTo>
                <a:cubicBezTo>
                  <a:pt x="169888" y="174367"/>
                  <a:pt x="126037" y="200639"/>
                  <a:pt x="80736" y="193656"/>
                </a:cubicBezTo>
                <a:cubicBezTo>
                  <a:pt x="35435" y="186673"/>
                  <a:pt x="1532" y="148415"/>
                  <a:pt x="48" y="102603"/>
                </a:cubicBezTo>
                <a:lnTo>
                  <a:pt x="0" y="99517"/>
                </a:lnTo>
                <a:lnTo>
                  <a:pt x="48" y="96431"/>
                </a:lnTo>
                <a:cubicBezTo>
                  <a:pt x="1133" y="62969"/>
                  <a:pt x="19706" y="32534"/>
                  <a:pt x="48967" y="16267"/>
                </a:cubicBezTo>
                <a:cubicBezTo>
                  <a:pt x="78228" y="0"/>
                  <a:pt x="113882" y="290"/>
                  <a:pt x="142875" y="17030"/>
                </a:cubicBezTo>
                <a:close/>
                <a:moveTo>
                  <a:pt x="95250" y="42367"/>
                </a:moveTo>
                <a:cubicBezTo>
                  <a:pt x="90421" y="42367"/>
                  <a:pt x="86357" y="45981"/>
                  <a:pt x="85792" y="50777"/>
                </a:cubicBezTo>
                <a:lnTo>
                  <a:pt x="85725" y="51892"/>
                </a:lnTo>
                <a:lnTo>
                  <a:pt x="85725" y="99517"/>
                </a:lnTo>
                <a:lnTo>
                  <a:pt x="85811" y="100764"/>
                </a:lnTo>
                <a:cubicBezTo>
                  <a:pt x="86028" y="102417"/>
                  <a:pt x="86675" y="103984"/>
                  <a:pt x="87687" y="105308"/>
                </a:cubicBezTo>
                <a:lnTo>
                  <a:pt x="88516" y="106260"/>
                </a:lnTo>
                <a:lnTo>
                  <a:pt x="117091" y="134835"/>
                </a:lnTo>
                <a:lnTo>
                  <a:pt x="117986" y="135616"/>
                </a:lnTo>
                <a:cubicBezTo>
                  <a:pt x="121422" y="138282"/>
                  <a:pt x="126228" y="138282"/>
                  <a:pt x="129664" y="135616"/>
                </a:cubicBezTo>
                <a:lnTo>
                  <a:pt x="130559" y="134826"/>
                </a:lnTo>
                <a:lnTo>
                  <a:pt x="131350" y="133930"/>
                </a:lnTo>
                <a:cubicBezTo>
                  <a:pt x="134016" y="130494"/>
                  <a:pt x="134016" y="125689"/>
                  <a:pt x="131350" y="122253"/>
                </a:cubicBezTo>
                <a:lnTo>
                  <a:pt x="130559" y="121357"/>
                </a:lnTo>
                <a:lnTo>
                  <a:pt x="104775" y="95564"/>
                </a:lnTo>
                <a:lnTo>
                  <a:pt x="104775" y="51892"/>
                </a:lnTo>
                <a:lnTo>
                  <a:pt x="104708" y="50777"/>
                </a:lnTo>
                <a:cubicBezTo>
                  <a:pt x="104143" y="45981"/>
                  <a:pt x="100079" y="42367"/>
                  <a:pt x="95250" y="42367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64895" y="3784282"/>
            <a:ext cx="31746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成果复用不足，重复劳动较多</a:t>
            </a:r>
          </a:p>
        </p:txBody>
      </p:sp>
      <p:sp>
        <p:nvSpPr>
          <p:cNvPr id="23" name="Freeform 23"/>
          <p:cNvSpPr/>
          <p:nvPr/>
        </p:nvSpPr>
        <p:spPr>
          <a:xfrm>
            <a:off x="5619750" y="1752600"/>
            <a:ext cx="6038850" cy="4457700"/>
          </a:xfrm>
          <a:custGeom>
            <a:avLst/>
            <a:gdLst/>
            <a:ahLst/>
            <a:cxnLst/>
            <a:rect l="l" t="t" r="r" b="b"/>
            <a:pathLst>
              <a:path w="6038850" h="4457700">
                <a:moveTo>
                  <a:pt x="114300" y="0"/>
                </a:moveTo>
                <a:lnTo>
                  <a:pt x="5924550" y="0"/>
                </a:lnTo>
                <a:cubicBezTo>
                  <a:pt x="5987676" y="0"/>
                  <a:pt x="6038850" y="51174"/>
                  <a:pt x="6038850" y="114300"/>
                </a:cubicBezTo>
                <a:lnTo>
                  <a:pt x="6038850" y="4343400"/>
                </a:lnTo>
                <a:cubicBezTo>
                  <a:pt x="6038850" y="4406526"/>
                  <a:pt x="5987676" y="4457700"/>
                  <a:pt x="592455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1035" y="5656898"/>
            <a:ext cx="392277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语义匹配图表：sankey_chart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目标体系与价值锚点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9982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围绕降本、提质、增效、控险建立四维目标体系，确保建设投入可衡量、可评估。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11125200" cy="1238250"/>
          </a:xfrm>
          <a:custGeom>
            <a:avLst/>
            <a:gdLst/>
            <a:ahLst/>
            <a:cxnLst/>
            <a:rect l="l" t="t" r="r" b="b"/>
            <a:pathLst>
              <a:path w="11125200" h="12382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123950"/>
                </a:lnTo>
                <a:cubicBezTo>
                  <a:pt x="11125200" y="1187076"/>
                  <a:pt x="11074026" y="1238250"/>
                  <a:pt x="110109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7847" y="2060575"/>
            <a:ext cx="178806" cy="226373"/>
          </a:xfrm>
          <a:custGeom>
            <a:avLst/>
            <a:gdLst/>
            <a:ahLst/>
            <a:cxnLst/>
            <a:rect l="l" t="t" r="r" b="b"/>
            <a:pathLst>
              <a:path w="178806" h="226373">
                <a:moveTo>
                  <a:pt x="100516" y="0"/>
                </a:moveTo>
                <a:lnTo>
                  <a:pt x="100716" y="11"/>
                </a:lnTo>
                <a:lnTo>
                  <a:pt x="100893" y="22"/>
                </a:lnTo>
                <a:lnTo>
                  <a:pt x="101816" y="78"/>
                </a:lnTo>
                <a:lnTo>
                  <a:pt x="101938" y="100"/>
                </a:lnTo>
                <a:lnTo>
                  <a:pt x="102060" y="100"/>
                </a:lnTo>
                <a:lnTo>
                  <a:pt x="102483" y="200"/>
                </a:lnTo>
                <a:lnTo>
                  <a:pt x="103060" y="289"/>
                </a:lnTo>
                <a:lnTo>
                  <a:pt x="103238" y="356"/>
                </a:lnTo>
                <a:lnTo>
                  <a:pt x="103360" y="367"/>
                </a:lnTo>
                <a:lnTo>
                  <a:pt x="103683" y="489"/>
                </a:lnTo>
                <a:lnTo>
                  <a:pt x="104261" y="645"/>
                </a:lnTo>
                <a:lnTo>
                  <a:pt x="104472" y="745"/>
                </a:lnTo>
                <a:lnTo>
                  <a:pt x="104638" y="789"/>
                </a:lnTo>
                <a:lnTo>
                  <a:pt x="104950" y="945"/>
                </a:lnTo>
                <a:lnTo>
                  <a:pt x="105394" y="1133"/>
                </a:lnTo>
                <a:lnTo>
                  <a:pt x="105627" y="1267"/>
                </a:lnTo>
                <a:lnTo>
                  <a:pt x="105872" y="1378"/>
                </a:lnTo>
                <a:lnTo>
                  <a:pt x="106127" y="1545"/>
                </a:lnTo>
                <a:lnTo>
                  <a:pt x="106472" y="1734"/>
                </a:lnTo>
                <a:lnTo>
                  <a:pt x="106850" y="2000"/>
                </a:lnTo>
                <a:lnTo>
                  <a:pt x="107050" y="2122"/>
                </a:lnTo>
                <a:lnTo>
                  <a:pt x="107194" y="2256"/>
                </a:lnTo>
                <a:lnTo>
                  <a:pt x="107461" y="2445"/>
                </a:lnTo>
                <a:lnTo>
                  <a:pt x="107883" y="2823"/>
                </a:lnTo>
                <a:lnTo>
                  <a:pt x="108128" y="3011"/>
                </a:lnTo>
                <a:lnTo>
                  <a:pt x="108217" y="3123"/>
                </a:lnTo>
                <a:lnTo>
                  <a:pt x="108372" y="3256"/>
                </a:lnTo>
                <a:lnTo>
                  <a:pt x="108772" y="3712"/>
                </a:lnTo>
                <a:lnTo>
                  <a:pt x="109061" y="4012"/>
                </a:lnTo>
                <a:lnTo>
                  <a:pt x="109128" y="4112"/>
                </a:lnTo>
                <a:cubicBezTo>
                  <a:pt x="110461" y="5745"/>
                  <a:pt x="111306" y="7690"/>
                  <a:pt x="111550" y="9812"/>
                </a:cubicBezTo>
                <a:lnTo>
                  <a:pt x="111561" y="9946"/>
                </a:lnTo>
                <a:lnTo>
                  <a:pt x="111584" y="10401"/>
                </a:lnTo>
                <a:lnTo>
                  <a:pt x="111628" y="11112"/>
                </a:lnTo>
                <a:lnTo>
                  <a:pt x="111628" y="77787"/>
                </a:lnTo>
                <a:lnTo>
                  <a:pt x="167191" y="77787"/>
                </a:lnTo>
                <a:cubicBezTo>
                  <a:pt x="171154" y="77787"/>
                  <a:pt x="174819" y="79897"/>
                  <a:pt x="176807" y="83326"/>
                </a:cubicBezTo>
                <a:cubicBezTo>
                  <a:pt x="178795" y="86755"/>
                  <a:pt x="178806" y="90983"/>
                  <a:pt x="176836" y="94423"/>
                </a:cubicBezTo>
                <a:lnTo>
                  <a:pt x="176170" y="95434"/>
                </a:lnTo>
                <a:lnTo>
                  <a:pt x="87270" y="217672"/>
                </a:lnTo>
                <a:cubicBezTo>
                  <a:pt x="80958" y="226373"/>
                  <a:pt x="67178" y="221894"/>
                  <a:pt x="67178" y="211137"/>
                </a:cubicBezTo>
                <a:lnTo>
                  <a:pt x="67178" y="144462"/>
                </a:lnTo>
                <a:lnTo>
                  <a:pt x="11616" y="144462"/>
                </a:lnTo>
                <a:cubicBezTo>
                  <a:pt x="7652" y="144463"/>
                  <a:pt x="3988" y="142353"/>
                  <a:pt x="1999" y="138924"/>
                </a:cubicBezTo>
                <a:cubicBezTo>
                  <a:pt x="11" y="135495"/>
                  <a:pt x="0" y="131267"/>
                  <a:pt x="1970" y="127827"/>
                </a:cubicBezTo>
                <a:lnTo>
                  <a:pt x="2637" y="126816"/>
                </a:lnTo>
                <a:lnTo>
                  <a:pt x="91537" y="4578"/>
                </a:lnTo>
                <a:lnTo>
                  <a:pt x="91648" y="4434"/>
                </a:lnTo>
                <a:lnTo>
                  <a:pt x="91848" y="4167"/>
                </a:lnTo>
                <a:lnTo>
                  <a:pt x="92215" y="3745"/>
                </a:lnTo>
                <a:lnTo>
                  <a:pt x="92415" y="3500"/>
                </a:lnTo>
                <a:lnTo>
                  <a:pt x="92515" y="3412"/>
                </a:lnTo>
                <a:lnTo>
                  <a:pt x="92659" y="3256"/>
                </a:lnTo>
                <a:lnTo>
                  <a:pt x="93104" y="2856"/>
                </a:lnTo>
                <a:lnTo>
                  <a:pt x="93415" y="2567"/>
                </a:lnTo>
                <a:lnTo>
                  <a:pt x="93504" y="2500"/>
                </a:lnTo>
                <a:cubicBezTo>
                  <a:pt x="94806" y="1434"/>
                  <a:pt x="96334" y="678"/>
                  <a:pt x="97971" y="289"/>
                </a:cubicBezTo>
                <a:lnTo>
                  <a:pt x="98093" y="278"/>
                </a:lnTo>
                <a:lnTo>
                  <a:pt x="98393" y="222"/>
                </a:lnTo>
                <a:lnTo>
                  <a:pt x="99215" y="78"/>
                </a:lnTo>
                <a:lnTo>
                  <a:pt x="99338" y="67"/>
                </a:lnTo>
                <a:lnTo>
                  <a:pt x="99793" y="44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8230" y="2040255"/>
            <a:ext cx="52059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效率：报告编制与协同时间显著下降</a:t>
            </a:r>
          </a:p>
        </p:txBody>
      </p:sp>
      <p:sp>
        <p:nvSpPr>
          <p:cNvPr id="10" name="Freeform 10"/>
          <p:cNvSpPr/>
          <p:nvPr/>
        </p:nvSpPr>
        <p:spPr>
          <a:xfrm>
            <a:off x="746125" y="2555875"/>
            <a:ext cx="222250" cy="211138"/>
          </a:xfrm>
          <a:custGeom>
            <a:avLst/>
            <a:gdLst/>
            <a:ahLst/>
            <a:cxnLst/>
            <a:rect l="l" t="t" r="r" b="b"/>
            <a:pathLst>
              <a:path w="222250" h="211138">
                <a:moveTo>
                  <a:pt x="222250" y="127549"/>
                </a:moveTo>
                <a:lnTo>
                  <a:pt x="222250" y="177800"/>
                </a:lnTo>
                <a:cubicBezTo>
                  <a:pt x="222250" y="196212"/>
                  <a:pt x="207324" y="211138"/>
                  <a:pt x="188913" y="211138"/>
                </a:cubicBezTo>
                <a:lnTo>
                  <a:pt x="33338" y="211138"/>
                </a:lnTo>
                <a:cubicBezTo>
                  <a:pt x="14926" y="211138"/>
                  <a:pt x="0" y="196212"/>
                  <a:pt x="0" y="177800"/>
                </a:cubicBezTo>
                <a:lnTo>
                  <a:pt x="0" y="127549"/>
                </a:lnTo>
                <a:lnTo>
                  <a:pt x="6145" y="130627"/>
                </a:lnTo>
                <a:cubicBezTo>
                  <a:pt x="72192" y="163895"/>
                  <a:pt x="150098" y="163887"/>
                  <a:pt x="216138" y="130605"/>
                </a:cubicBezTo>
                <a:lnTo>
                  <a:pt x="222250" y="127549"/>
                </a:lnTo>
                <a:close/>
                <a:moveTo>
                  <a:pt x="133350" y="0"/>
                </a:moveTo>
                <a:cubicBezTo>
                  <a:pt x="151762" y="0"/>
                  <a:pt x="166688" y="14926"/>
                  <a:pt x="166688" y="33338"/>
                </a:cubicBezTo>
                <a:lnTo>
                  <a:pt x="166688" y="44450"/>
                </a:lnTo>
                <a:lnTo>
                  <a:pt x="188913" y="44450"/>
                </a:lnTo>
                <a:cubicBezTo>
                  <a:pt x="207324" y="44450"/>
                  <a:pt x="222250" y="59376"/>
                  <a:pt x="222250" y="77788"/>
                </a:cubicBezTo>
                <a:lnTo>
                  <a:pt x="222250" y="102702"/>
                </a:lnTo>
                <a:lnTo>
                  <a:pt x="206170" y="110747"/>
                </a:lnTo>
                <a:cubicBezTo>
                  <a:pt x="147866" y="140135"/>
                  <a:pt x="79246" y="140898"/>
                  <a:pt x="20303" y="112814"/>
                </a:cubicBezTo>
                <a:lnTo>
                  <a:pt x="13113" y="109258"/>
                </a:lnTo>
                <a:lnTo>
                  <a:pt x="0" y="102702"/>
                </a:lnTo>
                <a:lnTo>
                  <a:pt x="0" y="77788"/>
                </a:lnTo>
                <a:cubicBezTo>
                  <a:pt x="0" y="59376"/>
                  <a:pt x="14926" y="44450"/>
                  <a:pt x="33338" y="44450"/>
                </a:cubicBezTo>
                <a:lnTo>
                  <a:pt x="55563" y="44450"/>
                </a:lnTo>
                <a:lnTo>
                  <a:pt x="55563" y="33338"/>
                </a:lnTo>
                <a:cubicBezTo>
                  <a:pt x="55563" y="14926"/>
                  <a:pt x="70488" y="0"/>
                  <a:pt x="88900" y="0"/>
                </a:cubicBezTo>
                <a:lnTo>
                  <a:pt x="133350" y="0"/>
                </a:lnTo>
                <a:close/>
                <a:moveTo>
                  <a:pt x="111125" y="88900"/>
                </a:moveTo>
                <a:cubicBezTo>
                  <a:pt x="104988" y="88900"/>
                  <a:pt x="100012" y="93875"/>
                  <a:pt x="100012" y="100012"/>
                </a:cubicBezTo>
                <a:cubicBezTo>
                  <a:pt x="99993" y="103983"/>
                  <a:pt x="102092" y="107662"/>
                  <a:pt x="105521" y="109664"/>
                </a:cubicBezTo>
                <a:cubicBezTo>
                  <a:pt x="108949" y="111666"/>
                  <a:pt x="113185" y="111687"/>
                  <a:pt x="116633" y="109720"/>
                </a:cubicBezTo>
                <a:cubicBezTo>
                  <a:pt x="120081" y="107752"/>
                  <a:pt x="122218" y="104094"/>
                  <a:pt x="122237" y="100124"/>
                </a:cubicBezTo>
                <a:cubicBezTo>
                  <a:pt x="122238" y="93878"/>
                  <a:pt x="117259" y="88900"/>
                  <a:pt x="111125" y="88900"/>
                </a:cubicBezTo>
                <a:close/>
                <a:moveTo>
                  <a:pt x="133350" y="22225"/>
                </a:moveTo>
                <a:lnTo>
                  <a:pt x="88900" y="22225"/>
                </a:lnTo>
                <a:cubicBezTo>
                  <a:pt x="82763" y="22225"/>
                  <a:pt x="77788" y="27200"/>
                  <a:pt x="77788" y="33338"/>
                </a:cubicBezTo>
                <a:lnTo>
                  <a:pt x="77788" y="44450"/>
                </a:lnTo>
                <a:lnTo>
                  <a:pt x="144463" y="44450"/>
                </a:lnTo>
                <a:lnTo>
                  <a:pt x="144463" y="33338"/>
                </a:lnTo>
                <a:cubicBezTo>
                  <a:pt x="144463" y="27200"/>
                  <a:pt x="139487" y="22225"/>
                  <a:pt x="133350" y="22225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82040" y="2567940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质量：口径一致与追溯能力增强</a:t>
            </a:r>
          </a:p>
        </p:txBody>
      </p:sp>
      <p:sp>
        <p:nvSpPr>
          <p:cNvPr id="12" name="Freeform 12"/>
          <p:cNvSpPr/>
          <p:nvPr/>
        </p:nvSpPr>
        <p:spPr>
          <a:xfrm>
            <a:off x="533400" y="3124200"/>
            <a:ext cx="7239000" cy="3086100"/>
          </a:xfrm>
          <a:custGeom>
            <a:avLst/>
            <a:gdLst/>
            <a:ahLst/>
            <a:cxnLst/>
            <a:rect l="l" t="t" r="r" b="b"/>
            <a:pathLst>
              <a:path w="7239000" h="3086100">
                <a:moveTo>
                  <a:pt x="114300" y="0"/>
                </a:moveTo>
                <a:lnTo>
                  <a:pt x="7124700" y="0"/>
                </a:lnTo>
                <a:cubicBezTo>
                  <a:pt x="7187826" y="0"/>
                  <a:pt x="7239000" y="51174"/>
                  <a:pt x="7239000" y="114300"/>
                </a:cubicBezTo>
                <a:lnTo>
                  <a:pt x="7239000" y="2971800"/>
                </a:lnTo>
                <a:cubicBezTo>
                  <a:pt x="7239000" y="3034926"/>
                  <a:pt x="7187826" y="3086100"/>
                  <a:pt x="712470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7943850" y="3124200"/>
            <a:ext cx="3714750" cy="3086100"/>
          </a:xfrm>
          <a:custGeom>
            <a:avLst/>
            <a:gdLst/>
            <a:ahLst/>
            <a:cxnLst/>
            <a:rect l="l" t="t" r="r" b="b"/>
            <a:pathLst>
              <a:path w="3714750" h="3086100">
                <a:moveTo>
                  <a:pt x="114300" y="0"/>
                </a:moveTo>
                <a:lnTo>
                  <a:pt x="3600450" y="0"/>
                </a:lnTo>
                <a:cubicBezTo>
                  <a:pt x="3663576" y="0"/>
                  <a:pt x="3714750" y="51174"/>
                  <a:pt x="3714750" y="114300"/>
                </a:cubicBezTo>
                <a:lnTo>
                  <a:pt x="3714750" y="2971800"/>
                </a:lnTo>
                <a:cubicBezTo>
                  <a:pt x="3714750" y="3034926"/>
                  <a:pt x="3663576" y="3086100"/>
                  <a:pt x="360045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8196261" y="3466529"/>
            <a:ext cx="250708" cy="251687"/>
          </a:xfrm>
          <a:custGeom>
            <a:avLst/>
            <a:gdLst/>
            <a:ahLst/>
            <a:cxnLst/>
            <a:rect l="l" t="t" r="r" b="b"/>
            <a:pathLst>
              <a:path w="250708" h="251687">
                <a:moveTo>
                  <a:pt x="178595" y="21288"/>
                </a:moveTo>
                <a:cubicBezTo>
                  <a:pt x="228635" y="50178"/>
                  <a:pt x="250708" y="110826"/>
                  <a:pt x="230946" y="165122"/>
                </a:cubicBezTo>
                <a:cubicBezTo>
                  <a:pt x="211183" y="219417"/>
                  <a:pt x="155290" y="251687"/>
                  <a:pt x="98387" y="241652"/>
                </a:cubicBezTo>
                <a:cubicBezTo>
                  <a:pt x="41484" y="231618"/>
                  <a:pt x="0" y="182176"/>
                  <a:pt x="1" y="124396"/>
                </a:cubicBezTo>
                <a:lnTo>
                  <a:pt x="61" y="120538"/>
                </a:lnTo>
                <a:cubicBezTo>
                  <a:pt x="1417" y="78711"/>
                  <a:pt x="24633" y="40667"/>
                  <a:pt x="61210" y="20334"/>
                </a:cubicBezTo>
                <a:cubicBezTo>
                  <a:pt x="97787" y="0"/>
                  <a:pt x="142354" y="362"/>
                  <a:pt x="178595" y="21288"/>
                </a:cubicBezTo>
                <a:close/>
                <a:moveTo>
                  <a:pt x="119064" y="52958"/>
                </a:moveTo>
                <a:cubicBezTo>
                  <a:pt x="112488" y="52958"/>
                  <a:pt x="107158" y="58289"/>
                  <a:pt x="107158" y="64865"/>
                </a:cubicBezTo>
                <a:cubicBezTo>
                  <a:pt x="87431" y="64865"/>
                  <a:pt x="71439" y="80856"/>
                  <a:pt x="71439" y="100583"/>
                </a:cubicBezTo>
                <a:cubicBezTo>
                  <a:pt x="71439" y="120310"/>
                  <a:pt x="87431" y="136302"/>
                  <a:pt x="107158" y="136302"/>
                </a:cubicBezTo>
                <a:lnTo>
                  <a:pt x="107158" y="160115"/>
                </a:lnTo>
                <a:cubicBezTo>
                  <a:pt x="103150" y="160328"/>
                  <a:pt x="99295" y="158556"/>
                  <a:pt x="96847" y="155376"/>
                </a:cubicBezTo>
                <a:lnTo>
                  <a:pt x="96037" y="154173"/>
                </a:lnTo>
                <a:cubicBezTo>
                  <a:pt x="92651" y="148712"/>
                  <a:pt x="85542" y="146923"/>
                  <a:pt x="79974" y="150131"/>
                </a:cubicBezTo>
                <a:cubicBezTo>
                  <a:pt x="74406" y="153340"/>
                  <a:pt x="72389" y="160387"/>
                  <a:pt x="75416" y="166056"/>
                </a:cubicBezTo>
                <a:cubicBezTo>
                  <a:pt x="81594" y="176772"/>
                  <a:pt x="92877" y="183528"/>
                  <a:pt x="105241" y="183915"/>
                </a:cubicBezTo>
                <a:lnTo>
                  <a:pt x="107158" y="183915"/>
                </a:lnTo>
                <a:cubicBezTo>
                  <a:pt x="107152" y="189956"/>
                  <a:pt x="111672" y="195043"/>
                  <a:pt x="117671" y="195750"/>
                </a:cubicBezTo>
                <a:lnTo>
                  <a:pt x="119064" y="195833"/>
                </a:lnTo>
                <a:cubicBezTo>
                  <a:pt x="125640" y="195833"/>
                  <a:pt x="130970" y="190503"/>
                  <a:pt x="130970" y="183927"/>
                </a:cubicBezTo>
                <a:lnTo>
                  <a:pt x="133066" y="183867"/>
                </a:lnTo>
                <a:cubicBezTo>
                  <a:pt x="152366" y="182752"/>
                  <a:pt x="167275" y="166484"/>
                  <a:pt x="166708" y="147160"/>
                </a:cubicBezTo>
                <a:cubicBezTo>
                  <a:pt x="166141" y="127836"/>
                  <a:pt x="150302" y="112471"/>
                  <a:pt x="130970" y="112490"/>
                </a:cubicBezTo>
                <a:lnTo>
                  <a:pt x="130970" y="88677"/>
                </a:lnTo>
                <a:cubicBezTo>
                  <a:pt x="135233" y="88534"/>
                  <a:pt x="138959" y="90344"/>
                  <a:pt x="141281" y="93416"/>
                </a:cubicBezTo>
                <a:lnTo>
                  <a:pt x="142091" y="94618"/>
                </a:lnTo>
                <a:cubicBezTo>
                  <a:pt x="145477" y="100080"/>
                  <a:pt x="152586" y="101868"/>
                  <a:pt x="158154" y="98660"/>
                </a:cubicBezTo>
                <a:cubicBezTo>
                  <a:pt x="163722" y="95452"/>
                  <a:pt x="165739" y="88404"/>
                  <a:pt x="162712" y="82736"/>
                </a:cubicBezTo>
                <a:cubicBezTo>
                  <a:pt x="156537" y="72015"/>
                  <a:pt x="145253" y="65254"/>
                  <a:pt x="132887" y="64865"/>
                </a:cubicBezTo>
                <a:lnTo>
                  <a:pt x="130970" y="64865"/>
                </a:lnTo>
                <a:cubicBezTo>
                  <a:pt x="130970" y="58289"/>
                  <a:pt x="125640" y="52958"/>
                  <a:pt x="119064" y="52958"/>
                </a:cubicBezTo>
                <a:close/>
                <a:moveTo>
                  <a:pt x="130970" y="136302"/>
                </a:moveTo>
                <a:cubicBezTo>
                  <a:pt x="137546" y="136302"/>
                  <a:pt x="142876" y="141633"/>
                  <a:pt x="142876" y="148208"/>
                </a:cubicBezTo>
                <a:cubicBezTo>
                  <a:pt x="142876" y="154784"/>
                  <a:pt x="137546" y="160115"/>
                  <a:pt x="130970" y="160115"/>
                </a:cubicBezTo>
                <a:lnTo>
                  <a:pt x="130970" y="136302"/>
                </a:lnTo>
                <a:close/>
                <a:moveTo>
                  <a:pt x="107158" y="88677"/>
                </a:moveTo>
                <a:lnTo>
                  <a:pt x="107158" y="112490"/>
                </a:lnTo>
                <a:cubicBezTo>
                  <a:pt x="100582" y="112490"/>
                  <a:pt x="95251" y="107159"/>
                  <a:pt x="95251" y="100583"/>
                </a:cubicBezTo>
                <a:cubicBezTo>
                  <a:pt x="95251" y="94008"/>
                  <a:pt x="100582" y="88677"/>
                  <a:pt x="107158" y="88677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568690" y="3482340"/>
            <a:ext cx="16053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指标一：30%</a:t>
            </a:r>
          </a:p>
        </p:txBody>
      </p:sp>
      <p:sp>
        <p:nvSpPr>
          <p:cNvPr id="16" name="Freeform 16"/>
          <p:cNvSpPr/>
          <p:nvPr/>
        </p:nvSpPr>
        <p:spPr>
          <a:xfrm>
            <a:off x="8196262" y="4152329"/>
            <a:ext cx="250389" cy="250799"/>
          </a:xfrm>
          <a:custGeom>
            <a:avLst/>
            <a:gdLst/>
            <a:ahLst/>
            <a:cxnLst/>
            <a:rect l="l" t="t" r="r" b="b"/>
            <a:pathLst>
              <a:path w="250389" h="250799">
                <a:moveTo>
                  <a:pt x="178594" y="21288"/>
                </a:moveTo>
                <a:cubicBezTo>
                  <a:pt x="228212" y="49937"/>
                  <a:pt x="250389" y="109863"/>
                  <a:pt x="231374" y="163911"/>
                </a:cubicBezTo>
                <a:cubicBezTo>
                  <a:pt x="212360" y="217958"/>
                  <a:pt x="157547" y="250799"/>
                  <a:pt x="100920" y="242070"/>
                </a:cubicBezTo>
                <a:cubicBezTo>
                  <a:pt x="44294" y="233341"/>
                  <a:pt x="1915" y="185518"/>
                  <a:pt x="60" y="128253"/>
                </a:cubicBezTo>
                <a:lnTo>
                  <a:pt x="0" y="124396"/>
                </a:lnTo>
                <a:lnTo>
                  <a:pt x="60" y="120538"/>
                </a:lnTo>
                <a:cubicBezTo>
                  <a:pt x="1416" y="78711"/>
                  <a:pt x="24632" y="40667"/>
                  <a:pt x="61209" y="20334"/>
                </a:cubicBezTo>
                <a:cubicBezTo>
                  <a:pt x="97786" y="0"/>
                  <a:pt x="142352" y="362"/>
                  <a:pt x="178594" y="21288"/>
                </a:cubicBezTo>
                <a:close/>
                <a:moveTo>
                  <a:pt x="119062" y="52958"/>
                </a:moveTo>
                <a:cubicBezTo>
                  <a:pt x="113026" y="52959"/>
                  <a:pt x="107946" y="57477"/>
                  <a:pt x="107240" y="63471"/>
                </a:cubicBezTo>
                <a:lnTo>
                  <a:pt x="107156" y="64865"/>
                </a:lnTo>
                <a:lnTo>
                  <a:pt x="107156" y="124396"/>
                </a:lnTo>
                <a:lnTo>
                  <a:pt x="107263" y="125955"/>
                </a:lnTo>
                <a:cubicBezTo>
                  <a:pt x="107535" y="128021"/>
                  <a:pt x="108344" y="129980"/>
                  <a:pt x="109609" y="131635"/>
                </a:cubicBezTo>
                <a:lnTo>
                  <a:pt x="110645" y="132825"/>
                </a:lnTo>
                <a:lnTo>
                  <a:pt x="146364" y="168544"/>
                </a:lnTo>
                <a:lnTo>
                  <a:pt x="147483" y="169520"/>
                </a:lnTo>
                <a:cubicBezTo>
                  <a:pt x="151778" y="172853"/>
                  <a:pt x="157785" y="172853"/>
                  <a:pt x="162080" y="169520"/>
                </a:cubicBezTo>
                <a:lnTo>
                  <a:pt x="163199" y="168532"/>
                </a:lnTo>
                <a:lnTo>
                  <a:pt x="164187" y="167413"/>
                </a:lnTo>
                <a:cubicBezTo>
                  <a:pt x="167520" y="163118"/>
                  <a:pt x="167520" y="157111"/>
                  <a:pt x="164187" y="152816"/>
                </a:cubicBezTo>
                <a:lnTo>
                  <a:pt x="163199" y="151697"/>
                </a:lnTo>
                <a:lnTo>
                  <a:pt x="130969" y="119455"/>
                </a:lnTo>
                <a:lnTo>
                  <a:pt x="130969" y="64865"/>
                </a:lnTo>
                <a:lnTo>
                  <a:pt x="130885" y="63471"/>
                </a:lnTo>
                <a:cubicBezTo>
                  <a:pt x="130179" y="57477"/>
                  <a:pt x="125099" y="52959"/>
                  <a:pt x="119062" y="52958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568690" y="4168140"/>
            <a:ext cx="16053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指标二：95%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68690" y="4758690"/>
            <a:ext cx="14534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指标三：2x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5780" y="4897755"/>
            <a:ext cx="404050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图表：dual_axis_line_chart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9590" y="5406390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围绕降本、提质、增效、控险建立四维目标体系，确保建设投入可衡量、可评估。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总体架构与执行流程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9152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平台采用数据底座、智能体引擎、业务应用三层架构，形成从问题识别到产物交付的端到端流程。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4953000" cy="4457700"/>
          </a:xfrm>
          <a:custGeom>
            <a:avLst/>
            <a:gdLst/>
            <a:ahLst/>
            <a:cxnLst/>
            <a:rect l="l" t="t" r="r" b="b"/>
            <a:pathLst>
              <a:path w="4953000" h="445770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4343400"/>
                </a:lnTo>
                <a:cubicBezTo>
                  <a:pt x="4953000" y="4406526"/>
                  <a:pt x="4901826" y="4457700"/>
                  <a:pt x="483870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1981200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09600"/>
                </a:lnTo>
                <a:cubicBezTo>
                  <a:pt x="4953000" y="651684"/>
                  <a:pt x="4918884" y="685800"/>
                  <a:pt x="4876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90574" y="2114550"/>
            <a:ext cx="171451" cy="190500"/>
            <a:chOff x="790574" y="2114550"/>
            <a:chExt cx="171451" cy="190500"/>
          </a:xfrm>
        </p:grpSpPr>
        <p:sp>
          <p:nvSpPr>
            <p:cNvPr id="9" name="Freeform 9"/>
            <p:cNvSpPr/>
            <p:nvPr/>
          </p:nvSpPr>
          <p:spPr>
            <a:xfrm>
              <a:off x="790575" y="2245338"/>
              <a:ext cx="171450" cy="59712"/>
            </a:xfrm>
            <a:custGeom>
              <a:avLst/>
              <a:gdLst/>
              <a:ahLst/>
              <a:cxnLst/>
              <a:rect l="l" t="t" r="r" b="b"/>
              <a:pathLst>
                <a:path w="171450" h="59712">
                  <a:moveTo>
                    <a:pt x="0" y="0"/>
                  </a:moveTo>
                  <a:cubicBezTo>
                    <a:pt x="18745" y="14354"/>
                    <a:pt x="49854" y="21612"/>
                    <a:pt x="85725" y="21612"/>
                  </a:cubicBezTo>
                  <a:cubicBezTo>
                    <a:pt x="121539" y="21612"/>
                    <a:pt x="152638" y="14373"/>
                    <a:pt x="171450" y="162"/>
                  </a:cubicBezTo>
                  <a:lnTo>
                    <a:pt x="171450" y="21612"/>
                  </a:lnTo>
                  <a:cubicBezTo>
                    <a:pt x="171450" y="44710"/>
                    <a:pt x="134350" y="59103"/>
                    <a:pt x="88649" y="59693"/>
                  </a:cubicBezTo>
                  <a:lnTo>
                    <a:pt x="85725" y="59712"/>
                  </a:lnTo>
                  <a:cubicBezTo>
                    <a:pt x="38691" y="59712"/>
                    <a:pt x="0" y="45206"/>
                    <a:pt x="0" y="21612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90575" y="2188188"/>
              <a:ext cx="171450" cy="59712"/>
            </a:xfrm>
            <a:custGeom>
              <a:avLst/>
              <a:gdLst/>
              <a:ahLst/>
              <a:cxnLst/>
              <a:rect l="l" t="t" r="r" b="b"/>
              <a:pathLst>
                <a:path w="171450" h="59712">
                  <a:moveTo>
                    <a:pt x="0" y="0"/>
                  </a:moveTo>
                  <a:cubicBezTo>
                    <a:pt x="18745" y="14354"/>
                    <a:pt x="49854" y="21612"/>
                    <a:pt x="85725" y="21612"/>
                  </a:cubicBezTo>
                  <a:cubicBezTo>
                    <a:pt x="121539" y="21612"/>
                    <a:pt x="152638" y="14373"/>
                    <a:pt x="171450" y="162"/>
                  </a:cubicBezTo>
                  <a:lnTo>
                    <a:pt x="171450" y="21612"/>
                  </a:lnTo>
                  <a:cubicBezTo>
                    <a:pt x="171450" y="45206"/>
                    <a:pt x="132759" y="59712"/>
                    <a:pt x="85725" y="59712"/>
                  </a:cubicBezTo>
                  <a:cubicBezTo>
                    <a:pt x="40024" y="59712"/>
                    <a:pt x="2191" y="46015"/>
                    <a:pt x="200" y="23565"/>
                  </a:cubicBezTo>
                  <a:lnTo>
                    <a:pt x="48" y="22603"/>
                  </a:lnTo>
                  <a:lnTo>
                    <a:pt x="0" y="21612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90574" y="2114550"/>
              <a:ext cx="171451" cy="76200"/>
            </a:xfrm>
            <a:custGeom>
              <a:avLst/>
              <a:gdLst/>
              <a:ahLst/>
              <a:cxnLst/>
              <a:rect l="l" t="t" r="r" b="b"/>
              <a:pathLst>
                <a:path w="171451" h="76200">
                  <a:moveTo>
                    <a:pt x="85726" y="0"/>
                  </a:moveTo>
                  <a:cubicBezTo>
                    <a:pt x="95641" y="0"/>
                    <a:pt x="105195" y="648"/>
                    <a:pt x="114082" y="1886"/>
                  </a:cubicBezTo>
                  <a:lnTo>
                    <a:pt x="118549" y="2562"/>
                  </a:lnTo>
                  <a:cubicBezTo>
                    <a:pt x="123883" y="3451"/>
                    <a:pt x="128918" y="4556"/>
                    <a:pt x="133656" y="5877"/>
                  </a:cubicBezTo>
                  <a:lnTo>
                    <a:pt x="137847" y="7125"/>
                  </a:lnTo>
                  <a:lnTo>
                    <a:pt x="138561" y="7353"/>
                  </a:lnTo>
                  <a:cubicBezTo>
                    <a:pt x="141153" y="8206"/>
                    <a:pt x="143711" y="9159"/>
                    <a:pt x="146229" y="10211"/>
                  </a:cubicBezTo>
                  <a:lnTo>
                    <a:pt x="148124" y="11030"/>
                  </a:lnTo>
                  <a:cubicBezTo>
                    <a:pt x="151521" y="12567"/>
                    <a:pt x="154591" y="14249"/>
                    <a:pt x="157335" y="16078"/>
                  </a:cubicBezTo>
                  <a:cubicBezTo>
                    <a:pt x="158382" y="16777"/>
                    <a:pt x="159376" y="17491"/>
                    <a:pt x="160316" y="18221"/>
                  </a:cubicBezTo>
                  <a:cubicBezTo>
                    <a:pt x="162697" y="20069"/>
                    <a:pt x="164837" y="22206"/>
                    <a:pt x="166688" y="24584"/>
                  </a:cubicBezTo>
                  <a:lnTo>
                    <a:pt x="167555" y="25803"/>
                  </a:lnTo>
                  <a:cubicBezTo>
                    <a:pt x="168000" y="26470"/>
                    <a:pt x="168409" y="27140"/>
                    <a:pt x="168784" y="27813"/>
                  </a:cubicBezTo>
                  <a:lnTo>
                    <a:pt x="169450" y="29137"/>
                  </a:lnTo>
                  <a:cubicBezTo>
                    <a:pt x="170486" y="31359"/>
                    <a:pt x="171121" y="33677"/>
                    <a:pt x="171355" y="36090"/>
                  </a:cubicBezTo>
                  <a:lnTo>
                    <a:pt x="171451" y="38100"/>
                  </a:lnTo>
                  <a:cubicBezTo>
                    <a:pt x="171451" y="61693"/>
                    <a:pt x="132760" y="76200"/>
                    <a:pt x="85726" y="76200"/>
                  </a:cubicBezTo>
                  <a:cubicBezTo>
                    <a:pt x="40025" y="76200"/>
                    <a:pt x="2191" y="62503"/>
                    <a:pt x="201" y="40053"/>
                  </a:cubicBezTo>
                  <a:cubicBezTo>
                    <a:pt x="67" y="39410"/>
                    <a:pt x="0" y="38756"/>
                    <a:pt x="1" y="38100"/>
                  </a:cubicBezTo>
                  <a:lnTo>
                    <a:pt x="48" y="37109"/>
                  </a:lnTo>
                  <a:lnTo>
                    <a:pt x="201" y="36157"/>
                  </a:lnTo>
                  <a:cubicBezTo>
                    <a:pt x="2153" y="14192"/>
                    <a:pt x="38396" y="600"/>
                    <a:pt x="82754" y="19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064895" y="2107882"/>
            <a:ext cx="34156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统一接入结构化与非结构化数据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" y="2819400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09600"/>
                </a:lnTo>
                <a:cubicBezTo>
                  <a:pt x="4953000" y="651684"/>
                  <a:pt x="4918884" y="685800"/>
                  <a:pt x="4876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775671" y="2943225"/>
            <a:ext cx="201262" cy="209550"/>
          </a:xfrm>
          <a:custGeom>
            <a:avLst/>
            <a:gdLst/>
            <a:ahLst/>
            <a:cxnLst/>
            <a:rect l="l" t="t" r="r" b="b"/>
            <a:pathLst>
              <a:path w="201262" h="209550">
                <a:moveTo>
                  <a:pt x="100629" y="0"/>
                </a:moveTo>
                <a:cubicBezTo>
                  <a:pt x="121672" y="0"/>
                  <a:pt x="138729" y="17058"/>
                  <a:pt x="138729" y="38100"/>
                </a:cubicBezTo>
                <a:lnTo>
                  <a:pt x="138710" y="38624"/>
                </a:lnTo>
                <a:lnTo>
                  <a:pt x="138996" y="38452"/>
                </a:lnTo>
                <a:cubicBezTo>
                  <a:pt x="147023" y="33796"/>
                  <a:pt x="156481" y="32254"/>
                  <a:pt x="165571" y="34119"/>
                </a:cubicBezTo>
                <a:lnTo>
                  <a:pt x="167828" y="34652"/>
                </a:lnTo>
                <a:cubicBezTo>
                  <a:pt x="177546" y="37279"/>
                  <a:pt x="185814" y="43673"/>
                  <a:pt x="190803" y="52416"/>
                </a:cubicBezTo>
                <a:cubicBezTo>
                  <a:pt x="201262" y="70617"/>
                  <a:pt x="195073" y="93848"/>
                  <a:pt x="176944" y="104432"/>
                </a:cubicBezTo>
                <a:lnTo>
                  <a:pt x="176296" y="104775"/>
                </a:lnTo>
                <a:lnTo>
                  <a:pt x="176972" y="105146"/>
                </a:lnTo>
                <a:cubicBezTo>
                  <a:pt x="194398" y="115336"/>
                  <a:pt x="200887" y="137326"/>
                  <a:pt x="191784" y="155343"/>
                </a:cubicBezTo>
                <a:lnTo>
                  <a:pt x="190822" y="157115"/>
                </a:lnTo>
                <a:cubicBezTo>
                  <a:pt x="185831" y="165871"/>
                  <a:pt x="177551" y="172272"/>
                  <a:pt x="167820" y="174897"/>
                </a:cubicBezTo>
                <a:cubicBezTo>
                  <a:pt x="158090" y="177522"/>
                  <a:pt x="147714" y="176155"/>
                  <a:pt x="138996" y="171098"/>
                </a:cubicBezTo>
                <a:lnTo>
                  <a:pt x="138710" y="170907"/>
                </a:lnTo>
                <a:lnTo>
                  <a:pt x="138729" y="171450"/>
                </a:lnTo>
                <a:cubicBezTo>
                  <a:pt x="138729" y="191752"/>
                  <a:pt x="122811" y="208487"/>
                  <a:pt x="102534" y="209502"/>
                </a:cubicBezTo>
                <a:lnTo>
                  <a:pt x="100629" y="209550"/>
                </a:lnTo>
                <a:cubicBezTo>
                  <a:pt x="79587" y="209550"/>
                  <a:pt x="62529" y="192492"/>
                  <a:pt x="62529" y="171450"/>
                </a:cubicBezTo>
                <a:lnTo>
                  <a:pt x="62539" y="170917"/>
                </a:lnTo>
                <a:lnTo>
                  <a:pt x="62263" y="171098"/>
                </a:lnTo>
                <a:cubicBezTo>
                  <a:pt x="54238" y="175757"/>
                  <a:pt x="44779" y="177303"/>
                  <a:pt x="35688" y="175441"/>
                </a:cubicBezTo>
                <a:lnTo>
                  <a:pt x="33440" y="174908"/>
                </a:lnTo>
                <a:cubicBezTo>
                  <a:pt x="23719" y="172282"/>
                  <a:pt x="15447" y="165889"/>
                  <a:pt x="10456" y="157143"/>
                </a:cubicBezTo>
                <a:cubicBezTo>
                  <a:pt x="0" y="138949"/>
                  <a:pt x="6180" y="115727"/>
                  <a:pt x="24296" y="105137"/>
                </a:cubicBezTo>
                <a:lnTo>
                  <a:pt x="24963" y="104775"/>
                </a:lnTo>
                <a:lnTo>
                  <a:pt x="24287" y="104413"/>
                </a:lnTo>
                <a:cubicBezTo>
                  <a:pt x="6861" y="94224"/>
                  <a:pt x="372" y="72234"/>
                  <a:pt x="9475" y="54216"/>
                </a:cubicBezTo>
                <a:lnTo>
                  <a:pt x="10428" y="52435"/>
                </a:lnTo>
                <a:cubicBezTo>
                  <a:pt x="15419" y="43672"/>
                  <a:pt x="23704" y="37265"/>
                  <a:pt x="33441" y="34639"/>
                </a:cubicBezTo>
                <a:cubicBezTo>
                  <a:pt x="43179" y="32014"/>
                  <a:pt x="53561" y="33386"/>
                  <a:pt x="62282" y="38452"/>
                </a:cubicBezTo>
                <a:lnTo>
                  <a:pt x="62529" y="38624"/>
                </a:lnTo>
                <a:lnTo>
                  <a:pt x="62529" y="38100"/>
                </a:lnTo>
                <a:cubicBezTo>
                  <a:pt x="62529" y="17798"/>
                  <a:pt x="78448" y="1063"/>
                  <a:pt x="98724" y="48"/>
                </a:cubicBezTo>
                <a:close/>
                <a:moveTo>
                  <a:pt x="100629" y="76200"/>
                </a:moveTo>
                <a:cubicBezTo>
                  <a:pt x="84848" y="76200"/>
                  <a:pt x="72054" y="88993"/>
                  <a:pt x="72054" y="104775"/>
                </a:cubicBezTo>
                <a:cubicBezTo>
                  <a:pt x="72054" y="120557"/>
                  <a:pt x="84848" y="133350"/>
                  <a:pt x="100629" y="133350"/>
                </a:cubicBezTo>
                <a:cubicBezTo>
                  <a:pt x="116411" y="133350"/>
                  <a:pt x="129204" y="120557"/>
                  <a:pt x="129204" y="104775"/>
                </a:cubicBezTo>
                <a:cubicBezTo>
                  <a:pt x="129204" y="88993"/>
                  <a:pt x="116411" y="76200"/>
                  <a:pt x="100629" y="76200"/>
                </a:cubicBezTo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64895" y="2946082"/>
            <a:ext cx="34518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通过 Skills 编排实现任务自动化</a:t>
            </a:r>
          </a:p>
        </p:txBody>
      </p:sp>
      <p:sp>
        <p:nvSpPr>
          <p:cNvPr id="17" name="Freeform 17"/>
          <p:cNvSpPr/>
          <p:nvPr/>
        </p:nvSpPr>
        <p:spPr>
          <a:xfrm>
            <a:off x="666750" y="3657600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09600"/>
                </a:lnTo>
                <a:cubicBezTo>
                  <a:pt x="4953000" y="651684"/>
                  <a:pt x="4918884" y="685800"/>
                  <a:pt x="4876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777878" y="3797303"/>
            <a:ext cx="187319" cy="177794"/>
            <a:chOff x="777878" y="3797303"/>
            <a:chExt cx="187319" cy="177794"/>
          </a:xfrm>
        </p:grpSpPr>
        <p:sp>
          <p:nvSpPr>
            <p:cNvPr id="18" name="Freeform 18"/>
            <p:cNvSpPr/>
            <p:nvPr/>
          </p:nvSpPr>
          <p:spPr>
            <a:xfrm>
              <a:off x="904875" y="3911603"/>
              <a:ext cx="60322" cy="63494"/>
            </a:xfrm>
            <a:custGeom>
              <a:avLst/>
              <a:gdLst/>
              <a:ahLst/>
              <a:cxnLst/>
              <a:rect l="l" t="t" r="r" b="b"/>
              <a:pathLst>
                <a:path w="60322" h="63494">
                  <a:moveTo>
                    <a:pt x="9525" y="41272"/>
                  </a:moveTo>
                  <a:cubicBezTo>
                    <a:pt x="4264" y="41272"/>
                    <a:pt x="0" y="37007"/>
                    <a:pt x="0" y="31747"/>
                  </a:cubicBezTo>
                  <a:cubicBezTo>
                    <a:pt x="0" y="26486"/>
                    <a:pt x="4264" y="22222"/>
                    <a:pt x="9525" y="22222"/>
                  </a:cubicBezTo>
                  <a:cubicBezTo>
                    <a:pt x="14786" y="22222"/>
                    <a:pt x="19050" y="17957"/>
                    <a:pt x="19050" y="12697"/>
                  </a:cubicBezTo>
                  <a:cubicBezTo>
                    <a:pt x="19050" y="0"/>
                    <a:pt x="38100" y="0"/>
                    <a:pt x="38100" y="12697"/>
                  </a:cubicBezTo>
                  <a:cubicBezTo>
                    <a:pt x="38100" y="17957"/>
                    <a:pt x="42364" y="22222"/>
                    <a:pt x="47625" y="22222"/>
                  </a:cubicBezTo>
                  <a:cubicBezTo>
                    <a:pt x="60322" y="22222"/>
                    <a:pt x="60322" y="41272"/>
                    <a:pt x="47625" y="41272"/>
                  </a:cubicBezTo>
                  <a:cubicBezTo>
                    <a:pt x="42364" y="41272"/>
                    <a:pt x="38100" y="45536"/>
                    <a:pt x="38100" y="50797"/>
                  </a:cubicBezTo>
                  <a:cubicBezTo>
                    <a:pt x="38100" y="63494"/>
                    <a:pt x="19050" y="63494"/>
                    <a:pt x="19050" y="50797"/>
                  </a:cubicBezTo>
                  <a:cubicBezTo>
                    <a:pt x="19050" y="45536"/>
                    <a:pt x="14786" y="41272"/>
                    <a:pt x="9525" y="4127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7878" y="3816353"/>
              <a:ext cx="139694" cy="136522"/>
            </a:xfrm>
            <a:custGeom>
              <a:avLst/>
              <a:gdLst/>
              <a:ahLst/>
              <a:cxnLst/>
              <a:rect l="l" t="t" r="r" b="b"/>
              <a:pathLst>
                <a:path w="139694" h="136522">
                  <a:moveTo>
                    <a:pt x="12697" y="60322"/>
                  </a:moveTo>
                  <a:cubicBezTo>
                    <a:pt x="38999" y="60322"/>
                    <a:pt x="60322" y="38999"/>
                    <a:pt x="60322" y="12697"/>
                  </a:cubicBezTo>
                  <a:cubicBezTo>
                    <a:pt x="60322" y="0"/>
                    <a:pt x="79372" y="0"/>
                    <a:pt x="79372" y="12697"/>
                  </a:cubicBezTo>
                  <a:cubicBezTo>
                    <a:pt x="79372" y="38999"/>
                    <a:pt x="100694" y="60322"/>
                    <a:pt x="126997" y="60322"/>
                  </a:cubicBezTo>
                  <a:cubicBezTo>
                    <a:pt x="139694" y="60322"/>
                    <a:pt x="139694" y="79372"/>
                    <a:pt x="126997" y="79372"/>
                  </a:cubicBezTo>
                  <a:cubicBezTo>
                    <a:pt x="100694" y="79372"/>
                    <a:pt x="79372" y="100694"/>
                    <a:pt x="79372" y="126997"/>
                  </a:cubicBezTo>
                  <a:cubicBezTo>
                    <a:pt x="79372" y="132257"/>
                    <a:pt x="75107" y="136522"/>
                    <a:pt x="69847" y="136522"/>
                  </a:cubicBezTo>
                  <a:cubicBezTo>
                    <a:pt x="64586" y="136522"/>
                    <a:pt x="60322" y="132257"/>
                    <a:pt x="60322" y="126997"/>
                  </a:cubicBezTo>
                  <a:cubicBezTo>
                    <a:pt x="60322" y="100694"/>
                    <a:pt x="38999" y="79372"/>
                    <a:pt x="12697" y="79372"/>
                  </a:cubicBezTo>
                  <a:cubicBezTo>
                    <a:pt x="0" y="79372"/>
                    <a:pt x="0" y="60322"/>
                    <a:pt x="12697" y="6032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904875" y="3797303"/>
              <a:ext cx="60322" cy="63494"/>
            </a:xfrm>
            <a:custGeom>
              <a:avLst/>
              <a:gdLst/>
              <a:ahLst/>
              <a:cxnLst/>
              <a:rect l="l" t="t" r="r" b="b"/>
              <a:pathLst>
                <a:path w="60322" h="63494">
                  <a:moveTo>
                    <a:pt x="9525" y="41272"/>
                  </a:moveTo>
                  <a:cubicBezTo>
                    <a:pt x="4264" y="41272"/>
                    <a:pt x="0" y="37007"/>
                    <a:pt x="0" y="31747"/>
                  </a:cubicBezTo>
                  <a:cubicBezTo>
                    <a:pt x="0" y="26486"/>
                    <a:pt x="4264" y="22222"/>
                    <a:pt x="9525" y="22222"/>
                  </a:cubicBezTo>
                  <a:cubicBezTo>
                    <a:pt x="14786" y="22222"/>
                    <a:pt x="19050" y="17957"/>
                    <a:pt x="19050" y="12697"/>
                  </a:cubicBezTo>
                  <a:cubicBezTo>
                    <a:pt x="19050" y="0"/>
                    <a:pt x="38100" y="0"/>
                    <a:pt x="38100" y="12697"/>
                  </a:cubicBezTo>
                  <a:cubicBezTo>
                    <a:pt x="38100" y="17957"/>
                    <a:pt x="42364" y="22222"/>
                    <a:pt x="47625" y="22222"/>
                  </a:cubicBezTo>
                  <a:cubicBezTo>
                    <a:pt x="60322" y="22222"/>
                    <a:pt x="60322" y="41272"/>
                    <a:pt x="47625" y="41272"/>
                  </a:cubicBezTo>
                  <a:cubicBezTo>
                    <a:pt x="42364" y="41272"/>
                    <a:pt x="38100" y="45536"/>
                    <a:pt x="38100" y="50797"/>
                  </a:cubicBezTo>
                  <a:cubicBezTo>
                    <a:pt x="38100" y="63494"/>
                    <a:pt x="19050" y="63494"/>
                    <a:pt x="19050" y="50797"/>
                  </a:cubicBezTo>
                  <a:cubicBezTo>
                    <a:pt x="19050" y="45536"/>
                    <a:pt x="14786" y="41272"/>
                    <a:pt x="9525" y="4127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064895" y="3784282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支持全链路追踪与运营治理</a:t>
            </a:r>
          </a:p>
        </p:txBody>
      </p:sp>
      <p:sp>
        <p:nvSpPr>
          <p:cNvPr id="23" name="Freeform 23"/>
          <p:cNvSpPr/>
          <p:nvPr/>
        </p:nvSpPr>
        <p:spPr>
          <a:xfrm>
            <a:off x="5619750" y="1752600"/>
            <a:ext cx="6038850" cy="4457700"/>
          </a:xfrm>
          <a:custGeom>
            <a:avLst/>
            <a:gdLst/>
            <a:ahLst/>
            <a:cxnLst/>
            <a:rect l="l" t="t" r="r" b="b"/>
            <a:pathLst>
              <a:path w="6038850" h="4457700">
                <a:moveTo>
                  <a:pt x="114300" y="0"/>
                </a:moveTo>
                <a:lnTo>
                  <a:pt x="5924550" y="0"/>
                </a:lnTo>
                <a:cubicBezTo>
                  <a:pt x="5987676" y="0"/>
                  <a:pt x="6038850" y="51174"/>
                  <a:pt x="6038850" y="114300"/>
                </a:cubicBezTo>
                <a:lnTo>
                  <a:pt x="6038850" y="4343400"/>
                </a:lnTo>
                <a:cubicBezTo>
                  <a:pt x="6038850" y="4406526"/>
                  <a:pt x="5987676" y="4457700"/>
                  <a:pt x="592455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1035" y="5656898"/>
            <a:ext cx="390853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语义匹配图表：process_flow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能力矩阵与场景覆盖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77746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以影响度和实施复杂度构建能力矩阵，明确优先级与落地节奏。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4953000" cy="4457700"/>
          </a:xfrm>
          <a:custGeom>
            <a:avLst/>
            <a:gdLst/>
            <a:ahLst/>
            <a:cxnLst/>
            <a:rect l="l" t="t" r="r" b="b"/>
            <a:pathLst>
              <a:path w="4953000" h="445770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4343400"/>
                </a:lnTo>
                <a:cubicBezTo>
                  <a:pt x="4953000" y="4406526"/>
                  <a:pt x="4901826" y="4457700"/>
                  <a:pt x="483870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1981200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09600"/>
                </a:lnTo>
                <a:cubicBezTo>
                  <a:pt x="4953000" y="651684"/>
                  <a:pt x="4918884" y="685800"/>
                  <a:pt x="4876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81049" y="2110283"/>
            <a:ext cx="200567" cy="201349"/>
          </a:xfrm>
          <a:custGeom>
            <a:avLst/>
            <a:gdLst/>
            <a:ahLst/>
            <a:cxnLst/>
            <a:rect l="l" t="t" r="r" b="b"/>
            <a:pathLst>
              <a:path w="200567" h="201349">
                <a:moveTo>
                  <a:pt x="142876" y="17030"/>
                </a:moveTo>
                <a:cubicBezTo>
                  <a:pt x="182908" y="40142"/>
                  <a:pt x="200567" y="88661"/>
                  <a:pt x="184757" y="132097"/>
                </a:cubicBezTo>
                <a:cubicBezTo>
                  <a:pt x="168947" y="175534"/>
                  <a:pt x="124232" y="201349"/>
                  <a:pt x="78710" y="193322"/>
                </a:cubicBezTo>
                <a:cubicBezTo>
                  <a:pt x="33187" y="185294"/>
                  <a:pt x="0" y="145741"/>
                  <a:pt x="1" y="99517"/>
                </a:cubicBezTo>
                <a:lnTo>
                  <a:pt x="49" y="96431"/>
                </a:lnTo>
                <a:cubicBezTo>
                  <a:pt x="1134" y="62969"/>
                  <a:pt x="19707" y="32534"/>
                  <a:pt x="48968" y="16267"/>
                </a:cubicBezTo>
                <a:cubicBezTo>
                  <a:pt x="78230" y="0"/>
                  <a:pt x="113883" y="290"/>
                  <a:pt x="142876" y="17030"/>
                </a:cubicBezTo>
                <a:close/>
                <a:moveTo>
                  <a:pt x="95251" y="42367"/>
                </a:moveTo>
                <a:cubicBezTo>
                  <a:pt x="89991" y="42367"/>
                  <a:pt x="85726" y="46631"/>
                  <a:pt x="85726" y="51892"/>
                </a:cubicBezTo>
                <a:cubicBezTo>
                  <a:pt x="69945" y="51892"/>
                  <a:pt x="57151" y="64685"/>
                  <a:pt x="57151" y="80467"/>
                </a:cubicBezTo>
                <a:cubicBezTo>
                  <a:pt x="57151" y="96248"/>
                  <a:pt x="69945" y="109042"/>
                  <a:pt x="85726" y="109042"/>
                </a:cubicBezTo>
                <a:lnTo>
                  <a:pt x="85726" y="128092"/>
                </a:lnTo>
                <a:cubicBezTo>
                  <a:pt x="82520" y="128263"/>
                  <a:pt x="79436" y="126845"/>
                  <a:pt x="77478" y="124301"/>
                </a:cubicBezTo>
                <a:lnTo>
                  <a:pt x="76830" y="123339"/>
                </a:lnTo>
                <a:cubicBezTo>
                  <a:pt x="74121" y="118970"/>
                  <a:pt x="68434" y="117539"/>
                  <a:pt x="63979" y="120105"/>
                </a:cubicBezTo>
                <a:cubicBezTo>
                  <a:pt x="59525" y="122672"/>
                  <a:pt x="57911" y="128310"/>
                  <a:pt x="60333" y="132845"/>
                </a:cubicBezTo>
                <a:cubicBezTo>
                  <a:pt x="65275" y="141417"/>
                  <a:pt x="74302" y="146822"/>
                  <a:pt x="84193" y="147132"/>
                </a:cubicBezTo>
                <a:lnTo>
                  <a:pt x="85726" y="147132"/>
                </a:lnTo>
                <a:cubicBezTo>
                  <a:pt x="85722" y="151965"/>
                  <a:pt x="89337" y="156035"/>
                  <a:pt x="94137" y="156600"/>
                </a:cubicBezTo>
                <a:lnTo>
                  <a:pt x="95251" y="156667"/>
                </a:lnTo>
                <a:cubicBezTo>
                  <a:pt x="100512" y="156667"/>
                  <a:pt x="104776" y="152402"/>
                  <a:pt x="104776" y="147142"/>
                </a:cubicBezTo>
                <a:lnTo>
                  <a:pt x="106453" y="147094"/>
                </a:lnTo>
                <a:cubicBezTo>
                  <a:pt x="121893" y="146202"/>
                  <a:pt x="133820" y="133187"/>
                  <a:pt x="133366" y="117728"/>
                </a:cubicBezTo>
                <a:cubicBezTo>
                  <a:pt x="132913" y="102269"/>
                  <a:pt x="120242" y="89977"/>
                  <a:pt x="104776" y="89992"/>
                </a:cubicBezTo>
                <a:lnTo>
                  <a:pt x="104776" y="70942"/>
                </a:lnTo>
                <a:cubicBezTo>
                  <a:pt x="108186" y="70827"/>
                  <a:pt x="111167" y="72275"/>
                  <a:pt x="113025" y="74733"/>
                </a:cubicBezTo>
                <a:lnTo>
                  <a:pt x="113673" y="75695"/>
                </a:lnTo>
                <a:cubicBezTo>
                  <a:pt x="116382" y="80064"/>
                  <a:pt x="122069" y="81495"/>
                  <a:pt x="126523" y="78928"/>
                </a:cubicBezTo>
                <a:cubicBezTo>
                  <a:pt x="130977" y="76361"/>
                  <a:pt x="132591" y="70723"/>
                  <a:pt x="130170" y="66189"/>
                </a:cubicBezTo>
                <a:cubicBezTo>
                  <a:pt x="125229" y="57612"/>
                  <a:pt x="116202" y="52203"/>
                  <a:pt x="106310" y="51892"/>
                </a:cubicBezTo>
                <a:lnTo>
                  <a:pt x="104776" y="51892"/>
                </a:lnTo>
                <a:cubicBezTo>
                  <a:pt x="104776" y="46631"/>
                  <a:pt x="100512" y="42367"/>
                  <a:pt x="95251" y="42367"/>
                </a:cubicBezTo>
                <a:close/>
                <a:moveTo>
                  <a:pt x="104776" y="109042"/>
                </a:moveTo>
                <a:cubicBezTo>
                  <a:pt x="110037" y="109042"/>
                  <a:pt x="114301" y="113306"/>
                  <a:pt x="114301" y="118567"/>
                </a:cubicBezTo>
                <a:cubicBezTo>
                  <a:pt x="114301" y="123827"/>
                  <a:pt x="110037" y="128092"/>
                  <a:pt x="104776" y="128092"/>
                </a:cubicBezTo>
                <a:lnTo>
                  <a:pt x="104776" y="109042"/>
                </a:lnTo>
                <a:close/>
                <a:moveTo>
                  <a:pt x="85726" y="70942"/>
                </a:moveTo>
                <a:lnTo>
                  <a:pt x="85726" y="89992"/>
                </a:lnTo>
                <a:cubicBezTo>
                  <a:pt x="80466" y="89992"/>
                  <a:pt x="76201" y="85727"/>
                  <a:pt x="76201" y="80467"/>
                </a:cubicBezTo>
                <a:cubicBezTo>
                  <a:pt x="76201" y="75206"/>
                  <a:pt x="80466" y="70942"/>
                  <a:pt x="85726" y="70942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64895" y="2107882"/>
            <a:ext cx="31746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优先推进高价值、低门槛场景</a:t>
            </a:r>
          </a:p>
        </p:txBody>
      </p:sp>
      <p:sp>
        <p:nvSpPr>
          <p:cNvPr id="11" name="Freeform 11"/>
          <p:cNvSpPr/>
          <p:nvPr/>
        </p:nvSpPr>
        <p:spPr>
          <a:xfrm>
            <a:off x="666750" y="2819400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09600"/>
                </a:lnTo>
                <a:cubicBezTo>
                  <a:pt x="4953000" y="651684"/>
                  <a:pt x="4918884" y="685800"/>
                  <a:pt x="4876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781050" y="2948483"/>
            <a:ext cx="200311" cy="200639"/>
          </a:xfrm>
          <a:custGeom>
            <a:avLst/>
            <a:gdLst/>
            <a:ahLst/>
            <a:cxnLst/>
            <a:rect l="l" t="t" r="r" b="b"/>
            <a:pathLst>
              <a:path w="200311" h="200639">
                <a:moveTo>
                  <a:pt x="142875" y="17030"/>
                </a:moveTo>
                <a:cubicBezTo>
                  <a:pt x="182569" y="39949"/>
                  <a:pt x="200311" y="87890"/>
                  <a:pt x="185099" y="131128"/>
                </a:cubicBezTo>
                <a:cubicBezTo>
                  <a:pt x="169888" y="174367"/>
                  <a:pt x="126037" y="200639"/>
                  <a:pt x="80736" y="193656"/>
                </a:cubicBezTo>
                <a:cubicBezTo>
                  <a:pt x="35435" y="186673"/>
                  <a:pt x="1532" y="148415"/>
                  <a:pt x="48" y="102603"/>
                </a:cubicBezTo>
                <a:lnTo>
                  <a:pt x="0" y="99517"/>
                </a:lnTo>
                <a:lnTo>
                  <a:pt x="48" y="96431"/>
                </a:lnTo>
                <a:cubicBezTo>
                  <a:pt x="1133" y="62969"/>
                  <a:pt x="19706" y="32534"/>
                  <a:pt x="48967" y="16267"/>
                </a:cubicBezTo>
                <a:cubicBezTo>
                  <a:pt x="78228" y="0"/>
                  <a:pt x="113882" y="290"/>
                  <a:pt x="142875" y="17030"/>
                </a:cubicBezTo>
                <a:close/>
                <a:moveTo>
                  <a:pt x="95250" y="42367"/>
                </a:moveTo>
                <a:cubicBezTo>
                  <a:pt x="90421" y="42367"/>
                  <a:pt x="86357" y="45981"/>
                  <a:pt x="85792" y="50777"/>
                </a:cubicBezTo>
                <a:lnTo>
                  <a:pt x="85725" y="51892"/>
                </a:lnTo>
                <a:lnTo>
                  <a:pt x="85725" y="99517"/>
                </a:lnTo>
                <a:lnTo>
                  <a:pt x="85811" y="100764"/>
                </a:lnTo>
                <a:cubicBezTo>
                  <a:pt x="86028" y="102417"/>
                  <a:pt x="86675" y="103984"/>
                  <a:pt x="87687" y="105308"/>
                </a:cubicBezTo>
                <a:lnTo>
                  <a:pt x="88516" y="106260"/>
                </a:lnTo>
                <a:lnTo>
                  <a:pt x="117091" y="134835"/>
                </a:lnTo>
                <a:lnTo>
                  <a:pt x="117986" y="135616"/>
                </a:lnTo>
                <a:cubicBezTo>
                  <a:pt x="121422" y="138282"/>
                  <a:pt x="126228" y="138282"/>
                  <a:pt x="129664" y="135616"/>
                </a:cubicBezTo>
                <a:lnTo>
                  <a:pt x="130559" y="134826"/>
                </a:lnTo>
                <a:lnTo>
                  <a:pt x="131350" y="133930"/>
                </a:lnTo>
                <a:cubicBezTo>
                  <a:pt x="134016" y="130494"/>
                  <a:pt x="134016" y="125689"/>
                  <a:pt x="131350" y="122253"/>
                </a:cubicBezTo>
                <a:lnTo>
                  <a:pt x="130559" y="121357"/>
                </a:lnTo>
                <a:lnTo>
                  <a:pt x="104775" y="95564"/>
                </a:lnTo>
                <a:lnTo>
                  <a:pt x="104775" y="51892"/>
                </a:lnTo>
                <a:lnTo>
                  <a:pt x="104708" y="50777"/>
                </a:lnTo>
                <a:cubicBezTo>
                  <a:pt x="104143" y="45981"/>
                  <a:pt x="100079" y="42367"/>
                  <a:pt x="95250" y="42367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64895" y="2946082"/>
            <a:ext cx="31746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聚焦生产经营分析与汇报提效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" y="3657600"/>
            <a:ext cx="4953000" cy="685800"/>
          </a:xfrm>
          <a:custGeom>
            <a:avLst/>
            <a:gdLst/>
            <a:ahLst/>
            <a:cxnLst/>
            <a:rect l="l" t="t" r="r" b="b"/>
            <a:pathLst>
              <a:path w="4953000" h="6858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09600"/>
                </a:lnTo>
                <a:cubicBezTo>
                  <a:pt x="4953000" y="651684"/>
                  <a:pt x="4918884" y="685800"/>
                  <a:pt x="4876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781050" y="3786683"/>
            <a:ext cx="200311" cy="200639"/>
          </a:xfrm>
          <a:custGeom>
            <a:avLst/>
            <a:gdLst/>
            <a:ahLst/>
            <a:cxnLst/>
            <a:rect l="l" t="t" r="r" b="b"/>
            <a:pathLst>
              <a:path w="200311" h="200639">
                <a:moveTo>
                  <a:pt x="142875" y="17030"/>
                </a:moveTo>
                <a:cubicBezTo>
                  <a:pt x="182569" y="39949"/>
                  <a:pt x="200311" y="87890"/>
                  <a:pt x="185099" y="131128"/>
                </a:cubicBezTo>
                <a:cubicBezTo>
                  <a:pt x="169888" y="174367"/>
                  <a:pt x="126037" y="200639"/>
                  <a:pt x="80736" y="193656"/>
                </a:cubicBezTo>
                <a:cubicBezTo>
                  <a:pt x="35435" y="186673"/>
                  <a:pt x="1532" y="148415"/>
                  <a:pt x="48" y="102603"/>
                </a:cubicBezTo>
                <a:lnTo>
                  <a:pt x="0" y="99517"/>
                </a:lnTo>
                <a:lnTo>
                  <a:pt x="48" y="96431"/>
                </a:lnTo>
                <a:cubicBezTo>
                  <a:pt x="1133" y="62969"/>
                  <a:pt x="19706" y="32534"/>
                  <a:pt x="48967" y="16267"/>
                </a:cubicBezTo>
                <a:cubicBezTo>
                  <a:pt x="78228" y="0"/>
                  <a:pt x="113882" y="290"/>
                  <a:pt x="142875" y="17030"/>
                </a:cubicBezTo>
                <a:close/>
                <a:moveTo>
                  <a:pt x="132864" y="82219"/>
                </a:moveTo>
                <a:cubicBezTo>
                  <a:pt x="131337" y="77636"/>
                  <a:pt x="126621" y="74922"/>
                  <a:pt x="121891" y="75904"/>
                </a:cubicBezTo>
                <a:lnTo>
                  <a:pt x="120815" y="76190"/>
                </a:lnTo>
                <a:lnTo>
                  <a:pt x="95250" y="84715"/>
                </a:lnTo>
                <a:lnTo>
                  <a:pt x="69685" y="76190"/>
                </a:lnTo>
                <a:lnTo>
                  <a:pt x="68609" y="75904"/>
                </a:lnTo>
                <a:cubicBezTo>
                  <a:pt x="63884" y="74932"/>
                  <a:pt x="59178" y="77645"/>
                  <a:pt x="57652" y="82222"/>
                </a:cubicBezTo>
                <a:cubicBezTo>
                  <a:pt x="56127" y="86798"/>
                  <a:pt x="58263" y="91792"/>
                  <a:pt x="62627" y="93849"/>
                </a:cubicBezTo>
                <a:lnTo>
                  <a:pt x="63665" y="94268"/>
                </a:lnTo>
                <a:lnTo>
                  <a:pt x="85725" y="101612"/>
                </a:lnTo>
                <a:lnTo>
                  <a:pt x="85725" y="110909"/>
                </a:lnTo>
                <a:lnTo>
                  <a:pt x="68275" y="137102"/>
                </a:lnTo>
                <a:lnTo>
                  <a:pt x="67704" y="138055"/>
                </a:lnTo>
                <a:cubicBezTo>
                  <a:pt x="65716" y="141959"/>
                  <a:pt x="66648" y="146714"/>
                  <a:pt x="69961" y="149580"/>
                </a:cubicBezTo>
                <a:lnTo>
                  <a:pt x="70914" y="150304"/>
                </a:lnTo>
                <a:lnTo>
                  <a:pt x="71876" y="150875"/>
                </a:lnTo>
                <a:cubicBezTo>
                  <a:pt x="75779" y="152863"/>
                  <a:pt x="80535" y="151931"/>
                  <a:pt x="83401" y="148618"/>
                </a:cubicBezTo>
                <a:lnTo>
                  <a:pt x="84125" y="147665"/>
                </a:lnTo>
                <a:lnTo>
                  <a:pt x="95250" y="130978"/>
                </a:lnTo>
                <a:lnTo>
                  <a:pt x="106375" y="147665"/>
                </a:lnTo>
                <a:lnTo>
                  <a:pt x="107042" y="148551"/>
                </a:lnTo>
                <a:cubicBezTo>
                  <a:pt x="110170" y="152239"/>
                  <a:pt x="115565" y="152997"/>
                  <a:pt x="119589" y="150314"/>
                </a:cubicBezTo>
                <a:cubicBezTo>
                  <a:pt x="123612" y="147632"/>
                  <a:pt x="124987" y="142361"/>
                  <a:pt x="122787" y="138055"/>
                </a:cubicBezTo>
                <a:lnTo>
                  <a:pt x="122225" y="137102"/>
                </a:lnTo>
                <a:lnTo>
                  <a:pt x="104775" y="110909"/>
                </a:lnTo>
                <a:lnTo>
                  <a:pt x="104775" y="101603"/>
                </a:lnTo>
                <a:lnTo>
                  <a:pt x="126835" y="94259"/>
                </a:lnTo>
                <a:lnTo>
                  <a:pt x="127873" y="93840"/>
                </a:lnTo>
                <a:cubicBezTo>
                  <a:pt x="132244" y="91788"/>
                  <a:pt x="134389" y="86791"/>
                  <a:pt x="132864" y="82210"/>
                </a:cubicBezTo>
                <a:close/>
                <a:moveTo>
                  <a:pt x="95250" y="42367"/>
                </a:moveTo>
                <a:cubicBezTo>
                  <a:pt x="90146" y="42367"/>
                  <a:pt x="85429" y="45090"/>
                  <a:pt x="82877" y="49510"/>
                </a:cubicBezTo>
                <a:cubicBezTo>
                  <a:pt x="80324" y="53931"/>
                  <a:pt x="80324" y="59377"/>
                  <a:pt x="82877" y="63798"/>
                </a:cubicBezTo>
                <a:cubicBezTo>
                  <a:pt x="85429" y="68218"/>
                  <a:pt x="90146" y="70942"/>
                  <a:pt x="95250" y="70942"/>
                </a:cubicBezTo>
                <a:cubicBezTo>
                  <a:pt x="103141" y="70942"/>
                  <a:pt x="109538" y="64545"/>
                  <a:pt x="109538" y="56654"/>
                </a:cubicBezTo>
                <a:cubicBezTo>
                  <a:pt x="109538" y="48763"/>
                  <a:pt x="103141" y="42367"/>
                  <a:pt x="95250" y="42367"/>
                </a:cubicBezTo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64895" y="3784282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逐步扩展到风控与知识工程</a:t>
            </a:r>
          </a:p>
        </p:txBody>
      </p:sp>
      <p:sp>
        <p:nvSpPr>
          <p:cNvPr id="17" name="Freeform 17"/>
          <p:cNvSpPr/>
          <p:nvPr/>
        </p:nvSpPr>
        <p:spPr>
          <a:xfrm>
            <a:off x="5619750" y="1752600"/>
            <a:ext cx="6038850" cy="4457700"/>
          </a:xfrm>
          <a:custGeom>
            <a:avLst/>
            <a:gdLst/>
            <a:ahLst/>
            <a:cxnLst/>
            <a:rect l="l" t="t" r="r" b="b"/>
            <a:pathLst>
              <a:path w="6038850" h="4457700">
                <a:moveTo>
                  <a:pt x="114300" y="0"/>
                </a:moveTo>
                <a:lnTo>
                  <a:pt x="5924550" y="0"/>
                </a:lnTo>
                <a:cubicBezTo>
                  <a:pt x="5987676" y="0"/>
                  <a:pt x="6038850" y="51174"/>
                  <a:pt x="6038850" y="114300"/>
                </a:cubicBezTo>
                <a:lnTo>
                  <a:pt x="6038850" y="4343400"/>
                </a:lnTo>
                <a:cubicBezTo>
                  <a:pt x="6038850" y="4406526"/>
                  <a:pt x="5987676" y="4457700"/>
                  <a:pt x="592455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61035" y="5656898"/>
            <a:ext cx="399397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语义匹配图表：swot_analysis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试点成效与推广计划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试点成效与推广路径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9154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围绕效率、质量、管理三类指标形成可量化成效，并分阶段制定推广路径。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11125200" cy="1238250"/>
          </a:xfrm>
          <a:custGeom>
            <a:avLst/>
            <a:gdLst/>
            <a:ahLst/>
            <a:cxnLst/>
            <a:rect l="l" t="t" r="r" b="b"/>
            <a:pathLst>
              <a:path w="11125200" h="12382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123950"/>
                </a:lnTo>
                <a:cubicBezTo>
                  <a:pt x="11125200" y="1187076"/>
                  <a:pt x="11074026" y="1238250"/>
                  <a:pt x="110109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7847" y="2060575"/>
            <a:ext cx="178806" cy="226373"/>
          </a:xfrm>
          <a:custGeom>
            <a:avLst/>
            <a:gdLst/>
            <a:ahLst/>
            <a:cxnLst/>
            <a:rect l="l" t="t" r="r" b="b"/>
            <a:pathLst>
              <a:path w="178806" h="226373">
                <a:moveTo>
                  <a:pt x="100516" y="0"/>
                </a:moveTo>
                <a:lnTo>
                  <a:pt x="100716" y="11"/>
                </a:lnTo>
                <a:lnTo>
                  <a:pt x="100893" y="22"/>
                </a:lnTo>
                <a:lnTo>
                  <a:pt x="101816" y="78"/>
                </a:lnTo>
                <a:lnTo>
                  <a:pt x="101938" y="100"/>
                </a:lnTo>
                <a:lnTo>
                  <a:pt x="102060" y="100"/>
                </a:lnTo>
                <a:lnTo>
                  <a:pt x="102483" y="200"/>
                </a:lnTo>
                <a:lnTo>
                  <a:pt x="103060" y="289"/>
                </a:lnTo>
                <a:lnTo>
                  <a:pt x="103238" y="356"/>
                </a:lnTo>
                <a:lnTo>
                  <a:pt x="103360" y="367"/>
                </a:lnTo>
                <a:lnTo>
                  <a:pt x="103683" y="489"/>
                </a:lnTo>
                <a:lnTo>
                  <a:pt x="104261" y="645"/>
                </a:lnTo>
                <a:lnTo>
                  <a:pt x="104472" y="745"/>
                </a:lnTo>
                <a:lnTo>
                  <a:pt x="104638" y="789"/>
                </a:lnTo>
                <a:lnTo>
                  <a:pt x="104950" y="945"/>
                </a:lnTo>
                <a:lnTo>
                  <a:pt x="105394" y="1133"/>
                </a:lnTo>
                <a:lnTo>
                  <a:pt x="105627" y="1267"/>
                </a:lnTo>
                <a:lnTo>
                  <a:pt x="105872" y="1378"/>
                </a:lnTo>
                <a:lnTo>
                  <a:pt x="106127" y="1545"/>
                </a:lnTo>
                <a:lnTo>
                  <a:pt x="106472" y="1734"/>
                </a:lnTo>
                <a:lnTo>
                  <a:pt x="106850" y="2000"/>
                </a:lnTo>
                <a:lnTo>
                  <a:pt x="107050" y="2122"/>
                </a:lnTo>
                <a:lnTo>
                  <a:pt x="107194" y="2256"/>
                </a:lnTo>
                <a:lnTo>
                  <a:pt x="107461" y="2445"/>
                </a:lnTo>
                <a:lnTo>
                  <a:pt x="107883" y="2823"/>
                </a:lnTo>
                <a:lnTo>
                  <a:pt x="108128" y="3011"/>
                </a:lnTo>
                <a:lnTo>
                  <a:pt x="108217" y="3123"/>
                </a:lnTo>
                <a:lnTo>
                  <a:pt x="108372" y="3256"/>
                </a:lnTo>
                <a:lnTo>
                  <a:pt x="108772" y="3712"/>
                </a:lnTo>
                <a:lnTo>
                  <a:pt x="109061" y="4012"/>
                </a:lnTo>
                <a:lnTo>
                  <a:pt x="109128" y="4112"/>
                </a:lnTo>
                <a:cubicBezTo>
                  <a:pt x="110461" y="5745"/>
                  <a:pt x="111306" y="7690"/>
                  <a:pt x="111550" y="9812"/>
                </a:cubicBezTo>
                <a:lnTo>
                  <a:pt x="111561" y="9946"/>
                </a:lnTo>
                <a:lnTo>
                  <a:pt x="111584" y="10401"/>
                </a:lnTo>
                <a:lnTo>
                  <a:pt x="111628" y="11112"/>
                </a:lnTo>
                <a:lnTo>
                  <a:pt x="111628" y="77787"/>
                </a:lnTo>
                <a:lnTo>
                  <a:pt x="167191" y="77787"/>
                </a:lnTo>
                <a:cubicBezTo>
                  <a:pt x="171154" y="77787"/>
                  <a:pt x="174819" y="79897"/>
                  <a:pt x="176807" y="83326"/>
                </a:cubicBezTo>
                <a:cubicBezTo>
                  <a:pt x="178795" y="86755"/>
                  <a:pt x="178806" y="90983"/>
                  <a:pt x="176836" y="94423"/>
                </a:cubicBezTo>
                <a:lnTo>
                  <a:pt x="176170" y="95434"/>
                </a:lnTo>
                <a:lnTo>
                  <a:pt x="87270" y="217672"/>
                </a:lnTo>
                <a:cubicBezTo>
                  <a:pt x="80958" y="226373"/>
                  <a:pt x="67178" y="221894"/>
                  <a:pt x="67178" y="211137"/>
                </a:cubicBezTo>
                <a:lnTo>
                  <a:pt x="67178" y="144462"/>
                </a:lnTo>
                <a:lnTo>
                  <a:pt x="11616" y="144462"/>
                </a:lnTo>
                <a:cubicBezTo>
                  <a:pt x="7652" y="144463"/>
                  <a:pt x="3988" y="142353"/>
                  <a:pt x="1999" y="138924"/>
                </a:cubicBezTo>
                <a:cubicBezTo>
                  <a:pt x="11" y="135495"/>
                  <a:pt x="0" y="131267"/>
                  <a:pt x="1970" y="127827"/>
                </a:cubicBezTo>
                <a:lnTo>
                  <a:pt x="2637" y="126816"/>
                </a:lnTo>
                <a:lnTo>
                  <a:pt x="91537" y="4578"/>
                </a:lnTo>
                <a:lnTo>
                  <a:pt x="91648" y="4434"/>
                </a:lnTo>
                <a:lnTo>
                  <a:pt x="91848" y="4167"/>
                </a:lnTo>
                <a:lnTo>
                  <a:pt x="92215" y="3745"/>
                </a:lnTo>
                <a:lnTo>
                  <a:pt x="92415" y="3500"/>
                </a:lnTo>
                <a:lnTo>
                  <a:pt x="92515" y="3412"/>
                </a:lnTo>
                <a:lnTo>
                  <a:pt x="92659" y="3256"/>
                </a:lnTo>
                <a:lnTo>
                  <a:pt x="93104" y="2856"/>
                </a:lnTo>
                <a:lnTo>
                  <a:pt x="93415" y="2567"/>
                </a:lnTo>
                <a:lnTo>
                  <a:pt x="93504" y="2500"/>
                </a:lnTo>
                <a:cubicBezTo>
                  <a:pt x="94806" y="1434"/>
                  <a:pt x="96334" y="678"/>
                  <a:pt x="97971" y="289"/>
                </a:cubicBezTo>
                <a:lnTo>
                  <a:pt x="98093" y="278"/>
                </a:lnTo>
                <a:lnTo>
                  <a:pt x="98393" y="222"/>
                </a:lnTo>
                <a:lnTo>
                  <a:pt x="99215" y="78"/>
                </a:lnTo>
                <a:lnTo>
                  <a:pt x="99338" y="67"/>
                </a:lnTo>
                <a:lnTo>
                  <a:pt x="99793" y="44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8230" y="2040255"/>
            <a:ext cx="50449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效率：核心报告产出时长下降 30%+</a:t>
            </a:r>
          </a:p>
        </p:txBody>
      </p:sp>
      <p:sp>
        <p:nvSpPr>
          <p:cNvPr id="10" name="Freeform 10"/>
          <p:cNvSpPr/>
          <p:nvPr/>
        </p:nvSpPr>
        <p:spPr>
          <a:xfrm>
            <a:off x="746125" y="2555875"/>
            <a:ext cx="222250" cy="211138"/>
          </a:xfrm>
          <a:custGeom>
            <a:avLst/>
            <a:gdLst/>
            <a:ahLst/>
            <a:cxnLst/>
            <a:rect l="l" t="t" r="r" b="b"/>
            <a:pathLst>
              <a:path w="222250" h="211138">
                <a:moveTo>
                  <a:pt x="222250" y="127549"/>
                </a:moveTo>
                <a:lnTo>
                  <a:pt x="222250" y="177800"/>
                </a:lnTo>
                <a:cubicBezTo>
                  <a:pt x="222250" y="196212"/>
                  <a:pt x="207324" y="211138"/>
                  <a:pt x="188913" y="211138"/>
                </a:cubicBezTo>
                <a:lnTo>
                  <a:pt x="33338" y="211138"/>
                </a:lnTo>
                <a:cubicBezTo>
                  <a:pt x="14926" y="211138"/>
                  <a:pt x="0" y="196212"/>
                  <a:pt x="0" y="177800"/>
                </a:cubicBezTo>
                <a:lnTo>
                  <a:pt x="0" y="127549"/>
                </a:lnTo>
                <a:lnTo>
                  <a:pt x="6145" y="130627"/>
                </a:lnTo>
                <a:cubicBezTo>
                  <a:pt x="72192" y="163895"/>
                  <a:pt x="150098" y="163887"/>
                  <a:pt x="216138" y="130605"/>
                </a:cubicBezTo>
                <a:lnTo>
                  <a:pt x="222250" y="127549"/>
                </a:lnTo>
                <a:close/>
                <a:moveTo>
                  <a:pt x="133350" y="0"/>
                </a:moveTo>
                <a:cubicBezTo>
                  <a:pt x="151762" y="0"/>
                  <a:pt x="166688" y="14926"/>
                  <a:pt x="166688" y="33338"/>
                </a:cubicBezTo>
                <a:lnTo>
                  <a:pt x="166688" y="44450"/>
                </a:lnTo>
                <a:lnTo>
                  <a:pt x="188913" y="44450"/>
                </a:lnTo>
                <a:cubicBezTo>
                  <a:pt x="207324" y="44450"/>
                  <a:pt x="222250" y="59376"/>
                  <a:pt x="222250" y="77788"/>
                </a:cubicBezTo>
                <a:lnTo>
                  <a:pt x="222250" y="102702"/>
                </a:lnTo>
                <a:lnTo>
                  <a:pt x="206170" y="110747"/>
                </a:lnTo>
                <a:cubicBezTo>
                  <a:pt x="147866" y="140135"/>
                  <a:pt x="79246" y="140898"/>
                  <a:pt x="20303" y="112814"/>
                </a:cubicBezTo>
                <a:lnTo>
                  <a:pt x="13113" y="109258"/>
                </a:lnTo>
                <a:lnTo>
                  <a:pt x="0" y="102702"/>
                </a:lnTo>
                <a:lnTo>
                  <a:pt x="0" y="77788"/>
                </a:lnTo>
                <a:cubicBezTo>
                  <a:pt x="0" y="59376"/>
                  <a:pt x="14926" y="44450"/>
                  <a:pt x="33338" y="44450"/>
                </a:cubicBezTo>
                <a:lnTo>
                  <a:pt x="55563" y="44450"/>
                </a:lnTo>
                <a:lnTo>
                  <a:pt x="55563" y="33338"/>
                </a:lnTo>
                <a:cubicBezTo>
                  <a:pt x="55563" y="14926"/>
                  <a:pt x="70488" y="0"/>
                  <a:pt x="88900" y="0"/>
                </a:cubicBezTo>
                <a:lnTo>
                  <a:pt x="133350" y="0"/>
                </a:lnTo>
                <a:close/>
                <a:moveTo>
                  <a:pt x="111125" y="88900"/>
                </a:moveTo>
                <a:cubicBezTo>
                  <a:pt x="104988" y="88900"/>
                  <a:pt x="100012" y="93875"/>
                  <a:pt x="100012" y="100012"/>
                </a:cubicBezTo>
                <a:cubicBezTo>
                  <a:pt x="99993" y="103983"/>
                  <a:pt x="102092" y="107662"/>
                  <a:pt x="105521" y="109664"/>
                </a:cubicBezTo>
                <a:cubicBezTo>
                  <a:pt x="108949" y="111666"/>
                  <a:pt x="113185" y="111687"/>
                  <a:pt x="116633" y="109720"/>
                </a:cubicBezTo>
                <a:cubicBezTo>
                  <a:pt x="120081" y="107752"/>
                  <a:pt x="122218" y="104094"/>
                  <a:pt x="122237" y="100124"/>
                </a:cubicBezTo>
                <a:cubicBezTo>
                  <a:pt x="122238" y="93878"/>
                  <a:pt x="117259" y="88900"/>
                  <a:pt x="111125" y="88900"/>
                </a:cubicBezTo>
                <a:close/>
                <a:moveTo>
                  <a:pt x="133350" y="22225"/>
                </a:moveTo>
                <a:lnTo>
                  <a:pt x="88900" y="22225"/>
                </a:lnTo>
                <a:cubicBezTo>
                  <a:pt x="82763" y="22225"/>
                  <a:pt x="77788" y="27200"/>
                  <a:pt x="77788" y="33338"/>
                </a:cubicBezTo>
                <a:lnTo>
                  <a:pt x="77788" y="44450"/>
                </a:lnTo>
                <a:lnTo>
                  <a:pt x="144463" y="44450"/>
                </a:lnTo>
                <a:lnTo>
                  <a:pt x="144463" y="33338"/>
                </a:lnTo>
                <a:cubicBezTo>
                  <a:pt x="144463" y="27200"/>
                  <a:pt x="139487" y="22225"/>
                  <a:pt x="133350" y="22225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82040" y="2567940"/>
            <a:ext cx="385762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质量：关键口径一致性达到 95%+</a:t>
            </a:r>
          </a:p>
        </p:txBody>
      </p:sp>
      <p:sp>
        <p:nvSpPr>
          <p:cNvPr id="12" name="Freeform 12"/>
          <p:cNvSpPr/>
          <p:nvPr/>
        </p:nvSpPr>
        <p:spPr>
          <a:xfrm>
            <a:off x="533400" y="3124200"/>
            <a:ext cx="7239000" cy="3086100"/>
          </a:xfrm>
          <a:custGeom>
            <a:avLst/>
            <a:gdLst/>
            <a:ahLst/>
            <a:cxnLst/>
            <a:rect l="l" t="t" r="r" b="b"/>
            <a:pathLst>
              <a:path w="7239000" h="3086100">
                <a:moveTo>
                  <a:pt x="114300" y="0"/>
                </a:moveTo>
                <a:lnTo>
                  <a:pt x="7124700" y="0"/>
                </a:lnTo>
                <a:cubicBezTo>
                  <a:pt x="7187826" y="0"/>
                  <a:pt x="7239000" y="51174"/>
                  <a:pt x="7239000" y="114300"/>
                </a:cubicBezTo>
                <a:lnTo>
                  <a:pt x="7239000" y="2971800"/>
                </a:lnTo>
                <a:cubicBezTo>
                  <a:pt x="7239000" y="3034926"/>
                  <a:pt x="7187826" y="3086100"/>
                  <a:pt x="712470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7943850" y="3124200"/>
            <a:ext cx="3714750" cy="3086100"/>
          </a:xfrm>
          <a:custGeom>
            <a:avLst/>
            <a:gdLst/>
            <a:ahLst/>
            <a:cxnLst/>
            <a:rect l="l" t="t" r="r" b="b"/>
            <a:pathLst>
              <a:path w="3714750" h="3086100">
                <a:moveTo>
                  <a:pt x="114300" y="0"/>
                </a:moveTo>
                <a:lnTo>
                  <a:pt x="3600450" y="0"/>
                </a:lnTo>
                <a:cubicBezTo>
                  <a:pt x="3663576" y="0"/>
                  <a:pt x="3714750" y="51174"/>
                  <a:pt x="3714750" y="114300"/>
                </a:cubicBezTo>
                <a:lnTo>
                  <a:pt x="3714750" y="2971800"/>
                </a:lnTo>
                <a:cubicBezTo>
                  <a:pt x="3714750" y="3034926"/>
                  <a:pt x="3663576" y="3086100"/>
                  <a:pt x="360045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8196262" y="3466529"/>
            <a:ext cx="250389" cy="250799"/>
          </a:xfrm>
          <a:custGeom>
            <a:avLst/>
            <a:gdLst/>
            <a:ahLst/>
            <a:cxnLst/>
            <a:rect l="l" t="t" r="r" b="b"/>
            <a:pathLst>
              <a:path w="250389" h="250799">
                <a:moveTo>
                  <a:pt x="178594" y="21288"/>
                </a:moveTo>
                <a:cubicBezTo>
                  <a:pt x="228212" y="49937"/>
                  <a:pt x="250389" y="109863"/>
                  <a:pt x="231374" y="163911"/>
                </a:cubicBezTo>
                <a:cubicBezTo>
                  <a:pt x="212360" y="217958"/>
                  <a:pt x="157547" y="250799"/>
                  <a:pt x="100920" y="242070"/>
                </a:cubicBezTo>
                <a:cubicBezTo>
                  <a:pt x="44294" y="233341"/>
                  <a:pt x="1915" y="185518"/>
                  <a:pt x="60" y="128253"/>
                </a:cubicBezTo>
                <a:lnTo>
                  <a:pt x="0" y="124396"/>
                </a:lnTo>
                <a:lnTo>
                  <a:pt x="60" y="120538"/>
                </a:lnTo>
                <a:cubicBezTo>
                  <a:pt x="1416" y="78711"/>
                  <a:pt x="24632" y="40667"/>
                  <a:pt x="61209" y="20334"/>
                </a:cubicBezTo>
                <a:cubicBezTo>
                  <a:pt x="97786" y="0"/>
                  <a:pt x="142352" y="362"/>
                  <a:pt x="178594" y="21288"/>
                </a:cubicBezTo>
                <a:close/>
                <a:moveTo>
                  <a:pt x="119062" y="52958"/>
                </a:moveTo>
                <a:cubicBezTo>
                  <a:pt x="113026" y="52959"/>
                  <a:pt x="107946" y="57477"/>
                  <a:pt x="107240" y="63471"/>
                </a:cubicBezTo>
                <a:lnTo>
                  <a:pt x="107156" y="64865"/>
                </a:lnTo>
                <a:lnTo>
                  <a:pt x="107156" y="124396"/>
                </a:lnTo>
                <a:lnTo>
                  <a:pt x="107263" y="125955"/>
                </a:lnTo>
                <a:cubicBezTo>
                  <a:pt x="107535" y="128021"/>
                  <a:pt x="108344" y="129980"/>
                  <a:pt x="109609" y="131635"/>
                </a:cubicBezTo>
                <a:lnTo>
                  <a:pt x="110645" y="132825"/>
                </a:lnTo>
                <a:lnTo>
                  <a:pt x="146364" y="168544"/>
                </a:lnTo>
                <a:lnTo>
                  <a:pt x="147483" y="169520"/>
                </a:lnTo>
                <a:cubicBezTo>
                  <a:pt x="151778" y="172853"/>
                  <a:pt x="157785" y="172853"/>
                  <a:pt x="162080" y="169520"/>
                </a:cubicBezTo>
                <a:lnTo>
                  <a:pt x="163199" y="168532"/>
                </a:lnTo>
                <a:lnTo>
                  <a:pt x="164187" y="167413"/>
                </a:lnTo>
                <a:cubicBezTo>
                  <a:pt x="167520" y="163118"/>
                  <a:pt x="167520" y="157111"/>
                  <a:pt x="164187" y="152816"/>
                </a:cubicBezTo>
                <a:lnTo>
                  <a:pt x="163199" y="151697"/>
                </a:lnTo>
                <a:lnTo>
                  <a:pt x="130969" y="119455"/>
                </a:lnTo>
                <a:lnTo>
                  <a:pt x="130969" y="64865"/>
                </a:lnTo>
                <a:lnTo>
                  <a:pt x="130885" y="63471"/>
                </a:lnTo>
                <a:cubicBezTo>
                  <a:pt x="130179" y="57477"/>
                  <a:pt x="125099" y="52959"/>
                  <a:pt x="119062" y="52958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568690" y="3482340"/>
            <a:ext cx="16053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指标一：30%</a:t>
            </a:r>
          </a:p>
        </p:txBody>
      </p:sp>
      <p:sp>
        <p:nvSpPr>
          <p:cNvPr id="16" name="Freeform 16"/>
          <p:cNvSpPr/>
          <p:nvPr/>
        </p:nvSpPr>
        <p:spPr>
          <a:xfrm>
            <a:off x="8196262" y="4152329"/>
            <a:ext cx="250389" cy="250799"/>
          </a:xfrm>
          <a:custGeom>
            <a:avLst/>
            <a:gdLst/>
            <a:ahLst/>
            <a:cxnLst/>
            <a:rect l="l" t="t" r="r" b="b"/>
            <a:pathLst>
              <a:path w="250389" h="250799">
                <a:moveTo>
                  <a:pt x="178594" y="21288"/>
                </a:moveTo>
                <a:cubicBezTo>
                  <a:pt x="228212" y="49937"/>
                  <a:pt x="250389" y="109863"/>
                  <a:pt x="231374" y="163911"/>
                </a:cubicBezTo>
                <a:cubicBezTo>
                  <a:pt x="212360" y="217958"/>
                  <a:pt x="157547" y="250799"/>
                  <a:pt x="100920" y="242070"/>
                </a:cubicBezTo>
                <a:cubicBezTo>
                  <a:pt x="44294" y="233341"/>
                  <a:pt x="1915" y="185518"/>
                  <a:pt x="60" y="128253"/>
                </a:cubicBezTo>
                <a:lnTo>
                  <a:pt x="0" y="124396"/>
                </a:lnTo>
                <a:lnTo>
                  <a:pt x="60" y="120538"/>
                </a:lnTo>
                <a:cubicBezTo>
                  <a:pt x="1416" y="78711"/>
                  <a:pt x="24632" y="40667"/>
                  <a:pt x="61209" y="20334"/>
                </a:cubicBezTo>
                <a:cubicBezTo>
                  <a:pt x="97786" y="0"/>
                  <a:pt x="142352" y="362"/>
                  <a:pt x="178594" y="21288"/>
                </a:cubicBezTo>
                <a:close/>
                <a:moveTo>
                  <a:pt x="166080" y="102774"/>
                </a:moveTo>
                <a:cubicBezTo>
                  <a:pt x="164171" y="97045"/>
                  <a:pt x="158277" y="93653"/>
                  <a:pt x="152364" y="94880"/>
                </a:cubicBezTo>
                <a:lnTo>
                  <a:pt x="151019" y="95237"/>
                </a:lnTo>
                <a:lnTo>
                  <a:pt x="119062" y="105893"/>
                </a:lnTo>
                <a:lnTo>
                  <a:pt x="87106" y="95237"/>
                </a:lnTo>
                <a:lnTo>
                  <a:pt x="85761" y="94880"/>
                </a:lnTo>
                <a:cubicBezTo>
                  <a:pt x="79855" y="93665"/>
                  <a:pt x="73972" y="97056"/>
                  <a:pt x="72065" y="102777"/>
                </a:cubicBezTo>
                <a:cubicBezTo>
                  <a:pt x="70158" y="108497"/>
                  <a:pt x="72829" y="114740"/>
                  <a:pt x="78284" y="117312"/>
                </a:cubicBezTo>
                <a:lnTo>
                  <a:pt x="79581" y="117835"/>
                </a:lnTo>
                <a:lnTo>
                  <a:pt x="107156" y="127015"/>
                </a:lnTo>
                <a:lnTo>
                  <a:pt x="107156" y="138636"/>
                </a:lnTo>
                <a:lnTo>
                  <a:pt x="85344" y="171378"/>
                </a:lnTo>
                <a:lnTo>
                  <a:pt x="84630" y="172568"/>
                </a:lnTo>
                <a:cubicBezTo>
                  <a:pt x="82146" y="177448"/>
                  <a:pt x="83310" y="183393"/>
                  <a:pt x="87451" y="186975"/>
                </a:cubicBezTo>
                <a:lnTo>
                  <a:pt x="88642" y="187880"/>
                </a:lnTo>
                <a:lnTo>
                  <a:pt x="89845" y="188594"/>
                </a:lnTo>
                <a:cubicBezTo>
                  <a:pt x="94724" y="191078"/>
                  <a:pt x="100669" y="189914"/>
                  <a:pt x="104251" y="185772"/>
                </a:cubicBezTo>
                <a:lnTo>
                  <a:pt x="105156" y="184582"/>
                </a:lnTo>
                <a:lnTo>
                  <a:pt x="119062" y="163722"/>
                </a:lnTo>
                <a:lnTo>
                  <a:pt x="132969" y="184582"/>
                </a:lnTo>
                <a:lnTo>
                  <a:pt x="133802" y="185689"/>
                </a:lnTo>
                <a:cubicBezTo>
                  <a:pt x="137713" y="190298"/>
                  <a:pt x="144456" y="191246"/>
                  <a:pt x="149486" y="187893"/>
                </a:cubicBezTo>
                <a:cubicBezTo>
                  <a:pt x="154515" y="184540"/>
                  <a:pt x="156234" y="177951"/>
                  <a:pt x="153483" y="172568"/>
                </a:cubicBezTo>
                <a:lnTo>
                  <a:pt x="152781" y="171378"/>
                </a:lnTo>
                <a:lnTo>
                  <a:pt x="130969" y="138636"/>
                </a:lnTo>
                <a:lnTo>
                  <a:pt x="130969" y="127003"/>
                </a:lnTo>
                <a:lnTo>
                  <a:pt x="158544" y="117824"/>
                </a:lnTo>
                <a:lnTo>
                  <a:pt x="159841" y="117300"/>
                </a:lnTo>
                <a:cubicBezTo>
                  <a:pt x="165305" y="114736"/>
                  <a:pt x="167986" y="108489"/>
                  <a:pt x="166080" y="102762"/>
                </a:cubicBezTo>
                <a:close/>
                <a:moveTo>
                  <a:pt x="119062" y="52958"/>
                </a:moveTo>
                <a:cubicBezTo>
                  <a:pt x="112682" y="52958"/>
                  <a:pt x="106786" y="56362"/>
                  <a:pt x="103596" y="61888"/>
                </a:cubicBezTo>
                <a:cubicBezTo>
                  <a:pt x="100406" y="67414"/>
                  <a:pt x="100406" y="74222"/>
                  <a:pt x="103596" y="79747"/>
                </a:cubicBezTo>
                <a:cubicBezTo>
                  <a:pt x="106786" y="85273"/>
                  <a:pt x="112682" y="88677"/>
                  <a:pt x="119063" y="88677"/>
                </a:cubicBezTo>
                <a:cubicBezTo>
                  <a:pt x="128926" y="88677"/>
                  <a:pt x="136922" y="80681"/>
                  <a:pt x="136922" y="70818"/>
                </a:cubicBezTo>
                <a:cubicBezTo>
                  <a:pt x="136922" y="60954"/>
                  <a:pt x="128926" y="52958"/>
                  <a:pt x="119062" y="52958"/>
                </a:cubicBezTo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568690" y="4168140"/>
            <a:ext cx="16053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指标二：95%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68690" y="4758690"/>
            <a:ext cx="16053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指标三：95%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5780" y="4897755"/>
            <a:ext cx="384114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图表：grouped_bar_chart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9590" y="5406390"/>
            <a:ext cx="87210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围绕效率、质量、管理三类指标形成可量化成效，并分阶段制定推广路径。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238727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补充分析页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41724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 数据湖建设与智能体应用...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5162550" cy="2781300"/>
          </a:xfrm>
          <a:custGeom>
            <a:avLst/>
            <a:gdLst/>
            <a:ahLst/>
            <a:cxnLst/>
            <a:rect l="l" t="t" r="r" b="b"/>
            <a:pathLst>
              <a:path w="5162550" h="2781300">
                <a:moveTo>
                  <a:pt x="114300" y="0"/>
                </a:moveTo>
                <a:lnTo>
                  <a:pt x="5048250" y="0"/>
                </a:lnTo>
                <a:cubicBezTo>
                  <a:pt x="5111376" y="0"/>
                  <a:pt x="5162550" y="51174"/>
                  <a:pt x="5162550" y="114300"/>
                </a:cubicBezTo>
                <a:lnTo>
                  <a:pt x="5162550" y="2667000"/>
                </a:lnTo>
                <a:cubicBezTo>
                  <a:pt x="5162550" y="2730126"/>
                  <a:pt x="5111376" y="2781300"/>
                  <a:pt x="50482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886450" y="1752600"/>
            <a:ext cx="5772150" cy="2781300"/>
          </a:xfrm>
          <a:custGeom>
            <a:avLst/>
            <a:gdLst/>
            <a:ahLst/>
            <a:cxnLst/>
            <a:rect l="l" t="t" r="r" b="b"/>
            <a:pathLst>
              <a:path w="5772150" h="2781300">
                <a:moveTo>
                  <a:pt x="114300" y="0"/>
                </a:moveTo>
                <a:lnTo>
                  <a:pt x="5657850" y="0"/>
                </a:lnTo>
                <a:cubicBezTo>
                  <a:pt x="5720976" y="0"/>
                  <a:pt x="5772150" y="51174"/>
                  <a:pt x="5772150" y="114300"/>
                </a:cubicBezTo>
                <a:lnTo>
                  <a:pt x="5772150" y="2667000"/>
                </a:lnTo>
                <a:cubicBezTo>
                  <a:pt x="5772150" y="2730126"/>
                  <a:pt x="5720976" y="2781300"/>
                  <a:pt x="56578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6148387" y="2060575"/>
            <a:ext cx="200026" cy="222250"/>
            <a:chOff x="6148387" y="2060575"/>
            <a:chExt cx="200026" cy="222250"/>
          </a:xfrm>
        </p:grpSpPr>
        <p:sp>
          <p:nvSpPr>
            <p:cNvPr id="9" name="Freeform 9"/>
            <p:cNvSpPr/>
            <p:nvPr/>
          </p:nvSpPr>
          <p:spPr>
            <a:xfrm>
              <a:off x="6148388" y="2213161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162"/>
                    <a:pt x="156742" y="68953"/>
                    <a:pt x="103424" y="69642"/>
                  </a:cubicBezTo>
                  <a:lnTo>
                    <a:pt x="100012" y="69664"/>
                  </a:lnTo>
                  <a:cubicBezTo>
                    <a:pt x="45139" y="69664"/>
                    <a:pt x="0" y="52740"/>
                    <a:pt x="0" y="25214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148388" y="2146486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740"/>
                    <a:pt x="154886" y="69664"/>
                    <a:pt x="100012" y="69664"/>
                  </a:cubicBezTo>
                  <a:cubicBezTo>
                    <a:pt x="46695" y="69664"/>
                    <a:pt x="2556" y="53684"/>
                    <a:pt x="233" y="27492"/>
                  </a:cubicBezTo>
                  <a:lnTo>
                    <a:pt x="56" y="26370"/>
                  </a:lnTo>
                  <a:lnTo>
                    <a:pt x="0" y="25214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148387" y="2060575"/>
              <a:ext cx="200026" cy="88900"/>
            </a:xfrm>
            <a:custGeom>
              <a:avLst/>
              <a:gdLst/>
              <a:ahLst/>
              <a:cxnLst/>
              <a:rect l="l" t="t" r="r" b="b"/>
              <a:pathLst>
                <a:path w="200026" h="88900">
                  <a:moveTo>
                    <a:pt x="100013" y="0"/>
                  </a:moveTo>
                  <a:cubicBezTo>
                    <a:pt x="111581" y="0"/>
                    <a:pt x="122727" y="756"/>
                    <a:pt x="133095" y="2200"/>
                  </a:cubicBezTo>
                  <a:lnTo>
                    <a:pt x="138307" y="2989"/>
                  </a:lnTo>
                  <a:cubicBezTo>
                    <a:pt x="144530" y="4026"/>
                    <a:pt x="150405" y="5315"/>
                    <a:pt x="155931" y="6856"/>
                  </a:cubicBezTo>
                  <a:lnTo>
                    <a:pt x="160821" y="8312"/>
                  </a:lnTo>
                  <a:lnTo>
                    <a:pt x="161654" y="8579"/>
                  </a:lnTo>
                  <a:cubicBezTo>
                    <a:pt x="164679" y="9573"/>
                    <a:pt x="167663" y="10685"/>
                    <a:pt x="170600" y="11913"/>
                  </a:cubicBezTo>
                  <a:lnTo>
                    <a:pt x="172811" y="12868"/>
                  </a:lnTo>
                  <a:cubicBezTo>
                    <a:pt x="176775" y="14661"/>
                    <a:pt x="180357" y="16624"/>
                    <a:pt x="183557" y="18758"/>
                  </a:cubicBezTo>
                  <a:cubicBezTo>
                    <a:pt x="184780" y="19573"/>
                    <a:pt x="185939" y="20406"/>
                    <a:pt x="187035" y="21258"/>
                  </a:cubicBezTo>
                  <a:cubicBezTo>
                    <a:pt x="189813" y="23413"/>
                    <a:pt x="192310" y="25907"/>
                    <a:pt x="194470" y="28681"/>
                  </a:cubicBezTo>
                  <a:lnTo>
                    <a:pt x="195481" y="30104"/>
                  </a:lnTo>
                  <a:cubicBezTo>
                    <a:pt x="195999" y="30882"/>
                    <a:pt x="196477" y="31663"/>
                    <a:pt x="196914" y="32448"/>
                  </a:cubicBezTo>
                  <a:lnTo>
                    <a:pt x="197692" y="33993"/>
                  </a:lnTo>
                  <a:cubicBezTo>
                    <a:pt x="198900" y="36586"/>
                    <a:pt x="199641" y="39290"/>
                    <a:pt x="199915" y="42105"/>
                  </a:cubicBezTo>
                  <a:lnTo>
                    <a:pt x="200026" y="44450"/>
                  </a:lnTo>
                  <a:cubicBezTo>
                    <a:pt x="200026" y="71976"/>
                    <a:pt x="154887" y="88900"/>
                    <a:pt x="100013" y="88900"/>
                  </a:cubicBezTo>
                  <a:cubicBezTo>
                    <a:pt x="46696" y="88900"/>
                    <a:pt x="2557" y="72920"/>
                    <a:pt x="234" y="46728"/>
                  </a:cubicBezTo>
                  <a:cubicBezTo>
                    <a:pt x="78" y="45979"/>
                    <a:pt x="0" y="45215"/>
                    <a:pt x="1" y="44450"/>
                  </a:cubicBezTo>
                  <a:lnTo>
                    <a:pt x="56" y="43294"/>
                  </a:lnTo>
                  <a:lnTo>
                    <a:pt x="234" y="42183"/>
                  </a:lnTo>
                  <a:cubicBezTo>
                    <a:pt x="2512" y="16558"/>
                    <a:pt x="44795" y="700"/>
                    <a:pt x="96546" y="22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452235" y="2037398"/>
            <a:ext cx="483412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补充：业务价值与投入产出联动分析</a:t>
            </a:r>
          </a:p>
        </p:txBody>
      </p:sp>
      <p:sp>
        <p:nvSpPr>
          <p:cNvPr id="14" name="Freeform 14"/>
          <p:cNvSpPr/>
          <p:nvPr/>
        </p:nvSpPr>
        <p:spPr>
          <a:xfrm>
            <a:off x="6124588" y="2742708"/>
            <a:ext cx="247495" cy="214760"/>
          </a:xfrm>
          <a:custGeom>
            <a:avLst/>
            <a:gdLst/>
            <a:ahLst/>
            <a:cxnLst/>
            <a:rect l="l" t="t" r="r" b="b"/>
            <a:pathLst>
              <a:path w="247495" h="214760">
                <a:moveTo>
                  <a:pt x="123812" y="0"/>
                </a:moveTo>
                <a:cubicBezTo>
                  <a:pt x="134425" y="0"/>
                  <a:pt x="144315" y="5190"/>
                  <a:pt x="150371" y="13857"/>
                </a:cubicBezTo>
                <a:lnTo>
                  <a:pt x="151538" y="15635"/>
                </a:lnTo>
                <a:lnTo>
                  <a:pt x="241705" y="166187"/>
                </a:lnTo>
                <a:cubicBezTo>
                  <a:pt x="247275" y="175835"/>
                  <a:pt x="247495" y="187668"/>
                  <a:pt x="242288" y="197516"/>
                </a:cubicBezTo>
                <a:cubicBezTo>
                  <a:pt x="237081" y="207363"/>
                  <a:pt x="227177" y="213843"/>
                  <a:pt x="216068" y="214671"/>
                </a:cubicBezTo>
                <a:lnTo>
                  <a:pt x="213901" y="214760"/>
                </a:lnTo>
                <a:lnTo>
                  <a:pt x="33601" y="214760"/>
                </a:lnTo>
                <a:cubicBezTo>
                  <a:pt x="22481" y="214635"/>
                  <a:pt x="12203" y="208813"/>
                  <a:pt x="6379" y="199339"/>
                </a:cubicBezTo>
                <a:cubicBezTo>
                  <a:pt x="555" y="189866"/>
                  <a:pt x="0" y="178066"/>
                  <a:pt x="4908" y="168088"/>
                </a:cubicBezTo>
                <a:lnTo>
                  <a:pt x="6009" y="166032"/>
                </a:lnTo>
                <a:lnTo>
                  <a:pt x="96131" y="15591"/>
                </a:lnTo>
                <a:cubicBezTo>
                  <a:pt x="101999" y="5914"/>
                  <a:pt x="112495" y="2"/>
                  <a:pt x="123812" y="0"/>
                </a:cubicBezTo>
                <a:close/>
                <a:moveTo>
                  <a:pt x="123923" y="148130"/>
                </a:moveTo>
                <a:lnTo>
                  <a:pt x="122512" y="148207"/>
                </a:lnTo>
                <a:cubicBezTo>
                  <a:pt x="116922" y="148872"/>
                  <a:pt x="112712" y="153613"/>
                  <a:pt x="112712" y="159242"/>
                </a:cubicBezTo>
                <a:cubicBezTo>
                  <a:pt x="112712" y="164872"/>
                  <a:pt x="116922" y="169612"/>
                  <a:pt x="122512" y="170277"/>
                </a:cubicBezTo>
                <a:lnTo>
                  <a:pt x="123812" y="170355"/>
                </a:lnTo>
                <a:lnTo>
                  <a:pt x="125223" y="170277"/>
                </a:lnTo>
                <a:cubicBezTo>
                  <a:pt x="130814" y="169612"/>
                  <a:pt x="135023" y="164872"/>
                  <a:pt x="135023" y="159242"/>
                </a:cubicBezTo>
                <a:cubicBezTo>
                  <a:pt x="135023" y="153613"/>
                  <a:pt x="130814" y="148872"/>
                  <a:pt x="125223" y="148207"/>
                </a:cubicBezTo>
                <a:lnTo>
                  <a:pt x="123923" y="148130"/>
                </a:lnTo>
                <a:close/>
                <a:moveTo>
                  <a:pt x="123812" y="70342"/>
                </a:moveTo>
                <a:cubicBezTo>
                  <a:pt x="118178" y="70343"/>
                  <a:pt x="113437" y="74559"/>
                  <a:pt x="112777" y="80154"/>
                </a:cubicBezTo>
                <a:lnTo>
                  <a:pt x="112700" y="81455"/>
                </a:lnTo>
                <a:lnTo>
                  <a:pt x="112700" y="125905"/>
                </a:lnTo>
                <a:lnTo>
                  <a:pt x="112777" y="127205"/>
                </a:lnTo>
                <a:cubicBezTo>
                  <a:pt x="113442" y="132795"/>
                  <a:pt x="118183" y="137005"/>
                  <a:pt x="123812" y="137005"/>
                </a:cubicBezTo>
                <a:cubicBezTo>
                  <a:pt x="129442" y="137005"/>
                  <a:pt x="134182" y="132795"/>
                  <a:pt x="134847" y="127205"/>
                </a:cubicBezTo>
                <a:lnTo>
                  <a:pt x="134925" y="125905"/>
                </a:lnTo>
                <a:lnTo>
                  <a:pt x="134925" y="81455"/>
                </a:lnTo>
                <a:lnTo>
                  <a:pt x="134847" y="80154"/>
                </a:lnTo>
                <a:cubicBezTo>
                  <a:pt x="134188" y="74559"/>
                  <a:pt x="129446" y="70343"/>
                  <a:pt x="123812" y="70342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454140" y="2739390"/>
            <a:ext cx="36341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补充：推进节奏与里程碑对齐</a:t>
            </a:r>
          </a:p>
        </p:txBody>
      </p:sp>
      <p:sp>
        <p:nvSpPr>
          <p:cNvPr id="16" name="Freeform 16"/>
          <p:cNvSpPr/>
          <p:nvPr/>
        </p:nvSpPr>
        <p:spPr>
          <a:xfrm>
            <a:off x="6137274" y="3408147"/>
            <a:ext cx="233994" cy="234907"/>
          </a:xfrm>
          <a:custGeom>
            <a:avLst/>
            <a:gdLst/>
            <a:ahLst/>
            <a:cxnLst/>
            <a:rect l="l" t="t" r="r" b="b"/>
            <a:pathLst>
              <a:path w="233994" h="234907">
                <a:moveTo>
                  <a:pt x="166689" y="19868"/>
                </a:moveTo>
                <a:cubicBezTo>
                  <a:pt x="213392" y="46833"/>
                  <a:pt x="233994" y="103437"/>
                  <a:pt x="215549" y="154113"/>
                </a:cubicBezTo>
                <a:cubicBezTo>
                  <a:pt x="197104" y="204790"/>
                  <a:pt x="144937" y="234907"/>
                  <a:pt x="91828" y="225542"/>
                </a:cubicBezTo>
                <a:cubicBezTo>
                  <a:pt x="38719" y="216176"/>
                  <a:pt x="0" y="170031"/>
                  <a:pt x="1" y="116103"/>
                </a:cubicBezTo>
                <a:lnTo>
                  <a:pt x="57" y="112502"/>
                </a:lnTo>
                <a:cubicBezTo>
                  <a:pt x="1323" y="73464"/>
                  <a:pt x="22991" y="37956"/>
                  <a:pt x="57130" y="18978"/>
                </a:cubicBezTo>
                <a:cubicBezTo>
                  <a:pt x="91268" y="0"/>
                  <a:pt x="132863" y="338"/>
                  <a:pt x="166689" y="19868"/>
                </a:cubicBezTo>
                <a:close/>
                <a:moveTo>
                  <a:pt x="111126" y="49428"/>
                </a:moveTo>
                <a:cubicBezTo>
                  <a:pt x="104989" y="49428"/>
                  <a:pt x="100014" y="54403"/>
                  <a:pt x="100014" y="60540"/>
                </a:cubicBezTo>
                <a:cubicBezTo>
                  <a:pt x="81602" y="60540"/>
                  <a:pt x="66676" y="75466"/>
                  <a:pt x="66676" y="93878"/>
                </a:cubicBezTo>
                <a:cubicBezTo>
                  <a:pt x="66676" y="112290"/>
                  <a:pt x="81602" y="127215"/>
                  <a:pt x="100014" y="127215"/>
                </a:cubicBezTo>
                <a:lnTo>
                  <a:pt x="100014" y="149440"/>
                </a:lnTo>
                <a:cubicBezTo>
                  <a:pt x="96274" y="149640"/>
                  <a:pt x="92675" y="147986"/>
                  <a:pt x="90390" y="145017"/>
                </a:cubicBezTo>
                <a:lnTo>
                  <a:pt x="89635" y="143895"/>
                </a:lnTo>
                <a:cubicBezTo>
                  <a:pt x="86474" y="138798"/>
                  <a:pt x="79839" y="137128"/>
                  <a:pt x="74643" y="140123"/>
                </a:cubicBezTo>
                <a:cubicBezTo>
                  <a:pt x="69446" y="143117"/>
                  <a:pt x="67563" y="149695"/>
                  <a:pt x="70388" y="154985"/>
                </a:cubicBezTo>
                <a:cubicBezTo>
                  <a:pt x="76155" y="164987"/>
                  <a:pt x="86686" y="171293"/>
                  <a:pt x="98225" y="171654"/>
                </a:cubicBezTo>
                <a:lnTo>
                  <a:pt x="100014" y="171654"/>
                </a:lnTo>
                <a:cubicBezTo>
                  <a:pt x="100009" y="177292"/>
                  <a:pt x="104227" y="182040"/>
                  <a:pt x="109826" y="182700"/>
                </a:cubicBezTo>
                <a:lnTo>
                  <a:pt x="111126" y="182778"/>
                </a:lnTo>
                <a:cubicBezTo>
                  <a:pt x="117264" y="182778"/>
                  <a:pt x="122239" y="177802"/>
                  <a:pt x="122239" y="171665"/>
                </a:cubicBezTo>
                <a:lnTo>
                  <a:pt x="124195" y="171610"/>
                </a:lnTo>
                <a:cubicBezTo>
                  <a:pt x="142208" y="170569"/>
                  <a:pt x="156124" y="155385"/>
                  <a:pt x="155594" y="137349"/>
                </a:cubicBezTo>
                <a:cubicBezTo>
                  <a:pt x="155065" y="119314"/>
                  <a:pt x="140282" y="104973"/>
                  <a:pt x="122239" y="104990"/>
                </a:cubicBezTo>
                <a:lnTo>
                  <a:pt x="122239" y="82765"/>
                </a:lnTo>
                <a:cubicBezTo>
                  <a:pt x="126217" y="82632"/>
                  <a:pt x="129695" y="84321"/>
                  <a:pt x="131862" y="87188"/>
                </a:cubicBezTo>
                <a:lnTo>
                  <a:pt x="132618" y="88310"/>
                </a:lnTo>
                <a:cubicBezTo>
                  <a:pt x="135779" y="93408"/>
                  <a:pt x="142414" y="95077"/>
                  <a:pt x="147610" y="92083"/>
                </a:cubicBezTo>
                <a:cubicBezTo>
                  <a:pt x="152807" y="89088"/>
                  <a:pt x="154690" y="82511"/>
                  <a:pt x="151865" y="77220"/>
                </a:cubicBezTo>
                <a:cubicBezTo>
                  <a:pt x="146101" y="67214"/>
                  <a:pt x="135569" y="60904"/>
                  <a:pt x="124028" y="60540"/>
                </a:cubicBezTo>
                <a:lnTo>
                  <a:pt x="122239" y="60540"/>
                </a:lnTo>
                <a:cubicBezTo>
                  <a:pt x="122239" y="54403"/>
                  <a:pt x="117264" y="49428"/>
                  <a:pt x="111126" y="49428"/>
                </a:cubicBezTo>
                <a:close/>
                <a:moveTo>
                  <a:pt x="122239" y="127215"/>
                </a:moveTo>
                <a:cubicBezTo>
                  <a:pt x="128376" y="127215"/>
                  <a:pt x="133351" y="132190"/>
                  <a:pt x="133351" y="138328"/>
                </a:cubicBezTo>
                <a:cubicBezTo>
                  <a:pt x="133351" y="144465"/>
                  <a:pt x="128376" y="149440"/>
                  <a:pt x="122239" y="149440"/>
                </a:cubicBezTo>
                <a:lnTo>
                  <a:pt x="122239" y="127215"/>
                </a:lnTo>
                <a:close/>
                <a:moveTo>
                  <a:pt x="100014" y="82765"/>
                </a:moveTo>
                <a:lnTo>
                  <a:pt x="100014" y="104990"/>
                </a:lnTo>
                <a:cubicBezTo>
                  <a:pt x="93877" y="104990"/>
                  <a:pt x="88901" y="100015"/>
                  <a:pt x="88901" y="93878"/>
                </a:cubicBezTo>
                <a:cubicBezTo>
                  <a:pt x="88901" y="87740"/>
                  <a:pt x="93877" y="82765"/>
                  <a:pt x="100014" y="82765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54140" y="3406140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补充：风险与治理闭环建议</a:t>
            </a:r>
          </a:p>
        </p:txBody>
      </p:sp>
      <p:sp>
        <p:nvSpPr>
          <p:cNvPr id="18" name="Freeform 18"/>
          <p:cNvSpPr/>
          <p:nvPr/>
        </p:nvSpPr>
        <p:spPr>
          <a:xfrm>
            <a:off x="533400" y="4667250"/>
            <a:ext cx="11125200" cy="1543050"/>
          </a:xfrm>
          <a:custGeom>
            <a:avLst/>
            <a:gdLst/>
            <a:ahLst/>
            <a:cxnLst/>
            <a:rect l="l" t="t" r="r" b="b"/>
            <a:pathLst>
              <a:path w="11125200" h="15430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428750"/>
                </a:lnTo>
                <a:cubicBezTo>
                  <a:pt x="11125200" y="1491876"/>
                  <a:pt x="11074026" y="1543050"/>
                  <a:pt x="11010900" y="1543050"/>
                </a:cubicBezTo>
                <a:lnTo>
                  <a:pt x="114300" y="1543050"/>
                </a:lnTo>
                <a:cubicBezTo>
                  <a:pt x="51174" y="1543050"/>
                  <a:pt x="0" y="1491876"/>
                  <a:pt x="0" y="1428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7715" y="4811078"/>
            <a:ext cx="645841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语义匹配图表：grouped_bar_chart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5335" y="5333048"/>
            <a:ext cx="38373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围绕 数据湖建设与智能体应用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5335" y="5656898"/>
            <a:ext cx="859345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增补经营视角的对比、趋势与执行建议，保障页数与信息密度达标。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7240" y="5787390"/>
            <a:ext cx="15836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关键要点四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82452" y="4250055"/>
            <a:ext cx="34270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运营管理与数字化推进组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
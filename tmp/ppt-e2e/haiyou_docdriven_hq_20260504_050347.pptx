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Default Extension="png" ContentType="image/png"/>
  <Default Extension="jpg" ContentType="image/jpeg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notesSlides/_rels/notesSlide1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.xml"/>
</Relationships>
</file>

<file path=ppt/notesSlides/_rels/notesSlide2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2.xml"/>
</Relationships>
</file>

<file path=ppt/notesSlides/_rels/notesSlide3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3.xml"/>
</Relationships>
</file>

<file path=ppt/notesSlides/_rels/notesSlide4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4.xml"/>
</Relationships>
</file>

<file path=ppt/notesSlides/_rels/notesSlide5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5.xml"/>
</Relationships>
</file>

<file path=ppt/notesSlides/_rels/notesSlide6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6.xml"/>
</Relationships>
</file>

<file path=ppt/notesSlides/_rels/notesSlide7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7.xml"/>
</Relationships>
</file>

<file path=ppt/notesSlides/_rels/notesSlide8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8.xml"/>
</Relationships>
</file>

<file path=ppt/notesSlides/_rels/notesSlide9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9.xml"/>
</Relationships>
</file>

<file path=ppt/notesSlides/_rels/notesSlide10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0.xml"/>
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汇报聚焦海上平台智能运维一体化，目标是安全优先前提下实现降本增效。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目录分为现状与目标、方案与路线、价值与保障三部分。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第一章节进入现状分析，明确业务痛点与改进目标。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痛点来自系统割裂、告警噪声和处置链路长，需通过平台化能力统一治理。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核心KPI覆盖可靠性、效率和安全闭环，形成可量化管理抓手。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第二章节进入实施方案与推进路径。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四层架构把采集、平台、应用、运营打通，形成持续演进体系。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柱状图展示关键指标改进幅度，体现阶段性成果。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折线图展示季度推进趋势，强调按里程碑稳步落地。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总结强调标准先行、样板先试、运营闭环，保障推广成功。</a:t>
            </a:r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s1_img1.png"/>
  <Relationship Id="rId3" Type="http://schemas.openxmlformats.org/officeDocument/2006/relationships/image" Target="../media/s1_img2.png"/>
  <Relationship Id="rId4" Type="http://schemas.openxmlformats.org/officeDocument/2006/relationships/notesSlide" Target="../notesSlides/notesSlide1.xml"/>
</Relationships>
</file>

<file path=ppt/slides/_rels/slide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s2_img1.png"/>
  <Relationship Id="rId3" Type="http://schemas.openxmlformats.org/officeDocument/2006/relationships/notesSlide" Target="../notesSlides/notesSlide2.xml"/>
</Relationships>
</file>

<file path=ppt/slides/_rels/slide3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s3_img1.png"/>
  <Relationship Id="rId3" Type="http://schemas.openxmlformats.org/officeDocument/2006/relationships/notesSlide" Target="../notesSlides/notesSlide3.xml"/>
</Relationships>
</file>

<file path=ppt/slides/_rels/slide4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s4_img1.png"/>
  <Relationship Id="rId3" Type="http://schemas.openxmlformats.org/officeDocument/2006/relationships/notesSlide" Target="../notesSlides/notesSlide4.xml"/>
</Relationships>
</file>

<file path=ppt/slides/_rels/slide5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s4_img1.png"/>
  <Relationship Id="rId3" Type="http://schemas.openxmlformats.org/officeDocument/2006/relationships/notesSlide" Target="../notesSlides/notesSlide5.xml"/>
</Relationships>
</file>

<file path=ppt/slides/_rels/slide6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s3_img1.png"/>
  <Relationship Id="rId3" Type="http://schemas.openxmlformats.org/officeDocument/2006/relationships/notesSlide" Target="../notesSlides/notesSlide6.xml"/>
</Relationships>
</file>

<file path=ppt/slides/_rels/slide7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s4_img1.png"/>
  <Relationship Id="rId3" Type="http://schemas.openxmlformats.org/officeDocument/2006/relationships/notesSlide" Target="../notesSlides/notesSlide7.xml"/>
</Relationships>
</file>

<file path=ppt/slides/_rels/slide8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s4_img1.png"/>
  <Relationship Id="rId3" Type="http://schemas.openxmlformats.org/officeDocument/2006/relationships/notesSlide" Target="../notesSlides/notesSlide8.xml"/>
</Relationships>
</file>

<file path=ppt/slides/_rels/slide9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s4_img1.png"/>
  <Relationship Id="rId3" Type="http://schemas.openxmlformats.org/officeDocument/2006/relationships/notesSlide" Target="../notesSlides/notesSlide9.xml"/>
</Relationships>
</file>

<file path=ppt/slides/_rels/slide10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s10_img1.png"/>
  <Relationship Id="rId3" Type="http://schemas.openxmlformats.org/officeDocument/2006/relationships/notesSlide" Target="../notesSlides/notesSlide10.xml"/>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5300" y="247650"/>
            <a:ext cx="1390650" cy="419100"/>
          </a:xfrm>
          <a:prstGeom prst="rect">
            <a:avLst/>
          </a:prstGeom>
        </p:spPr>
      </p:pic>
      <p:sp>
        <p:nvSpPr>
          <p:cNvPr id="4" name="TextBox 4"/>
          <p:cNvSpPr txBox="1"/>
          <p:nvPr/>
        </p:nvSpPr>
        <p:spPr>
          <a:xfrm>
            <a:off x="662940" y="3025140"/>
            <a:ext cx="13371576" cy="975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4800" b="1" dirty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海上平台智能运维与安全生产一体化方案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683895" y="3755708"/>
            <a:ext cx="7325916" cy="640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150" b="1" dirty="0">
                <a:solidFill>
                  <a:srgbClr val="EAF2F9"/>
                </a:solidFill>
                <a:latin typeface="Microsoft YaHei"/>
                <a:ea typeface="Microsoft YaHei"/>
                <a:cs typeface="Microsoft YaHei"/>
              </a:rPr>
              <a:t>文档驱动高质量成片（海油模板）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695325" y="4291012"/>
            <a:ext cx="3458289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250" dirty="0">
                <a:solidFill>
                  <a:srgbClr val="DDEAF6"/>
                </a:solidFill>
                <a:latin typeface="Microsoft YaHei"/>
                <a:ea typeface="Microsoft YaHei"/>
                <a:cs typeface="Microsoft YaHei"/>
              </a:rPr>
              <a:t>DeerFlow ppt-master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695325" y="4672012"/>
            <a:ext cx="1864519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250" dirty="0">
                <a:solidFill>
                  <a:srgbClr val="DDEAF6"/>
                </a:solidFill>
                <a:latin typeface="Microsoft YaHei"/>
                <a:ea typeface="Microsoft YaHei"/>
                <a:cs typeface="Microsoft YaHei"/>
              </a:rPr>
              <a:t>2026-05-04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" dur="4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5" presetClass="entr" presetSubtype="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5" dur="4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700"/>
                            </p:stCondLst>
                            <p:childTnLst>
                              <p:par>
                                <p:cTn id="17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9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3600"/>
                            </p:stCondLst>
                            <p:childTnLst>
                              <p:par>
                                <p:cTn id="21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3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4500"/>
                            </p:stCondLst>
                            <p:childTnLst>
                              <p:par>
                                <p:cTn id="25" presetID="4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27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4" grpId="0"/>
      <p:bldP spid="5" grpId="0"/>
      <p:bldP spid="6" grpId="0"/>
      <p:bldP spid="7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72" y="0"/>
            <a:ext cx="12174855" cy="6858000"/>
          </a:xfrm>
          <a:prstGeom prst="rect">
            <a:avLst/>
          </a:prstGeom>
        </p:spPr>
      </p:pic>
      <p:sp>
        <p:nvSpPr>
          <p:cNvPr id="3" name="Rectangle 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>
              <a:alpha val="6000"/>
            </a:srgbClr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 rot="5400000">
            <a:off x="104394" y="1642110"/>
            <a:ext cx="3765042" cy="1097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5400" dirty="0">
                <a:solidFill>
                  <a:srgbClr val="E3E8ED"/>
                </a:solidFill>
                <a:latin typeface="Arial"/>
                <a:ea typeface="Microsoft YaHei"/>
                <a:cs typeface="Arial"/>
              </a:rPr>
              <a:t>CONTENTS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2008680" y="2415540"/>
            <a:ext cx="1126141" cy="12801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6300" b="1" dirty="0">
                <a:solidFill>
                  <a:srgbClr val="004C8B"/>
                </a:solidFill>
                <a:latin typeface="Microsoft YaHei"/>
                <a:ea typeface="Microsoft YaHei"/>
                <a:cs typeface="Microsoft YaHei"/>
              </a:rPr>
              <a:t>目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2008680" y="3320415"/>
            <a:ext cx="1126141" cy="12801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6300" b="1" dirty="0">
                <a:solidFill>
                  <a:srgbClr val="004C8B"/>
                </a:solidFill>
                <a:latin typeface="Microsoft YaHei"/>
                <a:ea typeface="Microsoft YaHei"/>
                <a:cs typeface="Microsoft YaHei"/>
              </a:rPr>
              <a:t>录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4417695" y="1974532"/>
            <a:ext cx="724236" cy="944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4650" b="1" dirty="0">
                <a:solidFill>
                  <a:srgbClr val="004C8B"/>
                </a:solidFill>
                <a:latin typeface="Arial"/>
                <a:ea typeface="Microsoft YaHei"/>
                <a:cs typeface="Arial"/>
              </a:rPr>
              <a:t>01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5661660" y="2023110"/>
            <a:ext cx="3327082" cy="8534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4200" b="1" dirty="0">
                <a:solidFill>
                  <a:srgbClr val="004C8B"/>
                </a:solidFill>
                <a:latin typeface="Microsoft YaHei"/>
                <a:ea typeface="Microsoft YaHei"/>
                <a:cs typeface="Microsoft YaHei"/>
              </a:rPr>
              <a:t>现状与目标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4417695" y="2927032"/>
            <a:ext cx="902508" cy="944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4650" b="1" dirty="0">
                <a:solidFill>
                  <a:srgbClr val="004C8B"/>
                </a:solidFill>
                <a:latin typeface="Arial"/>
                <a:ea typeface="Microsoft YaHei"/>
                <a:cs typeface="Arial"/>
              </a:rPr>
              <a:t>02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5661660" y="2975610"/>
            <a:ext cx="3327082" cy="8534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4200" b="1" dirty="0">
                <a:solidFill>
                  <a:srgbClr val="004C8B"/>
                </a:solidFill>
                <a:latin typeface="Microsoft YaHei"/>
                <a:ea typeface="Microsoft YaHei"/>
                <a:cs typeface="Microsoft YaHei"/>
              </a:rPr>
              <a:t>方案与路线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4417695" y="3879532"/>
            <a:ext cx="902508" cy="944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4650" b="1" dirty="0">
                <a:solidFill>
                  <a:srgbClr val="004C8B"/>
                </a:solidFill>
                <a:latin typeface="Arial"/>
                <a:ea typeface="Microsoft YaHei"/>
                <a:cs typeface="Arial"/>
              </a:rPr>
              <a:t>03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5661660" y="3928110"/>
            <a:ext cx="3327082" cy="8534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4200" b="1" dirty="0">
                <a:solidFill>
                  <a:srgbClr val="004C8B"/>
                </a:solidFill>
                <a:latin typeface="Microsoft YaHei"/>
                <a:ea typeface="Microsoft YaHei"/>
                <a:cs typeface="Microsoft YaHei"/>
              </a:rPr>
              <a:t>价值与保障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672" y="0"/>
            <a:ext cx="12099608" cy="6858000"/>
          </a:xfrm>
          <a:prstGeom prst="rect">
            <a:avLst/>
          </a:prstGeom>
        </p:spPr>
      </p:pic>
      <p:sp>
        <p:nvSpPr>
          <p:cNvPr id="3" name="Rectangle 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>
              <a:alpha val="4000"/>
            </a:srgbClr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231590" y="1868805"/>
            <a:ext cx="1728821" cy="22555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100" b="1" dirty="0">
                <a:solidFill>
                  <a:srgbClr val="004C8B"/>
                </a:solidFill>
                <a:latin typeface="Arial"/>
                <a:ea typeface="Microsoft YaHei"/>
                <a:cs typeface="Arial"/>
              </a:rPr>
              <a:t>01</a:t>
            </a:r>
          </a:p>
        </p:txBody>
      </p:sp>
      <p:sp>
        <p:nvSpPr>
          <p:cNvPr id="5" name="Line 5"/>
          <p:cNvSpPr/>
          <p:nvPr/>
        </p:nvSpPr>
        <p:spPr>
          <a:xfrm>
            <a:off x="3981450" y="3638550"/>
            <a:ext cx="1524000" cy="9525"/>
          </a:xfrm>
          <a:custGeom>
            <a:avLst/>
            <a:gdLst/>
            <a:ahLst/>
            <a:cxnLst/>
            <a:rect l="l" t="t" r="r" b="b"/>
            <a:pathLst>
              <a:path w="1524000" h="9525">
                <a:moveTo>
                  <a:pt x="0" y="0"/>
                </a:moveTo>
                <a:lnTo>
                  <a:pt x="1524000" y="0"/>
                </a:lnTo>
              </a:path>
            </a:pathLst>
          </a:custGeom>
          <a:noFill/>
          <a:ln w="38100">
            <a:solidFill>
              <a:srgbClr val="0074CC"/>
            </a:solidFill>
          </a:ln>
        </p:spPr>
      </p:sp>
      <p:sp>
        <p:nvSpPr>
          <p:cNvPr id="6" name="Line 6"/>
          <p:cNvSpPr/>
          <p:nvPr/>
        </p:nvSpPr>
        <p:spPr>
          <a:xfrm>
            <a:off x="5505450" y="3638550"/>
            <a:ext cx="1181100" cy="9525"/>
          </a:xfrm>
          <a:custGeom>
            <a:avLst/>
            <a:gdLst/>
            <a:ahLst/>
            <a:cxnLst/>
            <a:rect l="l" t="t" r="r" b="b"/>
            <a:pathLst>
              <a:path w="1181100" h="9525">
                <a:moveTo>
                  <a:pt x="0" y="0"/>
                </a:moveTo>
                <a:lnTo>
                  <a:pt x="1181100" y="0"/>
                </a:lnTo>
              </a:path>
            </a:pathLst>
          </a:custGeom>
          <a:noFill/>
          <a:ln w="38100">
            <a:solidFill>
              <a:srgbClr val="DE002B"/>
            </a:solidFill>
          </a:ln>
        </p:spPr>
      </p:sp>
      <p:sp>
        <p:nvSpPr>
          <p:cNvPr id="7" name="Line 7"/>
          <p:cNvSpPr/>
          <p:nvPr/>
        </p:nvSpPr>
        <p:spPr>
          <a:xfrm>
            <a:off x="6686550" y="3638550"/>
            <a:ext cx="1524000" cy="9525"/>
          </a:xfrm>
          <a:custGeom>
            <a:avLst/>
            <a:gdLst/>
            <a:ahLst/>
            <a:cxnLst/>
            <a:rect l="l" t="t" r="r" b="b"/>
            <a:pathLst>
              <a:path w="1524000" h="9525">
                <a:moveTo>
                  <a:pt x="0" y="0"/>
                </a:moveTo>
                <a:lnTo>
                  <a:pt x="1524000" y="0"/>
                </a:lnTo>
              </a:path>
            </a:pathLst>
          </a:custGeom>
          <a:noFill/>
          <a:ln w="38100">
            <a:solidFill>
              <a:srgbClr val="0074CC"/>
            </a:solidFill>
          </a:ln>
        </p:spPr>
      </p:sp>
      <p:sp>
        <p:nvSpPr>
          <p:cNvPr id="8" name="TextBox 8"/>
          <p:cNvSpPr txBox="1"/>
          <p:nvPr/>
        </p:nvSpPr>
        <p:spPr>
          <a:xfrm>
            <a:off x="3719512" y="4095750"/>
            <a:ext cx="4752975" cy="1219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6000" b="1" dirty="0">
                <a:solidFill>
                  <a:srgbClr val="004C8B"/>
                </a:solidFill>
                <a:latin typeface="Microsoft YaHei"/>
                <a:ea typeface="Microsoft YaHei"/>
                <a:cs typeface="Microsoft YaHei"/>
              </a:rPr>
              <a:t>现状与目标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14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1" dur="4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4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5" dur="4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700"/>
                            </p:stCondLst>
                            <p:childTnLst>
                              <p:par>
                                <p:cTn id="17" presetID="16" presetClass="entr" presetSubtype="2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9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3600"/>
                            </p:stCondLst>
                            <p:childTnLst>
                              <p:par>
                                <p:cTn id="21" presetID="18" presetClass="entr" presetSubtype="1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23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4500"/>
                            </p:stCondLst>
                            <p:childTnLst>
                              <p:par>
                                <p:cTn id="25" presetID="2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27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5400"/>
                            </p:stCondLst>
                            <p:childTnLst>
                              <p:par>
                                <p:cTn id="29" presetID="2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4)">
                                      <p:cBhvr>
                                        <p:cTn id="31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4" grpId="0"/>
      <p:bldP spid="5" grpId="0"/>
      <p:bldP spid="6" grpId="0"/>
      <p:bldP spid="7" grpId="0"/>
      <p:bldP spid="8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955" y="0"/>
            <a:ext cx="12151042" cy="6858000"/>
          </a:xfrm>
          <a:prstGeom prst="rect">
            <a:avLst/>
          </a:prstGeom>
        </p:spPr>
      </p:pic>
      <p:sp>
        <p:nvSpPr>
          <p:cNvPr id="3" name="Rectangle 3"/>
          <p:cNvSpPr/>
          <p:nvPr/>
        </p:nvSpPr>
        <p:spPr>
          <a:xfrm>
            <a:off x="381000" y="342900"/>
            <a:ext cx="11430000" cy="8001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493395" y="498158"/>
            <a:ext cx="2978372" cy="640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150" b="1" dirty="0">
                <a:solidFill>
                  <a:srgbClr val="004C8B"/>
                </a:solidFill>
                <a:latin typeface="Microsoft YaHei"/>
                <a:ea typeface="Microsoft YaHei"/>
                <a:cs typeface="Microsoft YaHei"/>
              </a:rPr>
              <a:t>关键痛点诊断</a:t>
            </a:r>
          </a:p>
        </p:txBody>
      </p:sp>
      <p:sp>
        <p:nvSpPr>
          <p:cNvPr id="5" name="Freeform 5"/>
          <p:cNvSpPr/>
          <p:nvPr/>
        </p:nvSpPr>
        <p:spPr>
          <a:xfrm>
            <a:off x="495300" y="1447800"/>
            <a:ext cx="3524250" cy="4762500"/>
          </a:xfrm>
          <a:custGeom>
            <a:avLst/>
            <a:gdLst/>
            <a:ahLst/>
            <a:cxnLst/>
            <a:rect l="l" t="t" r="r" b="b"/>
            <a:pathLst>
              <a:path w="3524250" h="4762500">
                <a:moveTo>
                  <a:pt x="190500" y="0"/>
                </a:moveTo>
                <a:lnTo>
                  <a:pt x="3333750" y="0"/>
                </a:lnTo>
                <a:cubicBezTo>
                  <a:pt x="3438960" y="0"/>
                  <a:pt x="3524250" y="85290"/>
                  <a:pt x="3524250" y="190500"/>
                </a:cubicBezTo>
                <a:lnTo>
                  <a:pt x="3524250" y="4572000"/>
                </a:lnTo>
                <a:cubicBezTo>
                  <a:pt x="3524250" y="4677210"/>
                  <a:pt x="3438960" y="4762500"/>
                  <a:pt x="3333750" y="4762500"/>
                </a:cubicBezTo>
                <a:lnTo>
                  <a:pt x="190500" y="4762500"/>
                </a:lnTo>
                <a:cubicBezTo>
                  <a:pt x="85290" y="4762500"/>
                  <a:pt x="0" y="4677210"/>
                  <a:pt x="0" y="4572000"/>
                </a:cubicBezTo>
                <a:lnTo>
                  <a:pt x="0" y="190500"/>
                </a:lnTo>
                <a:cubicBezTo>
                  <a:pt x="0" y="85290"/>
                  <a:pt x="85290" y="0"/>
                  <a:pt x="190500" y="0"/>
                </a:cubicBezTo>
                <a:close/>
              </a:path>
            </a:pathLst>
          </a:custGeom>
          <a:solidFill>
            <a:srgbClr val="F5F9FC"/>
          </a:solidFill>
          <a:ln w="9525">
            <a:solidFill>
              <a:srgbClr val="D9DEE5"/>
            </a:solidFill>
          </a:ln>
        </p:spPr>
      </p:sp>
      <p:sp>
        <p:nvSpPr>
          <p:cNvPr id="6" name="TextBox 6"/>
          <p:cNvSpPr txBox="1"/>
          <p:nvPr/>
        </p:nvSpPr>
        <p:spPr>
          <a:xfrm>
            <a:off x="1362075" y="1852612"/>
            <a:ext cx="1782366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250" b="1" dirty="0">
                <a:solidFill>
                  <a:srgbClr val="123B5E"/>
                </a:solidFill>
                <a:latin typeface="Microsoft YaHei"/>
                <a:ea typeface="Microsoft YaHei"/>
                <a:cs typeface="Microsoft YaHei"/>
              </a:rPr>
              <a:t>告警噪声高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779145" y="2431732"/>
            <a:ext cx="2331244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dirty="0">
                <a:solidFill>
                  <a:srgbClr val="5B7185"/>
                </a:solidFill>
                <a:latin typeface="Microsoft YaHei"/>
                <a:ea typeface="Microsoft YaHei"/>
                <a:cs typeface="Microsoft YaHei"/>
              </a:rPr>
              <a:t>- 日均告警 1,200+ 条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779145" y="2812732"/>
            <a:ext cx="2644521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dirty="0">
                <a:solidFill>
                  <a:srgbClr val="5B7185"/>
                </a:solidFill>
                <a:latin typeface="Microsoft YaHei"/>
                <a:ea typeface="Microsoft YaHei"/>
                <a:cs typeface="Microsoft YaHei"/>
              </a:rPr>
              <a:t>- 有效告警占比不足 30%</a:t>
            </a:r>
          </a:p>
        </p:txBody>
      </p:sp>
      <p:sp>
        <p:nvSpPr>
          <p:cNvPr id="9" name="Freeform 9"/>
          <p:cNvSpPr/>
          <p:nvPr/>
        </p:nvSpPr>
        <p:spPr>
          <a:xfrm>
            <a:off x="4324350" y="1447800"/>
            <a:ext cx="3524250" cy="4762500"/>
          </a:xfrm>
          <a:custGeom>
            <a:avLst/>
            <a:gdLst/>
            <a:ahLst/>
            <a:cxnLst/>
            <a:rect l="l" t="t" r="r" b="b"/>
            <a:pathLst>
              <a:path w="3524250" h="4762500">
                <a:moveTo>
                  <a:pt x="190500" y="0"/>
                </a:moveTo>
                <a:lnTo>
                  <a:pt x="3333750" y="0"/>
                </a:lnTo>
                <a:cubicBezTo>
                  <a:pt x="3438960" y="0"/>
                  <a:pt x="3524250" y="85290"/>
                  <a:pt x="3524250" y="190500"/>
                </a:cubicBezTo>
                <a:lnTo>
                  <a:pt x="3524250" y="4572000"/>
                </a:lnTo>
                <a:cubicBezTo>
                  <a:pt x="3524250" y="4677210"/>
                  <a:pt x="3438960" y="4762500"/>
                  <a:pt x="3333750" y="4762500"/>
                </a:cubicBezTo>
                <a:lnTo>
                  <a:pt x="190500" y="4762500"/>
                </a:lnTo>
                <a:cubicBezTo>
                  <a:pt x="85290" y="4762500"/>
                  <a:pt x="0" y="4677210"/>
                  <a:pt x="0" y="4572000"/>
                </a:cubicBezTo>
                <a:lnTo>
                  <a:pt x="0" y="190500"/>
                </a:lnTo>
                <a:cubicBezTo>
                  <a:pt x="0" y="85290"/>
                  <a:pt x="85290" y="0"/>
                  <a:pt x="190500" y="0"/>
                </a:cubicBezTo>
                <a:close/>
              </a:path>
            </a:pathLst>
          </a:custGeom>
          <a:solidFill>
            <a:srgbClr val="F5F9FC"/>
          </a:solidFill>
          <a:ln w="9525">
            <a:solidFill>
              <a:srgbClr val="D9DEE5"/>
            </a:solidFill>
          </a:ln>
        </p:spPr>
      </p:sp>
      <p:grpSp>
        <p:nvGrpSpPr>
          <p:cNvPr id="13" name="Group 13"/>
          <p:cNvGrpSpPr/>
          <p:nvPr/>
        </p:nvGrpSpPr>
        <p:grpSpPr>
          <a:xfrm>
            <a:off x="4686300" y="1771650"/>
            <a:ext cx="342900" cy="457200"/>
            <a:chOff x="4686300" y="1771650"/>
            <a:chExt cx="342900" cy="457200"/>
          </a:xfrm>
        </p:grpSpPr>
        <p:sp>
          <p:nvSpPr>
            <p:cNvPr id="10" name="Freeform 10"/>
            <p:cNvSpPr/>
            <p:nvPr/>
          </p:nvSpPr>
          <p:spPr>
            <a:xfrm>
              <a:off x="4686300" y="1954530"/>
              <a:ext cx="342900" cy="131445"/>
            </a:xfrm>
            <a:custGeom>
              <a:avLst/>
              <a:gdLst/>
              <a:ahLst/>
              <a:cxnLst/>
              <a:rect l="l" t="t" r="r" b="b"/>
              <a:pathLst>
                <a:path w="342900" h="131445">
                  <a:moveTo>
                    <a:pt x="318243" y="14578"/>
                  </a:moveTo>
                  <a:cubicBezTo>
                    <a:pt x="326281" y="10558"/>
                    <a:pt x="334679" y="5709"/>
                    <a:pt x="342900" y="0"/>
                  </a:cubicBezTo>
                  <a:lnTo>
                    <a:pt x="342900" y="45720"/>
                  </a:lnTo>
                  <a:cubicBezTo>
                    <a:pt x="342900" y="93064"/>
                    <a:pt x="266139" y="131445"/>
                    <a:pt x="171450" y="131445"/>
                  </a:cubicBezTo>
                  <a:cubicBezTo>
                    <a:pt x="76761" y="131445"/>
                    <a:pt x="0" y="93064"/>
                    <a:pt x="0" y="45720"/>
                  </a:cubicBezTo>
                  <a:lnTo>
                    <a:pt x="0" y="0"/>
                  </a:lnTo>
                  <a:cubicBezTo>
                    <a:pt x="8222" y="5709"/>
                    <a:pt x="16619" y="10558"/>
                    <a:pt x="24658" y="14578"/>
                  </a:cubicBezTo>
                  <a:cubicBezTo>
                    <a:pt x="65178" y="34838"/>
                    <a:pt x="117157" y="45720"/>
                    <a:pt x="171450" y="45720"/>
                  </a:cubicBezTo>
                  <a:cubicBezTo>
                    <a:pt x="225743" y="45720"/>
                    <a:pt x="277720" y="34838"/>
                    <a:pt x="318243" y="14578"/>
                  </a:cubicBezTo>
                  <a:close/>
                </a:path>
              </a:pathLst>
            </a:custGeom>
            <a:solidFill>
              <a:srgbClr val="0074CC"/>
            </a:solidFill>
            <a:ln>
              <a:noFill/>
            </a:ln>
          </p:spPr>
        </p:sp>
        <p:sp>
          <p:nvSpPr>
            <p:cNvPr id="11" name="Freeform 11"/>
            <p:cNvSpPr/>
            <p:nvPr/>
          </p:nvSpPr>
          <p:spPr>
            <a:xfrm>
              <a:off x="4686300" y="2097405"/>
              <a:ext cx="342900" cy="131445"/>
            </a:xfrm>
            <a:custGeom>
              <a:avLst/>
              <a:gdLst/>
              <a:ahLst/>
              <a:cxnLst/>
              <a:rect l="l" t="t" r="r" b="b"/>
              <a:pathLst>
                <a:path w="342900" h="131445">
                  <a:moveTo>
                    <a:pt x="0" y="0"/>
                  </a:moveTo>
                  <a:lnTo>
                    <a:pt x="0" y="45720"/>
                  </a:lnTo>
                  <a:cubicBezTo>
                    <a:pt x="0" y="93066"/>
                    <a:pt x="76761" y="131445"/>
                    <a:pt x="171450" y="131445"/>
                  </a:cubicBezTo>
                  <a:cubicBezTo>
                    <a:pt x="266139" y="131445"/>
                    <a:pt x="342900" y="93066"/>
                    <a:pt x="342900" y="45720"/>
                  </a:cubicBezTo>
                  <a:lnTo>
                    <a:pt x="342900" y="0"/>
                  </a:lnTo>
                  <a:cubicBezTo>
                    <a:pt x="334679" y="5709"/>
                    <a:pt x="326281" y="10558"/>
                    <a:pt x="318243" y="14579"/>
                  </a:cubicBezTo>
                  <a:cubicBezTo>
                    <a:pt x="277720" y="34839"/>
                    <a:pt x="225743" y="45720"/>
                    <a:pt x="171450" y="45720"/>
                  </a:cubicBezTo>
                  <a:cubicBezTo>
                    <a:pt x="117157" y="45720"/>
                    <a:pt x="65178" y="34839"/>
                    <a:pt x="24658" y="14579"/>
                  </a:cubicBezTo>
                  <a:cubicBezTo>
                    <a:pt x="16619" y="10558"/>
                    <a:pt x="8222" y="5709"/>
                    <a:pt x="0" y="0"/>
                  </a:cubicBezTo>
                  <a:close/>
                </a:path>
              </a:pathLst>
            </a:custGeom>
            <a:solidFill>
              <a:srgbClr val="0074CC"/>
            </a:solidFill>
            <a:ln>
              <a:noFill/>
            </a:ln>
          </p:spPr>
        </p:sp>
        <p:sp>
          <p:nvSpPr>
            <p:cNvPr id="12" name="Freeform 12"/>
            <p:cNvSpPr/>
            <p:nvPr/>
          </p:nvSpPr>
          <p:spPr>
            <a:xfrm>
              <a:off x="4686300" y="1771650"/>
              <a:ext cx="342900" cy="171450"/>
            </a:xfrm>
            <a:custGeom>
              <a:avLst/>
              <a:gdLst/>
              <a:ahLst/>
              <a:cxnLst/>
              <a:rect l="l" t="t" r="r" b="b"/>
              <a:pathLst>
                <a:path w="342900" h="171450">
                  <a:moveTo>
                    <a:pt x="171450" y="0"/>
                  </a:moveTo>
                  <a:cubicBezTo>
                    <a:pt x="266139" y="0"/>
                    <a:pt x="342900" y="38381"/>
                    <a:pt x="342900" y="85725"/>
                  </a:cubicBezTo>
                  <a:cubicBezTo>
                    <a:pt x="342900" y="133069"/>
                    <a:pt x="266139" y="171450"/>
                    <a:pt x="171450" y="171450"/>
                  </a:cubicBezTo>
                  <a:cubicBezTo>
                    <a:pt x="76761" y="171450"/>
                    <a:pt x="0" y="133069"/>
                    <a:pt x="0" y="85725"/>
                  </a:cubicBezTo>
                  <a:cubicBezTo>
                    <a:pt x="0" y="38381"/>
                    <a:pt x="76761" y="0"/>
                    <a:pt x="171450" y="0"/>
                  </a:cubicBezTo>
                  <a:close/>
                </a:path>
              </a:pathLst>
            </a:custGeom>
            <a:solidFill>
              <a:srgbClr val="0074CC"/>
            </a:solidFill>
            <a:ln>
              <a:noFill/>
            </a:ln>
          </p:spPr>
        </p:sp>
      </p:grpSp>
      <p:sp>
        <p:nvSpPr>
          <p:cNvPr id="14" name="TextBox 14"/>
          <p:cNvSpPr txBox="1"/>
          <p:nvPr/>
        </p:nvSpPr>
        <p:spPr>
          <a:xfrm>
            <a:off x="5191125" y="1852612"/>
            <a:ext cx="2127409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250" b="1" dirty="0">
                <a:solidFill>
                  <a:srgbClr val="123B5E"/>
                </a:solidFill>
                <a:latin typeface="Microsoft YaHei"/>
                <a:ea typeface="Microsoft YaHei"/>
                <a:cs typeface="Microsoft YaHei"/>
              </a:rPr>
              <a:t>数据口径不一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4608195" y="2431732"/>
            <a:ext cx="2584275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dirty="0">
                <a:solidFill>
                  <a:srgbClr val="5B7185"/>
                </a:solidFill>
                <a:latin typeface="Microsoft YaHei"/>
                <a:ea typeface="Microsoft YaHei"/>
                <a:cs typeface="Microsoft YaHei"/>
              </a:rPr>
              <a:t>- 设备主数据缺失率 14%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4608195" y="2812732"/>
            <a:ext cx="2174605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dirty="0">
                <a:solidFill>
                  <a:srgbClr val="5B7185"/>
                </a:solidFill>
                <a:latin typeface="Microsoft YaHei"/>
                <a:ea typeface="Microsoft YaHei"/>
                <a:cs typeface="Microsoft YaHei"/>
              </a:rPr>
              <a:t>- 跨系统追溯成本高</a:t>
            </a:r>
          </a:p>
        </p:txBody>
      </p:sp>
      <p:sp>
        <p:nvSpPr>
          <p:cNvPr id="17" name="Freeform 17"/>
          <p:cNvSpPr/>
          <p:nvPr/>
        </p:nvSpPr>
        <p:spPr>
          <a:xfrm>
            <a:off x="8153400" y="1447800"/>
            <a:ext cx="3524250" cy="4762500"/>
          </a:xfrm>
          <a:custGeom>
            <a:avLst/>
            <a:gdLst/>
            <a:ahLst/>
            <a:cxnLst/>
            <a:rect l="l" t="t" r="r" b="b"/>
            <a:pathLst>
              <a:path w="3524250" h="4762500">
                <a:moveTo>
                  <a:pt x="190500" y="0"/>
                </a:moveTo>
                <a:lnTo>
                  <a:pt x="3333750" y="0"/>
                </a:lnTo>
                <a:cubicBezTo>
                  <a:pt x="3438960" y="0"/>
                  <a:pt x="3524250" y="85290"/>
                  <a:pt x="3524250" y="190500"/>
                </a:cubicBezTo>
                <a:lnTo>
                  <a:pt x="3524250" y="4572000"/>
                </a:lnTo>
                <a:cubicBezTo>
                  <a:pt x="3524250" y="4677210"/>
                  <a:pt x="3438960" y="4762500"/>
                  <a:pt x="3333750" y="4762500"/>
                </a:cubicBezTo>
                <a:lnTo>
                  <a:pt x="190500" y="4762500"/>
                </a:lnTo>
                <a:cubicBezTo>
                  <a:pt x="85290" y="4762500"/>
                  <a:pt x="0" y="4677210"/>
                  <a:pt x="0" y="4572000"/>
                </a:cubicBezTo>
                <a:lnTo>
                  <a:pt x="0" y="190500"/>
                </a:lnTo>
                <a:cubicBezTo>
                  <a:pt x="0" y="85290"/>
                  <a:pt x="85290" y="0"/>
                  <a:pt x="190500" y="0"/>
                </a:cubicBezTo>
                <a:close/>
              </a:path>
            </a:pathLst>
          </a:custGeom>
          <a:solidFill>
            <a:srgbClr val="F5F9FC"/>
          </a:solidFill>
          <a:ln w="9525">
            <a:solidFill>
              <a:srgbClr val="D9DEE5"/>
            </a:solidFill>
          </a:ln>
        </p:spPr>
      </p:sp>
      <p:sp>
        <p:nvSpPr>
          <p:cNvPr id="18" name="TextBox 18"/>
          <p:cNvSpPr txBox="1"/>
          <p:nvPr/>
        </p:nvSpPr>
        <p:spPr>
          <a:xfrm>
            <a:off x="9020175" y="1852612"/>
            <a:ext cx="1782366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250" b="1" dirty="0">
                <a:solidFill>
                  <a:srgbClr val="123B5E"/>
                </a:solidFill>
                <a:latin typeface="Microsoft YaHei"/>
                <a:ea typeface="Microsoft YaHei"/>
                <a:cs typeface="Microsoft YaHei"/>
              </a:rPr>
              <a:t>处置链路长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8437245" y="2431732"/>
            <a:ext cx="2716816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dirty="0">
                <a:solidFill>
                  <a:srgbClr val="5B7185"/>
                </a:solidFill>
                <a:latin typeface="Microsoft YaHei"/>
                <a:ea typeface="Microsoft YaHei"/>
                <a:cs typeface="Microsoft YaHei"/>
              </a:rPr>
              <a:t>- 平均处置时长 9.5 小时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8437245" y="2812732"/>
            <a:ext cx="2174605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dirty="0">
                <a:solidFill>
                  <a:srgbClr val="5B7185"/>
                </a:solidFill>
                <a:latin typeface="Microsoft YaHei"/>
                <a:ea typeface="Microsoft YaHei"/>
                <a:cs typeface="Microsoft YaHei"/>
              </a:rPr>
              <a:t>- 经验复用效率偏低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955" y="0"/>
            <a:ext cx="12151042" cy="6858000"/>
          </a:xfrm>
          <a:prstGeom prst="rect">
            <a:avLst/>
          </a:prstGeom>
        </p:spPr>
      </p:pic>
      <p:sp>
        <p:nvSpPr>
          <p:cNvPr id="3" name="TextBox 3"/>
          <p:cNvSpPr txBox="1"/>
          <p:nvPr/>
        </p:nvSpPr>
        <p:spPr>
          <a:xfrm>
            <a:off x="493395" y="498158"/>
            <a:ext cx="3171596" cy="640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150" b="1" dirty="0">
                <a:solidFill>
                  <a:srgbClr val="004C8B"/>
                </a:solidFill>
                <a:latin typeface="Microsoft YaHei"/>
                <a:ea typeface="Microsoft YaHei"/>
                <a:cs typeface="Microsoft YaHei"/>
              </a:rPr>
              <a:t>年度KPI目标卡</a:t>
            </a:r>
          </a:p>
        </p:txBody>
      </p:sp>
      <p:sp>
        <p:nvSpPr>
          <p:cNvPr id="4" name="Freeform 4"/>
          <p:cNvSpPr/>
          <p:nvPr/>
        </p:nvSpPr>
        <p:spPr>
          <a:xfrm>
            <a:off x="666750" y="1428750"/>
            <a:ext cx="5143500" cy="2190750"/>
          </a:xfrm>
          <a:custGeom>
            <a:avLst/>
            <a:gdLst/>
            <a:ahLst/>
            <a:cxnLst/>
            <a:rect l="l" t="t" r="r" b="b"/>
            <a:pathLst>
              <a:path w="5143500" h="2190750">
                <a:moveTo>
                  <a:pt x="171450" y="0"/>
                </a:moveTo>
                <a:lnTo>
                  <a:pt x="4972050" y="0"/>
                </a:lnTo>
                <a:cubicBezTo>
                  <a:pt x="5066739" y="0"/>
                  <a:pt x="5143500" y="76761"/>
                  <a:pt x="5143500" y="171450"/>
                </a:cubicBezTo>
                <a:lnTo>
                  <a:pt x="5143500" y="2019300"/>
                </a:lnTo>
                <a:cubicBezTo>
                  <a:pt x="5143500" y="2113989"/>
                  <a:pt x="5066739" y="2190750"/>
                  <a:pt x="4972050" y="2190750"/>
                </a:cubicBezTo>
                <a:lnTo>
                  <a:pt x="171450" y="2190750"/>
                </a:lnTo>
                <a:cubicBezTo>
                  <a:pt x="76761" y="2190750"/>
                  <a:pt x="0" y="2113989"/>
                  <a:pt x="0" y="2019300"/>
                </a:cubicBezTo>
                <a:lnTo>
                  <a:pt x="0" y="171450"/>
                </a:lnTo>
                <a:cubicBezTo>
                  <a:pt x="0" y="76761"/>
                  <a:pt x="76761" y="0"/>
                  <a:pt x="171450" y="0"/>
                </a:cubicBezTo>
                <a:close/>
              </a:path>
            </a:pathLst>
          </a:custGeom>
          <a:solidFill>
            <a:srgbClr val="FFFFFF"/>
          </a:solidFill>
          <a:ln w="9525">
            <a:solidFill>
              <a:srgbClr val="D9DEE5"/>
            </a:solidFill>
          </a:ln>
        </p:spPr>
      </p:sp>
      <p:grpSp>
        <p:nvGrpSpPr>
          <p:cNvPr id="7" name="Group 7"/>
          <p:cNvGrpSpPr/>
          <p:nvPr/>
        </p:nvGrpSpPr>
        <p:grpSpPr>
          <a:xfrm>
            <a:off x="914400" y="1752600"/>
            <a:ext cx="400050" cy="400050"/>
            <a:chOff x="914400" y="1752600"/>
            <a:chExt cx="400050" cy="400050"/>
          </a:xfrm>
        </p:grpSpPr>
        <p:sp>
          <p:nvSpPr>
            <p:cNvPr id="5" name="Freeform 5"/>
            <p:cNvSpPr/>
            <p:nvPr/>
          </p:nvSpPr>
          <p:spPr>
            <a:xfrm>
              <a:off x="1014412" y="1852612"/>
              <a:ext cx="200025" cy="200025"/>
            </a:xfrm>
            <a:custGeom>
              <a:avLst/>
              <a:gdLst/>
              <a:ahLst/>
              <a:cxnLst/>
              <a:rect l="l" t="t" r="r" b="b"/>
              <a:pathLst>
                <a:path w="200025" h="200025">
                  <a:moveTo>
                    <a:pt x="100012" y="0"/>
                  </a:moveTo>
                  <a:cubicBezTo>
                    <a:pt x="44777" y="0"/>
                    <a:pt x="0" y="44777"/>
                    <a:pt x="0" y="100012"/>
                  </a:cubicBezTo>
                  <a:cubicBezTo>
                    <a:pt x="0" y="155247"/>
                    <a:pt x="44777" y="200025"/>
                    <a:pt x="100012" y="200025"/>
                  </a:cubicBezTo>
                  <a:cubicBezTo>
                    <a:pt x="155247" y="200025"/>
                    <a:pt x="200025" y="155247"/>
                    <a:pt x="200025" y="100012"/>
                  </a:cubicBezTo>
                  <a:cubicBezTo>
                    <a:pt x="200025" y="44777"/>
                    <a:pt x="155247" y="0"/>
                    <a:pt x="100012" y="0"/>
                  </a:cubicBezTo>
                  <a:close/>
                  <a:moveTo>
                    <a:pt x="50006" y="100012"/>
                  </a:moveTo>
                  <a:cubicBezTo>
                    <a:pt x="50006" y="72395"/>
                    <a:pt x="72395" y="50006"/>
                    <a:pt x="100012" y="50006"/>
                  </a:cubicBezTo>
                  <a:cubicBezTo>
                    <a:pt x="127630" y="50006"/>
                    <a:pt x="150019" y="72395"/>
                    <a:pt x="150019" y="100012"/>
                  </a:cubicBezTo>
                  <a:cubicBezTo>
                    <a:pt x="150019" y="127630"/>
                    <a:pt x="127630" y="150019"/>
                    <a:pt x="100012" y="150019"/>
                  </a:cubicBezTo>
                  <a:cubicBezTo>
                    <a:pt x="72395" y="150019"/>
                    <a:pt x="50006" y="127630"/>
                    <a:pt x="50006" y="100012"/>
                  </a:cubicBezTo>
                  <a:close/>
                </a:path>
              </a:pathLst>
            </a:custGeom>
            <a:solidFill>
              <a:srgbClr val="0074CC"/>
            </a:solidFill>
            <a:ln>
              <a:noFill/>
            </a:ln>
          </p:spPr>
        </p:sp>
        <p:sp>
          <p:nvSpPr>
            <p:cNvPr id="6" name="Freeform 6"/>
            <p:cNvSpPr/>
            <p:nvPr/>
          </p:nvSpPr>
          <p:spPr>
            <a:xfrm>
              <a:off x="914400" y="1752600"/>
              <a:ext cx="400050" cy="400050"/>
            </a:xfrm>
            <a:custGeom>
              <a:avLst/>
              <a:gdLst/>
              <a:ahLst/>
              <a:cxnLst/>
              <a:rect l="l" t="t" r="r" b="b"/>
              <a:pathLst>
                <a:path w="400050" h="400050">
                  <a:moveTo>
                    <a:pt x="200025" y="0"/>
                  </a:moveTo>
                  <a:cubicBezTo>
                    <a:pt x="89554" y="0"/>
                    <a:pt x="0" y="89554"/>
                    <a:pt x="0" y="200025"/>
                  </a:cubicBezTo>
                  <a:cubicBezTo>
                    <a:pt x="0" y="310496"/>
                    <a:pt x="89554" y="400050"/>
                    <a:pt x="200025" y="400050"/>
                  </a:cubicBezTo>
                  <a:cubicBezTo>
                    <a:pt x="310496" y="400050"/>
                    <a:pt x="400050" y="310496"/>
                    <a:pt x="400050" y="200025"/>
                  </a:cubicBezTo>
                  <a:cubicBezTo>
                    <a:pt x="400050" y="89554"/>
                    <a:pt x="310496" y="0"/>
                    <a:pt x="200025" y="0"/>
                  </a:cubicBezTo>
                  <a:close/>
                  <a:moveTo>
                    <a:pt x="50006" y="200025"/>
                  </a:moveTo>
                  <a:cubicBezTo>
                    <a:pt x="50006" y="117172"/>
                    <a:pt x="117172" y="50006"/>
                    <a:pt x="200025" y="50006"/>
                  </a:cubicBezTo>
                  <a:cubicBezTo>
                    <a:pt x="282878" y="50006"/>
                    <a:pt x="350044" y="117172"/>
                    <a:pt x="350044" y="200025"/>
                  </a:cubicBezTo>
                  <a:cubicBezTo>
                    <a:pt x="350044" y="282878"/>
                    <a:pt x="282878" y="350044"/>
                    <a:pt x="200025" y="350044"/>
                  </a:cubicBezTo>
                  <a:cubicBezTo>
                    <a:pt x="117172" y="350044"/>
                    <a:pt x="50006" y="282878"/>
                    <a:pt x="50006" y="200025"/>
                  </a:cubicBezTo>
                  <a:close/>
                </a:path>
              </a:pathLst>
            </a:custGeom>
            <a:solidFill>
              <a:srgbClr val="0074CC"/>
            </a:solidFill>
            <a:ln>
              <a:noFill/>
            </a:ln>
          </p:spPr>
        </p:sp>
      </p:grpSp>
      <p:sp>
        <p:nvSpPr>
          <p:cNvPr id="8" name="TextBox 8"/>
          <p:cNvSpPr txBox="1"/>
          <p:nvPr/>
        </p:nvSpPr>
        <p:spPr>
          <a:xfrm>
            <a:off x="1421130" y="1821180"/>
            <a:ext cx="1586865" cy="4267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dirty="0">
                <a:solidFill>
                  <a:srgbClr val="123B5E"/>
                </a:solidFill>
                <a:latin typeface="Microsoft YaHei"/>
                <a:ea typeface="Microsoft YaHei"/>
                <a:cs typeface="Microsoft YaHei"/>
              </a:rPr>
              <a:t>设备可用率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853440" y="2301240"/>
            <a:ext cx="5348173" cy="975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4800" b="1" dirty="0">
                <a:solidFill>
                  <a:srgbClr val="00A870"/>
                </a:solidFill>
                <a:latin typeface="Arial"/>
                <a:ea typeface="Microsoft YaHei"/>
                <a:cs typeface="Arial"/>
              </a:rPr>
              <a:t>96.8% 到 98.5%</a:t>
            </a:r>
          </a:p>
        </p:txBody>
      </p:sp>
      <p:sp>
        <p:nvSpPr>
          <p:cNvPr id="10" name="Freeform 10"/>
          <p:cNvSpPr/>
          <p:nvPr/>
        </p:nvSpPr>
        <p:spPr>
          <a:xfrm>
            <a:off x="6381750" y="1428750"/>
            <a:ext cx="5143500" cy="2190750"/>
          </a:xfrm>
          <a:custGeom>
            <a:avLst/>
            <a:gdLst/>
            <a:ahLst/>
            <a:cxnLst/>
            <a:rect l="l" t="t" r="r" b="b"/>
            <a:pathLst>
              <a:path w="5143500" h="2190750">
                <a:moveTo>
                  <a:pt x="171450" y="0"/>
                </a:moveTo>
                <a:lnTo>
                  <a:pt x="4972050" y="0"/>
                </a:lnTo>
                <a:cubicBezTo>
                  <a:pt x="5066739" y="0"/>
                  <a:pt x="5143500" y="76761"/>
                  <a:pt x="5143500" y="171450"/>
                </a:cubicBezTo>
                <a:lnTo>
                  <a:pt x="5143500" y="2019300"/>
                </a:lnTo>
                <a:cubicBezTo>
                  <a:pt x="5143500" y="2113989"/>
                  <a:pt x="5066739" y="2190750"/>
                  <a:pt x="4972050" y="2190750"/>
                </a:cubicBezTo>
                <a:lnTo>
                  <a:pt x="171450" y="2190750"/>
                </a:lnTo>
                <a:cubicBezTo>
                  <a:pt x="76761" y="2190750"/>
                  <a:pt x="0" y="2113989"/>
                  <a:pt x="0" y="2019300"/>
                </a:cubicBezTo>
                <a:lnTo>
                  <a:pt x="0" y="171450"/>
                </a:lnTo>
                <a:cubicBezTo>
                  <a:pt x="0" y="76761"/>
                  <a:pt x="76761" y="0"/>
                  <a:pt x="171450" y="0"/>
                </a:cubicBezTo>
                <a:close/>
              </a:path>
            </a:pathLst>
          </a:custGeom>
          <a:solidFill>
            <a:srgbClr val="FFFFFF"/>
          </a:solidFill>
          <a:ln w="9525">
            <a:solidFill>
              <a:srgbClr val="D9DEE5"/>
            </a:solidFill>
          </a:ln>
        </p:spPr>
      </p:sp>
      <p:sp>
        <p:nvSpPr>
          <p:cNvPr id="11" name="Freeform 11"/>
          <p:cNvSpPr/>
          <p:nvPr/>
        </p:nvSpPr>
        <p:spPr>
          <a:xfrm>
            <a:off x="6654403" y="1752600"/>
            <a:ext cx="350044" cy="400050"/>
          </a:xfrm>
          <a:custGeom>
            <a:avLst/>
            <a:gdLst/>
            <a:ahLst/>
            <a:cxnLst/>
            <a:rect l="l" t="t" r="r" b="b"/>
            <a:pathLst>
              <a:path w="350044" h="400050">
                <a:moveTo>
                  <a:pt x="83763" y="334864"/>
                </a:moveTo>
                <a:lnTo>
                  <a:pt x="175022" y="400050"/>
                </a:lnTo>
                <a:lnTo>
                  <a:pt x="266281" y="334864"/>
                </a:lnTo>
                <a:cubicBezTo>
                  <a:pt x="318847" y="297317"/>
                  <a:pt x="350044" y="236696"/>
                  <a:pt x="350044" y="172098"/>
                </a:cubicBezTo>
                <a:lnTo>
                  <a:pt x="350044" y="75009"/>
                </a:lnTo>
                <a:lnTo>
                  <a:pt x="175022" y="0"/>
                </a:lnTo>
                <a:lnTo>
                  <a:pt x="0" y="75009"/>
                </a:lnTo>
                <a:lnTo>
                  <a:pt x="0" y="172098"/>
                </a:lnTo>
                <a:cubicBezTo>
                  <a:pt x="0" y="236696"/>
                  <a:pt x="31197" y="297317"/>
                  <a:pt x="83763" y="334864"/>
                </a:cubicBezTo>
                <a:close/>
              </a:path>
            </a:pathLst>
          </a:custGeom>
          <a:solidFill>
            <a:srgbClr val="DE002B"/>
          </a:solidFill>
          <a:ln>
            <a:noFill/>
          </a:ln>
        </p:spPr>
      </p:sp>
      <p:sp>
        <p:nvSpPr>
          <p:cNvPr id="12" name="TextBox 12"/>
          <p:cNvSpPr txBox="1"/>
          <p:nvPr/>
        </p:nvSpPr>
        <p:spPr>
          <a:xfrm>
            <a:off x="7136130" y="1821180"/>
            <a:ext cx="1893570" cy="4267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dirty="0">
                <a:solidFill>
                  <a:srgbClr val="123B5E"/>
                </a:solidFill>
                <a:latin typeface="Microsoft YaHei"/>
                <a:ea typeface="Microsoft YaHei"/>
                <a:cs typeface="Microsoft YaHei"/>
              </a:rPr>
              <a:t>高风险闭环率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6568440" y="2301240"/>
            <a:ext cx="3544748" cy="975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4800" b="1" dirty="0">
                <a:solidFill>
                  <a:srgbClr val="00A870"/>
                </a:solidFill>
                <a:latin typeface="Arial"/>
                <a:ea typeface="Microsoft YaHei"/>
                <a:cs typeface="Arial"/>
              </a:rPr>
              <a:t>71% 到 93%</a:t>
            </a:r>
          </a:p>
        </p:txBody>
      </p:sp>
      <p:sp>
        <p:nvSpPr>
          <p:cNvPr id="14" name="Freeform 14"/>
          <p:cNvSpPr/>
          <p:nvPr/>
        </p:nvSpPr>
        <p:spPr>
          <a:xfrm>
            <a:off x="666750" y="4000500"/>
            <a:ext cx="10858500" cy="2095500"/>
          </a:xfrm>
          <a:custGeom>
            <a:avLst/>
            <a:gdLst/>
            <a:ahLst/>
            <a:cxnLst/>
            <a:rect l="l" t="t" r="r" b="b"/>
            <a:pathLst>
              <a:path w="10858500" h="2095500">
                <a:moveTo>
                  <a:pt x="171450" y="0"/>
                </a:moveTo>
                <a:lnTo>
                  <a:pt x="10687050" y="0"/>
                </a:lnTo>
                <a:cubicBezTo>
                  <a:pt x="10781739" y="0"/>
                  <a:pt x="10858500" y="76761"/>
                  <a:pt x="10858500" y="171450"/>
                </a:cubicBezTo>
                <a:lnTo>
                  <a:pt x="10858500" y="1924050"/>
                </a:lnTo>
                <a:cubicBezTo>
                  <a:pt x="10858500" y="2018739"/>
                  <a:pt x="10781739" y="2095500"/>
                  <a:pt x="10687050" y="2095500"/>
                </a:cubicBezTo>
                <a:lnTo>
                  <a:pt x="171450" y="2095500"/>
                </a:lnTo>
                <a:cubicBezTo>
                  <a:pt x="76761" y="2095500"/>
                  <a:pt x="0" y="2018739"/>
                  <a:pt x="0" y="1924050"/>
                </a:cubicBezTo>
                <a:lnTo>
                  <a:pt x="0" y="171450"/>
                </a:lnTo>
                <a:cubicBezTo>
                  <a:pt x="0" y="76761"/>
                  <a:pt x="76761" y="0"/>
                  <a:pt x="171450" y="0"/>
                </a:cubicBezTo>
                <a:close/>
              </a:path>
            </a:pathLst>
          </a:custGeom>
          <a:solidFill>
            <a:srgbClr val="F5F9FC"/>
          </a:solidFill>
          <a:ln w="9525">
            <a:solidFill>
              <a:srgbClr val="D9DEE5"/>
            </a:solidFill>
          </a:ln>
        </p:spPr>
      </p:sp>
      <p:sp>
        <p:nvSpPr>
          <p:cNvPr id="15" name="Freeform 15"/>
          <p:cNvSpPr/>
          <p:nvPr/>
        </p:nvSpPr>
        <p:spPr>
          <a:xfrm>
            <a:off x="983456" y="4324350"/>
            <a:ext cx="300038" cy="400050"/>
          </a:xfrm>
          <a:custGeom>
            <a:avLst/>
            <a:gdLst/>
            <a:ahLst/>
            <a:cxnLst/>
            <a:rect l="l" t="t" r="r" b="b"/>
            <a:pathLst>
              <a:path w="300038" h="400050">
                <a:moveTo>
                  <a:pt x="175022" y="175022"/>
                </a:moveTo>
                <a:lnTo>
                  <a:pt x="200025" y="0"/>
                </a:lnTo>
                <a:lnTo>
                  <a:pt x="150019" y="0"/>
                </a:lnTo>
                <a:lnTo>
                  <a:pt x="0" y="175022"/>
                </a:lnTo>
                <a:lnTo>
                  <a:pt x="0" y="225028"/>
                </a:lnTo>
                <a:lnTo>
                  <a:pt x="125016" y="225028"/>
                </a:lnTo>
                <a:lnTo>
                  <a:pt x="100012" y="400050"/>
                </a:lnTo>
                <a:lnTo>
                  <a:pt x="150019" y="400050"/>
                </a:lnTo>
                <a:lnTo>
                  <a:pt x="300038" y="225028"/>
                </a:lnTo>
                <a:lnTo>
                  <a:pt x="300038" y="175022"/>
                </a:lnTo>
                <a:lnTo>
                  <a:pt x="175022" y="175022"/>
                </a:lnTo>
                <a:close/>
              </a:path>
            </a:pathLst>
          </a:custGeom>
          <a:solidFill>
            <a:srgbClr val="0074CC"/>
          </a:solidFill>
          <a:ln>
            <a:noFill/>
          </a:ln>
        </p:spPr>
      </p:sp>
      <p:sp>
        <p:nvSpPr>
          <p:cNvPr id="16" name="TextBox 16"/>
          <p:cNvSpPr txBox="1"/>
          <p:nvPr/>
        </p:nvSpPr>
        <p:spPr>
          <a:xfrm>
            <a:off x="1421130" y="4402455"/>
            <a:ext cx="9438513" cy="4267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dirty="0">
                <a:solidFill>
                  <a:srgbClr val="123B5E"/>
                </a:solidFill>
                <a:latin typeface="Microsoft YaHei"/>
                <a:ea typeface="Microsoft YaHei"/>
                <a:cs typeface="Microsoft YaHei"/>
              </a:rPr>
              <a:t>效率目标：非计划停机率 5.2% 到 3.6%，平均处置时长 9.5h 到 5.6h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426845" y="4984432"/>
            <a:ext cx="6066472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dirty="0">
                <a:solidFill>
                  <a:srgbClr val="5B7185"/>
                </a:solidFill>
                <a:latin typeface="Microsoft YaHei"/>
                <a:ea typeface="Microsoft YaHei"/>
                <a:cs typeface="Microsoft YaHei"/>
              </a:rPr>
              <a:t>通过告警治理、模型诊断、作业协同三条主线并行推进。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672" y="0"/>
            <a:ext cx="12099608" cy="6858000"/>
          </a:xfrm>
          <a:prstGeom prst="rect">
            <a:avLst/>
          </a:prstGeom>
        </p:spPr>
      </p:pic>
      <p:sp>
        <p:nvSpPr>
          <p:cNvPr id="3" name="Rectangle 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>
              <a:alpha val="4000"/>
            </a:srgbClr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018813" y="1868805"/>
            <a:ext cx="2154374" cy="22555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100" b="1" dirty="0">
                <a:solidFill>
                  <a:srgbClr val="004C8B"/>
                </a:solidFill>
                <a:latin typeface="Arial"/>
                <a:ea typeface="Microsoft YaHei"/>
                <a:cs typeface="Arial"/>
              </a:rPr>
              <a:t>02</a:t>
            </a:r>
          </a:p>
        </p:txBody>
      </p:sp>
      <p:sp>
        <p:nvSpPr>
          <p:cNvPr id="5" name="Line 5"/>
          <p:cNvSpPr/>
          <p:nvPr/>
        </p:nvSpPr>
        <p:spPr>
          <a:xfrm>
            <a:off x="3981450" y="3638550"/>
            <a:ext cx="1524000" cy="9525"/>
          </a:xfrm>
          <a:custGeom>
            <a:avLst/>
            <a:gdLst/>
            <a:ahLst/>
            <a:cxnLst/>
            <a:rect l="l" t="t" r="r" b="b"/>
            <a:pathLst>
              <a:path w="1524000" h="9525">
                <a:moveTo>
                  <a:pt x="0" y="0"/>
                </a:moveTo>
                <a:lnTo>
                  <a:pt x="1524000" y="0"/>
                </a:lnTo>
              </a:path>
            </a:pathLst>
          </a:custGeom>
          <a:noFill/>
          <a:ln w="38100">
            <a:solidFill>
              <a:srgbClr val="0074CC"/>
            </a:solidFill>
          </a:ln>
        </p:spPr>
      </p:sp>
      <p:sp>
        <p:nvSpPr>
          <p:cNvPr id="6" name="Line 6"/>
          <p:cNvSpPr/>
          <p:nvPr/>
        </p:nvSpPr>
        <p:spPr>
          <a:xfrm>
            <a:off x="5505450" y="3638550"/>
            <a:ext cx="1181100" cy="9525"/>
          </a:xfrm>
          <a:custGeom>
            <a:avLst/>
            <a:gdLst/>
            <a:ahLst/>
            <a:cxnLst/>
            <a:rect l="l" t="t" r="r" b="b"/>
            <a:pathLst>
              <a:path w="1181100" h="9525">
                <a:moveTo>
                  <a:pt x="0" y="0"/>
                </a:moveTo>
                <a:lnTo>
                  <a:pt x="1181100" y="0"/>
                </a:lnTo>
              </a:path>
            </a:pathLst>
          </a:custGeom>
          <a:noFill/>
          <a:ln w="38100">
            <a:solidFill>
              <a:srgbClr val="DE002B"/>
            </a:solidFill>
          </a:ln>
        </p:spPr>
      </p:sp>
      <p:sp>
        <p:nvSpPr>
          <p:cNvPr id="7" name="Line 7"/>
          <p:cNvSpPr/>
          <p:nvPr/>
        </p:nvSpPr>
        <p:spPr>
          <a:xfrm>
            <a:off x="6686550" y="3638550"/>
            <a:ext cx="1524000" cy="9525"/>
          </a:xfrm>
          <a:custGeom>
            <a:avLst/>
            <a:gdLst/>
            <a:ahLst/>
            <a:cxnLst/>
            <a:rect l="l" t="t" r="r" b="b"/>
            <a:pathLst>
              <a:path w="1524000" h="9525">
                <a:moveTo>
                  <a:pt x="0" y="0"/>
                </a:moveTo>
                <a:lnTo>
                  <a:pt x="1524000" y="0"/>
                </a:lnTo>
              </a:path>
            </a:pathLst>
          </a:custGeom>
          <a:noFill/>
          <a:ln w="38100">
            <a:solidFill>
              <a:srgbClr val="0074CC"/>
            </a:solidFill>
          </a:ln>
        </p:spPr>
      </p:sp>
      <p:sp>
        <p:nvSpPr>
          <p:cNvPr id="8" name="TextBox 8"/>
          <p:cNvSpPr txBox="1"/>
          <p:nvPr/>
        </p:nvSpPr>
        <p:spPr>
          <a:xfrm>
            <a:off x="3719512" y="4095750"/>
            <a:ext cx="4752975" cy="1219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6000" b="1" dirty="0">
                <a:solidFill>
                  <a:srgbClr val="004C8B"/>
                </a:solidFill>
                <a:latin typeface="Microsoft YaHei"/>
                <a:ea typeface="Microsoft YaHei"/>
                <a:cs typeface="Microsoft YaHei"/>
              </a:rPr>
              <a:t>方案与路线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4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5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etch(across)">
                                      <p:cBhvr>
                                        <p:cTn id="15" dur="4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700"/>
                            </p:stCondLst>
                            <p:childTnLst>
                              <p:par>
                                <p:cTn id="1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3600"/>
                            </p:stCondLst>
                            <p:childTnLst>
                              <p:par>
                                <p:cTn id="21" presetID="1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23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4500"/>
                            </p:stCondLst>
                            <p:childTnLst>
                              <p:par>
                                <p:cTn id="25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27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5400"/>
                            </p:stCondLst>
                            <p:childTnLst>
                              <p:par>
                                <p:cTn id="29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1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4" grpId="0"/>
      <p:bldP spid="5" grpId="0"/>
      <p:bldP spid="6" grpId="0"/>
      <p:bldP spid="7" grpId="0"/>
      <p:bldP spid="8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955" y="0"/>
            <a:ext cx="12151042" cy="6858000"/>
          </a:xfrm>
          <a:prstGeom prst="rect">
            <a:avLst/>
          </a:prstGeom>
        </p:spPr>
      </p:pic>
      <p:sp>
        <p:nvSpPr>
          <p:cNvPr id="3" name="TextBox 3"/>
          <p:cNvSpPr txBox="1"/>
          <p:nvPr/>
        </p:nvSpPr>
        <p:spPr>
          <a:xfrm>
            <a:off x="493395" y="498158"/>
            <a:ext cx="5393674" cy="640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150" b="1" dirty="0">
                <a:solidFill>
                  <a:srgbClr val="004C8B"/>
                </a:solidFill>
                <a:latin typeface="Microsoft YaHei"/>
                <a:ea typeface="Microsoft YaHei"/>
                <a:cs typeface="Microsoft YaHei"/>
              </a:rPr>
              <a:t>一体化能力架构（四层）</a:t>
            </a:r>
          </a:p>
        </p:txBody>
      </p:sp>
      <p:sp>
        <p:nvSpPr>
          <p:cNvPr id="4" name="Freeform 4"/>
          <p:cNvSpPr/>
          <p:nvPr/>
        </p:nvSpPr>
        <p:spPr>
          <a:xfrm>
            <a:off x="857250" y="1333500"/>
            <a:ext cx="10477500" cy="1047750"/>
          </a:xfrm>
          <a:custGeom>
            <a:avLst/>
            <a:gdLst/>
            <a:ahLst/>
            <a:cxnLst/>
            <a:rect l="l" t="t" r="r" b="b"/>
            <a:pathLst>
              <a:path w="10477500" h="1047750">
                <a:moveTo>
                  <a:pt x="133350" y="0"/>
                </a:moveTo>
                <a:lnTo>
                  <a:pt x="10344150" y="0"/>
                </a:lnTo>
                <a:cubicBezTo>
                  <a:pt x="10417797" y="0"/>
                  <a:pt x="10477500" y="59703"/>
                  <a:pt x="10477500" y="133350"/>
                </a:cubicBezTo>
                <a:lnTo>
                  <a:pt x="10477500" y="914400"/>
                </a:lnTo>
                <a:cubicBezTo>
                  <a:pt x="10477500" y="988047"/>
                  <a:pt x="10417797" y="1047750"/>
                  <a:pt x="10344150" y="1047750"/>
                </a:cubicBezTo>
                <a:lnTo>
                  <a:pt x="133350" y="1047750"/>
                </a:lnTo>
                <a:cubicBezTo>
                  <a:pt x="59703" y="1047750"/>
                  <a:pt x="0" y="988047"/>
                  <a:pt x="0" y="914400"/>
                </a:cubicBezTo>
                <a:lnTo>
                  <a:pt x="0" y="133350"/>
                </a:lnTo>
                <a:cubicBezTo>
                  <a:pt x="0" y="59703"/>
                  <a:pt x="59703" y="0"/>
                  <a:pt x="133350" y="0"/>
                </a:cubicBezTo>
                <a:close/>
              </a:path>
            </a:pathLst>
          </a:custGeom>
          <a:solidFill>
            <a:srgbClr val="EAF4FC"/>
          </a:solidFill>
          <a:ln w="9525">
            <a:solidFill>
              <a:srgbClr val="D9DEE5"/>
            </a:solidFill>
          </a:ln>
        </p:spPr>
      </p:sp>
      <p:sp>
        <p:nvSpPr>
          <p:cNvPr id="5" name="Freeform 5"/>
          <p:cNvSpPr/>
          <p:nvPr/>
        </p:nvSpPr>
        <p:spPr>
          <a:xfrm>
            <a:off x="1104900" y="1638300"/>
            <a:ext cx="400050" cy="400050"/>
          </a:xfrm>
          <a:custGeom>
            <a:avLst/>
            <a:gdLst/>
            <a:ahLst/>
            <a:cxnLst/>
            <a:rect l="l" t="t" r="r" b="b"/>
            <a:pathLst>
              <a:path w="400050" h="400050">
                <a:moveTo>
                  <a:pt x="200025" y="50006"/>
                </a:moveTo>
                <a:cubicBezTo>
                  <a:pt x="117172" y="50006"/>
                  <a:pt x="50006" y="117172"/>
                  <a:pt x="50006" y="200025"/>
                </a:cubicBezTo>
                <a:cubicBezTo>
                  <a:pt x="50006" y="282878"/>
                  <a:pt x="117172" y="350044"/>
                  <a:pt x="200025" y="350044"/>
                </a:cubicBezTo>
                <a:cubicBezTo>
                  <a:pt x="282878" y="350044"/>
                  <a:pt x="350044" y="282878"/>
                  <a:pt x="350044" y="200025"/>
                </a:cubicBezTo>
                <a:cubicBezTo>
                  <a:pt x="350044" y="186586"/>
                  <a:pt x="348276" y="173560"/>
                  <a:pt x="344963" y="161167"/>
                </a:cubicBezTo>
                <a:lnTo>
                  <a:pt x="384221" y="121908"/>
                </a:lnTo>
                <a:cubicBezTo>
                  <a:pt x="394412" y="145907"/>
                  <a:pt x="400050" y="172308"/>
                  <a:pt x="400050" y="200025"/>
                </a:cubicBezTo>
                <a:cubicBezTo>
                  <a:pt x="400050" y="310496"/>
                  <a:pt x="310496" y="400050"/>
                  <a:pt x="200025" y="400050"/>
                </a:cubicBezTo>
                <a:cubicBezTo>
                  <a:pt x="89554" y="400050"/>
                  <a:pt x="0" y="310496"/>
                  <a:pt x="0" y="200025"/>
                </a:cubicBezTo>
                <a:cubicBezTo>
                  <a:pt x="0" y="89554"/>
                  <a:pt x="89554" y="0"/>
                  <a:pt x="200025" y="0"/>
                </a:cubicBezTo>
                <a:cubicBezTo>
                  <a:pt x="246249" y="0"/>
                  <a:pt x="288811" y="15679"/>
                  <a:pt x="322680" y="42009"/>
                </a:cubicBezTo>
                <a:lnTo>
                  <a:pt x="357367" y="7323"/>
                </a:lnTo>
                <a:lnTo>
                  <a:pt x="392727" y="42683"/>
                </a:lnTo>
                <a:lnTo>
                  <a:pt x="217705" y="217705"/>
                </a:lnTo>
                <a:lnTo>
                  <a:pt x="182345" y="182345"/>
                </a:lnTo>
                <a:lnTo>
                  <a:pt x="212974" y="151716"/>
                </a:lnTo>
                <a:cubicBezTo>
                  <a:pt x="196292" y="147261"/>
                  <a:pt x="177753" y="151577"/>
                  <a:pt x="164665" y="164665"/>
                </a:cubicBezTo>
                <a:cubicBezTo>
                  <a:pt x="145137" y="184194"/>
                  <a:pt x="145137" y="215856"/>
                  <a:pt x="164665" y="235385"/>
                </a:cubicBezTo>
                <a:cubicBezTo>
                  <a:pt x="184194" y="254914"/>
                  <a:pt x="215856" y="254914"/>
                  <a:pt x="235385" y="235385"/>
                </a:cubicBezTo>
                <a:lnTo>
                  <a:pt x="270744" y="270744"/>
                </a:lnTo>
                <a:cubicBezTo>
                  <a:pt x="231687" y="309801"/>
                  <a:pt x="168363" y="309801"/>
                  <a:pt x="129305" y="270744"/>
                </a:cubicBezTo>
                <a:cubicBezTo>
                  <a:pt x="90248" y="231687"/>
                  <a:pt x="90248" y="168363"/>
                  <a:pt x="129305" y="129305"/>
                </a:cubicBezTo>
                <a:cubicBezTo>
                  <a:pt x="162258" y="96353"/>
                  <a:pt x="212484" y="91202"/>
                  <a:pt x="250836" y="113853"/>
                </a:cubicBezTo>
                <a:lnTo>
                  <a:pt x="286948" y="77741"/>
                </a:lnTo>
                <a:cubicBezTo>
                  <a:pt x="262425" y="60277"/>
                  <a:pt x="232425" y="50006"/>
                  <a:pt x="200025" y="50006"/>
                </a:cubicBezTo>
                <a:close/>
              </a:path>
            </a:pathLst>
          </a:custGeom>
          <a:solidFill>
            <a:srgbClr val="0074CC"/>
          </a:solidFill>
          <a:ln>
            <a:noFill/>
          </a:ln>
        </p:spPr>
      </p:sp>
      <p:sp>
        <p:nvSpPr>
          <p:cNvPr id="6" name="TextBox 6"/>
          <p:cNvSpPr txBox="1"/>
          <p:nvPr/>
        </p:nvSpPr>
        <p:spPr>
          <a:xfrm>
            <a:off x="1666875" y="1700212"/>
            <a:ext cx="1092279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250" b="1" dirty="0">
                <a:solidFill>
                  <a:srgbClr val="123B5E"/>
                </a:solidFill>
                <a:latin typeface="Microsoft YaHei"/>
                <a:ea typeface="Microsoft YaHei"/>
                <a:cs typeface="Microsoft YaHei"/>
              </a:rPr>
              <a:t>感知层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3406140" y="1748790"/>
            <a:ext cx="3358134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dirty="0">
                <a:solidFill>
                  <a:srgbClr val="5B7185"/>
                </a:solidFill>
                <a:latin typeface="Microsoft YaHei"/>
                <a:ea typeface="Microsoft YaHei"/>
                <a:cs typeface="Microsoft YaHei"/>
              </a:rPr>
              <a:t>边缘采集 协议适配 状态上报</a:t>
            </a:r>
          </a:p>
        </p:txBody>
      </p:sp>
      <p:sp>
        <p:nvSpPr>
          <p:cNvPr id="8" name="Freeform 8"/>
          <p:cNvSpPr/>
          <p:nvPr/>
        </p:nvSpPr>
        <p:spPr>
          <a:xfrm>
            <a:off x="857250" y="2571750"/>
            <a:ext cx="10477500" cy="1047750"/>
          </a:xfrm>
          <a:custGeom>
            <a:avLst/>
            <a:gdLst/>
            <a:ahLst/>
            <a:cxnLst/>
            <a:rect l="l" t="t" r="r" b="b"/>
            <a:pathLst>
              <a:path w="10477500" h="1047750">
                <a:moveTo>
                  <a:pt x="133350" y="0"/>
                </a:moveTo>
                <a:lnTo>
                  <a:pt x="10344150" y="0"/>
                </a:lnTo>
                <a:cubicBezTo>
                  <a:pt x="10417797" y="0"/>
                  <a:pt x="10477500" y="59703"/>
                  <a:pt x="10477500" y="133350"/>
                </a:cubicBezTo>
                <a:lnTo>
                  <a:pt x="10477500" y="914400"/>
                </a:lnTo>
                <a:cubicBezTo>
                  <a:pt x="10477500" y="988047"/>
                  <a:pt x="10417797" y="1047750"/>
                  <a:pt x="10344150" y="1047750"/>
                </a:cubicBezTo>
                <a:lnTo>
                  <a:pt x="133350" y="1047750"/>
                </a:lnTo>
                <a:cubicBezTo>
                  <a:pt x="59703" y="1047750"/>
                  <a:pt x="0" y="988047"/>
                  <a:pt x="0" y="914400"/>
                </a:cubicBezTo>
                <a:lnTo>
                  <a:pt x="0" y="133350"/>
                </a:lnTo>
                <a:cubicBezTo>
                  <a:pt x="0" y="59703"/>
                  <a:pt x="59703" y="0"/>
                  <a:pt x="133350" y="0"/>
                </a:cubicBezTo>
                <a:close/>
              </a:path>
            </a:pathLst>
          </a:custGeom>
          <a:solidFill>
            <a:srgbClr val="F5F9FC"/>
          </a:solidFill>
          <a:ln w="9525">
            <a:solidFill>
              <a:srgbClr val="D9DEE5"/>
            </a:solidFill>
          </a:ln>
        </p:spPr>
      </p:sp>
      <p:grpSp>
        <p:nvGrpSpPr>
          <p:cNvPr id="12" name="Group 12"/>
          <p:cNvGrpSpPr/>
          <p:nvPr/>
        </p:nvGrpSpPr>
        <p:grpSpPr>
          <a:xfrm>
            <a:off x="1154906" y="2876550"/>
            <a:ext cx="300038" cy="400050"/>
            <a:chOff x="1154906" y="2876550"/>
            <a:chExt cx="300038" cy="400050"/>
          </a:xfrm>
        </p:grpSpPr>
        <p:sp>
          <p:nvSpPr>
            <p:cNvPr id="9" name="Freeform 9"/>
            <p:cNvSpPr/>
            <p:nvPr/>
          </p:nvSpPr>
          <p:spPr>
            <a:xfrm>
              <a:off x="1154906" y="3036570"/>
              <a:ext cx="300038" cy="115014"/>
            </a:xfrm>
            <a:custGeom>
              <a:avLst/>
              <a:gdLst/>
              <a:ahLst/>
              <a:cxnLst/>
              <a:rect l="l" t="t" r="r" b="b"/>
              <a:pathLst>
                <a:path w="300038" h="115014">
                  <a:moveTo>
                    <a:pt x="278462" y="12756"/>
                  </a:moveTo>
                  <a:cubicBezTo>
                    <a:pt x="285496" y="9238"/>
                    <a:pt x="292844" y="4996"/>
                    <a:pt x="300038" y="0"/>
                  </a:cubicBezTo>
                  <a:lnTo>
                    <a:pt x="300038" y="40005"/>
                  </a:lnTo>
                  <a:cubicBezTo>
                    <a:pt x="300038" y="81431"/>
                    <a:pt x="232872" y="115014"/>
                    <a:pt x="150019" y="115014"/>
                  </a:cubicBezTo>
                  <a:cubicBezTo>
                    <a:pt x="67166" y="115014"/>
                    <a:pt x="0" y="81431"/>
                    <a:pt x="0" y="40005"/>
                  </a:cubicBezTo>
                  <a:lnTo>
                    <a:pt x="0" y="0"/>
                  </a:lnTo>
                  <a:cubicBezTo>
                    <a:pt x="7194" y="4996"/>
                    <a:pt x="14541" y="9238"/>
                    <a:pt x="21576" y="12756"/>
                  </a:cubicBezTo>
                  <a:cubicBezTo>
                    <a:pt x="57031" y="30483"/>
                    <a:pt x="102512" y="40005"/>
                    <a:pt x="150019" y="40005"/>
                  </a:cubicBezTo>
                  <a:cubicBezTo>
                    <a:pt x="197525" y="40005"/>
                    <a:pt x="243005" y="30483"/>
                    <a:pt x="278462" y="12756"/>
                  </a:cubicBezTo>
                  <a:close/>
                </a:path>
              </a:pathLst>
            </a:custGeom>
            <a:solidFill>
              <a:srgbClr val="0074CC"/>
            </a:solidFill>
            <a:ln>
              <a:noFill/>
            </a:ln>
          </p:spPr>
        </p:sp>
        <p:sp>
          <p:nvSpPr>
            <p:cNvPr id="10" name="Freeform 10"/>
            <p:cNvSpPr/>
            <p:nvPr/>
          </p:nvSpPr>
          <p:spPr>
            <a:xfrm>
              <a:off x="1154906" y="3161586"/>
              <a:ext cx="300038" cy="115014"/>
            </a:xfrm>
            <a:custGeom>
              <a:avLst/>
              <a:gdLst/>
              <a:ahLst/>
              <a:cxnLst/>
              <a:rect l="l" t="t" r="r" b="b"/>
              <a:pathLst>
                <a:path w="300038" h="115014">
                  <a:moveTo>
                    <a:pt x="0" y="0"/>
                  </a:moveTo>
                  <a:lnTo>
                    <a:pt x="0" y="40005"/>
                  </a:lnTo>
                  <a:cubicBezTo>
                    <a:pt x="0" y="81433"/>
                    <a:pt x="67166" y="115014"/>
                    <a:pt x="150019" y="115014"/>
                  </a:cubicBezTo>
                  <a:cubicBezTo>
                    <a:pt x="232872" y="115014"/>
                    <a:pt x="300038" y="81433"/>
                    <a:pt x="300038" y="40005"/>
                  </a:cubicBezTo>
                  <a:lnTo>
                    <a:pt x="300038" y="0"/>
                  </a:lnTo>
                  <a:cubicBezTo>
                    <a:pt x="292844" y="4996"/>
                    <a:pt x="285496" y="9239"/>
                    <a:pt x="278462" y="12757"/>
                  </a:cubicBezTo>
                  <a:cubicBezTo>
                    <a:pt x="243005" y="30484"/>
                    <a:pt x="197525" y="40005"/>
                    <a:pt x="150019" y="40005"/>
                  </a:cubicBezTo>
                  <a:cubicBezTo>
                    <a:pt x="102512" y="40005"/>
                    <a:pt x="57031" y="30484"/>
                    <a:pt x="21576" y="12757"/>
                  </a:cubicBezTo>
                  <a:cubicBezTo>
                    <a:pt x="14541" y="9239"/>
                    <a:pt x="7194" y="4996"/>
                    <a:pt x="0" y="0"/>
                  </a:cubicBezTo>
                  <a:close/>
                </a:path>
              </a:pathLst>
            </a:custGeom>
            <a:solidFill>
              <a:srgbClr val="0074CC"/>
            </a:solidFill>
            <a:ln>
              <a:noFill/>
            </a:ln>
          </p:spPr>
        </p:sp>
        <p:sp>
          <p:nvSpPr>
            <p:cNvPr id="11" name="Freeform 11"/>
            <p:cNvSpPr/>
            <p:nvPr/>
          </p:nvSpPr>
          <p:spPr>
            <a:xfrm>
              <a:off x="1154906" y="2876550"/>
              <a:ext cx="300038" cy="150019"/>
            </a:xfrm>
            <a:custGeom>
              <a:avLst/>
              <a:gdLst/>
              <a:ahLst/>
              <a:cxnLst/>
              <a:rect l="l" t="t" r="r" b="b"/>
              <a:pathLst>
                <a:path w="300038" h="150019">
                  <a:moveTo>
                    <a:pt x="150019" y="0"/>
                  </a:moveTo>
                  <a:cubicBezTo>
                    <a:pt x="232872" y="0"/>
                    <a:pt x="300038" y="33583"/>
                    <a:pt x="300038" y="75009"/>
                  </a:cubicBezTo>
                  <a:cubicBezTo>
                    <a:pt x="300038" y="116436"/>
                    <a:pt x="232872" y="150019"/>
                    <a:pt x="150019" y="150019"/>
                  </a:cubicBezTo>
                  <a:cubicBezTo>
                    <a:pt x="67166" y="150019"/>
                    <a:pt x="0" y="116436"/>
                    <a:pt x="0" y="75009"/>
                  </a:cubicBezTo>
                  <a:cubicBezTo>
                    <a:pt x="0" y="33583"/>
                    <a:pt x="67166" y="0"/>
                    <a:pt x="150019" y="0"/>
                  </a:cubicBezTo>
                  <a:close/>
                </a:path>
              </a:pathLst>
            </a:custGeom>
            <a:solidFill>
              <a:srgbClr val="0074CC"/>
            </a:solidFill>
            <a:ln>
              <a:noFill/>
            </a:ln>
          </p:spPr>
        </p:sp>
      </p:grpSp>
      <p:sp>
        <p:nvSpPr>
          <p:cNvPr id="13" name="TextBox 13"/>
          <p:cNvSpPr txBox="1"/>
          <p:nvPr/>
        </p:nvSpPr>
        <p:spPr>
          <a:xfrm>
            <a:off x="1666875" y="2938462"/>
            <a:ext cx="1092279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250" b="1" dirty="0">
                <a:solidFill>
                  <a:srgbClr val="123B5E"/>
                </a:solidFill>
                <a:latin typeface="Microsoft YaHei"/>
                <a:ea typeface="Microsoft YaHei"/>
                <a:cs typeface="Microsoft YaHei"/>
              </a:rPr>
              <a:t>平台层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3406140" y="2987040"/>
            <a:ext cx="3962781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dirty="0">
                <a:solidFill>
                  <a:srgbClr val="5B7185"/>
                </a:solidFill>
                <a:latin typeface="Microsoft YaHei"/>
                <a:ea typeface="Microsoft YaHei"/>
                <a:cs typeface="Microsoft YaHei"/>
              </a:rPr>
              <a:t>主数据 事件总线 规则引擎 知识库</a:t>
            </a:r>
          </a:p>
        </p:txBody>
      </p:sp>
      <p:sp>
        <p:nvSpPr>
          <p:cNvPr id="15" name="Freeform 15"/>
          <p:cNvSpPr/>
          <p:nvPr/>
        </p:nvSpPr>
        <p:spPr>
          <a:xfrm>
            <a:off x="857250" y="3810000"/>
            <a:ext cx="10477500" cy="1047750"/>
          </a:xfrm>
          <a:custGeom>
            <a:avLst/>
            <a:gdLst/>
            <a:ahLst/>
            <a:cxnLst/>
            <a:rect l="l" t="t" r="r" b="b"/>
            <a:pathLst>
              <a:path w="10477500" h="1047750">
                <a:moveTo>
                  <a:pt x="133350" y="0"/>
                </a:moveTo>
                <a:lnTo>
                  <a:pt x="10344150" y="0"/>
                </a:lnTo>
                <a:cubicBezTo>
                  <a:pt x="10417797" y="0"/>
                  <a:pt x="10477500" y="59703"/>
                  <a:pt x="10477500" y="133350"/>
                </a:cubicBezTo>
                <a:lnTo>
                  <a:pt x="10477500" y="914400"/>
                </a:lnTo>
                <a:cubicBezTo>
                  <a:pt x="10477500" y="988047"/>
                  <a:pt x="10417797" y="1047750"/>
                  <a:pt x="10344150" y="1047750"/>
                </a:cubicBezTo>
                <a:lnTo>
                  <a:pt x="133350" y="1047750"/>
                </a:lnTo>
                <a:cubicBezTo>
                  <a:pt x="59703" y="1047750"/>
                  <a:pt x="0" y="988047"/>
                  <a:pt x="0" y="914400"/>
                </a:cubicBezTo>
                <a:lnTo>
                  <a:pt x="0" y="133350"/>
                </a:lnTo>
                <a:cubicBezTo>
                  <a:pt x="0" y="59703"/>
                  <a:pt x="59703" y="0"/>
                  <a:pt x="133350" y="0"/>
                </a:cubicBezTo>
                <a:close/>
              </a:path>
            </a:pathLst>
          </a:custGeom>
          <a:solidFill>
            <a:srgbClr val="EAF4FC"/>
          </a:solidFill>
          <a:ln w="9525">
            <a:solidFill>
              <a:srgbClr val="D9DEE5"/>
            </a:solidFill>
          </a:ln>
        </p:spPr>
      </p:sp>
      <p:grpSp>
        <p:nvGrpSpPr>
          <p:cNvPr id="19" name="Group 19"/>
          <p:cNvGrpSpPr/>
          <p:nvPr/>
        </p:nvGrpSpPr>
        <p:grpSpPr>
          <a:xfrm>
            <a:off x="1104900" y="4139803"/>
            <a:ext cx="400050" cy="350044"/>
            <a:chOff x="1104900" y="4139803"/>
            <a:chExt cx="400050" cy="350044"/>
          </a:xfrm>
        </p:grpSpPr>
        <p:sp>
          <p:nvSpPr>
            <p:cNvPr id="16" name="Freeform 16"/>
            <p:cNvSpPr/>
            <p:nvPr/>
          </p:nvSpPr>
          <p:spPr>
            <a:xfrm>
              <a:off x="1404938" y="4139803"/>
              <a:ext cx="100012" cy="350044"/>
            </a:xfrm>
            <a:custGeom>
              <a:avLst/>
              <a:gdLst/>
              <a:ahLst/>
              <a:cxnLst/>
              <a:rect l="l" t="t" r="r" b="b"/>
              <a:pathLst>
                <a:path w="100012" h="350044">
                  <a:moveTo>
                    <a:pt x="100012" y="0"/>
                  </a:moveTo>
                  <a:lnTo>
                    <a:pt x="0" y="0"/>
                  </a:lnTo>
                  <a:lnTo>
                    <a:pt x="0" y="350044"/>
                  </a:lnTo>
                  <a:lnTo>
                    <a:pt x="100012" y="350044"/>
                  </a:lnTo>
                  <a:lnTo>
                    <a:pt x="100012" y="0"/>
                  </a:lnTo>
                  <a:close/>
                </a:path>
              </a:pathLst>
            </a:custGeom>
            <a:solidFill>
              <a:srgbClr val="0074CC"/>
            </a:solidFill>
            <a:ln>
              <a:noFill/>
            </a:ln>
          </p:spPr>
        </p:sp>
        <p:sp>
          <p:nvSpPr>
            <p:cNvPr id="17" name="Freeform 17"/>
            <p:cNvSpPr/>
            <p:nvPr/>
          </p:nvSpPr>
          <p:spPr>
            <a:xfrm>
              <a:off x="1254919" y="4239816"/>
              <a:ext cx="100012" cy="250031"/>
            </a:xfrm>
            <a:custGeom>
              <a:avLst/>
              <a:gdLst/>
              <a:ahLst/>
              <a:cxnLst/>
              <a:rect l="l" t="t" r="r" b="b"/>
              <a:pathLst>
                <a:path w="100012" h="250031">
                  <a:moveTo>
                    <a:pt x="0" y="0"/>
                  </a:moveTo>
                  <a:lnTo>
                    <a:pt x="100012" y="0"/>
                  </a:lnTo>
                  <a:lnTo>
                    <a:pt x="100012" y="250031"/>
                  </a:lnTo>
                  <a:lnTo>
                    <a:pt x="0" y="25003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74CC"/>
            </a:solidFill>
            <a:ln>
              <a:noFill/>
            </a:ln>
          </p:spPr>
        </p:sp>
        <p:sp>
          <p:nvSpPr>
            <p:cNvPr id="18" name="Freeform 18"/>
            <p:cNvSpPr/>
            <p:nvPr/>
          </p:nvSpPr>
          <p:spPr>
            <a:xfrm>
              <a:off x="1104900" y="4339828"/>
              <a:ext cx="100012" cy="150019"/>
            </a:xfrm>
            <a:custGeom>
              <a:avLst/>
              <a:gdLst/>
              <a:ahLst/>
              <a:cxnLst/>
              <a:rect l="l" t="t" r="r" b="b"/>
              <a:pathLst>
                <a:path w="100012" h="150019">
                  <a:moveTo>
                    <a:pt x="0" y="0"/>
                  </a:moveTo>
                  <a:lnTo>
                    <a:pt x="100012" y="0"/>
                  </a:lnTo>
                  <a:lnTo>
                    <a:pt x="100012" y="150019"/>
                  </a:lnTo>
                  <a:lnTo>
                    <a:pt x="0" y="15001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74CC"/>
            </a:solidFill>
            <a:ln>
              <a:noFill/>
            </a:ln>
          </p:spPr>
        </p:sp>
      </p:grpSp>
      <p:sp>
        <p:nvSpPr>
          <p:cNvPr id="20" name="TextBox 20"/>
          <p:cNvSpPr txBox="1"/>
          <p:nvPr/>
        </p:nvSpPr>
        <p:spPr>
          <a:xfrm>
            <a:off x="1666875" y="4176712"/>
            <a:ext cx="1092279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250" b="1" dirty="0">
                <a:solidFill>
                  <a:srgbClr val="123B5E"/>
                </a:solidFill>
                <a:latin typeface="Microsoft YaHei"/>
                <a:ea typeface="Microsoft YaHei"/>
                <a:cs typeface="Microsoft YaHei"/>
              </a:rPr>
              <a:t>应用层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3406140" y="4225290"/>
            <a:ext cx="4488561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dirty="0">
                <a:solidFill>
                  <a:srgbClr val="5B7185"/>
                </a:solidFill>
                <a:latin typeface="Microsoft YaHei"/>
                <a:ea typeface="Microsoft YaHei"/>
                <a:cs typeface="Microsoft YaHei"/>
              </a:rPr>
              <a:t>健康诊断 风险预警 作业协同 经营看板</a:t>
            </a:r>
          </a:p>
        </p:txBody>
      </p:sp>
      <p:sp>
        <p:nvSpPr>
          <p:cNvPr id="22" name="Freeform 22"/>
          <p:cNvSpPr/>
          <p:nvPr/>
        </p:nvSpPr>
        <p:spPr>
          <a:xfrm>
            <a:off x="857250" y="5048250"/>
            <a:ext cx="10477500" cy="1047750"/>
          </a:xfrm>
          <a:custGeom>
            <a:avLst/>
            <a:gdLst/>
            <a:ahLst/>
            <a:cxnLst/>
            <a:rect l="l" t="t" r="r" b="b"/>
            <a:pathLst>
              <a:path w="10477500" h="1047750">
                <a:moveTo>
                  <a:pt x="133350" y="0"/>
                </a:moveTo>
                <a:lnTo>
                  <a:pt x="10344150" y="0"/>
                </a:lnTo>
                <a:cubicBezTo>
                  <a:pt x="10417797" y="0"/>
                  <a:pt x="10477500" y="59703"/>
                  <a:pt x="10477500" y="133350"/>
                </a:cubicBezTo>
                <a:lnTo>
                  <a:pt x="10477500" y="914400"/>
                </a:lnTo>
                <a:cubicBezTo>
                  <a:pt x="10477500" y="988047"/>
                  <a:pt x="10417797" y="1047750"/>
                  <a:pt x="10344150" y="1047750"/>
                </a:cubicBezTo>
                <a:lnTo>
                  <a:pt x="133350" y="1047750"/>
                </a:lnTo>
                <a:cubicBezTo>
                  <a:pt x="59703" y="1047750"/>
                  <a:pt x="0" y="988047"/>
                  <a:pt x="0" y="914400"/>
                </a:cubicBezTo>
                <a:lnTo>
                  <a:pt x="0" y="133350"/>
                </a:lnTo>
                <a:cubicBezTo>
                  <a:pt x="0" y="59703"/>
                  <a:pt x="59703" y="0"/>
                  <a:pt x="133350" y="0"/>
                </a:cubicBezTo>
                <a:close/>
              </a:path>
            </a:pathLst>
          </a:custGeom>
          <a:solidFill>
            <a:srgbClr val="F5F9FC"/>
          </a:solidFill>
          <a:ln w="9525">
            <a:solidFill>
              <a:srgbClr val="D9DEE5"/>
            </a:solidFill>
          </a:ln>
        </p:spPr>
      </p:sp>
      <p:grpSp>
        <p:nvGrpSpPr>
          <p:cNvPr id="27" name="Group 27"/>
          <p:cNvGrpSpPr/>
          <p:nvPr/>
        </p:nvGrpSpPr>
        <p:grpSpPr>
          <a:xfrm>
            <a:off x="1104900" y="5378053"/>
            <a:ext cx="400050" cy="350044"/>
            <a:chOff x="1104900" y="5378053"/>
            <a:chExt cx="400050" cy="350044"/>
          </a:xfrm>
        </p:grpSpPr>
        <p:sp>
          <p:nvSpPr>
            <p:cNvPr id="23" name="Freeform 23"/>
            <p:cNvSpPr/>
            <p:nvPr/>
          </p:nvSpPr>
          <p:spPr>
            <a:xfrm>
              <a:off x="1179909" y="5378053"/>
              <a:ext cx="125016" cy="125016"/>
            </a:xfrm>
            <a:custGeom>
              <a:avLst/>
              <a:gdLst/>
              <a:ahLst/>
              <a:cxnLst/>
              <a:rect l="l" t="t" r="r" b="b"/>
              <a:pathLst>
                <a:path w="125016" h="125016">
                  <a:moveTo>
                    <a:pt x="125016" y="62508"/>
                  </a:moveTo>
                  <a:cubicBezTo>
                    <a:pt x="125016" y="97030"/>
                    <a:pt x="97030" y="125016"/>
                    <a:pt x="62508" y="125016"/>
                  </a:cubicBezTo>
                  <a:cubicBezTo>
                    <a:pt x="27986" y="125016"/>
                    <a:pt x="0" y="97030"/>
                    <a:pt x="0" y="62508"/>
                  </a:cubicBezTo>
                  <a:cubicBezTo>
                    <a:pt x="0" y="27986"/>
                    <a:pt x="27986" y="0"/>
                    <a:pt x="62508" y="0"/>
                  </a:cubicBezTo>
                  <a:cubicBezTo>
                    <a:pt x="97030" y="0"/>
                    <a:pt x="125016" y="27986"/>
                    <a:pt x="125016" y="62508"/>
                  </a:cubicBezTo>
                  <a:close/>
                </a:path>
              </a:pathLst>
            </a:custGeom>
            <a:solidFill>
              <a:srgbClr val="0074CC"/>
            </a:solidFill>
            <a:ln>
              <a:noFill/>
            </a:ln>
          </p:spPr>
        </p:sp>
        <p:sp>
          <p:nvSpPr>
            <p:cNvPr id="24" name="Freeform 24"/>
            <p:cNvSpPr/>
            <p:nvPr/>
          </p:nvSpPr>
          <p:spPr>
            <a:xfrm>
              <a:off x="1104900" y="5553075"/>
              <a:ext cx="200025" cy="175022"/>
            </a:xfrm>
            <a:custGeom>
              <a:avLst/>
              <a:gdLst/>
              <a:ahLst/>
              <a:cxnLst/>
              <a:rect l="l" t="t" r="r" b="b"/>
              <a:pathLst>
                <a:path w="200025" h="175022">
                  <a:moveTo>
                    <a:pt x="75009" y="0"/>
                  </a:moveTo>
                  <a:cubicBezTo>
                    <a:pt x="33583" y="0"/>
                    <a:pt x="0" y="33583"/>
                    <a:pt x="0" y="75009"/>
                  </a:cubicBezTo>
                  <a:lnTo>
                    <a:pt x="0" y="175022"/>
                  </a:lnTo>
                  <a:lnTo>
                    <a:pt x="200025" y="175022"/>
                  </a:lnTo>
                  <a:lnTo>
                    <a:pt x="200025" y="0"/>
                  </a:lnTo>
                  <a:lnTo>
                    <a:pt x="75009" y="0"/>
                  </a:lnTo>
                  <a:close/>
                </a:path>
              </a:pathLst>
            </a:custGeom>
            <a:solidFill>
              <a:srgbClr val="0074CC"/>
            </a:solidFill>
            <a:ln>
              <a:noFill/>
            </a:ln>
          </p:spPr>
        </p:sp>
        <p:sp>
          <p:nvSpPr>
            <p:cNvPr id="25" name="Freeform 25"/>
            <p:cNvSpPr/>
            <p:nvPr/>
          </p:nvSpPr>
          <p:spPr>
            <a:xfrm>
              <a:off x="1354931" y="5553075"/>
              <a:ext cx="150019" cy="175022"/>
            </a:xfrm>
            <a:custGeom>
              <a:avLst/>
              <a:gdLst/>
              <a:ahLst/>
              <a:cxnLst/>
              <a:rect l="l" t="t" r="r" b="b"/>
              <a:pathLst>
                <a:path w="150019" h="175022">
                  <a:moveTo>
                    <a:pt x="75009" y="0"/>
                  </a:moveTo>
                  <a:lnTo>
                    <a:pt x="0" y="0"/>
                  </a:lnTo>
                  <a:lnTo>
                    <a:pt x="0" y="175022"/>
                  </a:lnTo>
                  <a:lnTo>
                    <a:pt x="150019" y="175022"/>
                  </a:lnTo>
                  <a:lnTo>
                    <a:pt x="150019" y="75009"/>
                  </a:lnTo>
                  <a:cubicBezTo>
                    <a:pt x="150019" y="33583"/>
                    <a:pt x="116437" y="0"/>
                    <a:pt x="75009" y="0"/>
                  </a:cubicBezTo>
                  <a:close/>
                </a:path>
              </a:pathLst>
            </a:custGeom>
            <a:solidFill>
              <a:srgbClr val="0074CC"/>
            </a:solidFill>
            <a:ln>
              <a:noFill/>
            </a:ln>
          </p:spPr>
        </p:sp>
        <p:sp>
          <p:nvSpPr>
            <p:cNvPr id="26" name="Freeform 26"/>
            <p:cNvSpPr/>
            <p:nvPr/>
          </p:nvSpPr>
          <p:spPr>
            <a:xfrm>
              <a:off x="1354931" y="5403056"/>
              <a:ext cx="100012" cy="100012"/>
            </a:xfrm>
            <a:custGeom>
              <a:avLst/>
              <a:gdLst/>
              <a:ahLst/>
              <a:cxnLst/>
              <a:rect l="l" t="t" r="r" b="b"/>
              <a:pathLst>
                <a:path w="100012" h="100012">
                  <a:moveTo>
                    <a:pt x="50006" y="100012"/>
                  </a:moveTo>
                  <a:cubicBezTo>
                    <a:pt x="77625" y="100012"/>
                    <a:pt x="100012" y="77624"/>
                    <a:pt x="100012" y="50006"/>
                  </a:cubicBezTo>
                  <a:cubicBezTo>
                    <a:pt x="100012" y="22389"/>
                    <a:pt x="77625" y="0"/>
                    <a:pt x="50006" y="0"/>
                  </a:cubicBezTo>
                  <a:cubicBezTo>
                    <a:pt x="22388" y="0"/>
                    <a:pt x="0" y="22389"/>
                    <a:pt x="0" y="50006"/>
                  </a:cubicBezTo>
                  <a:cubicBezTo>
                    <a:pt x="0" y="77624"/>
                    <a:pt x="22388" y="100012"/>
                    <a:pt x="50006" y="100012"/>
                  </a:cubicBezTo>
                  <a:close/>
                </a:path>
              </a:pathLst>
            </a:custGeom>
            <a:solidFill>
              <a:srgbClr val="0074CC"/>
            </a:solidFill>
            <a:ln>
              <a:noFill/>
            </a:ln>
          </p:spPr>
        </p:sp>
      </p:grpSp>
      <p:sp>
        <p:nvSpPr>
          <p:cNvPr id="28" name="TextBox 28"/>
          <p:cNvSpPr txBox="1"/>
          <p:nvPr/>
        </p:nvSpPr>
        <p:spPr>
          <a:xfrm>
            <a:off x="1666875" y="5414962"/>
            <a:ext cx="1092279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250" b="1" dirty="0">
                <a:solidFill>
                  <a:srgbClr val="123B5E"/>
                </a:solidFill>
                <a:latin typeface="Microsoft YaHei"/>
                <a:ea typeface="Microsoft YaHei"/>
                <a:cs typeface="Microsoft YaHei"/>
              </a:rPr>
              <a:t>运营层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3406140" y="5463540"/>
            <a:ext cx="4488561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dirty="0">
                <a:solidFill>
                  <a:srgbClr val="5B7185"/>
                </a:solidFill>
                <a:latin typeface="Microsoft YaHei"/>
                <a:ea typeface="Microsoft YaHei"/>
                <a:cs typeface="Microsoft YaHei"/>
              </a:rPr>
              <a:t>组织机制 指标闭环 双周复盘 持续优化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955" y="0"/>
            <a:ext cx="12151042" cy="6858000"/>
          </a:xfrm>
          <a:prstGeom prst="rect">
            <a:avLst/>
          </a:prstGeom>
        </p:spPr>
      </p:pic>
      <p:sp>
        <p:nvSpPr>
          <p:cNvPr id="3" name="TextBox 3"/>
          <p:cNvSpPr txBox="1"/>
          <p:nvPr/>
        </p:nvSpPr>
        <p:spPr>
          <a:xfrm>
            <a:off x="493395" y="498158"/>
            <a:ext cx="5393674" cy="640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150" b="1" dirty="0">
                <a:solidFill>
                  <a:srgbClr val="004C8B"/>
                </a:solidFill>
                <a:latin typeface="Microsoft YaHei"/>
                <a:ea typeface="Microsoft YaHei"/>
                <a:cs typeface="Microsoft YaHei"/>
              </a:rPr>
              <a:t>关键指标改进（柱状图）</a:t>
            </a:r>
          </a:p>
        </p:txBody>
      </p:sp>
      <p:sp>
        <p:nvSpPr>
          <p:cNvPr id="4" name="Line 4"/>
          <p:cNvSpPr/>
          <p:nvPr/>
        </p:nvSpPr>
        <p:spPr>
          <a:xfrm>
            <a:off x="1428750" y="5619750"/>
            <a:ext cx="9429750" cy="9525"/>
          </a:xfrm>
          <a:custGeom>
            <a:avLst/>
            <a:gdLst/>
            <a:ahLst/>
            <a:cxnLst/>
            <a:rect l="l" t="t" r="r" b="b"/>
            <a:pathLst>
              <a:path w="9429750" h="9525">
                <a:moveTo>
                  <a:pt x="0" y="0"/>
                </a:moveTo>
                <a:lnTo>
                  <a:pt x="9429750" y="0"/>
                </a:lnTo>
              </a:path>
            </a:pathLst>
          </a:custGeom>
          <a:noFill/>
          <a:ln w="28575">
            <a:solidFill>
              <a:srgbClr val="123B5E"/>
            </a:solidFill>
          </a:ln>
        </p:spPr>
      </p:sp>
      <p:sp>
        <p:nvSpPr>
          <p:cNvPr id="5" name="Line 5"/>
          <p:cNvSpPr/>
          <p:nvPr/>
        </p:nvSpPr>
        <p:spPr>
          <a:xfrm>
            <a:off x="1428750" y="1714500"/>
            <a:ext cx="9525" cy="3905250"/>
          </a:xfrm>
          <a:custGeom>
            <a:avLst/>
            <a:gdLst/>
            <a:ahLst/>
            <a:cxnLst/>
            <a:rect l="l" t="t" r="r" b="b"/>
            <a:pathLst>
              <a:path w="9525" h="3905250">
                <a:moveTo>
                  <a:pt x="0" y="0"/>
                </a:moveTo>
                <a:lnTo>
                  <a:pt x="0" y="3905250"/>
                </a:lnTo>
              </a:path>
            </a:pathLst>
          </a:custGeom>
          <a:noFill/>
          <a:ln w="28575">
            <a:solidFill>
              <a:srgbClr val="123B5E"/>
            </a:solidFill>
          </a:ln>
        </p:spPr>
      </p:sp>
      <p:sp>
        <p:nvSpPr>
          <p:cNvPr id="6" name="Rectangle 6"/>
          <p:cNvSpPr/>
          <p:nvPr/>
        </p:nvSpPr>
        <p:spPr>
          <a:xfrm>
            <a:off x="2286000" y="3429000"/>
            <a:ext cx="666750" cy="2190750"/>
          </a:xfrm>
          <a:prstGeom prst="rect">
            <a:avLst/>
          </a:prstGeom>
          <a:solidFill>
            <a:srgbClr val="9CC9EC"/>
          </a:solidFill>
          <a:ln>
            <a:noFill/>
          </a:ln>
        </p:spPr>
      </p:sp>
      <p:sp>
        <p:nvSpPr>
          <p:cNvPr id="7" name="Rectangle 7"/>
          <p:cNvSpPr/>
          <p:nvPr/>
        </p:nvSpPr>
        <p:spPr>
          <a:xfrm>
            <a:off x="3143250" y="2667000"/>
            <a:ext cx="666750" cy="2952750"/>
          </a:xfrm>
          <a:prstGeom prst="rect">
            <a:avLst/>
          </a:prstGeom>
          <a:solidFill>
            <a:srgbClr val="0074CC"/>
          </a:solidFill>
          <a:ln>
            <a:noFill/>
          </a:ln>
        </p:spPr>
      </p:sp>
      <p:sp>
        <p:nvSpPr>
          <p:cNvPr id="8" name="TextBox 8"/>
          <p:cNvSpPr txBox="1"/>
          <p:nvPr/>
        </p:nvSpPr>
        <p:spPr>
          <a:xfrm>
            <a:off x="2171700" y="5791200"/>
            <a:ext cx="695325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123B5E"/>
                </a:solidFill>
                <a:latin typeface="Microsoft YaHei"/>
                <a:ea typeface="Microsoft YaHei"/>
                <a:cs typeface="Microsoft YaHei"/>
              </a:rPr>
              <a:t>可用率</a:t>
            </a:r>
          </a:p>
        </p:txBody>
      </p:sp>
      <p:sp>
        <p:nvSpPr>
          <p:cNvPr id="9" name="Rectangle 9"/>
          <p:cNvSpPr/>
          <p:nvPr/>
        </p:nvSpPr>
        <p:spPr>
          <a:xfrm>
            <a:off x="4762500" y="3905250"/>
            <a:ext cx="666750" cy="1714500"/>
          </a:xfrm>
          <a:prstGeom prst="rect">
            <a:avLst/>
          </a:prstGeom>
          <a:solidFill>
            <a:srgbClr val="F2A0B1"/>
          </a:solidFill>
          <a:ln>
            <a:noFill/>
          </a:ln>
        </p:spPr>
      </p:sp>
      <p:sp>
        <p:nvSpPr>
          <p:cNvPr id="10" name="Rectangle 10"/>
          <p:cNvSpPr/>
          <p:nvPr/>
        </p:nvSpPr>
        <p:spPr>
          <a:xfrm>
            <a:off x="5619750" y="4810125"/>
            <a:ext cx="666750" cy="809625"/>
          </a:xfrm>
          <a:prstGeom prst="rect">
            <a:avLst/>
          </a:prstGeom>
          <a:solidFill>
            <a:srgbClr val="DE002B"/>
          </a:solidFill>
          <a:ln>
            <a:noFill/>
          </a:ln>
        </p:spPr>
      </p:sp>
      <p:sp>
        <p:nvSpPr>
          <p:cNvPr id="11" name="TextBox 11"/>
          <p:cNvSpPr txBox="1"/>
          <p:nvPr/>
        </p:nvSpPr>
        <p:spPr>
          <a:xfrm>
            <a:off x="4552950" y="5791200"/>
            <a:ext cx="695325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123B5E"/>
                </a:solidFill>
                <a:latin typeface="Microsoft YaHei"/>
                <a:ea typeface="Microsoft YaHei"/>
                <a:cs typeface="Microsoft YaHei"/>
              </a:rPr>
              <a:t>停机率</a:t>
            </a:r>
          </a:p>
        </p:txBody>
      </p:sp>
      <p:sp>
        <p:nvSpPr>
          <p:cNvPr id="12" name="Rectangle 12"/>
          <p:cNvSpPr/>
          <p:nvPr/>
        </p:nvSpPr>
        <p:spPr>
          <a:xfrm>
            <a:off x="7239000" y="2857500"/>
            <a:ext cx="666750" cy="2762250"/>
          </a:xfrm>
          <a:prstGeom prst="rect">
            <a:avLst/>
          </a:prstGeom>
          <a:solidFill>
            <a:srgbClr val="9BE4C7"/>
          </a:solidFill>
          <a:ln>
            <a:noFill/>
          </a:ln>
        </p:spPr>
      </p:sp>
      <p:sp>
        <p:nvSpPr>
          <p:cNvPr id="13" name="Rectangle 13"/>
          <p:cNvSpPr/>
          <p:nvPr/>
        </p:nvSpPr>
        <p:spPr>
          <a:xfrm>
            <a:off x="8096250" y="2000250"/>
            <a:ext cx="666750" cy="3619500"/>
          </a:xfrm>
          <a:prstGeom prst="rect">
            <a:avLst/>
          </a:prstGeom>
          <a:solidFill>
            <a:srgbClr val="00A870"/>
          </a:solidFill>
          <a:ln>
            <a:noFill/>
          </a:ln>
        </p:spPr>
      </p:sp>
      <p:sp>
        <p:nvSpPr>
          <p:cNvPr id="14" name="TextBox 14"/>
          <p:cNvSpPr txBox="1"/>
          <p:nvPr/>
        </p:nvSpPr>
        <p:spPr>
          <a:xfrm>
            <a:off x="7048500" y="5791200"/>
            <a:ext cx="695325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123B5E"/>
                </a:solidFill>
                <a:latin typeface="Microsoft YaHei"/>
                <a:ea typeface="Microsoft YaHei"/>
                <a:cs typeface="Microsoft YaHei"/>
              </a:rPr>
              <a:t>闭环率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2364105" y="3168968"/>
            <a:ext cx="468058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5B7185"/>
                </a:solidFill>
                <a:latin typeface="Arial"/>
                <a:ea typeface="Microsoft YaHei"/>
                <a:cs typeface="Arial"/>
              </a:rPr>
              <a:t>96.8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3221355" y="2406968"/>
            <a:ext cx="468058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123B5E"/>
                </a:solidFill>
                <a:latin typeface="Arial"/>
                <a:ea typeface="Microsoft YaHei"/>
                <a:cs typeface="Arial"/>
              </a:rPr>
              <a:t>98.5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4840605" y="3645218"/>
            <a:ext cx="359616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5B7185"/>
                </a:solidFill>
                <a:latin typeface="Arial"/>
                <a:ea typeface="Microsoft YaHei"/>
                <a:cs typeface="Arial"/>
              </a:rPr>
              <a:t>5.2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5697855" y="4550092"/>
            <a:ext cx="359616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123B5E"/>
                </a:solidFill>
                <a:latin typeface="Arial"/>
                <a:ea typeface="Microsoft YaHei"/>
                <a:cs typeface="Arial"/>
              </a:rPr>
              <a:t>3.6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7317105" y="2597468"/>
            <a:ext cx="201882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5B7185"/>
                </a:solidFill>
                <a:latin typeface="Arial"/>
                <a:ea typeface="Microsoft YaHei"/>
                <a:cs typeface="Arial"/>
              </a:rPr>
              <a:t>71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8174355" y="1740218"/>
            <a:ext cx="251174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123B5E"/>
                </a:solidFill>
                <a:latin typeface="Arial"/>
                <a:ea typeface="Microsoft YaHei"/>
                <a:cs typeface="Arial"/>
              </a:rPr>
              <a:t>93</a:t>
            </a:r>
          </a:p>
        </p:txBody>
      </p:sp>
      <p:sp>
        <p:nvSpPr>
          <p:cNvPr id="21" name="Freeform 21"/>
          <p:cNvSpPr/>
          <p:nvPr/>
        </p:nvSpPr>
        <p:spPr>
          <a:xfrm>
            <a:off x="9239250" y="2000250"/>
            <a:ext cx="2095500" cy="1238250"/>
          </a:xfrm>
          <a:custGeom>
            <a:avLst/>
            <a:gdLst/>
            <a:ahLst/>
            <a:cxnLst/>
            <a:rect l="l" t="t" r="r" b="b"/>
            <a:pathLst>
              <a:path w="2095500" h="1238250">
                <a:moveTo>
                  <a:pt x="133350" y="0"/>
                </a:moveTo>
                <a:lnTo>
                  <a:pt x="1962150" y="0"/>
                </a:lnTo>
                <a:cubicBezTo>
                  <a:pt x="2035797" y="0"/>
                  <a:pt x="2095500" y="59703"/>
                  <a:pt x="2095500" y="133350"/>
                </a:cubicBezTo>
                <a:lnTo>
                  <a:pt x="2095500" y="1104900"/>
                </a:lnTo>
                <a:cubicBezTo>
                  <a:pt x="2095500" y="1178547"/>
                  <a:pt x="2035797" y="1238250"/>
                  <a:pt x="1962150" y="1238250"/>
                </a:cubicBezTo>
                <a:lnTo>
                  <a:pt x="133350" y="1238250"/>
                </a:lnTo>
                <a:cubicBezTo>
                  <a:pt x="59703" y="1238250"/>
                  <a:pt x="0" y="1178547"/>
                  <a:pt x="0" y="1104900"/>
                </a:cubicBezTo>
                <a:lnTo>
                  <a:pt x="0" y="133350"/>
                </a:lnTo>
                <a:cubicBezTo>
                  <a:pt x="0" y="59703"/>
                  <a:pt x="59703" y="0"/>
                  <a:pt x="133350" y="0"/>
                </a:cubicBezTo>
                <a:close/>
              </a:path>
            </a:pathLst>
          </a:custGeom>
          <a:solidFill>
            <a:srgbClr val="FFFFFF"/>
          </a:solidFill>
          <a:ln w="9525">
            <a:solidFill>
              <a:srgbClr val="D9DEE5"/>
            </a:solidFill>
          </a:ln>
        </p:spPr>
      </p:sp>
      <p:sp>
        <p:nvSpPr>
          <p:cNvPr id="22" name="Rectangle 22"/>
          <p:cNvSpPr/>
          <p:nvPr/>
        </p:nvSpPr>
        <p:spPr>
          <a:xfrm>
            <a:off x="9429750" y="2247900"/>
            <a:ext cx="228600" cy="133350"/>
          </a:xfrm>
          <a:prstGeom prst="rect">
            <a:avLst/>
          </a:prstGeom>
          <a:solidFill>
            <a:srgbClr val="9CC9EC"/>
          </a:solidFill>
          <a:ln>
            <a:noFill/>
          </a:ln>
        </p:spPr>
      </p:sp>
      <p:sp>
        <p:nvSpPr>
          <p:cNvPr id="23" name="TextBox 23"/>
          <p:cNvSpPr txBox="1"/>
          <p:nvPr/>
        </p:nvSpPr>
        <p:spPr>
          <a:xfrm>
            <a:off x="9736455" y="2216468"/>
            <a:ext cx="428625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5B7185"/>
                </a:solidFill>
                <a:latin typeface="Microsoft YaHei"/>
                <a:ea typeface="Microsoft YaHei"/>
                <a:cs typeface="Microsoft YaHei"/>
              </a:rPr>
              <a:t>基线</a:t>
            </a:r>
          </a:p>
        </p:txBody>
      </p:sp>
      <p:sp>
        <p:nvSpPr>
          <p:cNvPr id="24" name="Rectangle 24"/>
          <p:cNvSpPr/>
          <p:nvPr/>
        </p:nvSpPr>
        <p:spPr>
          <a:xfrm>
            <a:off x="9429750" y="2571750"/>
            <a:ext cx="228600" cy="133350"/>
          </a:xfrm>
          <a:prstGeom prst="rect">
            <a:avLst/>
          </a:prstGeom>
          <a:solidFill>
            <a:srgbClr val="0074CC"/>
          </a:solidFill>
          <a:ln>
            <a:noFill/>
          </a:ln>
        </p:spPr>
      </p:sp>
      <p:sp>
        <p:nvSpPr>
          <p:cNvPr id="25" name="TextBox 25"/>
          <p:cNvSpPr txBox="1"/>
          <p:nvPr/>
        </p:nvSpPr>
        <p:spPr>
          <a:xfrm>
            <a:off x="9736455" y="2540318"/>
            <a:ext cx="428625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123B5E"/>
                </a:solidFill>
                <a:latin typeface="Microsoft YaHei"/>
                <a:ea typeface="Microsoft YaHei"/>
                <a:cs typeface="Microsoft YaHei"/>
              </a:rPr>
              <a:t>目标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955" y="0"/>
            <a:ext cx="12151042" cy="6858000"/>
          </a:xfrm>
          <a:prstGeom prst="rect">
            <a:avLst/>
          </a:prstGeom>
        </p:spPr>
      </p:pic>
      <p:sp>
        <p:nvSpPr>
          <p:cNvPr id="3" name="TextBox 3"/>
          <p:cNvSpPr txBox="1"/>
          <p:nvPr/>
        </p:nvSpPr>
        <p:spPr>
          <a:xfrm>
            <a:off x="493395" y="498158"/>
            <a:ext cx="5393674" cy="640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150" b="1" dirty="0">
                <a:solidFill>
                  <a:srgbClr val="004C8B"/>
                </a:solidFill>
                <a:latin typeface="Microsoft YaHei"/>
                <a:ea typeface="Microsoft YaHei"/>
                <a:cs typeface="Microsoft YaHei"/>
              </a:rPr>
              <a:t>季度推进趋势（折线图）</a:t>
            </a:r>
          </a:p>
        </p:txBody>
      </p:sp>
      <p:sp>
        <p:nvSpPr>
          <p:cNvPr id="4" name="Freeform 4"/>
          <p:cNvSpPr/>
          <p:nvPr/>
        </p:nvSpPr>
        <p:spPr>
          <a:xfrm>
            <a:off x="762000" y="1333500"/>
            <a:ext cx="10668000" cy="4762500"/>
          </a:xfrm>
          <a:custGeom>
            <a:avLst/>
            <a:gdLst/>
            <a:ahLst/>
            <a:cxnLst/>
            <a:rect l="l" t="t" r="r" b="b"/>
            <a:pathLst>
              <a:path w="10668000" h="4762500">
                <a:moveTo>
                  <a:pt x="171450" y="0"/>
                </a:moveTo>
                <a:lnTo>
                  <a:pt x="10496550" y="0"/>
                </a:lnTo>
                <a:cubicBezTo>
                  <a:pt x="10591239" y="0"/>
                  <a:pt x="10668000" y="76761"/>
                  <a:pt x="10668000" y="171450"/>
                </a:cubicBezTo>
                <a:lnTo>
                  <a:pt x="10668000" y="4591050"/>
                </a:lnTo>
                <a:cubicBezTo>
                  <a:pt x="10668000" y="4685739"/>
                  <a:pt x="10591239" y="4762500"/>
                  <a:pt x="10496550" y="4762500"/>
                </a:cubicBezTo>
                <a:lnTo>
                  <a:pt x="171450" y="4762500"/>
                </a:lnTo>
                <a:cubicBezTo>
                  <a:pt x="76761" y="4762500"/>
                  <a:pt x="0" y="4685739"/>
                  <a:pt x="0" y="4591050"/>
                </a:cubicBezTo>
                <a:lnTo>
                  <a:pt x="0" y="171450"/>
                </a:lnTo>
                <a:cubicBezTo>
                  <a:pt x="0" y="76761"/>
                  <a:pt x="76761" y="0"/>
                  <a:pt x="171450" y="0"/>
                </a:cubicBezTo>
                <a:close/>
              </a:path>
            </a:pathLst>
          </a:custGeom>
          <a:solidFill>
            <a:srgbClr val="FFFFFF"/>
          </a:solidFill>
          <a:ln w="9525">
            <a:solidFill>
              <a:srgbClr val="D9DEE5"/>
            </a:solidFill>
          </a:ln>
        </p:spPr>
      </p:sp>
      <p:sp>
        <p:nvSpPr>
          <p:cNvPr id="5" name="Line 5"/>
          <p:cNvSpPr/>
          <p:nvPr/>
        </p:nvSpPr>
        <p:spPr>
          <a:xfrm>
            <a:off x="1619250" y="5334000"/>
            <a:ext cx="8953500" cy="9525"/>
          </a:xfrm>
          <a:custGeom>
            <a:avLst/>
            <a:gdLst/>
            <a:ahLst/>
            <a:cxnLst/>
            <a:rect l="l" t="t" r="r" b="b"/>
            <a:pathLst>
              <a:path w="8953500" h="9525">
                <a:moveTo>
                  <a:pt x="0" y="0"/>
                </a:moveTo>
                <a:lnTo>
                  <a:pt x="8953500" y="0"/>
                </a:lnTo>
              </a:path>
            </a:pathLst>
          </a:custGeom>
          <a:noFill/>
          <a:ln w="28575">
            <a:solidFill>
              <a:srgbClr val="123B5E"/>
            </a:solidFill>
          </a:ln>
        </p:spPr>
      </p:sp>
      <p:sp>
        <p:nvSpPr>
          <p:cNvPr id="6" name="Line 6"/>
          <p:cNvSpPr/>
          <p:nvPr/>
        </p:nvSpPr>
        <p:spPr>
          <a:xfrm>
            <a:off x="1619250" y="2000250"/>
            <a:ext cx="9525" cy="3333750"/>
          </a:xfrm>
          <a:custGeom>
            <a:avLst/>
            <a:gdLst/>
            <a:ahLst/>
            <a:cxnLst/>
            <a:rect l="l" t="t" r="r" b="b"/>
            <a:pathLst>
              <a:path w="9525" h="3333750">
                <a:moveTo>
                  <a:pt x="0" y="0"/>
                </a:moveTo>
                <a:lnTo>
                  <a:pt x="0" y="3333750"/>
                </a:lnTo>
              </a:path>
            </a:pathLst>
          </a:custGeom>
          <a:noFill/>
          <a:ln w="28575">
            <a:solidFill>
              <a:srgbClr val="123B5E"/>
            </a:solidFill>
          </a:ln>
        </p:spPr>
      </p:sp>
      <p:sp>
        <p:nvSpPr>
          <p:cNvPr id="7" name="Polyline 7"/>
          <p:cNvSpPr/>
          <p:nvPr/>
        </p:nvSpPr>
        <p:spPr>
          <a:xfrm>
            <a:off x="2095500" y="2667000"/>
            <a:ext cx="6572250" cy="2286000"/>
          </a:xfrm>
          <a:custGeom>
            <a:avLst/>
            <a:gdLst/>
            <a:ahLst/>
            <a:cxnLst/>
            <a:rect l="l" t="t" r="r" b="b"/>
            <a:pathLst>
              <a:path w="6572250" h="2286000">
                <a:moveTo>
                  <a:pt x="0" y="2286000"/>
                </a:moveTo>
                <a:lnTo>
                  <a:pt x="2190750" y="1714500"/>
                </a:lnTo>
                <a:lnTo>
                  <a:pt x="4381500" y="952500"/>
                </a:lnTo>
                <a:lnTo>
                  <a:pt x="6572250" y="0"/>
                </a:lnTo>
              </a:path>
            </a:pathLst>
          </a:custGeom>
          <a:noFill/>
          <a:ln w="57150">
            <a:solidFill>
              <a:srgbClr val="0074CC"/>
            </a:solidFill>
          </a:ln>
        </p:spPr>
      </p:sp>
      <p:sp>
        <p:nvSpPr>
          <p:cNvPr id="8" name="Ellipse 8"/>
          <p:cNvSpPr/>
          <p:nvPr/>
        </p:nvSpPr>
        <p:spPr>
          <a:xfrm>
            <a:off x="2019300" y="4876800"/>
            <a:ext cx="152400" cy="152400"/>
          </a:xfrm>
          <a:prstGeom prst="ellipse">
            <a:avLst/>
          </a:prstGeom>
          <a:solidFill>
            <a:srgbClr val="0074CC"/>
          </a:solidFill>
          <a:ln>
            <a:noFill/>
          </a:ln>
        </p:spPr>
      </p:sp>
      <p:sp>
        <p:nvSpPr>
          <p:cNvPr id="9" name="Ellipse 9"/>
          <p:cNvSpPr/>
          <p:nvPr/>
        </p:nvSpPr>
        <p:spPr>
          <a:xfrm>
            <a:off x="4210050" y="4305300"/>
            <a:ext cx="152400" cy="152400"/>
          </a:xfrm>
          <a:prstGeom prst="ellipse">
            <a:avLst/>
          </a:prstGeom>
          <a:solidFill>
            <a:srgbClr val="0074CC"/>
          </a:solidFill>
          <a:ln>
            <a:noFill/>
          </a:ln>
        </p:spPr>
      </p:sp>
      <p:sp>
        <p:nvSpPr>
          <p:cNvPr id="10" name="Ellipse 10"/>
          <p:cNvSpPr/>
          <p:nvPr/>
        </p:nvSpPr>
        <p:spPr>
          <a:xfrm>
            <a:off x="6400800" y="3543300"/>
            <a:ext cx="152400" cy="152400"/>
          </a:xfrm>
          <a:prstGeom prst="ellipse">
            <a:avLst/>
          </a:prstGeom>
          <a:solidFill>
            <a:srgbClr val="0074CC"/>
          </a:solidFill>
          <a:ln>
            <a:noFill/>
          </a:ln>
        </p:spPr>
      </p:sp>
      <p:sp>
        <p:nvSpPr>
          <p:cNvPr id="11" name="Ellipse 11"/>
          <p:cNvSpPr/>
          <p:nvPr/>
        </p:nvSpPr>
        <p:spPr>
          <a:xfrm>
            <a:off x="8591550" y="2590800"/>
            <a:ext cx="152400" cy="152400"/>
          </a:xfrm>
          <a:prstGeom prst="ellipse">
            <a:avLst/>
          </a:prstGeom>
          <a:solidFill>
            <a:srgbClr val="0074CC"/>
          </a:solidFill>
          <a:ln>
            <a:noFill/>
          </a:ln>
        </p:spPr>
      </p:sp>
      <p:sp>
        <p:nvSpPr>
          <p:cNvPr id="12" name="TextBox 12"/>
          <p:cNvSpPr txBox="1"/>
          <p:nvPr/>
        </p:nvSpPr>
        <p:spPr>
          <a:xfrm>
            <a:off x="1884045" y="5536882"/>
            <a:ext cx="294942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dirty="0">
                <a:solidFill>
                  <a:srgbClr val="123B5E"/>
                </a:solidFill>
                <a:latin typeface="Arial"/>
                <a:ea typeface="Microsoft YaHei"/>
                <a:cs typeface="Arial"/>
              </a:rPr>
              <a:t>Q1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074795" y="5536882"/>
            <a:ext cx="355187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dirty="0">
                <a:solidFill>
                  <a:srgbClr val="123B5E"/>
                </a:solidFill>
                <a:latin typeface="Arial"/>
                <a:ea typeface="Microsoft YaHei"/>
                <a:cs typeface="Arial"/>
              </a:rPr>
              <a:t>Q2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6265545" y="5536882"/>
            <a:ext cx="355187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dirty="0">
                <a:solidFill>
                  <a:srgbClr val="123B5E"/>
                </a:solidFill>
                <a:latin typeface="Arial"/>
                <a:ea typeface="Microsoft YaHei"/>
                <a:cs typeface="Arial"/>
              </a:rPr>
              <a:t>Q3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8456295" y="5536882"/>
            <a:ext cx="355187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dirty="0">
                <a:solidFill>
                  <a:srgbClr val="123B5E"/>
                </a:solidFill>
                <a:latin typeface="Arial"/>
                <a:ea typeface="Microsoft YaHei"/>
                <a:cs typeface="Arial"/>
              </a:rPr>
              <a:t>Q4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8930640" y="2548890"/>
            <a:ext cx="1872805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dirty="0">
                <a:solidFill>
                  <a:srgbClr val="123B5E"/>
                </a:solidFill>
                <a:latin typeface="Microsoft YaHei"/>
                <a:ea typeface="Microsoft YaHei"/>
                <a:cs typeface="Microsoft YaHei"/>
              </a:rPr>
              <a:t>推广覆盖率 85%</a:t>
            </a:r>
          </a:p>
        </p:txBody>
      </p:sp>
      <p:grpSp>
        <p:nvGrpSpPr>
          <p:cNvPr id="20" name="Group 20"/>
          <p:cNvGrpSpPr/>
          <p:nvPr/>
        </p:nvGrpSpPr>
        <p:grpSpPr>
          <a:xfrm>
            <a:off x="9810750" y="3074194"/>
            <a:ext cx="419100" cy="366713"/>
            <a:chOff x="9810750" y="3074194"/>
            <a:chExt cx="419100" cy="366713"/>
          </a:xfrm>
        </p:grpSpPr>
        <p:sp>
          <p:nvSpPr>
            <p:cNvPr id="17" name="Freeform 17"/>
            <p:cNvSpPr/>
            <p:nvPr/>
          </p:nvSpPr>
          <p:spPr>
            <a:xfrm>
              <a:off x="10125075" y="3074194"/>
              <a:ext cx="104775" cy="366712"/>
            </a:xfrm>
            <a:custGeom>
              <a:avLst/>
              <a:gdLst/>
              <a:ahLst/>
              <a:cxnLst/>
              <a:rect l="l" t="t" r="r" b="b"/>
              <a:pathLst>
                <a:path w="104775" h="366712">
                  <a:moveTo>
                    <a:pt x="104775" y="0"/>
                  </a:moveTo>
                  <a:lnTo>
                    <a:pt x="0" y="0"/>
                  </a:lnTo>
                  <a:lnTo>
                    <a:pt x="0" y="366712"/>
                  </a:lnTo>
                  <a:lnTo>
                    <a:pt x="104775" y="366712"/>
                  </a:lnTo>
                  <a:lnTo>
                    <a:pt x="104775" y="0"/>
                  </a:lnTo>
                  <a:close/>
                </a:path>
              </a:pathLst>
            </a:custGeom>
            <a:solidFill>
              <a:srgbClr val="00A870"/>
            </a:solidFill>
            <a:ln>
              <a:noFill/>
            </a:ln>
          </p:spPr>
        </p:sp>
        <p:sp>
          <p:nvSpPr>
            <p:cNvPr id="18" name="Freeform 18"/>
            <p:cNvSpPr/>
            <p:nvPr/>
          </p:nvSpPr>
          <p:spPr>
            <a:xfrm>
              <a:off x="9967912" y="3178969"/>
              <a:ext cx="104775" cy="261938"/>
            </a:xfrm>
            <a:custGeom>
              <a:avLst/>
              <a:gdLst/>
              <a:ahLst/>
              <a:cxnLst/>
              <a:rect l="l" t="t" r="r" b="b"/>
              <a:pathLst>
                <a:path w="104775" h="261938">
                  <a:moveTo>
                    <a:pt x="0" y="0"/>
                  </a:moveTo>
                  <a:lnTo>
                    <a:pt x="104775" y="0"/>
                  </a:lnTo>
                  <a:lnTo>
                    <a:pt x="104775" y="261938"/>
                  </a:lnTo>
                  <a:lnTo>
                    <a:pt x="0" y="26193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A870"/>
            </a:solidFill>
            <a:ln>
              <a:noFill/>
            </a:ln>
          </p:spPr>
        </p:sp>
        <p:sp>
          <p:nvSpPr>
            <p:cNvPr id="19" name="Freeform 19"/>
            <p:cNvSpPr/>
            <p:nvPr/>
          </p:nvSpPr>
          <p:spPr>
            <a:xfrm>
              <a:off x="9810750" y="3283744"/>
              <a:ext cx="104775" cy="157162"/>
            </a:xfrm>
            <a:custGeom>
              <a:avLst/>
              <a:gdLst/>
              <a:ahLst/>
              <a:cxnLst/>
              <a:rect l="l" t="t" r="r" b="b"/>
              <a:pathLst>
                <a:path w="104775" h="157162">
                  <a:moveTo>
                    <a:pt x="0" y="0"/>
                  </a:moveTo>
                  <a:lnTo>
                    <a:pt x="104775" y="0"/>
                  </a:lnTo>
                  <a:lnTo>
                    <a:pt x="104775" y="157162"/>
                  </a:lnTo>
                  <a:lnTo>
                    <a:pt x="0" y="15716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A870"/>
            </a:solidFill>
            <a:ln>
              <a:noFill/>
            </a:ln>
          </p:spPr>
        </p:sp>
      </p:grpSp>
      <p:sp>
        <p:nvSpPr>
          <p:cNvPr id="21" name="TextBox 21"/>
          <p:cNvSpPr txBox="1"/>
          <p:nvPr/>
        </p:nvSpPr>
        <p:spPr>
          <a:xfrm>
            <a:off x="10267950" y="3171825"/>
            <a:ext cx="1571625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5B7185"/>
                </a:solidFill>
                <a:latin typeface="Microsoft YaHei"/>
                <a:ea typeface="Microsoft YaHei"/>
                <a:cs typeface="Microsoft YaHei"/>
              </a:rPr>
              <a:t>里程碑按期达成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438" y="0"/>
            <a:ext cx="12049125" cy="6858000"/>
          </a:xfrm>
          <a:prstGeom prst="rect">
            <a:avLst/>
          </a:prstGeom>
        </p:spPr>
      </p:pic>
      <p:sp>
        <p:nvSpPr>
          <p:cNvPr id="3" name="TextBox 3"/>
          <p:cNvSpPr txBox="1"/>
          <p:nvPr/>
        </p:nvSpPr>
        <p:spPr>
          <a:xfrm>
            <a:off x="4701159" y="2807970"/>
            <a:ext cx="2789682" cy="1706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400" b="1" dirty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谢谢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5" presetClass="entr" presetSubtype="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1" dur="4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
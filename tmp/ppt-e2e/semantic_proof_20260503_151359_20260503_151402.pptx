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封面页：说明主题“中海油数智平台建设与经营价值汇报”与汇报范围。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目录页：按三大章节展开汇报。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章节页：01 战略背景与关键问题。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内容页：外部趋势与建设窗口期（布局=atlas_triplet，图表=bar_chart.svg，图标=tabler-filled/bolt,tabler-filled/database,tabler-filled/briefcase,tabler-filled/alert-triangle），突出关键指标与执行建议。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内容页：现状痛点拆解与优先级矩阵（布局=dual_phase，图表=bar_chart.svg，图标=tabler-filled/database,tabler-filled/briefcase,tabler-filled/flower,tabler-filled/clock），突出关键指标与执行建议。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章节页：02 能力架构与实施路径。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内容页：总体架构：数据底座-智能引擎-业务应用（布局=process，图表=layered_architecture.svg，图标=tabler-filled/database,tabler-filled/sparkles,tabler-filled/clock,tabler-filled/accessible），突出关键指标与执行建议。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内容页：端到端流程与交付闭环（布局=dual_phase，图表=bar_chart.svg，图标=tabler-filled/database,tabler-filled/flower,tabler-filled/clock,tabler-filled/accessible），突出关键指标与执行建议。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章节页：03 试点成效与经营价值。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内容页：效率与质量趋势看板（布局=atlas_triplet，图表=bar_chart.svg，图标=tabler-filled/bolt,tabler-filled/clock,tabler-filled/accessible,tabler-filled/ad），突出关键指标与执行建议。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内容页：经营价值对比：投入与产出（布局=milestone_dashboard，图表=line_chart.svg，图标=tabler-filled/coin,tabler-filled/clock,tabler-filled/accessible,tabler-filled/ad），突出关键指标与执行建议。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内容页：典型场景案例：勘探开发协同（布局=process，图表=process_flow.svg，图标=tabler-filled/database,tabler-filled/briefcase,tabler-filled/sparkles,tabler-filled/clock），突出关键指标与执行建议。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章节页：04 规模化推广与治理保障。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内容页：三阶段路线图与里程碑（布局=timeline，图表=gantt_chart.svg，图标=tabler-filled/clock,tabler-filled/accessible,tabler-filled/ad,tabler-filled/ad-circle），突出关键指标与执行建议。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内容页：治理机制与风险控制（布局=dual_phase，图表=bar_chart.svg，图标=tabler-filled/shield,tabler-filled/database,tabler-filled/alert-triangle,tabler-filled/clock），突出关键指标与执行建议。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结尾页：总结结论并给出下一步行动建议。</a:t>
            </a:r>
          </a:p>
          <a:p>
            <a:r>
              <a:rPr lang="zh-CN" dirty="0"/>
              <a:t>• 建议时长：60-90秒，突出“问题-举措-成效-计划”。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6_img1.pn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62940" y="3025140"/>
            <a:ext cx="11899392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中海油数智平台建设与经营价值汇报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895" y="3755708"/>
            <a:ext cx="8750944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语义检索驱动 icons/charts 的受控生成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5325" y="4291012"/>
            <a:ext cx="564356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5325" y="4672012"/>
            <a:ext cx="3507581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 rot="5400000">
            <a:off x="104394" y="1642110"/>
            <a:ext cx="3765042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dirty="0">
                <a:solidFill>
                  <a:srgbClr val="E3E8ED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08680" y="2415540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8680" y="3320415"/>
            <a:ext cx="1126141" cy="1280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3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录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17695" y="1974532"/>
            <a:ext cx="724236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1660" y="2023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战略背景与关键问题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17695" y="29270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1660" y="29756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能力架构与实施路径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417695" y="3879532"/>
            <a:ext cx="902508" cy="944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6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1660" y="3928110"/>
            <a:ext cx="5903405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试点成效与经营价值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31590" y="1868805"/>
            <a:ext cx="1728821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战略背景与关键问题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外部趋势与建设窗口期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2467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行业进入数智一体化深水区，管理层关注效率、质量、风险三重目标，需建立统一平台承接趋势变化。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7847" y="206057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553945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趋势：业务增长与风险约束并行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57237" y="2555875"/>
            <a:ext cx="200026" cy="222250"/>
            <a:chOff x="757237" y="2555875"/>
            <a:chExt cx="200026" cy="222250"/>
          </a:xfrm>
        </p:grpSpPr>
        <p:sp>
          <p:nvSpPr>
            <p:cNvPr id="10" name="Freeform 10"/>
            <p:cNvSpPr/>
            <p:nvPr/>
          </p:nvSpPr>
          <p:spPr>
            <a:xfrm>
              <a:off x="757238" y="27084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6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57238" y="26417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6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757237" y="25558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9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076325" y="2519362"/>
            <a:ext cx="53149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对比：传统模式周期长、协同成本高</a:t>
            </a:r>
          </a:p>
        </p:txBody>
      </p:sp>
      <p:sp>
        <p:nvSpPr>
          <p:cNvPr id="15" name="Freeform 15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196262" y="3471862"/>
            <a:ext cx="238125" cy="226219"/>
          </a:xfrm>
          <a:custGeom>
            <a:avLst/>
            <a:gdLst/>
            <a:ahLst/>
            <a:cxnLst/>
            <a:rect l="l" t="t" r="r" b="b"/>
            <a:pathLst>
              <a:path w="238125" h="226219">
                <a:moveTo>
                  <a:pt x="238125" y="136660"/>
                </a:moveTo>
                <a:lnTo>
                  <a:pt x="238125" y="190500"/>
                </a:lnTo>
                <a:cubicBezTo>
                  <a:pt x="238125" y="210227"/>
                  <a:pt x="222133" y="226219"/>
                  <a:pt x="202406" y="226219"/>
                </a:cubicBezTo>
                <a:lnTo>
                  <a:pt x="35719" y="226219"/>
                </a:lnTo>
                <a:cubicBezTo>
                  <a:pt x="15992" y="226219"/>
                  <a:pt x="0" y="210227"/>
                  <a:pt x="0" y="190500"/>
                </a:cubicBezTo>
                <a:lnTo>
                  <a:pt x="0" y="136660"/>
                </a:lnTo>
                <a:lnTo>
                  <a:pt x="6584" y="139958"/>
                </a:lnTo>
                <a:cubicBezTo>
                  <a:pt x="77348" y="175602"/>
                  <a:pt x="160820" y="175593"/>
                  <a:pt x="231577" y="139934"/>
                </a:cubicBezTo>
                <a:lnTo>
                  <a:pt x="238125" y="136660"/>
                </a:lnTo>
                <a:close/>
                <a:moveTo>
                  <a:pt x="142875" y="0"/>
                </a:moveTo>
                <a:cubicBezTo>
                  <a:pt x="162602" y="0"/>
                  <a:pt x="178594" y="15992"/>
                  <a:pt x="178594" y="35719"/>
                </a:cubicBezTo>
                <a:lnTo>
                  <a:pt x="178594" y="47625"/>
                </a:lnTo>
                <a:lnTo>
                  <a:pt x="202406" y="47625"/>
                </a:lnTo>
                <a:cubicBezTo>
                  <a:pt x="222133" y="47625"/>
                  <a:pt x="238125" y="63617"/>
                  <a:pt x="238125" y="83344"/>
                </a:cubicBezTo>
                <a:lnTo>
                  <a:pt x="238125" y="110038"/>
                </a:lnTo>
                <a:lnTo>
                  <a:pt x="220897" y="118658"/>
                </a:lnTo>
                <a:cubicBezTo>
                  <a:pt x="158428" y="150144"/>
                  <a:pt x="84906" y="150962"/>
                  <a:pt x="21753" y="120872"/>
                </a:cubicBezTo>
                <a:lnTo>
                  <a:pt x="14049" y="117062"/>
                </a:lnTo>
                <a:lnTo>
                  <a:pt x="0" y="110038"/>
                </a:lnTo>
                <a:lnTo>
                  <a:pt x="0" y="83344"/>
                </a:lnTo>
                <a:cubicBezTo>
                  <a:pt x="0" y="63617"/>
                  <a:pt x="15992" y="47625"/>
                  <a:pt x="35719" y="47625"/>
                </a:cubicBezTo>
                <a:lnTo>
                  <a:pt x="59531" y="47625"/>
                </a:lnTo>
                <a:lnTo>
                  <a:pt x="59531" y="35719"/>
                </a:lnTo>
                <a:cubicBezTo>
                  <a:pt x="59531" y="15992"/>
                  <a:pt x="75523" y="0"/>
                  <a:pt x="95250" y="0"/>
                </a:cubicBezTo>
                <a:lnTo>
                  <a:pt x="142875" y="0"/>
                </a:lnTo>
                <a:close/>
                <a:moveTo>
                  <a:pt x="119062" y="95250"/>
                </a:moveTo>
                <a:cubicBezTo>
                  <a:pt x="112487" y="95250"/>
                  <a:pt x="107156" y="100581"/>
                  <a:pt x="107156" y="107156"/>
                </a:cubicBezTo>
                <a:cubicBezTo>
                  <a:pt x="107135" y="111410"/>
                  <a:pt x="109385" y="115352"/>
                  <a:pt x="113058" y="117497"/>
                </a:cubicBezTo>
                <a:cubicBezTo>
                  <a:pt x="116731" y="119642"/>
                  <a:pt x="121270" y="119665"/>
                  <a:pt x="124964" y="117557"/>
                </a:cubicBezTo>
                <a:cubicBezTo>
                  <a:pt x="128659" y="115448"/>
                  <a:pt x="130947" y="111529"/>
                  <a:pt x="130969" y="107275"/>
                </a:cubicBezTo>
                <a:cubicBezTo>
                  <a:pt x="130969" y="100584"/>
                  <a:pt x="125635" y="95250"/>
                  <a:pt x="119062" y="95250"/>
                </a:cubicBezTo>
                <a:close/>
                <a:moveTo>
                  <a:pt x="142875" y="23812"/>
                </a:moveTo>
                <a:lnTo>
                  <a:pt x="95250" y="23812"/>
                </a:lnTo>
                <a:cubicBezTo>
                  <a:pt x="88674" y="23812"/>
                  <a:pt x="83344" y="29143"/>
                  <a:pt x="83344" y="35719"/>
                </a:cubicBezTo>
                <a:lnTo>
                  <a:pt x="83344" y="47625"/>
                </a:lnTo>
                <a:lnTo>
                  <a:pt x="154781" y="47625"/>
                </a:lnTo>
                <a:lnTo>
                  <a:pt x="154781" y="35719"/>
                </a:lnTo>
                <a:cubicBezTo>
                  <a:pt x="154781" y="29143"/>
                  <a:pt x="149451" y="23812"/>
                  <a:pt x="142875" y="23812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561070" y="3417570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目标：形成统一数据与智能体底座</a:t>
            </a:r>
          </a:p>
        </p:txBody>
      </p:sp>
      <p:sp>
        <p:nvSpPr>
          <p:cNvPr id="19" name="Freeform 19"/>
          <p:cNvSpPr/>
          <p:nvPr/>
        </p:nvSpPr>
        <p:spPr>
          <a:xfrm>
            <a:off x="8182669" y="4153733"/>
            <a:ext cx="265173" cy="230100"/>
          </a:xfrm>
          <a:custGeom>
            <a:avLst/>
            <a:gdLst/>
            <a:ahLst/>
            <a:cxnLst/>
            <a:rect l="l" t="t" r="r" b="b"/>
            <a:pathLst>
              <a:path w="265173" h="230100">
                <a:moveTo>
                  <a:pt x="132656" y="0"/>
                </a:moveTo>
                <a:cubicBezTo>
                  <a:pt x="144026" y="0"/>
                  <a:pt x="154623" y="5560"/>
                  <a:pt x="161112" y="14847"/>
                </a:cubicBezTo>
                <a:lnTo>
                  <a:pt x="162362" y="16752"/>
                </a:lnTo>
                <a:lnTo>
                  <a:pt x="258969" y="178058"/>
                </a:lnTo>
                <a:cubicBezTo>
                  <a:pt x="264937" y="188394"/>
                  <a:pt x="265173" y="201073"/>
                  <a:pt x="259594" y="211624"/>
                </a:cubicBezTo>
                <a:cubicBezTo>
                  <a:pt x="254015" y="222175"/>
                  <a:pt x="243404" y="229118"/>
                  <a:pt x="231502" y="230005"/>
                </a:cubicBezTo>
                <a:lnTo>
                  <a:pt x="229180" y="230100"/>
                </a:lnTo>
                <a:lnTo>
                  <a:pt x="36001" y="230100"/>
                </a:lnTo>
                <a:cubicBezTo>
                  <a:pt x="24087" y="229966"/>
                  <a:pt x="13075" y="223728"/>
                  <a:pt x="6835" y="213578"/>
                </a:cubicBezTo>
                <a:cubicBezTo>
                  <a:pt x="595" y="203427"/>
                  <a:pt x="0" y="190785"/>
                  <a:pt x="5259" y="180094"/>
                </a:cubicBezTo>
                <a:lnTo>
                  <a:pt x="6438" y="177891"/>
                </a:lnTo>
                <a:lnTo>
                  <a:pt x="102997" y="16704"/>
                </a:lnTo>
                <a:cubicBezTo>
                  <a:pt x="109285" y="6336"/>
                  <a:pt x="120530" y="3"/>
                  <a:pt x="132656" y="0"/>
                </a:cubicBezTo>
                <a:close/>
                <a:moveTo>
                  <a:pt x="132775" y="158710"/>
                </a:moveTo>
                <a:lnTo>
                  <a:pt x="131263" y="158794"/>
                </a:lnTo>
                <a:cubicBezTo>
                  <a:pt x="125273" y="159506"/>
                  <a:pt x="120763" y="164585"/>
                  <a:pt x="120763" y="170617"/>
                </a:cubicBezTo>
                <a:cubicBezTo>
                  <a:pt x="120763" y="176648"/>
                  <a:pt x="125273" y="181727"/>
                  <a:pt x="131263" y="182439"/>
                </a:cubicBezTo>
                <a:lnTo>
                  <a:pt x="132656" y="182523"/>
                </a:lnTo>
                <a:lnTo>
                  <a:pt x="134168" y="182439"/>
                </a:lnTo>
                <a:cubicBezTo>
                  <a:pt x="140157" y="181727"/>
                  <a:pt x="144668" y="176648"/>
                  <a:pt x="144668" y="170617"/>
                </a:cubicBezTo>
                <a:cubicBezTo>
                  <a:pt x="144668" y="164585"/>
                  <a:pt x="140157" y="159506"/>
                  <a:pt x="134168" y="158794"/>
                </a:cubicBezTo>
                <a:lnTo>
                  <a:pt x="132775" y="158710"/>
                </a:lnTo>
                <a:close/>
                <a:moveTo>
                  <a:pt x="132656" y="75367"/>
                </a:moveTo>
                <a:cubicBezTo>
                  <a:pt x="126620" y="75367"/>
                  <a:pt x="121539" y="79885"/>
                  <a:pt x="120833" y="85880"/>
                </a:cubicBezTo>
                <a:lnTo>
                  <a:pt x="120750" y="87273"/>
                </a:lnTo>
                <a:lnTo>
                  <a:pt x="120750" y="134898"/>
                </a:lnTo>
                <a:lnTo>
                  <a:pt x="120833" y="136291"/>
                </a:lnTo>
                <a:cubicBezTo>
                  <a:pt x="121545" y="142280"/>
                  <a:pt x="126624" y="146791"/>
                  <a:pt x="132656" y="146791"/>
                </a:cubicBezTo>
                <a:cubicBezTo>
                  <a:pt x="138688" y="146791"/>
                  <a:pt x="143766" y="142280"/>
                  <a:pt x="144479" y="136291"/>
                </a:cubicBezTo>
                <a:lnTo>
                  <a:pt x="144562" y="134898"/>
                </a:lnTo>
                <a:lnTo>
                  <a:pt x="144562" y="87273"/>
                </a:lnTo>
                <a:lnTo>
                  <a:pt x="144479" y="85880"/>
                </a:lnTo>
                <a:cubicBezTo>
                  <a:pt x="143773" y="79885"/>
                  <a:pt x="138692" y="75367"/>
                  <a:pt x="132656" y="75367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5780" y="4897755"/>
            <a:ext cx="24916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图表：bar_chart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45780" y="5374005"/>
            <a:ext cx="138550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行业进入数智一体化深水区，管理层关注效率、质量、风险三重目标，需建立统一平台承接趋势变化。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现状痛点拆解与优先级矩阵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6391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从数据、流程、组织三维拆解痛点，按影响度与实施复杂度建立优先级矩阵，明确首批突破口。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7" y="2060575"/>
            <a:ext cx="200026" cy="222250"/>
            <a:chOff x="6148387" y="2060575"/>
            <a:chExt cx="200026" cy="222250"/>
          </a:xfrm>
        </p:grpSpPr>
        <p:sp>
          <p:nvSpPr>
            <p:cNvPr id="9" name="Freeform 9"/>
            <p:cNvSpPr/>
            <p:nvPr/>
          </p:nvSpPr>
          <p:spPr>
            <a:xfrm>
              <a:off x="6148388" y="22131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1464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7" y="20605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8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46520" y="1988820"/>
            <a:ext cx="558165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数据：口径不一致、可追溯性不足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37275" y="2689225"/>
            <a:ext cx="222250" cy="211138"/>
          </a:xfrm>
          <a:custGeom>
            <a:avLst/>
            <a:gdLst/>
            <a:ahLst/>
            <a:cxnLst/>
            <a:rect l="l" t="t" r="r" b="b"/>
            <a:pathLst>
              <a:path w="222250" h="211138">
                <a:moveTo>
                  <a:pt x="222250" y="127549"/>
                </a:moveTo>
                <a:lnTo>
                  <a:pt x="222250" y="177800"/>
                </a:lnTo>
                <a:cubicBezTo>
                  <a:pt x="222250" y="196212"/>
                  <a:pt x="207324" y="211138"/>
                  <a:pt x="188912" y="211138"/>
                </a:cubicBezTo>
                <a:lnTo>
                  <a:pt x="33338" y="211138"/>
                </a:lnTo>
                <a:cubicBezTo>
                  <a:pt x="14926" y="211138"/>
                  <a:pt x="0" y="196212"/>
                  <a:pt x="0" y="177800"/>
                </a:cubicBezTo>
                <a:lnTo>
                  <a:pt x="0" y="127549"/>
                </a:lnTo>
                <a:lnTo>
                  <a:pt x="6145" y="130627"/>
                </a:lnTo>
                <a:cubicBezTo>
                  <a:pt x="72192" y="163895"/>
                  <a:pt x="150098" y="163887"/>
                  <a:pt x="216138" y="130605"/>
                </a:cubicBezTo>
                <a:lnTo>
                  <a:pt x="222250" y="127549"/>
                </a:lnTo>
                <a:close/>
                <a:moveTo>
                  <a:pt x="133350" y="0"/>
                </a:moveTo>
                <a:cubicBezTo>
                  <a:pt x="151762" y="0"/>
                  <a:pt x="166688" y="14926"/>
                  <a:pt x="166688" y="33338"/>
                </a:cubicBezTo>
                <a:lnTo>
                  <a:pt x="166688" y="44450"/>
                </a:lnTo>
                <a:lnTo>
                  <a:pt x="188912" y="44450"/>
                </a:lnTo>
                <a:cubicBezTo>
                  <a:pt x="207324" y="44450"/>
                  <a:pt x="222250" y="59376"/>
                  <a:pt x="222250" y="77788"/>
                </a:cubicBezTo>
                <a:lnTo>
                  <a:pt x="222250" y="102702"/>
                </a:lnTo>
                <a:lnTo>
                  <a:pt x="206170" y="110747"/>
                </a:lnTo>
                <a:cubicBezTo>
                  <a:pt x="147866" y="140135"/>
                  <a:pt x="79246" y="140898"/>
                  <a:pt x="20303" y="112814"/>
                </a:cubicBezTo>
                <a:lnTo>
                  <a:pt x="13113" y="109258"/>
                </a:lnTo>
                <a:lnTo>
                  <a:pt x="0" y="102702"/>
                </a:lnTo>
                <a:lnTo>
                  <a:pt x="0" y="77788"/>
                </a:lnTo>
                <a:cubicBezTo>
                  <a:pt x="0" y="59376"/>
                  <a:pt x="14926" y="44450"/>
                  <a:pt x="33338" y="44450"/>
                </a:cubicBezTo>
                <a:lnTo>
                  <a:pt x="55562" y="44450"/>
                </a:lnTo>
                <a:lnTo>
                  <a:pt x="55562" y="33338"/>
                </a:lnTo>
                <a:cubicBezTo>
                  <a:pt x="55562" y="14926"/>
                  <a:pt x="70488" y="0"/>
                  <a:pt x="88900" y="0"/>
                </a:cubicBezTo>
                <a:lnTo>
                  <a:pt x="133350" y="0"/>
                </a:lnTo>
                <a:close/>
                <a:moveTo>
                  <a:pt x="111125" y="88900"/>
                </a:moveTo>
                <a:cubicBezTo>
                  <a:pt x="104988" y="88900"/>
                  <a:pt x="100012" y="93875"/>
                  <a:pt x="100012" y="100012"/>
                </a:cubicBezTo>
                <a:cubicBezTo>
                  <a:pt x="99993" y="103983"/>
                  <a:pt x="102092" y="107662"/>
                  <a:pt x="105521" y="109664"/>
                </a:cubicBezTo>
                <a:cubicBezTo>
                  <a:pt x="108949" y="111666"/>
                  <a:pt x="113185" y="111687"/>
                  <a:pt x="116633" y="109720"/>
                </a:cubicBezTo>
                <a:cubicBezTo>
                  <a:pt x="120081" y="107752"/>
                  <a:pt x="122218" y="104094"/>
                  <a:pt x="122237" y="100124"/>
                </a:cubicBezTo>
                <a:cubicBezTo>
                  <a:pt x="122237" y="93878"/>
                  <a:pt x="117259" y="88900"/>
                  <a:pt x="111125" y="88900"/>
                </a:cubicBezTo>
                <a:close/>
                <a:moveTo>
                  <a:pt x="133350" y="22225"/>
                </a:moveTo>
                <a:lnTo>
                  <a:pt x="88900" y="22225"/>
                </a:lnTo>
                <a:cubicBezTo>
                  <a:pt x="82763" y="22225"/>
                  <a:pt x="77787" y="27200"/>
                  <a:pt x="77787" y="33338"/>
                </a:cubicBezTo>
                <a:lnTo>
                  <a:pt x="77787" y="44450"/>
                </a:lnTo>
                <a:lnTo>
                  <a:pt x="144462" y="44450"/>
                </a:lnTo>
                <a:lnTo>
                  <a:pt x="144462" y="33338"/>
                </a:lnTo>
                <a:cubicBezTo>
                  <a:pt x="144462" y="27200"/>
                  <a:pt x="139487" y="22225"/>
                  <a:pt x="133350" y="2222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46520" y="261747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流程：跨部门审批链路长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30999" y="3306762"/>
            <a:ext cx="234806" cy="244475"/>
          </a:xfrm>
          <a:custGeom>
            <a:avLst/>
            <a:gdLst/>
            <a:ahLst/>
            <a:cxnLst/>
            <a:rect l="l" t="t" r="r" b="b"/>
            <a:pathLst>
              <a:path w="234806" h="244475">
                <a:moveTo>
                  <a:pt x="117401" y="0"/>
                </a:moveTo>
                <a:cubicBezTo>
                  <a:pt x="141950" y="0"/>
                  <a:pt x="161851" y="19901"/>
                  <a:pt x="161851" y="44450"/>
                </a:cubicBezTo>
                <a:lnTo>
                  <a:pt x="161829" y="45061"/>
                </a:lnTo>
                <a:lnTo>
                  <a:pt x="162162" y="44861"/>
                </a:lnTo>
                <a:cubicBezTo>
                  <a:pt x="171526" y="39429"/>
                  <a:pt x="182561" y="37629"/>
                  <a:pt x="193166" y="39805"/>
                </a:cubicBezTo>
                <a:lnTo>
                  <a:pt x="195800" y="40427"/>
                </a:lnTo>
                <a:cubicBezTo>
                  <a:pt x="207137" y="43493"/>
                  <a:pt x="216783" y="50952"/>
                  <a:pt x="222603" y="61152"/>
                </a:cubicBezTo>
                <a:cubicBezTo>
                  <a:pt x="234806" y="82387"/>
                  <a:pt x="227585" y="109489"/>
                  <a:pt x="206434" y="121837"/>
                </a:cubicBezTo>
                <a:lnTo>
                  <a:pt x="205679" y="122237"/>
                </a:lnTo>
                <a:lnTo>
                  <a:pt x="206468" y="122671"/>
                </a:lnTo>
                <a:cubicBezTo>
                  <a:pt x="226798" y="134559"/>
                  <a:pt x="234368" y="160214"/>
                  <a:pt x="223748" y="181234"/>
                </a:cubicBezTo>
                <a:lnTo>
                  <a:pt x="222625" y="183301"/>
                </a:lnTo>
                <a:cubicBezTo>
                  <a:pt x="216802" y="193516"/>
                  <a:pt x="207143" y="200984"/>
                  <a:pt x="195790" y="204046"/>
                </a:cubicBezTo>
                <a:cubicBezTo>
                  <a:pt x="184438" y="207109"/>
                  <a:pt x="172333" y="205514"/>
                  <a:pt x="162162" y="199614"/>
                </a:cubicBezTo>
                <a:lnTo>
                  <a:pt x="161829" y="199392"/>
                </a:lnTo>
                <a:lnTo>
                  <a:pt x="161851" y="200025"/>
                </a:lnTo>
                <a:cubicBezTo>
                  <a:pt x="161851" y="223710"/>
                  <a:pt x="143279" y="243235"/>
                  <a:pt x="119624" y="244419"/>
                </a:cubicBezTo>
                <a:lnTo>
                  <a:pt x="117401" y="244475"/>
                </a:lnTo>
                <a:cubicBezTo>
                  <a:pt x="92852" y="244475"/>
                  <a:pt x="72951" y="224574"/>
                  <a:pt x="72951" y="200025"/>
                </a:cubicBezTo>
                <a:lnTo>
                  <a:pt x="72962" y="199403"/>
                </a:lnTo>
                <a:lnTo>
                  <a:pt x="72640" y="199614"/>
                </a:lnTo>
                <a:cubicBezTo>
                  <a:pt x="63277" y="205050"/>
                  <a:pt x="52242" y="206854"/>
                  <a:pt x="41636" y="204681"/>
                </a:cubicBezTo>
                <a:lnTo>
                  <a:pt x="39013" y="204059"/>
                </a:lnTo>
                <a:cubicBezTo>
                  <a:pt x="27673" y="200996"/>
                  <a:pt x="18021" y="193537"/>
                  <a:pt x="12199" y="183334"/>
                </a:cubicBezTo>
                <a:cubicBezTo>
                  <a:pt x="0" y="162108"/>
                  <a:pt x="7210" y="135015"/>
                  <a:pt x="28345" y="122660"/>
                </a:cubicBezTo>
                <a:lnTo>
                  <a:pt x="29123" y="122237"/>
                </a:lnTo>
                <a:lnTo>
                  <a:pt x="28334" y="121815"/>
                </a:lnTo>
                <a:cubicBezTo>
                  <a:pt x="8004" y="109928"/>
                  <a:pt x="434" y="84273"/>
                  <a:pt x="11054" y="63252"/>
                </a:cubicBezTo>
                <a:lnTo>
                  <a:pt x="12166" y="61174"/>
                </a:lnTo>
                <a:cubicBezTo>
                  <a:pt x="17989" y="50950"/>
                  <a:pt x="27655" y="43476"/>
                  <a:pt x="39015" y="40412"/>
                </a:cubicBezTo>
                <a:cubicBezTo>
                  <a:pt x="50375" y="37349"/>
                  <a:pt x="62488" y="38951"/>
                  <a:pt x="72662" y="44861"/>
                </a:cubicBezTo>
                <a:lnTo>
                  <a:pt x="72951" y="45061"/>
                </a:lnTo>
                <a:lnTo>
                  <a:pt x="72951" y="44450"/>
                </a:lnTo>
                <a:cubicBezTo>
                  <a:pt x="72951" y="20765"/>
                  <a:pt x="91523" y="1240"/>
                  <a:pt x="115179" y="56"/>
                </a:cubicBezTo>
                <a:close/>
                <a:moveTo>
                  <a:pt x="117401" y="88900"/>
                </a:moveTo>
                <a:cubicBezTo>
                  <a:pt x="98989" y="88900"/>
                  <a:pt x="84064" y="103826"/>
                  <a:pt x="84064" y="122237"/>
                </a:cubicBezTo>
                <a:cubicBezTo>
                  <a:pt x="84064" y="140649"/>
                  <a:pt x="98989" y="155575"/>
                  <a:pt x="117401" y="155575"/>
                </a:cubicBezTo>
                <a:cubicBezTo>
                  <a:pt x="135813" y="155575"/>
                  <a:pt x="150739" y="140649"/>
                  <a:pt x="150739" y="122237"/>
                </a:cubicBezTo>
                <a:cubicBezTo>
                  <a:pt x="150739" y="103826"/>
                  <a:pt x="135813" y="88900"/>
                  <a:pt x="117401" y="88900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管理：经验沉淀弱、复用率低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1385887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从数据、流程、组织三维拆解痛点，按影响度与实施复杂度建立优先级矩阵，明确首批突破口。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能力架构与实施路径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756291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总体架构：数据底座-智能引擎-业务应用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24672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采用分层架构：数据底座统一汇聚，智能体引擎负责编排推理，业务应用面向调研、分析、报告生产。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90574" y="2171700"/>
            <a:ext cx="171451" cy="190500"/>
            <a:chOff x="790574" y="2171700"/>
            <a:chExt cx="171451" cy="190500"/>
          </a:xfrm>
        </p:grpSpPr>
        <p:sp>
          <p:nvSpPr>
            <p:cNvPr id="9" name="Freeform 9"/>
            <p:cNvSpPr/>
            <p:nvPr/>
          </p:nvSpPr>
          <p:spPr>
            <a:xfrm>
              <a:off x="790575" y="230248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4710"/>
                    <a:pt x="134350" y="59103"/>
                    <a:pt x="88649" y="59693"/>
                  </a:cubicBezTo>
                  <a:lnTo>
                    <a:pt x="85725" y="59712"/>
                  </a:lnTo>
                  <a:cubicBezTo>
                    <a:pt x="38691" y="59712"/>
                    <a:pt x="0" y="45206"/>
                    <a:pt x="0" y="216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0575" y="224533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5206"/>
                    <a:pt x="132759" y="59712"/>
                    <a:pt x="85725" y="59712"/>
                  </a:cubicBezTo>
                  <a:cubicBezTo>
                    <a:pt x="40024" y="59712"/>
                    <a:pt x="2191" y="46015"/>
                    <a:pt x="200" y="23565"/>
                  </a:cubicBezTo>
                  <a:lnTo>
                    <a:pt x="48" y="22603"/>
                  </a:lnTo>
                  <a:lnTo>
                    <a:pt x="0" y="2161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0574" y="2171700"/>
              <a:ext cx="171451" cy="76200"/>
            </a:xfrm>
            <a:custGeom>
              <a:avLst/>
              <a:gdLst/>
              <a:ahLst/>
              <a:cxnLst/>
              <a:rect l="l" t="t" r="r" b="b"/>
              <a:pathLst>
                <a:path w="171451" h="76200">
                  <a:moveTo>
                    <a:pt x="85726" y="0"/>
                  </a:moveTo>
                  <a:cubicBezTo>
                    <a:pt x="95641" y="0"/>
                    <a:pt x="105195" y="648"/>
                    <a:pt x="114082" y="1886"/>
                  </a:cubicBezTo>
                  <a:lnTo>
                    <a:pt x="118549" y="2562"/>
                  </a:lnTo>
                  <a:cubicBezTo>
                    <a:pt x="123883" y="3451"/>
                    <a:pt x="128918" y="4556"/>
                    <a:pt x="133656" y="5877"/>
                  </a:cubicBezTo>
                  <a:lnTo>
                    <a:pt x="137847" y="7125"/>
                  </a:lnTo>
                  <a:lnTo>
                    <a:pt x="138561" y="7353"/>
                  </a:lnTo>
                  <a:cubicBezTo>
                    <a:pt x="141153" y="8206"/>
                    <a:pt x="143711" y="9159"/>
                    <a:pt x="146229" y="10211"/>
                  </a:cubicBezTo>
                  <a:lnTo>
                    <a:pt x="148124" y="11030"/>
                  </a:lnTo>
                  <a:cubicBezTo>
                    <a:pt x="151521" y="12567"/>
                    <a:pt x="154591" y="14249"/>
                    <a:pt x="157335" y="16078"/>
                  </a:cubicBezTo>
                  <a:cubicBezTo>
                    <a:pt x="158382" y="16777"/>
                    <a:pt x="159376" y="17491"/>
                    <a:pt x="160316" y="18221"/>
                  </a:cubicBezTo>
                  <a:cubicBezTo>
                    <a:pt x="162697" y="20069"/>
                    <a:pt x="164837" y="22206"/>
                    <a:pt x="166688" y="24584"/>
                  </a:cubicBezTo>
                  <a:lnTo>
                    <a:pt x="167555" y="25803"/>
                  </a:lnTo>
                  <a:cubicBezTo>
                    <a:pt x="168000" y="26470"/>
                    <a:pt x="168409" y="27140"/>
                    <a:pt x="168784" y="27813"/>
                  </a:cubicBezTo>
                  <a:lnTo>
                    <a:pt x="169450" y="29137"/>
                  </a:lnTo>
                  <a:cubicBezTo>
                    <a:pt x="170486" y="31359"/>
                    <a:pt x="171121" y="33677"/>
                    <a:pt x="171355" y="36090"/>
                  </a:cubicBezTo>
                  <a:lnTo>
                    <a:pt x="171451" y="38100"/>
                  </a:lnTo>
                  <a:cubicBezTo>
                    <a:pt x="171451" y="61693"/>
                    <a:pt x="132760" y="76200"/>
                    <a:pt x="85726" y="76200"/>
                  </a:cubicBezTo>
                  <a:cubicBezTo>
                    <a:pt x="40025" y="76200"/>
                    <a:pt x="2191" y="62503"/>
                    <a:pt x="201" y="40053"/>
                  </a:cubicBezTo>
                  <a:cubicBezTo>
                    <a:pt x="67" y="39410"/>
                    <a:pt x="0" y="38756"/>
                    <a:pt x="1" y="38100"/>
                  </a:cubicBezTo>
                  <a:lnTo>
                    <a:pt x="48" y="37109"/>
                  </a:lnTo>
                  <a:lnTo>
                    <a:pt x="201" y="36157"/>
                  </a:lnTo>
                  <a:cubicBezTo>
                    <a:pt x="2153" y="14192"/>
                    <a:pt x="38396" y="600"/>
                    <a:pt x="82754" y="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62990" y="212979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架构：分层清晰、模块可扩展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777878" y="2787653"/>
            <a:ext cx="187319" cy="177794"/>
            <a:chOff x="777878" y="2787653"/>
            <a:chExt cx="187319" cy="177794"/>
          </a:xfrm>
        </p:grpSpPr>
        <p:sp>
          <p:nvSpPr>
            <p:cNvPr id="15" name="Freeform 15"/>
            <p:cNvSpPr/>
            <p:nvPr/>
          </p:nvSpPr>
          <p:spPr>
            <a:xfrm>
              <a:off x="904875" y="29019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7878" y="2806703"/>
              <a:ext cx="139694" cy="136522"/>
            </a:xfrm>
            <a:custGeom>
              <a:avLst/>
              <a:gdLst/>
              <a:ahLst/>
              <a:cxnLst/>
              <a:rect l="l" t="t" r="r" b="b"/>
              <a:pathLst>
                <a:path w="139694" h="136522">
                  <a:moveTo>
                    <a:pt x="12697" y="60322"/>
                  </a:moveTo>
                  <a:cubicBezTo>
                    <a:pt x="38999" y="60322"/>
                    <a:pt x="60322" y="38999"/>
                    <a:pt x="60322" y="12697"/>
                  </a:cubicBezTo>
                  <a:cubicBezTo>
                    <a:pt x="60322" y="0"/>
                    <a:pt x="79372" y="0"/>
                    <a:pt x="79372" y="12697"/>
                  </a:cubicBezTo>
                  <a:cubicBezTo>
                    <a:pt x="79372" y="38999"/>
                    <a:pt x="100694" y="60322"/>
                    <a:pt x="126997" y="60322"/>
                  </a:cubicBezTo>
                  <a:cubicBezTo>
                    <a:pt x="139694" y="60322"/>
                    <a:pt x="139694" y="79372"/>
                    <a:pt x="126997" y="79372"/>
                  </a:cubicBezTo>
                  <a:cubicBezTo>
                    <a:pt x="100694" y="79372"/>
                    <a:pt x="79372" y="100694"/>
                    <a:pt x="79372" y="126997"/>
                  </a:cubicBezTo>
                  <a:cubicBezTo>
                    <a:pt x="79372" y="132257"/>
                    <a:pt x="75107" y="136522"/>
                    <a:pt x="69847" y="136522"/>
                  </a:cubicBezTo>
                  <a:cubicBezTo>
                    <a:pt x="64586" y="136522"/>
                    <a:pt x="60322" y="132257"/>
                    <a:pt x="60322" y="126997"/>
                  </a:cubicBezTo>
                  <a:cubicBezTo>
                    <a:pt x="60322" y="100694"/>
                    <a:pt x="38999" y="79372"/>
                    <a:pt x="12697" y="79372"/>
                  </a:cubicBezTo>
                  <a:cubicBezTo>
                    <a:pt x="0" y="79372"/>
                    <a:pt x="0" y="60322"/>
                    <a:pt x="12697" y="6032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04875" y="27876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062990" y="2739390"/>
            <a:ext cx="3463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能力：统一检索、分析、生成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781050" y="33866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95250" y="42367"/>
                </a:moveTo>
                <a:cubicBezTo>
                  <a:pt x="90421" y="42367"/>
                  <a:pt x="86357" y="45981"/>
                  <a:pt x="85792" y="50777"/>
                </a:cubicBezTo>
                <a:lnTo>
                  <a:pt x="85725" y="51892"/>
                </a:lnTo>
                <a:lnTo>
                  <a:pt x="85725" y="99517"/>
                </a:lnTo>
                <a:lnTo>
                  <a:pt x="85811" y="100764"/>
                </a:lnTo>
                <a:cubicBezTo>
                  <a:pt x="86028" y="102417"/>
                  <a:pt x="86675" y="103984"/>
                  <a:pt x="87687" y="105308"/>
                </a:cubicBezTo>
                <a:lnTo>
                  <a:pt x="88516" y="106260"/>
                </a:lnTo>
                <a:lnTo>
                  <a:pt x="117091" y="134835"/>
                </a:lnTo>
                <a:lnTo>
                  <a:pt x="117986" y="135616"/>
                </a:lnTo>
                <a:cubicBezTo>
                  <a:pt x="121422" y="138282"/>
                  <a:pt x="126228" y="138282"/>
                  <a:pt x="129664" y="135616"/>
                </a:cubicBezTo>
                <a:lnTo>
                  <a:pt x="130559" y="134826"/>
                </a:lnTo>
                <a:lnTo>
                  <a:pt x="131350" y="133930"/>
                </a:lnTo>
                <a:cubicBezTo>
                  <a:pt x="134016" y="130494"/>
                  <a:pt x="134016" y="125689"/>
                  <a:pt x="131350" y="122253"/>
                </a:cubicBezTo>
                <a:lnTo>
                  <a:pt x="130559" y="121357"/>
                </a:lnTo>
                <a:lnTo>
                  <a:pt x="104775" y="95564"/>
                </a:lnTo>
                <a:lnTo>
                  <a:pt x="104775" y="51892"/>
                </a:lnTo>
                <a:lnTo>
                  <a:pt x="104708" y="50777"/>
                </a:lnTo>
                <a:cubicBezTo>
                  <a:pt x="104143" y="45981"/>
                  <a:pt x="100079" y="42367"/>
                  <a:pt x="95250" y="42367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62990" y="334899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治理：可观测、可追踪、可审计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503348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语义匹配图表：layered_architecture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端到端流程与交付闭环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363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围绕需求受理、数据准备、模型执行、结果评审、发布运营构建标准流程，确保结果可复现。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148387" y="2060575"/>
            <a:ext cx="200026" cy="222250"/>
            <a:chOff x="6148387" y="2060575"/>
            <a:chExt cx="200026" cy="222250"/>
          </a:xfrm>
        </p:grpSpPr>
        <p:sp>
          <p:nvSpPr>
            <p:cNvPr id="9" name="Freeform 9"/>
            <p:cNvSpPr/>
            <p:nvPr/>
          </p:nvSpPr>
          <p:spPr>
            <a:xfrm>
              <a:off x="6148388" y="221316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6148388" y="214648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148387" y="206057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8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446520" y="198882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流程：需求到产物全链路贯通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30999" y="2678112"/>
            <a:ext cx="234806" cy="244475"/>
          </a:xfrm>
          <a:custGeom>
            <a:avLst/>
            <a:gdLst/>
            <a:ahLst/>
            <a:cxnLst/>
            <a:rect l="l" t="t" r="r" b="b"/>
            <a:pathLst>
              <a:path w="234806" h="244475">
                <a:moveTo>
                  <a:pt x="117401" y="0"/>
                </a:moveTo>
                <a:cubicBezTo>
                  <a:pt x="141950" y="0"/>
                  <a:pt x="161851" y="19901"/>
                  <a:pt x="161851" y="44450"/>
                </a:cubicBezTo>
                <a:lnTo>
                  <a:pt x="161829" y="45061"/>
                </a:lnTo>
                <a:lnTo>
                  <a:pt x="162162" y="44861"/>
                </a:lnTo>
                <a:cubicBezTo>
                  <a:pt x="171526" y="39429"/>
                  <a:pt x="182561" y="37629"/>
                  <a:pt x="193166" y="39805"/>
                </a:cubicBezTo>
                <a:lnTo>
                  <a:pt x="195800" y="40427"/>
                </a:lnTo>
                <a:cubicBezTo>
                  <a:pt x="207137" y="43493"/>
                  <a:pt x="216783" y="50952"/>
                  <a:pt x="222603" y="61152"/>
                </a:cubicBezTo>
                <a:cubicBezTo>
                  <a:pt x="234806" y="82387"/>
                  <a:pt x="227585" y="109489"/>
                  <a:pt x="206434" y="121837"/>
                </a:cubicBezTo>
                <a:lnTo>
                  <a:pt x="205679" y="122237"/>
                </a:lnTo>
                <a:lnTo>
                  <a:pt x="206468" y="122671"/>
                </a:lnTo>
                <a:cubicBezTo>
                  <a:pt x="226798" y="134559"/>
                  <a:pt x="234368" y="160214"/>
                  <a:pt x="223748" y="181234"/>
                </a:cubicBezTo>
                <a:lnTo>
                  <a:pt x="222625" y="183301"/>
                </a:lnTo>
                <a:cubicBezTo>
                  <a:pt x="216802" y="193516"/>
                  <a:pt x="207143" y="200984"/>
                  <a:pt x="195790" y="204046"/>
                </a:cubicBezTo>
                <a:cubicBezTo>
                  <a:pt x="184438" y="207109"/>
                  <a:pt x="172333" y="205514"/>
                  <a:pt x="162162" y="199614"/>
                </a:cubicBezTo>
                <a:lnTo>
                  <a:pt x="161829" y="199392"/>
                </a:lnTo>
                <a:lnTo>
                  <a:pt x="161851" y="200025"/>
                </a:lnTo>
                <a:cubicBezTo>
                  <a:pt x="161851" y="223710"/>
                  <a:pt x="143279" y="243235"/>
                  <a:pt x="119624" y="244419"/>
                </a:cubicBezTo>
                <a:lnTo>
                  <a:pt x="117401" y="244475"/>
                </a:lnTo>
                <a:cubicBezTo>
                  <a:pt x="92852" y="244475"/>
                  <a:pt x="72951" y="224574"/>
                  <a:pt x="72951" y="200025"/>
                </a:cubicBezTo>
                <a:lnTo>
                  <a:pt x="72962" y="199403"/>
                </a:lnTo>
                <a:lnTo>
                  <a:pt x="72640" y="199614"/>
                </a:lnTo>
                <a:cubicBezTo>
                  <a:pt x="63277" y="205050"/>
                  <a:pt x="52242" y="206854"/>
                  <a:pt x="41636" y="204681"/>
                </a:cubicBezTo>
                <a:lnTo>
                  <a:pt x="39013" y="204059"/>
                </a:lnTo>
                <a:cubicBezTo>
                  <a:pt x="27673" y="200996"/>
                  <a:pt x="18021" y="193537"/>
                  <a:pt x="12199" y="183334"/>
                </a:cubicBezTo>
                <a:cubicBezTo>
                  <a:pt x="0" y="162108"/>
                  <a:pt x="7210" y="135015"/>
                  <a:pt x="28345" y="122660"/>
                </a:cubicBezTo>
                <a:lnTo>
                  <a:pt x="29123" y="122237"/>
                </a:lnTo>
                <a:lnTo>
                  <a:pt x="28334" y="121815"/>
                </a:lnTo>
                <a:cubicBezTo>
                  <a:pt x="8004" y="109928"/>
                  <a:pt x="434" y="84273"/>
                  <a:pt x="11054" y="63252"/>
                </a:cubicBezTo>
                <a:lnTo>
                  <a:pt x="12166" y="61174"/>
                </a:lnTo>
                <a:cubicBezTo>
                  <a:pt x="17989" y="50950"/>
                  <a:pt x="27655" y="43476"/>
                  <a:pt x="39015" y="40412"/>
                </a:cubicBezTo>
                <a:cubicBezTo>
                  <a:pt x="50375" y="37349"/>
                  <a:pt x="62488" y="38951"/>
                  <a:pt x="72662" y="44861"/>
                </a:cubicBezTo>
                <a:lnTo>
                  <a:pt x="72951" y="45061"/>
                </a:lnTo>
                <a:lnTo>
                  <a:pt x="72951" y="44450"/>
                </a:lnTo>
                <a:cubicBezTo>
                  <a:pt x="72951" y="20765"/>
                  <a:pt x="91523" y="1240"/>
                  <a:pt x="115179" y="56"/>
                </a:cubicBezTo>
                <a:close/>
                <a:moveTo>
                  <a:pt x="117401" y="88900"/>
                </a:moveTo>
                <a:cubicBezTo>
                  <a:pt x="98989" y="88900"/>
                  <a:pt x="84064" y="103826"/>
                  <a:pt x="84064" y="122237"/>
                </a:cubicBezTo>
                <a:cubicBezTo>
                  <a:pt x="84064" y="140649"/>
                  <a:pt x="98989" y="155575"/>
                  <a:pt x="117401" y="155575"/>
                </a:cubicBezTo>
                <a:cubicBezTo>
                  <a:pt x="135813" y="155575"/>
                  <a:pt x="150739" y="140649"/>
                  <a:pt x="150739" y="122237"/>
                </a:cubicBezTo>
                <a:cubicBezTo>
                  <a:pt x="150739" y="103826"/>
                  <a:pt x="135813" y="88900"/>
                  <a:pt x="117401" y="88900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446520" y="2617470"/>
            <a:ext cx="484555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里程碑：每阶段设置验收门禁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37275" y="33128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7" y="111491"/>
                </a:lnTo>
                <a:lnTo>
                  <a:pt x="122237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闭环：问题复盘进入知识库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1353026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围绕需求受理、数据准备、模型执行、结果评审、发布运营构建标准流程，确保结果可复现。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879282" y="4095750"/>
            <a:ext cx="8433435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试点成效与经营价值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效率与质量趋势看板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6391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试点单位在周报生产时长、分析准确率、跨部门响应时效三项指标上持续改善，形成趋势增长。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7847" y="2060575"/>
            <a:ext cx="178806" cy="226373"/>
          </a:xfrm>
          <a:custGeom>
            <a:avLst/>
            <a:gdLst/>
            <a:ahLst/>
            <a:cxnLst/>
            <a:rect l="l" t="t" r="r" b="b"/>
            <a:pathLst>
              <a:path w="178806" h="226373">
                <a:moveTo>
                  <a:pt x="100516" y="0"/>
                </a:moveTo>
                <a:lnTo>
                  <a:pt x="100716" y="11"/>
                </a:lnTo>
                <a:lnTo>
                  <a:pt x="100893" y="22"/>
                </a:lnTo>
                <a:lnTo>
                  <a:pt x="101816" y="78"/>
                </a:lnTo>
                <a:lnTo>
                  <a:pt x="101938" y="100"/>
                </a:lnTo>
                <a:lnTo>
                  <a:pt x="102060" y="100"/>
                </a:lnTo>
                <a:lnTo>
                  <a:pt x="102483" y="200"/>
                </a:lnTo>
                <a:lnTo>
                  <a:pt x="103060" y="289"/>
                </a:lnTo>
                <a:lnTo>
                  <a:pt x="103238" y="356"/>
                </a:lnTo>
                <a:lnTo>
                  <a:pt x="103360" y="367"/>
                </a:lnTo>
                <a:lnTo>
                  <a:pt x="103683" y="489"/>
                </a:lnTo>
                <a:lnTo>
                  <a:pt x="104261" y="645"/>
                </a:lnTo>
                <a:lnTo>
                  <a:pt x="104472" y="745"/>
                </a:lnTo>
                <a:lnTo>
                  <a:pt x="104638" y="789"/>
                </a:lnTo>
                <a:lnTo>
                  <a:pt x="104950" y="945"/>
                </a:lnTo>
                <a:lnTo>
                  <a:pt x="105394" y="1133"/>
                </a:lnTo>
                <a:lnTo>
                  <a:pt x="105627" y="1267"/>
                </a:lnTo>
                <a:lnTo>
                  <a:pt x="105872" y="1378"/>
                </a:lnTo>
                <a:lnTo>
                  <a:pt x="106127" y="1545"/>
                </a:lnTo>
                <a:lnTo>
                  <a:pt x="106472" y="1734"/>
                </a:lnTo>
                <a:lnTo>
                  <a:pt x="106850" y="2000"/>
                </a:lnTo>
                <a:lnTo>
                  <a:pt x="107050" y="2122"/>
                </a:lnTo>
                <a:lnTo>
                  <a:pt x="107194" y="2256"/>
                </a:lnTo>
                <a:lnTo>
                  <a:pt x="107461" y="2445"/>
                </a:lnTo>
                <a:lnTo>
                  <a:pt x="107883" y="2823"/>
                </a:lnTo>
                <a:lnTo>
                  <a:pt x="108128" y="3011"/>
                </a:lnTo>
                <a:lnTo>
                  <a:pt x="108217" y="3123"/>
                </a:lnTo>
                <a:lnTo>
                  <a:pt x="108372" y="3256"/>
                </a:lnTo>
                <a:lnTo>
                  <a:pt x="108772" y="3712"/>
                </a:lnTo>
                <a:lnTo>
                  <a:pt x="109061" y="4012"/>
                </a:lnTo>
                <a:lnTo>
                  <a:pt x="109128" y="4112"/>
                </a:lnTo>
                <a:cubicBezTo>
                  <a:pt x="110461" y="5745"/>
                  <a:pt x="111306" y="7690"/>
                  <a:pt x="111550" y="9812"/>
                </a:cubicBezTo>
                <a:lnTo>
                  <a:pt x="111561" y="9946"/>
                </a:lnTo>
                <a:lnTo>
                  <a:pt x="111584" y="10401"/>
                </a:lnTo>
                <a:lnTo>
                  <a:pt x="111628" y="11112"/>
                </a:lnTo>
                <a:lnTo>
                  <a:pt x="111628" y="77787"/>
                </a:lnTo>
                <a:lnTo>
                  <a:pt x="167191" y="77787"/>
                </a:lnTo>
                <a:cubicBezTo>
                  <a:pt x="171154" y="77787"/>
                  <a:pt x="174819" y="79897"/>
                  <a:pt x="176807" y="83326"/>
                </a:cubicBezTo>
                <a:cubicBezTo>
                  <a:pt x="178795" y="86755"/>
                  <a:pt x="178806" y="90983"/>
                  <a:pt x="176836" y="94423"/>
                </a:cubicBezTo>
                <a:lnTo>
                  <a:pt x="176170" y="95434"/>
                </a:lnTo>
                <a:lnTo>
                  <a:pt x="87270" y="217672"/>
                </a:lnTo>
                <a:cubicBezTo>
                  <a:pt x="80958" y="226373"/>
                  <a:pt x="67178" y="221894"/>
                  <a:pt x="67178" y="211137"/>
                </a:cubicBezTo>
                <a:lnTo>
                  <a:pt x="67178" y="144462"/>
                </a:lnTo>
                <a:lnTo>
                  <a:pt x="11616" y="144462"/>
                </a:lnTo>
                <a:cubicBezTo>
                  <a:pt x="7652" y="144463"/>
                  <a:pt x="3988" y="142353"/>
                  <a:pt x="1999" y="138924"/>
                </a:cubicBezTo>
                <a:cubicBezTo>
                  <a:pt x="11" y="135495"/>
                  <a:pt x="0" y="131267"/>
                  <a:pt x="1970" y="127827"/>
                </a:cubicBezTo>
                <a:lnTo>
                  <a:pt x="2637" y="126816"/>
                </a:lnTo>
                <a:lnTo>
                  <a:pt x="91537" y="4578"/>
                </a:lnTo>
                <a:lnTo>
                  <a:pt x="91648" y="4434"/>
                </a:lnTo>
                <a:lnTo>
                  <a:pt x="91848" y="4167"/>
                </a:lnTo>
                <a:lnTo>
                  <a:pt x="92215" y="3745"/>
                </a:lnTo>
                <a:lnTo>
                  <a:pt x="92415" y="3500"/>
                </a:lnTo>
                <a:lnTo>
                  <a:pt x="92515" y="3412"/>
                </a:lnTo>
                <a:lnTo>
                  <a:pt x="92659" y="3256"/>
                </a:lnTo>
                <a:lnTo>
                  <a:pt x="93104" y="2856"/>
                </a:lnTo>
                <a:lnTo>
                  <a:pt x="93415" y="2567"/>
                </a:lnTo>
                <a:lnTo>
                  <a:pt x="93504" y="2500"/>
                </a:lnTo>
                <a:cubicBezTo>
                  <a:pt x="94806" y="1434"/>
                  <a:pt x="96334" y="678"/>
                  <a:pt x="97971" y="289"/>
                </a:cubicBezTo>
                <a:lnTo>
                  <a:pt x="98093" y="278"/>
                </a:lnTo>
                <a:lnTo>
                  <a:pt x="98393" y="222"/>
                </a:lnTo>
                <a:lnTo>
                  <a:pt x="99215" y="78"/>
                </a:lnTo>
                <a:lnTo>
                  <a:pt x="99338" y="67"/>
                </a:lnTo>
                <a:lnTo>
                  <a:pt x="99793" y="44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501153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趋势：周报产出时长下降32%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6125" y="25508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8" y="111491"/>
                </a:lnTo>
                <a:lnTo>
                  <a:pt x="122238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6325" y="2519362"/>
            <a:ext cx="446055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趋势：关键分析准确率提升18%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196262" y="34665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66080" y="102774"/>
                </a:moveTo>
                <a:cubicBezTo>
                  <a:pt x="164171" y="97045"/>
                  <a:pt x="158277" y="93653"/>
                  <a:pt x="152364" y="94880"/>
                </a:cubicBezTo>
                <a:lnTo>
                  <a:pt x="151019" y="95237"/>
                </a:lnTo>
                <a:lnTo>
                  <a:pt x="119062" y="105893"/>
                </a:lnTo>
                <a:lnTo>
                  <a:pt x="87106" y="95237"/>
                </a:lnTo>
                <a:lnTo>
                  <a:pt x="85761" y="94880"/>
                </a:lnTo>
                <a:cubicBezTo>
                  <a:pt x="79855" y="93665"/>
                  <a:pt x="73972" y="97056"/>
                  <a:pt x="72065" y="102777"/>
                </a:cubicBezTo>
                <a:cubicBezTo>
                  <a:pt x="70158" y="108497"/>
                  <a:pt x="72829" y="114740"/>
                  <a:pt x="78284" y="117312"/>
                </a:cubicBezTo>
                <a:lnTo>
                  <a:pt x="79581" y="117835"/>
                </a:lnTo>
                <a:lnTo>
                  <a:pt x="107156" y="127015"/>
                </a:lnTo>
                <a:lnTo>
                  <a:pt x="107156" y="138636"/>
                </a:lnTo>
                <a:lnTo>
                  <a:pt x="85344" y="171378"/>
                </a:lnTo>
                <a:lnTo>
                  <a:pt x="84630" y="172568"/>
                </a:lnTo>
                <a:cubicBezTo>
                  <a:pt x="82146" y="177448"/>
                  <a:pt x="83310" y="183393"/>
                  <a:pt x="87451" y="186975"/>
                </a:cubicBezTo>
                <a:lnTo>
                  <a:pt x="88642" y="187880"/>
                </a:lnTo>
                <a:lnTo>
                  <a:pt x="89845" y="188594"/>
                </a:lnTo>
                <a:cubicBezTo>
                  <a:pt x="94724" y="191078"/>
                  <a:pt x="100669" y="189914"/>
                  <a:pt x="104251" y="185772"/>
                </a:cubicBezTo>
                <a:lnTo>
                  <a:pt x="105156" y="184582"/>
                </a:lnTo>
                <a:lnTo>
                  <a:pt x="119062" y="163722"/>
                </a:lnTo>
                <a:lnTo>
                  <a:pt x="132969" y="184582"/>
                </a:lnTo>
                <a:lnTo>
                  <a:pt x="133802" y="185689"/>
                </a:lnTo>
                <a:cubicBezTo>
                  <a:pt x="137713" y="190298"/>
                  <a:pt x="144456" y="191246"/>
                  <a:pt x="149486" y="187893"/>
                </a:cubicBezTo>
                <a:cubicBezTo>
                  <a:pt x="154515" y="184540"/>
                  <a:pt x="156234" y="177951"/>
                  <a:pt x="153483" y="172568"/>
                </a:cubicBezTo>
                <a:lnTo>
                  <a:pt x="152781" y="171378"/>
                </a:lnTo>
                <a:lnTo>
                  <a:pt x="130969" y="138636"/>
                </a:lnTo>
                <a:lnTo>
                  <a:pt x="130969" y="127003"/>
                </a:lnTo>
                <a:lnTo>
                  <a:pt x="158544" y="117824"/>
                </a:lnTo>
                <a:lnTo>
                  <a:pt x="159841" y="117300"/>
                </a:lnTo>
                <a:cubicBezTo>
                  <a:pt x="165305" y="114736"/>
                  <a:pt x="167986" y="108489"/>
                  <a:pt x="166080" y="102762"/>
                </a:cubicBezTo>
                <a:close/>
                <a:moveTo>
                  <a:pt x="119062" y="52958"/>
                </a:moveTo>
                <a:cubicBezTo>
                  <a:pt x="112682" y="52958"/>
                  <a:pt x="106786" y="56362"/>
                  <a:pt x="103596" y="61888"/>
                </a:cubicBezTo>
                <a:cubicBezTo>
                  <a:pt x="100406" y="67414"/>
                  <a:pt x="100406" y="74222"/>
                  <a:pt x="103596" y="79747"/>
                </a:cubicBezTo>
                <a:cubicBezTo>
                  <a:pt x="106786" y="85273"/>
                  <a:pt x="112682" y="88677"/>
                  <a:pt x="119063" y="88677"/>
                </a:cubicBezTo>
                <a:cubicBezTo>
                  <a:pt x="128926" y="88677"/>
                  <a:pt x="136922" y="80681"/>
                  <a:pt x="136922" y="70818"/>
                </a:cubicBezTo>
                <a:cubicBezTo>
                  <a:pt x="136922" y="60954"/>
                  <a:pt x="128926" y="52958"/>
                  <a:pt x="119062" y="52958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61070" y="3417570"/>
            <a:ext cx="499277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趋势：跨部门响应时效提升41%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262" y="41814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02406" y="0"/>
                </a:moveTo>
                <a:lnTo>
                  <a:pt x="35719" y="0"/>
                </a:lnTo>
                <a:cubicBezTo>
                  <a:pt x="15992" y="0"/>
                  <a:pt x="0" y="15992"/>
                  <a:pt x="0" y="35719"/>
                </a:cubicBezTo>
                <a:lnTo>
                  <a:pt x="0" y="154781"/>
                </a:lnTo>
                <a:cubicBezTo>
                  <a:pt x="0" y="174508"/>
                  <a:pt x="15992" y="190500"/>
                  <a:pt x="35719" y="190500"/>
                </a:cubicBezTo>
                <a:lnTo>
                  <a:pt x="202406" y="190500"/>
                </a:lnTo>
                <a:cubicBezTo>
                  <a:pt x="222133" y="190500"/>
                  <a:pt x="238125" y="174508"/>
                  <a:pt x="238125" y="154781"/>
                </a:cubicBezTo>
                <a:lnTo>
                  <a:pt x="238125" y="35719"/>
                </a:lnTo>
                <a:cubicBezTo>
                  <a:pt x="238125" y="15992"/>
                  <a:pt x="222133" y="0"/>
                  <a:pt x="202406" y="0"/>
                </a:cubicBezTo>
                <a:close/>
                <a:moveTo>
                  <a:pt x="83344" y="47625"/>
                </a:moveTo>
                <a:cubicBezTo>
                  <a:pt x="102258" y="47624"/>
                  <a:pt x="117893" y="62367"/>
                  <a:pt x="119003" y="81248"/>
                </a:cubicBezTo>
                <a:lnTo>
                  <a:pt x="119062" y="83344"/>
                </a:lnTo>
                <a:lnTo>
                  <a:pt x="119062" y="130969"/>
                </a:lnTo>
                <a:cubicBezTo>
                  <a:pt x="119056" y="137268"/>
                  <a:pt x="114143" y="142472"/>
                  <a:pt x="107854" y="142841"/>
                </a:cubicBezTo>
                <a:cubicBezTo>
                  <a:pt x="101565" y="143211"/>
                  <a:pt x="96077" y="138617"/>
                  <a:pt x="95333" y="132362"/>
                </a:cubicBezTo>
                <a:lnTo>
                  <a:pt x="95250" y="130969"/>
                </a:lnTo>
                <a:lnTo>
                  <a:pt x="95250" y="119062"/>
                </a:lnTo>
                <a:lnTo>
                  <a:pt x="71438" y="119062"/>
                </a:lnTo>
                <a:lnTo>
                  <a:pt x="71438" y="130969"/>
                </a:lnTo>
                <a:cubicBezTo>
                  <a:pt x="71431" y="137268"/>
                  <a:pt x="66518" y="142472"/>
                  <a:pt x="60229" y="142841"/>
                </a:cubicBezTo>
                <a:cubicBezTo>
                  <a:pt x="53940" y="143211"/>
                  <a:pt x="48452" y="138617"/>
                  <a:pt x="47708" y="132362"/>
                </a:cubicBezTo>
                <a:lnTo>
                  <a:pt x="47625" y="130969"/>
                </a:lnTo>
                <a:lnTo>
                  <a:pt x="47625" y="83344"/>
                </a:lnTo>
                <a:cubicBezTo>
                  <a:pt x="47625" y="63617"/>
                  <a:pt x="63617" y="47625"/>
                  <a:pt x="83344" y="47625"/>
                </a:cubicBezTo>
                <a:close/>
                <a:moveTo>
                  <a:pt x="83344" y="71438"/>
                </a:moveTo>
                <a:cubicBezTo>
                  <a:pt x="77308" y="71438"/>
                  <a:pt x="72227" y="75956"/>
                  <a:pt x="71521" y="81951"/>
                </a:cubicBezTo>
                <a:lnTo>
                  <a:pt x="71438" y="83344"/>
                </a:lnTo>
                <a:lnTo>
                  <a:pt x="71438" y="95250"/>
                </a:lnTo>
                <a:lnTo>
                  <a:pt x="95250" y="95250"/>
                </a:lnTo>
                <a:lnTo>
                  <a:pt x="95250" y="83344"/>
                </a:lnTo>
                <a:cubicBezTo>
                  <a:pt x="95250" y="76768"/>
                  <a:pt x="89919" y="71438"/>
                  <a:pt x="83344" y="71438"/>
                </a:cubicBezTo>
                <a:close/>
                <a:moveTo>
                  <a:pt x="178594" y="47625"/>
                </a:moveTo>
                <a:cubicBezTo>
                  <a:pt x="184630" y="47626"/>
                  <a:pt x="189710" y="52144"/>
                  <a:pt x="190417" y="58138"/>
                </a:cubicBezTo>
                <a:lnTo>
                  <a:pt x="190500" y="59531"/>
                </a:lnTo>
                <a:lnTo>
                  <a:pt x="190500" y="130969"/>
                </a:lnTo>
                <a:cubicBezTo>
                  <a:pt x="190499" y="137005"/>
                  <a:pt x="185981" y="142085"/>
                  <a:pt x="179987" y="142792"/>
                </a:cubicBezTo>
                <a:lnTo>
                  <a:pt x="178594" y="142875"/>
                </a:lnTo>
                <a:lnTo>
                  <a:pt x="160734" y="142875"/>
                </a:lnTo>
                <a:cubicBezTo>
                  <a:pt x="149643" y="142863"/>
                  <a:pt x="139478" y="136685"/>
                  <a:pt x="134359" y="126845"/>
                </a:cubicBezTo>
                <a:cubicBezTo>
                  <a:pt x="129241" y="117006"/>
                  <a:pt x="130018" y="105136"/>
                  <a:pt x="136376" y="96047"/>
                </a:cubicBezTo>
                <a:cubicBezTo>
                  <a:pt x="142734" y="86959"/>
                  <a:pt x="153617" y="82159"/>
                  <a:pt x="164616" y="83594"/>
                </a:cubicBezTo>
                <a:lnTo>
                  <a:pt x="166688" y="83939"/>
                </a:lnTo>
                <a:lnTo>
                  <a:pt x="166688" y="59531"/>
                </a:lnTo>
                <a:cubicBezTo>
                  <a:pt x="166688" y="53495"/>
                  <a:pt x="171206" y="48415"/>
                  <a:pt x="177201" y="47708"/>
                </a:cubicBezTo>
                <a:lnTo>
                  <a:pt x="178594" y="47625"/>
                </a:lnTo>
                <a:close/>
                <a:moveTo>
                  <a:pt x="161806" y="107251"/>
                </a:moveTo>
                <a:lnTo>
                  <a:pt x="160734" y="107156"/>
                </a:lnTo>
                <a:cubicBezTo>
                  <a:pt x="157651" y="107151"/>
                  <a:pt x="155073" y="109500"/>
                  <a:pt x="154795" y="112571"/>
                </a:cubicBezTo>
                <a:cubicBezTo>
                  <a:pt x="154516" y="115642"/>
                  <a:pt x="156629" y="118418"/>
                  <a:pt x="159663" y="118967"/>
                </a:cubicBezTo>
                <a:lnTo>
                  <a:pt x="160734" y="119062"/>
                </a:lnTo>
                <a:lnTo>
                  <a:pt x="166688" y="119062"/>
                </a:lnTo>
                <a:lnTo>
                  <a:pt x="166688" y="113109"/>
                </a:lnTo>
                <a:lnTo>
                  <a:pt x="166592" y="112038"/>
                </a:lnTo>
                <a:cubicBezTo>
                  <a:pt x="166215" y="109971"/>
                  <a:pt x="164776" y="108256"/>
                  <a:pt x="162806" y="107525"/>
                </a:cubicBezTo>
                <a:lnTo>
                  <a:pt x="161806" y="107251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45780" y="4897755"/>
            <a:ext cx="249164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图表：bar_chart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5374005"/>
            <a:ext cx="129349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试点单位在周报生产时长、分析准确率、跨部门响应时效三项指标上持续改善，形成趋势增长。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经营价值对比：投入与产出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0871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对比试点前后投入产出，展示人效提升、返工减少、机会损失降低，建立可量化价值模型。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11125200" cy="1238250"/>
          </a:xfrm>
          <a:custGeom>
            <a:avLst/>
            <a:gdLst/>
            <a:ahLst/>
            <a:cxnLst/>
            <a:rect l="l" t="t" r="r" b="b"/>
            <a:pathLst>
              <a:path w="11125200" h="12382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123950"/>
                </a:lnTo>
                <a:cubicBezTo>
                  <a:pt x="11125200" y="1187076"/>
                  <a:pt x="11074026" y="1238250"/>
                  <a:pt x="110109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46124" y="2055597"/>
            <a:ext cx="233994" cy="234907"/>
          </a:xfrm>
          <a:custGeom>
            <a:avLst/>
            <a:gdLst/>
            <a:ahLst/>
            <a:cxnLst/>
            <a:rect l="l" t="t" r="r" b="b"/>
            <a:pathLst>
              <a:path w="233994" h="234907">
                <a:moveTo>
                  <a:pt x="166689" y="19868"/>
                </a:moveTo>
                <a:cubicBezTo>
                  <a:pt x="213392" y="46833"/>
                  <a:pt x="233994" y="103437"/>
                  <a:pt x="215549" y="154113"/>
                </a:cubicBezTo>
                <a:cubicBezTo>
                  <a:pt x="197104" y="204790"/>
                  <a:pt x="144937" y="234907"/>
                  <a:pt x="91828" y="225542"/>
                </a:cubicBezTo>
                <a:cubicBezTo>
                  <a:pt x="38719" y="216176"/>
                  <a:pt x="0" y="170031"/>
                  <a:pt x="1" y="116103"/>
                </a:cubicBezTo>
                <a:lnTo>
                  <a:pt x="57" y="112502"/>
                </a:lnTo>
                <a:cubicBezTo>
                  <a:pt x="1323" y="73464"/>
                  <a:pt x="22991" y="37956"/>
                  <a:pt x="57130" y="18978"/>
                </a:cubicBezTo>
                <a:cubicBezTo>
                  <a:pt x="91268" y="0"/>
                  <a:pt x="132863" y="338"/>
                  <a:pt x="166689" y="19868"/>
                </a:cubicBezTo>
                <a:close/>
                <a:moveTo>
                  <a:pt x="111126" y="49428"/>
                </a:moveTo>
                <a:cubicBezTo>
                  <a:pt x="104989" y="49428"/>
                  <a:pt x="100014" y="54403"/>
                  <a:pt x="100014" y="60540"/>
                </a:cubicBezTo>
                <a:cubicBezTo>
                  <a:pt x="81602" y="60540"/>
                  <a:pt x="66676" y="75466"/>
                  <a:pt x="66676" y="93878"/>
                </a:cubicBezTo>
                <a:cubicBezTo>
                  <a:pt x="66676" y="112290"/>
                  <a:pt x="81602" y="127215"/>
                  <a:pt x="100014" y="127215"/>
                </a:cubicBezTo>
                <a:lnTo>
                  <a:pt x="100014" y="149440"/>
                </a:lnTo>
                <a:cubicBezTo>
                  <a:pt x="96274" y="149640"/>
                  <a:pt x="92675" y="147986"/>
                  <a:pt x="90390" y="145017"/>
                </a:cubicBezTo>
                <a:lnTo>
                  <a:pt x="89635" y="143895"/>
                </a:lnTo>
                <a:cubicBezTo>
                  <a:pt x="86474" y="138798"/>
                  <a:pt x="79839" y="137128"/>
                  <a:pt x="74643" y="140123"/>
                </a:cubicBezTo>
                <a:cubicBezTo>
                  <a:pt x="69446" y="143117"/>
                  <a:pt x="67563" y="149695"/>
                  <a:pt x="70388" y="154985"/>
                </a:cubicBezTo>
                <a:cubicBezTo>
                  <a:pt x="76155" y="164987"/>
                  <a:pt x="86686" y="171293"/>
                  <a:pt x="98225" y="171654"/>
                </a:cubicBezTo>
                <a:lnTo>
                  <a:pt x="100014" y="171654"/>
                </a:lnTo>
                <a:cubicBezTo>
                  <a:pt x="100009" y="177292"/>
                  <a:pt x="104227" y="182040"/>
                  <a:pt x="109826" y="182700"/>
                </a:cubicBezTo>
                <a:lnTo>
                  <a:pt x="111126" y="182778"/>
                </a:lnTo>
                <a:cubicBezTo>
                  <a:pt x="117264" y="182778"/>
                  <a:pt x="122239" y="177802"/>
                  <a:pt x="122239" y="171665"/>
                </a:cubicBezTo>
                <a:lnTo>
                  <a:pt x="124195" y="171610"/>
                </a:lnTo>
                <a:cubicBezTo>
                  <a:pt x="142208" y="170569"/>
                  <a:pt x="156124" y="155385"/>
                  <a:pt x="155594" y="137349"/>
                </a:cubicBezTo>
                <a:cubicBezTo>
                  <a:pt x="155065" y="119314"/>
                  <a:pt x="140282" y="104973"/>
                  <a:pt x="122239" y="104990"/>
                </a:cubicBezTo>
                <a:lnTo>
                  <a:pt x="122239" y="82765"/>
                </a:lnTo>
                <a:cubicBezTo>
                  <a:pt x="126217" y="82632"/>
                  <a:pt x="129695" y="84321"/>
                  <a:pt x="131862" y="87188"/>
                </a:cubicBezTo>
                <a:lnTo>
                  <a:pt x="132618" y="88310"/>
                </a:lnTo>
                <a:cubicBezTo>
                  <a:pt x="135779" y="93408"/>
                  <a:pt x="142414" y="95077"/>
                  <a:pt x="147610" y="92083"/>
                </a:cubicBezTo>
                <a:cubicBezTo>
                  <a:pt x="152807" y="89088"/>
                  <a:pt x="154690" y="82511"/>
                  <a:pt x="151865" y="77220"/>
                </a:cubicBezTo>
                <a:cubicBezTo>
                  <a:pt x="146101" y="67214"/>
                  <a:pt x="135569" y="60904"/>
                  <a:pt x="124028" y="60540"/>
                </a:cubicBezTo>
                <a:lnTo>
                  <a:pt x="122239" y="60540"/>
                </a:lnTo>
                <a:cubicBezTo>
                  <a:pt x="122239" y="54403"/>
                  <a:pt x="117264" y="49428"/>
                  <a:pt x="111126" y="49428"/>
                </a:cubicBezTo>
                <a:close/>
                <a:moveTo>
                  <a:pt x="122239" y="127215"/>
                </a:moveTo>
                <a:cubicBezTo>
                  <a:pt x="128376" y="127215"/>
                  <a:pt x="133351" y="132190"/>
                  <a:pt x="133351" y="138328"/>
                </a:cubicBezTo>
                <a:cubicBezTo>
                  <a:pt x="133351" y="144465"/>
                  <a:pt x="128376" y="149440"/>
                  <a:pt x="122239" y="149440"/>
                </a:cubicBezTo>
                <a:lnTo>
                  <a:pt x="122239" y="127215"/>
                </a:lnTo>
                <a:close/>
                <a:moveTo>
                  <a:pt x="100014" y="82765"/>
                </a:moveTo>
                <a:lnTo>
                  <a:pt x="100014" y="104990"/>
                </a:lnTo>
                <a:cubicBezTo>
                  <a:pt x="93877" y="104990"/>
                  <a:pt x="88901" y="100015"/>
                  <a:pt x="88901" y="93878"/>
                </a:cubicBezTo>
                <a:cubicBezTo>
                  <a:pt x="88901" y="87740"/>
                  <a:pt x="93877" y="82765"/>
                  <a:pt x="100014" y="82765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2515" y="1991678"/>
            <a:ext cx="436630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对比：单位产出成本下降</a:t>
            </a:r>
          </a:p>
        </p:txBody>
      </p:sp>
      <p:sp>
        <p:nvSpPr>
          <p:cNvPr id="10" name="Freeform 10"/>
          <p:cNvSpPr/>
          <p:nvPr/>
        </p:nvSpPr>
        <p:spPr>
          <a:xfrm>
            <a:off x="746125" y="2550897"/>
            <a:ext cx="233696" cy="234079"/>
          </a:xfrm>
          <a:custGeom>
            <a:avLst/>
            <a:gdLst/>
            <a:ahLst/>
            <a:cxnLst/>
            <a:rect l="l" t="t" r="r" b="b"/>
            <a:pathLst>
              <a:path w="233696" h="234079">
                <a:moveTo>
                  <a:pt x="166688" y="19868"/>
                </a:moveTo>
                <a:cubicBezTo>
                  <a:pt x="212998" y="46607"/>
                  <a:pt x="233696" y="102539"/>
                  <a:pt x="215949" y="152983"/>
                </a:cubicBezTo>
                <a:cubicBezTo>
                  <a:pt x="198202" y="203428"/>
                  <a:pt x="147043" y="234079"/>
                  <a:pt x="94192" y="225932"/>
                </a:cubicBezTo>
                <a:cubicBezTo>
                  <a:pt x="41341" y="217785"/>
                  <a:pt x="1788" y="173150"/>
                  <a:pt x="56" y="119703"/>
                </a:cubicBezTo>
                <a:lnTo>
                  <a:pt x="0" y="116103"/>
                </a:lnTo>
                <a:lnTo>
                  <a:pt x="56" y="112502"/>
                </a:lnTo>
                <a:cubicBezTo>
                  <a:pt x="1321" y="73464"/>
                  <a:pt x="22990" y="37956"/>
                  <a:pt x="57128" y="18978"/>
                </a:cubicBezTo>
                <a:cubicBezTo>
                  <a:pt x="91267" y="0"/>
                  <a:pt x="132862" y="338"/>
                  <a:pt x="166687" y="19868"/>
                </a:cubicBezTo>
                <a:close/>
                <a:moveTo>
                  <a:pt x="111125" y="49428"/>
                </a:moveTo>
                <a:cubicBezTo>
                  <a:pt x="105491" y="49428"/>
                  <a:pt x="100749" y="53645"/>
                  <a:pt x="100090" y="59240"/>
                </a:cubicBezTo>
                <a:lnTo>
                  <a:pt x="100012" y="60540"/>
                </a:lnTo>
                <a:lnTo>
                  <a:pt x="100012" y="116103"/>
                </a:lnTo>
                <a:lnTo>
                  <a:pt x="100113" y="117558"/>
                </a:lnTo>
                <a:cubicBezTo>
                  <a:pt x="100366" y="119486"/>
                  <a:pt x="101121" y="121314"/>
                  <a:pt x="102302" y="122859"/>
                </a:cubicBezTo>
                <a:lnTo>
                  <a:pt x="103268" y="123970"/>
                </a:lnTo>
                <a:lnTo>
                  <a:pt x="136606" y="157308"/>
                </a:lnTo>
                <a:lnTo>
                  <a:pt x="137651" y="158219"/>
                </a:lnTo>
                <a:cubicBezTo>
                  <a:pt x="141659" y="161329"/>
                  <a:pt x="147266" y="161329"/>
                  <a:pt x="151274" y="158219"/>
                </a:cubicBezTo>
                <a:lnTo>
                  <a:pt x="152319" y="157297"/>
                </a:lnTo>
                <a:lnTo>
                  <a:pt x="153241" y="156252"/>
                </a:lnTo>
                <a:cubicBezTo>
                  <a:pt x="156352" y="152243"/>
                  <a:pt x="156352" y="146637"/>
                  <a:pt x="153241" y="142628"/>
                </a:cubicBezTo>
                <a:lnTo>
                  <a:pt x="152319" y="141584"/>
                </a:lnTo>
                <a:lnTo>
                  <a:pt x="122238" y="111491"/>
                </a:lnTo>
                <a:lnTo>
                  <a:pt x="122238" y="60540"/>
                </a:lnTo>
                <a:lnTo>
                  <a:pt x="122160" y="59240"/>
                </a:lnTo>
                <a:cubicBezTo>
                  <a:pt x="121501" y="53645"/>
                  <a:pt x="116759" y="49428"/>
                  <a:pt x="111125" y="4942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76325" y="2519362"/>
            <a:ext cx="43291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价值：人效与决策速度双提升</a:t>
            </a:r>
          </a:p>
        </p:txBody>
      </p:sp>
      <p:sp>
        <p:nvSpPr>
          <p:cNvPr id="12" name="Freeform 12"/>
          <p:cNvSpPr/>
          <p:nvPr/>
        </p:nvSpPr>
        <p:spPr>
          <a:xfrm>
            <a:off x="533400" y="3124200"/>
            <a:ext cx="7239000" cy="3086100"/>
          </a:xfrm>
          <a:custGeom>
            <a:avLst/>
            <a:gdLst/>
            <a:ahLst/>
            <a:cxnLst/>
            <a:rect l="l" t="t" r="r" b="b"/>
            <a:pathLst>
              <a:path w="7239000" h="3086100">
                <a:moveTo>
                  <a:pt x="114300" y="0"/>
                </a:moveTo>
                <a:lnTo>
                  <a:pt x="7124700" y="0"/>
                </a:lnTo>
                <a:cubicBezTo>
                  <a:pt x="7187826" y="0"/>
                  <a:pt x="7239000" y="51174"/>
                  <a:pt x="7239000" y="114300"/>
                </a:cubicBezTo>
                <a:lnTo>
                  <a:pt x="7239000" y="2971800"/>
                </a:lnTo>
                <a:cubicBezTo>
                  <a:pt x="7239000" y="3034926"/>
                  <a:pt x="7187826" y="3086100"/>
                  <a:pt x="712470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7943850" y="3124200"/>
            <a:ext cx="3714750" cy="3086100"/>
          </a:xfrm>
          <a:custGeom>
            <a:avLst/>
            <a:gdLst/>
            <a:ahLst/>
            <a:cxnLst/>
            <a:rect l="l" t="t" r="r" b="b"/>
            <a:pathLst>
              <a:path w="3714750" h="3086100">
                <a:moveTo>
                  <a:pt x="114300" y="0"/>
                </a:moveTo>
                <a:lnTo>
                  <a:pt x="3600450" y="0"/>
                </a:lnTo>
                <a:cubicBezTo>
                  <a:pt x="3663576" y="0"/>
                  <a:pt x="3714750" y="51174"/>
                  <a:pt x="3714750" y="114300"/>
                </a:cubicBezTo>
                <a:lnTo>
                  <a:pt x="3714750" y="2971800"/>
                </a:lnTo>
                <a:cubicBezTo>
                  <a:pt x="3714750" y="3034926"/>
                  <a:pt x="3663576" y="3086100"/>
                  <a:pt x="3600450" y="3086100"/>
                </a:cubicBezTo>
                <a:lnTo>
                  <a:pt x="114300" y="3086100"/>
                </a:lnTo>
                <a:cubicBezTo>
                  <a:pt x="51174" y="3086100"/>
                  <a:pt x="0" y="3034926"/>
                  <a:pt x="0" y="29718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196262" y="3466529"/>
            <a:ext cx="250389" cy="250799"/>
          </a:xfrm>
          <a:custGeom>
            <a:avLst/>
            <a:gdLst/>
            <a:ahLst/>
            <a:cxnLst/>
            <a:rect l="l" t="t" r="r" b="b"/>
            <a:pathLst>
              <a:path w="250389" h="250799">
                <a:moveTo>
                  <a:pt x="178594" y="21288"/>
                </a:moveTo>
                <a:cubicBezTo>
                  <a:pt x="228212" y="49937"/>
                  <a:pt x="250389" y="109863"/>
                  <a:pt x="231374" y="163911"/>
                </a:cubicBezTo>
                <a:cubicBezTo>
                  <a:pt x="212360" y="217958"/>
                  <a:pt x="157547" y="250799"/>
                  <a:pt x="100920" y="242070"/>
                </a:cubicBezTo>
                <a:cubicBezTo>
                  <a:pt x="44294" y="233341"/>
                  <a:pt x="1915" y="185518"/>
                  <a:pt x="60" y="128253"/>
                </a:cubicBezTo>
                <a:lnTo>
                  <a:pt x="0" y="124396"/>
                </a:lnTo>
                <a:lnTo>
                  <a:pt x="60" y="120538"/>
                </a:lnTo>
                <a:cubicBezTo>
                  <a:pt x="1416" y="78711"/>
                  <a:pt x="24632" y="40667"/>
                  <a:pt x="61209" y="20334"/>
                </a:cubicBezTo>
                <a:cubicBezTo>
                  <a:pt x="97786" y="0"/>
                  <a:pt x="142352" y="362"/>
                  <a:pt x="178594" y="21288"/>
                </a:cubicBezTo>
                <a:close/>
                <a:moveTo>
                  <a:pt x="166080" y="102774"/>
                </a:moveTo>
                <a:cubicBezTo>
                  <a:pt x="164171" y="97045"/>
                  <a:pt x="158277" y="93653"/>
                  <a:pt x="152364" y="94880"/>
                </a:cubicBezTo>
                <a:lnTo>
                  <a:pt x="151019" y="95237"/>
                </a:lnTo>
                <a:lnTo>
                  <a:pt x="119062" y="105893"/>
                </a:lnTo>
                <a:lnTo>
                  <a:pt x="87106" y="95237"/>
                </a:lnTo>
                <a:lnTo>
                  <a:pt x="85761" y="94880"/>
                </a:lnTo>
                <a:cubicBezTo>
                  <a:pt x="79855" y="93665"/>
                  <a:pt x="73972" y="97056"/>
                  <a:pt x="72065" y="102777"/>
                </a:cubicBezTo>
                <a:cubicBezTo>
                  <a:pt x="70158" y="108497"/>
                  <a:pt x="72829" y="114740"/>
                  <a:pt x="78284" y="117312"/>
                </a:cubicBezTo>
                <a:lnTo>
                  <a:pt x="79581" y="117835"/>
                </a:lnTo>
                <a:lnTo>
                  <a:pt x="107156" y="127015"/>
                </a:lnTo>
                <a:lnTo>
                  <a:pt x="107156" y="138636"/>
                </a:lnTo>
                <a:lnTo>
                  <a:pt x="85344" y="171378"/>
                </a:lnTo>
                <a:lnTo>
                  <a:pt x="84630" y="172568"/>
                </a:lnTo>
                <a:cubicBezTo>
                  <a:pt x="82146" y="177448"/>
                  <a:pt x="83310" y="183393"/>
                  <a:pt x="87451" y="186975"/>
                </a:cubicBezTo>
                <a:lnTo>
                  <a:pt x="88642" y="187880"/>
                </a:lnTo>
                <a:lnTo>
                  <a:pt x="89845" y="188594"/>
                </a:lnTo>
                <a:cubicBezTo>
                  <a:pt x="94724" y="191078"/>
                  <a:pt x="100669" y="189914"/>
                  <a:pt x="104251" y="185772"/>
                </a:cubicBezTo>
                <a:lnTo>
                  <a:pt x="105156" y="184582"/>
                </a:lnTo>
                <a:lnTo>
                  <a:pt x="119062" y="163722"/>
                </a:lnTo>
                <a:lnTo>
                  <a:pt x="132969" y="184582"/>
                </a:lnTo>
                <a:lnTo>
                  <a:pt x="133802" y="185689"/>
                </a:lnTo>
                <a:cubicBezTo>
                  <a:pt x="137713" y="190298"/>
                  <a:pt x="144456" y="191246"/>
                  <a:pt x="149486" y="187893"/>
                </a:cubicBezTo>
                <a:cubicBezTo>
                  <a:pt x="154515" y="184540"/>
                  <a:pt x="156234" y="177951"/>
                  <a:pt x="153483" y="172568"/>
                </a:cubicBezTo>
                <a:lnTo>
                  <a:pt x="152781" y="171378"/>
                </a:lnTo>
                <a:lnTo>
                  <a:pt x="130969" y="138636"/>
                </a:lnTo>
                <a:lnTo>
                  <a:pt x="130969" y="127003"/>
                </a:lnTo>
                <a:lnTo>
                  <a:pt x="158544" y="117824"/>
                </a:lnTo>
                <a:lnTo>
                  <a:pt x="159841" y="117300"/>
                </a:lnTo>
                <a:cubicBezTo>
                  <a:pt x="165305" y="114736"/>
                  <a:pt x="167986" y="108489"/>
                  <a:pt x="166080" y="102762"/>
                </a:cubicBezTo>
                <a:close/>
                <a:moveTo>
                  <a:pt x="119062" y="52958"/>
                </a:moveTo>
                <a:cubicBezTo>
                  <a:pt x="112682" y="52958"/>
                  <a:pt x="106786" y="56362"/>
                  <a:pt x="103596" y="61888"/>
                </a:cubicBezTo>
                <a:cubicBezTo>
                  <a:pt x="100406" y="67414"/>
                  <a:pt x="100406" y="74222"/>
                  <a:pt x="103596" y="79747"/>
                </a:cubicBezTo>
                <a:cubicBezTo>
                  <a:pt x="106786" y="85273"/>
                  <a:pt x="112682" y="88677"/>
                  <a:pt x="119063" y="88677"/>
                </a:cubicBezTo>
                <a:cubicBezTo>
                  <a:pt x="128926" y="88677"/>
                  <a:pt x="136922" y="80681"/>
                  <a:pt x="136922" y="70818"/>
                </a:cubicBezTo>
                <a:cubicBezTo>
                  <a:pt x="136922" y="60954"/>
                  <a:pt x="128926" y="52958"/>
                  <a:pt x="119062" y="52958"/>
                </a:cubicBezTo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561070" y="341757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收益：减少重复分析投入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196262" y="41814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02406" y="0"/>
                </a:moveTo>
                <a:lnTo>
                  <a:pt x="35719" y="0"/>
                </a:lnTo>
                <a:cubicBezTo>
                  <a:pt x="15992" y="0"/>
                  <a:pt x="0" y="15992"/>
                  <a:pt x="0" y="35719"/>
                </a:cubicBezTo>
                <a:lnTo>
                  <a:pt x="0" y="154781"/>
                </a:lnTo>
                <a:cubicBezTo>
                  <a:pt x="0" y="174508"/>
                  <a:pt x="15992" y="190500"/>
                  <a:pt x="35719" y="190500"/>
                </a:cubicBezTo>
                <a:lnTo>
                  <a:pt x="202406" y="190500"/>
                </a:lnTo>
                <a:cubicBezTo>
                  <a:pt x="222133" y="190500"/>
                  <a:pt x="238125" y="174508"/>
                  <a:pt x="238125" y="154781"/>
                </a:cubicBezTo>
                <a:lnTo>
                  <a:pt x="238125" y="35719"/>
                </a:lnTo>
                <a:cubicBezTo>
                  <a:pt x="238125" y="15992"/>
                  <a:pt x="222133" y="0"/>
                  <a:pt x="202406" y="0"/>
                </a:cubicBezTo>
                <a:close/>
                <a:moveTo>
                  <a:pt x="83344" y="47625"/>
                </a:moveTo>
                <a:cubicBezTo>
                  <a:pt x="102258" y="47624"/>
                  <a:pt x="117893" y="62367"/>
                  <a:pt x="119003" y="81248"/>
                </a:cubicBezTo>
                <a:lnTo>
                  <a:pt x="119062" y="83344"/>
                </a:lnTo>
                <a:lnTo>
                  <a:pt x="119062" y="130969"/>
                </a:lnTo>
                <a:cubicBezTo>
                  <a:pt x="119056" y="137268"/>
                  <a:pt x="114143" y="142472"/>
                  <a:pt x="107854" y="142841"/>
                </a:cubicBezTo>
                <a:cubicBezTo>
                  <a:pt x="101565" y="143211"/>
                  <a:pt x="96077" y="138617"/>
                  <a:pt x="95333" y="132362"/>
                </a:cubicBezTo>
                <a:lnTo>
                  <a:pt x="95250" y="130969"/>
                </a:lnTo>
                <a:lnTo>
                  <a:pt x="95250" y="119062"/>
                </a:lnTo>
                <a:lnTo>
                  <a:pt x="71438" y="119062"/>
                </a:lnTo>
                <a:lnTo>
                  <a:pt x="71438" y="130969"/>
                </a:lnTo>
                <a:cubicBezTo>
                  <a:pt x="71431" y="137268"/>
                  <a:pt x="66518" y="142472"/>
                  <a:pt x="60229" y="142841"/>
                </a:cubicBezTo>
                <a:cubicBezTo>
                  <a:pt x="53940" y="143211"/>
                  <a:pt x="48452" y="138617"/>
                  <a:pt x="47708" y="132362"/>
                </a:cubicBezTo>
                <a:lnTo>
                  <a:pt x="47625" y="130969"/>
                </a:lnTo>
                <a:lnTo>
                  <a:pt x="47625" y="83344"/>
                </a:lnTo>
                <a:cubicBezTo>
                  <a:pt x="47625" y="63617"/>
                  <a:pt x="63617" y="47625"/>
                  <a:pt x="83344" y="47625"/>
                </a:cubicBezTo>
                <a:close/>
                <a:moveTo>
                  <a:pt x="83344" y="71438"/>
                </a:moveTo>
                <a:cubicBezTo>
                  <a:pt x="77308" y="71438"/>
                  <a:pt x="72227" y="75956"/>
                  <a:pt x="71521" y="81951"/>
                </a:cubicBezTo>
                <a:lnTo>
                  <a:pt x="71438" y="83344"/>
                </a:lnTo>
                <a:lnTo>
                  <a:pt x="71438" y="95250"/>
                </a:lnTo>
                <a:lnTo>
                  <a:pt x="95250" y="95250"/>
                </a:lnTo>
                <a:lnTo>
                  <a:pt x="95250" y="83344"/>
                </a:lnTo>
                <a:cubicBezTo>
                  <a:pt x="95250" y="76768"/>
                  <a:pt x="89919" y="71438"/>
                  <a:pt x="83344" y="71438"/>
                </a:cubicBezTo>
                <a:close/>
                <a:moveTo>
                  <a:pt x="178594" y="47625"/>
                </a:moveTo>
                <a:cubicBezTo>
                  <a:pt x="184630" y="47626"/>
                  <a:pt x="189710" y="52144"/>
                  <a:pt x="190417" y="58138"/>
                </a:cubicBezTo>
                <a:lnTo>
                  <a:pt x="190500" y="59531"/>
                </a:lnTo>
                <a:lnTo>
                  <a:pt x="190500" y="130969"/>
                </a:lnTo>
                <a:cubicBezTo>
                  <a:pt x="190499" y="137005"/>
                  <a:pt x="185981" y="142085"/>
                  <a:pt x="179987" y="142792"/>
                </a:cubicBezTo>
                <a:lnTo>
                  <a:pt x="178594" y="142875"/>
                </a:lnTo>
                <a:lnTo>
                  <a:pt x="160734" y="142875"/>
                </a:lnTo>
                <a:cubicBezTo>
                  <a:pt x="149643" y="142863"/>
                  <a:pt x="139478" y="136685"/>
                  <a:pt x="134359" y="126845"/>
                </a:cubicBezTo>
                <a:cubicBezTo>
                  <a:pt x="129241" y="117006"/>
                  <a:pt x="130018" y="105136"/>
                  <a:pt x="136376" y="96047"/>
                </a:cubicBezTo>
                <a:cubicBezTo>
                  <a:pt x="142734" y="86959"/>
                  <a:pt x="153617" y="82159"/>
                  <a:pt x="164616" y="83594"/>
                </a:cubicBezTo>
                <a:lnTo>
                  <a:pt x="166688" y="83939"/>
                </a:lnTo>
                <a:lnTo>
                  <a:pt x="166688" y="59531"/>
                </a:lnTo>
                <a:cubicBezTo>
                  <a:pt x="166688" y="53495"/>
                  <a:pt x="171206" y="48415"/>
                  <a:pt x="177201" y="47708"/>
                </a:cubicBezTo>
                <a:lnTo>
                  <a:pt x="178594" y="47625"/>
                </a:lnTo>
                <a:close/>
                <a:moveTo>
                  <a:pt x="161806" y="107251"/>
                </a:moveTo>
                <a:lnTo>
                  <a:pt x="160734" y="107156"/>
                </a:lnTo>
                <a:cubicBezTo>
                  <a:pt x="157651" y="107151"/>
                  <a:pt x="155073" y="109500"/>
                  <a:pt x="154795" y="112571"/>
                </a:cubicBezTo>
                <a:cubicBezTo>
                  <a:pt x="154516" y="115642"/>
                  <a:pt x="156629" y="118418"/>
                  <a:pt x="159663" y="118967"/>
                </a:cubicBezTo>
                <a:lnTo>
                  <a:pt x="160734" y="119062"/>
                </a:lnTo>
                <a:lnTo>
                  <a:pt x="166688" y="119062"/>
                </a:lnTo>
                <a:lnTo>
                  <a:pt x="166688" y="113109"/>
                </a:lnTo>
                <a:lnTo>
                  <a:pt x="166592" y="112038"/>
                </a:lnTo>
                <a:cubicBezTo>
                  <a:pt x="166215" y="109971"/>
                  <a:pt x="164776" y="108256"/>
                  <a:pt x="162806" y="107525"/>
                </a:cubicBezTo>
                <a:lnTo>
                  <a:pt x="161806" y="107251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562975" y="4119562"/>
            <a:ext cx="17002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关键要点四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45780" y="4897755"/>
            <a:ext cx="250698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图表：line_chart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5780" y="5374005"/>
            <a:ext cx="1232154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对比试点前后投入产出，展示人效提升、返工减少、机会损失降低，建立可量化价值模型。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典型场景案例：勘探开发协同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13631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在勘探开发协同场景中，平台支撑数据汇通管服智，形成从问题识别到行动建议的标准作业。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90574" y="2171700"/>
            <a:ext cx="171451" cy="190500"/>
            <a:chOff x="790574" y="2171700"/>
            <a:chExt cx="171451" cy="190500"/>
          </a:xfrm>
        </p:grpSpPr>
        <p:sp>
          <p:nvSpPr>
            <p:cNvPr id="9" name="Freeform 9"/>
            <p:cNvSpPr/>
            <p:nvPr/>
          </p:nvSpPr>
          <p:spPr>
            <a:xfrm>
              <a:off x="790575" y="230248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4710"/>
                    <a:pt x="134350" y="59103"/>
                    <a:pt x="88649" y="59693"/>
                  </a:cubicBezTo>
                  <a:lnTo>
                    <a:pt x="85725" y="59712"/>
                  </a:lnTo>
                  <a:cubicBezTo>
                    <a:pt x="38691" y="59712"/>
                    <a:pt x="0" y="45206"/>
                    <a:pt x="0" y="21612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790575" y="2245338"/>
              <a:ext cx="171450" cy="59712"/>
            </a:xfrm>
            <a:custGeom>
              <a:avLst/>
              <a:gdLst/>
              <a:ahLst/>
              <a:cxnLst/>
              <a:rect l="l" t="t" r="r" b="b"/>
              <a:pathLst>
                <a:path w="171450" h="59712">
                  <a:moveTo>
                    <a:pt x="0" y="0"/>
                  </a:moveTo>
                  <a:cubicBezTo>
                    <a:pt x="18745" y="14354"/>
                    <a:pt x="49854" y="21612"/>
                    <a:pt x="85725" y="21612"/>
                  </a:cubicBezTo>
                  <a:cubicBezTo>
                    <a:pt x="121539" y="21612"/>
                    <a:pt x="152638" y="14373"/>
                    <a:pt x="171450" y="162"/>
                  </a:cubicBezTo>
                  <a:lnTo>
                    <a:pt x="171450" y="21612"/>
                  </a:lnTo>
                  <a:cubicBezTo>
                    <a:pt x="171450" y="45206"/>
                    <a:pt x="132759" y="59712"/>
                    <a:pt x="85725" y="59712"/>
                  </a:cubicBezTo>
                  <a:cubicBezTo>
                    <a:pt x="40024" y="59712"/>
                    <a:pt x="2191" y="46015"/>
                    <a:pt x="200" y="23565"/>
                  </a:cubicBezTo>
                  <a:lnTo>
                    <a:pt x="48" y="22603"/>
                  </a:lnTo>
                  <a:lnTo>
                    <a:pt x="0" y="21612"/>
                  </a:ln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90574" y="2171700"/>
              <a:ext cx="171451" cy="76200"/>
            </a:xfrm>
            <a:custGeom>
              <a:avLst/>
              <a:gdLst/>
              <a:ahLst/>
              <a:cxnLst/>
              <a:rect l="l" t="t" r="r" b="b"/>
              <a:pathLst>
                <a:path w="171451" h="76200">
                  <a:moveTo>
                    <a:pt x="85726" y="0"/>
                  </a:moveTo>
                  <a:cubicBezTo>
                    <a:pt x="95641" y="0"/>
                    <a:pt x="105195" y="648"/>
                    <a:pt x="114082" y="1886"/>
                  </a:cubicBezTo>
                  <a:lnTo>
                    <a:pt x="118549" y="2562"/>
                  </a:lnTo>
                  <a:cubicBezTo>
                    <a:pt x="123883" y="3451"/>
                    <a:pt x="128918" y="4556"/>
                    <a:pt x="133656" y="5877"/>
                  </a:cubicBezTo>
                  <a:lnTo>
                    <a:pt x="137847" y="7125"/>
                  </a:lnTo>
                  <a:lnTo>
                    <a:pt x="138561" y="7353"/>
                  </a:lnTo>
                  <a:cubicBezTo>
                    <a:pt x="141153" y="8206"/>
                    <a:pt x="143711" y="9159"/>
                    <a:pt x="146229" y="10211"/>
                  </a:cubicBezTo>
                  <a:lnTo>
                    <a:pt x="148124" y="11030"/>
                  </a:lnTo>
                  <a:cubicBezTo>
                    <a:pt x="151521" y="12567"/>
                    <a:pt x="154591" y="14249"/>
                    <a:pt x="157335" y="16078"/>
                  </a:cubicBezTo>
                  <a:cubicBezTo>
                    <a:pt x="158382" y="16777"/>
                    <a:pt x="159376" y="17491"/>
                    <a:pt x="160316" y="18221"/>
                  </a:cubicBezTo>
                  <a:cubicBezTo>
                    <a:pt x="162697" y="20069"/>
                    <a:pt x="164837" y="22206"/>
                    <a:pt x="166688" y="24584"/>
                  </a:cubicBezTo>
                  <a:lnTo>
                    <a:pt x="167555" y="25803"/>
                  </a:lnTo>
                  <a:cubicBezTo>
                    <a:pt x="168000" y="26470"/>
                    <a:pt x="168409" y="27140"/>
                    <a:pt x="168784" y="27813"/>
                  </a:cubicBezTo>
                  <a:lnTo>
                    <a:pt x="169450" y="29137"/>
                  </a:lnTo>
                  <a:cubicBezTo>
                    <a:pt x="170486" y="31359"/>
                    <a:pt x="171121" y="33677"/>
                    <a:pt x="171355" y="36090"/>
                  </a:cubicBezTo>
                  <a:lnTo>
                    <a:pt x="171451" y="38100"/>
                  </a:lnTo>
                  <a:cubicBezTo>
                    <a:pt x="171451" y="61693"/>
                    <a:pt x="132760" y="76200"/>
                    <a:pt x="85726" y="76200"/>
                  </a:cubicBezTo>
                  <a:cubicBezTo>
                    <a:pt x="40025" y="76200"/>
                    <a:pt x="2191" y="62503"/>
                    <a:pt x="201" y="40053"/>
                  </a:cubicBezTo>
                  <a:cubicBezTo>
                    <a:pt x="67" y="39410"/>
                    <a:pt x="0" y="38756"/>
                    <a:pt x="1" y="38100"/>
                  </a:cubicBezTo>
                  <a:lnTo>
                    <a:pt x="48" y="37109"/>
                  </a:lnTo>
                  <a:lnTo>
                    <a:pt x="201" y="36157"/>
                  </a:lnTo>
                  <a:cubicBezTo>
                    <a:pt x="2153" y="14192"/>
                    <a:pt x="38396" y="600"/>
                    <a:pt x="82754" y="19"/>
                  </a:cubicBezTo>
                  <a:close/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062990" y="21297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场景：多源数据统一查询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81050" y="2781300"/>
            <a:ext cx="190500" cy="180975"/>
          </a:xfrm>
          <a:custGeom>
            <a:avLst/>
            <a:gdLst/>
            <a:ahLst/>
            <a:cxnLst/>
            <a:rect l="l" t="t" r="r" b="b"/>
            <a:pathLst>
              <a:path w="190500" h="180975">
                <a:moveTo>
                  <a:pt x="190500" y="109328"/>
                </a:moveTo>
                <a:lnTo>
                  <a:pt x="190500" y="152400"/>
                </a:lnTo>
                <a:cubicBezTo>
                  <a:pt x="190500" y="168182"/>
                  <a:pt x="177707" y="180975"/>
                  <a:pt x="161925" y="180975"/>
                </a:cubicBezTo>
                <a:lnTo>
                  <a:pt x="28575" y="180975"/>
                </a:lnTo>
                <a:cubicBezTo>
                  <a:pt x="12793" y="180975"/>
                  <a:pt x="0" y="168182"/>
                  <a:pt x="0" y="152400"/>
                </a:cubicBezTo>
                <a:lnTo>
                  <a:pt x="0" y="109328"/>
                </a:lnTo>
                <a:lnTo>
                  <a:pt x="5267" y="111966"/>
                </a:lnTo>
                <a:cubicBezTo>
                  <a:pt x="61879" y="140482"/>
                  <a:pt x="128656" y="140475"/>
                  <a:pt x="185261" y="111947"/>
                </a:cubicBezTo>
                <a:lnTo>
                  <a:pt x="190500" y="109328"/>
                </a:lnTo>
                <a:close/>
                <a:moveTo>
                  <a:pt x="114300" y="0"/>
                </a:moveTo>
                <a:cubicBezTo>
                  <a:pt x="130082" y="0"/>
                  <a:pt x="142875" y="12793"/>
                  <a:pt x="142875" y="28575"/>
                </a:cubicBezTo>
                <a:lnTo>
                  <a:pt x="142875" y="38100"/>
                </a:lnTo>
                <a:lnTo>
                  <a:pt x="161925" y="38100"/>
                </a:lnTo>
                <a:cubicBezTo>
                  <a:pt x="177707" y="38100"/>
                  <a:pt x="190500" y="50893"/>
                  <a:pt x="190500" y="66675"/>
                </a:cubicBezTo>
                <a:lnTo>
                  <a:pt x="190500" y="88030"/>
                </a:lnTo>
                <a:lnTo>
                  <a:pt x="176717" y="94926"/>
                </a:lnTo>
                <a:cubicBezTo>
                  <a:pt x="126742" y="120116"/>
                  <a:pt x="67925" y="120770"/>
                  <a:pt x="17402" y="96698"/>
                </a:cubicBezTo>
                <a:lnTo>
                  <a:pt x="11240" y="93650"/>
                </a:lnTo>
                <a:lnTo>
                  <a:pt x="0" y="88030"/>
                </a:lnTo>
                <a:lnTo>
                  <a:pt x="0" y="66675"/>
                </a:lnTo>
                <a:cubicBezTo>
                  <a:pt x="0" y="50893"/>
                  <a:pt x="12793" y="38100"/>
                  <a:pt x="28575" y="38100"/>
                </a:cubicBezTo>
                <a:lnTo>
                  <a:pt x="47625" y="38100"/>
                </a:lnTo>
                <a:lnTo>
                  <a:pt x="47625" y="28575"/>
                </a:lnTo>
                <a:cubicBezTo>
                  <a:pt x="47625" y="12793"/>
                  <a:pt x="60418" y="0"/>
                  <a:pt x="76200" y="0"/>
                </a:cubicBezTo>
                <a:lnTo>
                  <a:pt x="114300" y="0"/>
                </a:lnTo>
                <a:close/>
                <a:moveTo>
                  <a:pt x="95250" y="76200"/>
                </a:moveTo>
                <a:cubicBezTo>
                  <a:pt x="89989" y="76200"/>
                  <a:pt x="85725" y="80464"/>
                  <a:pt x="85725" y="85725"/>
                </a:cubicBezTo>
                <a:cubicBezTo>
                  <a:pt x="85708" y="89128"/>
                  <a:pt x="87508" y="92281"/>
                  <a:pt x="90446" y="93998"/>
                </a:cubicBezTo>
                <a:cubicBezTo>
                  <a:pt x="93385" y="95714"/>
                  <a:pt x="97016" y="95732"/>
                  <a:pt x="99971" y="94045"/>
                </a:cubicBezTo>
                <a:cubicBezTo>
                  <a:pt x="102927" y="92359"/>
                  <a:pt x="104758" y="89223"/>
                  <a:pt x="104775" y="85820"/>
                </a:cubicBezTo>
                <a:cubicBezTo>
                  <a:pt x="104775" y="80467"/>
                  <a:pt x="100508" y="76200"/>
                  <a:pt x="95250" y="76200"/>
                </a:cubicBezTo>
                <a:close/>
                <a:moveTo>
                  <a:pt x="114300" y="19050"/>
                </a:moveTo>
                <a:lnTo>
                  <a:pt x="76200" y="19050"/>
                </a:lnTo>
                <a:cubicBezTo>
                  <a:pt x="70939" y="19050"/>
                  <a:pt x="66675" y="23314"/>
                  <a:pt x="66675" y="28575"/>
                </a:cubicBezTo>
                <a:lnTo>
                  <a:pt x="66675" y="38100"/>
                </a:lnTo>
                <a:lnTo>
                  <a:pt x="123825" y="38100"/>
                </a:lnTo>
                <a:lnTo>
                  <a:pt x="123825" y="28575"/>
                </a:lnTo>
                <a:cubicBezTo>
                  <a:pt x="123825" y="23314"/>
                  <a:pt x="119561" y="19050"/>
                  <a:pt x="114300" y="19050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2990" y="273939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智能：问数问答与报告生成</a:t>
            </a:r>
          </a:p>
        </p:txBody>
      </p:sp>
      <p:sp>
        <p:nvSpPr>
          <p:cNvPr id="17" name="Freeform 17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777878" y="3397253"/>
            <a:ext cx="187319" cy="177794"/>
            <a:chOff x="777878" y="3397253"/>
            <a:chExt cx="187319" cy="177794"/>
          </a:xfrm>
        </p:grpSpPr>
        <p:sp>
          <p:nvSpPr>
            <p:cNvPr id="18" name="Freeform 18"/>
            <p:cNvSpPr/>
            <p:nvPr/>
          </p:nvSpPr>
          <p:spPr>
            <a:xfrm>
              <a:off x="904875" y="35115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878" y="3416303"/>
              <a:ext cx="139694" cy="136522"/>
            </a:xfrm>
            <a:custGeom>
              <a:avLst/>
              <a:gdLst/>
              <a:ahLst/>
              <a:cxnLst/>
              <a:rect l="l" t="t" r="r" b="b"/>
              <a:pathLst>
                <a:path w="139694" h="136522">
                  <a:moveTo>
                    <a:pt x="12697" y="60322"/>
                  </a:moveTo>
                  <a:cubicBezTo>
                    <a:pt x="38999" y="60322"/>
                    <a:pt x="60322" y="38999"/>
                    <a:pt x="60322" y="12697"/>
                  </a:cubicBezTo>
                  <a:cubicBezTo>
                    <a:pt x="60322" y="0"/>
                    <a:pt x="79372" y="0"/>
                    <a:pt x="79372" y="12697"/>
                  </a:cubicBezTo>
                  <a:cubicBezTo>
                    <a:pt x="79372" y="38999"/>
                    <a:pt x="100694" y="60322"/>
                    <a:pt x="126997" y="60322"/>
                  </a:cubicBezTo>
                  <a:cubicBezTo>
                    <a:pt x="139694" y="60322"/>
                    <a:pt x="139694" y="79372"/>
                    <a:pt x="126997" y="79372"/>
                  </a:cubicBezTo>
                  <a:cubicBezTo>
                    <a:pt x="100694" y="79372"/>
                    <a:pt x="79372" y="100694"/>
                    <a:pt x="79372" y="126997"/>
                  </a:cubicBezTo>
                  <a:cubicBezTo>
                    <a:pt x="79372" y="132257"/>
                    <a:pt x="75107" y="136522"/>
                    <a:pt x="69847" y="136522"/>
                  </a:cubicBezTo>
                  <a:cubicBezTo>
                    <a:pt x="64586" y="136522"/>
                    <a:pt x="60322" y="132257"/>
                    <a:pt x="60322" y="126997"/>
                  </a:cubicBezTo>
                  <a:cubicBezTo>
                    <a:pt x="60322" y="100694"/>
                    <a:pt x="38999" y="79372"/>
                    <a:pt x="12697" y="79372"/>
                  </a:cubicBezTo>
                  <a:cubicBezTo>
                    <a:pt x="0" y="79372"/>
                    <a:pt x="0" y="60322"/>
                    <a:pt x="12697" y="6032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904875" y="3397253"/>
              <a:ext cx="60322" cy="63494"/>
            </a:xfrm>
            <a:custGeom>
              <a:avLst/>
              <a:gdLst/>
              <a:ahLst/>
              <a:cxnLst/>
              <a:rect l="l" t="t" r="r" b="b"/>
              <a:pathLst>
                <a:path w="60322" h="63494">
                  <a:moveTo>
                    <a:pt x="9525" y="41272"/>
                  </a:moveTo>
                  <a:cubicBezTo>
                    <a:pt x="4264" y="41272"/>
                    <a:pt x="0" y="37007"/>
                    <a:pt x="0" y="31747"/>
                  </a:cubicBezTo>
                  <a:cubicBezTo>
                    <a:pt x="0" y="26486"/>
                    <a:pt x="4264" y="22222"/>
                    <a:pt x="9525" y="22222"/>
                  </a:cubicBezTo>
                  <a:cubicBezTo>
                    <a:pt x="14786" y="22222"/>
                    <a:pt x="19050" y="17957"/>
                    <a:pt x="19050" y="12697"/>
                  </a:cubicBezTo>
                  <a:cubicBezTo>
                    <a:pt x="19050" y="0"/>
                    <a:pt x="38100" y="0"/>
                    <a:pt x="38100" y="12697"/>
                  </a:cubicBezTo>
                  <a:cubicBezTo>
                    <a:pt x="38100" y="17957"/>
                    <a:pt x="42364" y="22222"/>
                    <a:pt x="47625" y="22222"/>
                  </a:cubicBezTo>
                  <a:cubicBezTo>
                    <a:pt x="60322" y="22222"/>
                    <a:pt x="60322" y="41272"/>
                    <a:pt x="47625" y="41272"/>
                  </a:cubicBezTo>
                  <a:cubicBezTo>
                    <a:pt x="42364" y="41272"/>
                    <a:pt x="38100" y="45536"/>
                    <a:pt x="38100" y="50797"/>
                  </a:cubicBezTo>
                  <a:cubicBezTo>
                    <a:pt x="38100" y="63494"/>
                    <a:pt x="19050" y="63494"/>
                    <a:pt x="19050" y="50797"/>
                  </a:cubicBezTo>
                  <a:cubicBezTo>
                    <a:pt x="19050" y="45536"/>
                    <a:pt x="14786" y="41272"/>
                    <a:pt x="9525" y="41272"/>
                  </a:cubicBezTo>
                </a:path>
              </a:pathLst>
            </a:custGeom>
            <a:solidFill>
              <a:srgbClr val="0074CC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062990" y="3348990"/>
            <a:ext cx="29375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结果：管理决策周期缩短</a:t>
            </a:r>
          </a:p>
        </p:txBody>
      </p:sp>
      <p:sp>
        <p:nvSpPr>
          <p:cNvPr id="23" name="Freeform 23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61035" y="5656898"/>
            <a:ext cx="39085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语义匹配图表：process_flow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18813" y="1868805"/>
            <a:ext cx="2154374" cy="2255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10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Line 5"/>
          <p:cNvSpPr/>
          <p:nvPr/>
        </p:nvSpPr>
        <p:spPr>
          <a:xfrm>
            <a:off x="39814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6" name="Line 6"/>
          <p:cNvSpPr/>
          <p:nvPr/>
        </p:nvSpPr>
        <p:spPr>
          <a:xfrm>
            <a:off x="5505450" y="36385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7" name="Line 7"/>
          <p:cNvSpPr/>
          <p:nvPr/>
        </p:nvSpPr>
        <p:spPr>
          <a:xfrm>
            <a:off x="6686550" y="3638550"/>
            <a:ext cx="1524000" cy="9525"/>
          </a:xfrm>
          <a:custGeom>
            <a:avLst/>
            <a:gdLst/>
            <a:ahLst/>
            <a:cxnLst/>
            <a:rect l="l" t="t" r="r" b="b"/>
            <a:pathLst>
              <a:path w="1524000" h="9525">
                <a:moveTo>
                  <a:pt x="0" y="0"/>
                </a:moveTo>
                <a:lnTo>
                  <a:pt x="1524000" y="0"/>
                </a:lnTo>
              </a:path>
            </a:pathLst>
          </a:custGeom>
          <a:noFill/>
          <a:ln w="38100">
            <a:solidFill>
              <a:srgbClr val="0074CC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419225" y="4095750"/>
            <a:ext cx="935355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规模化推广与治理保障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三阶段路线图与里程碑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053503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按试点固化、区域复制、集团推广三阶段推进，每阶段设里程碑、责任人和量化目标。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4953000" cy="4457700"/>
          </a:xfrm>
          <a:custGeom>
            <a:avLst/>
            <a:gdLst/>
            <a:ahLst/>
            <a:cxnLst/>
            <a:rect l="l" t="t" r="r" b="b"/>
            <a:pathLst>
              <a:path w="4953000" h="4457700">
                <a:moveTo>
                  <a:pt x="114300" y="0"/>
                </a:moveTo>
                <a:lnTo>
                  <a:pt x="4838700" y="0"/>
                </a:lnTo>
                <a:cubicBezTo>
                  <a:pt x="4901826" y="0"/>
                  <a:pt x="4953000" y="51174"/>
                  <a:pt x="4953000" y="114300"/>
                </a:cubicBezTo>
                <a:lnTo>
                  <a:pt x="4953000" y="4343400"/>
                </a:lnTo>
                <a:cubicBezTo>
                  <a:pt x="4953000" y="4406526"/>
                  <a:pt x="4901826" y="4457700"/>
                  <a:pt x="483870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955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81050" y="21674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95250" y="42367"/>
                </a:moveTo>
                <a:cubicBezTo>
                  <a:pt x="90421" y="42367"/>
                  <a:pt x="86357" y="45981"/>
                  <a:pt x="85792" y="50777"/>
                </a:cubicBezTo>
                <a:lnTo>
                  <a:pt x="85725" y="51892"/>
                </a:lnTo>
                <a:lnTo>
                  <a:pt x="85725" y="99517"/>
                </a:lnTo>
                <a:lnTo>
                  <a:pt x="85811" y="100764"/>
                </a:lnTo>
                <a:cubicBezTo>
                  <a:pt x="86028" y="102417"/>
                  <a:pt x="86675" y="103984"/>
                  <a:pt x="87687" y="105308"/>
                </a:cubicBezTo>
                <a:lnTo>
                  <a:pt x="88516" y="106260"/>
                </a:lnTo>
                <a:lnTo>
                  <a:pt x="117091" y="134835"/>
                </a:lnTo>
                <a:lnTo>
                  <a:pt x="117986" y="135616"/>
                </a:lnTo>
                <a:cubicBezTo>
                  <a:pt x="121422" y="138282"/>
                  <a:pt x="126228" y="138282"/>
                  <a:pt x="129664" y="135616"/>
                </a:cubicBezTo>
                <a:lnTo>
                  <a:pt x="130559" y="134826"/>
                </a:lnTo>
                <a:lnTo>
                  <a:pt x="131350" y="133930"/>
                </a:lnTo>
                <a:cubicBezTo>
                  <a:pt x="134016" y="130494"/>
                  <a:pt x="134016" y="125689"/>
                  <a:pt x="131350" y="122253"/>
                </a:cubicBezTo>
                <a:lnTo>
                  <a:pt x="130559" y="121357"/>
                </a:lnTo>
                <a:lnTo>
                  <a:pt x="104775" y="95564"/>
                </a:lnTo>
                <a:lnTo>
                  <a:pt x="104775" y="51892"/>
                </a:lnTo>
                <a:lnTo>
                  <a:pt x="104708" y="50777"/>
                </a:lnTo>
                <a:cubicBezTo>
                  <a:pt x="104143" y="45981"/>
                  <a:pt x="100079" y="42367"/>
                  <a:pt x="95250" y="42367"/>
                </a:cubicBez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62990" y="2129790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路线图：2026Q2 试点固化</a:t>
            </a:r>
          </a:p>
        </p:txBody>
      </p:sp>
      <p:sp>
        <p:nvSpPr>
          <p:cNvPr id="11" name="Freeform 11"/>
          <p:cNvSpPr/>
          <p:nvPr/>
        </p:nvSpPr>
        <p:spPr>
          <a:xfrm>
            <a:off x="666750" y="27051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81050" y="2777033"/>
            <a:ext cx="200311" cy="200639"/>
          </a:xfrm>
          <a:custGeom>
            <a:avLst/>
            <a:gdLst/>
            <a:ahLst/>
            <a:cxnLst/>
            <a:rect l="l" t="t" r="r" b="b"/>
            <a:pathLst>
              <a:path w="200311" h="200639">
                <a:moveTo>
                  <a:pt x="142875" y="17030"/>
                </a:moveTo>
                <a:cubicBezTo>
                  <a:pt x="182569" y="39949"/>
                  <a:pt x="200311" y="87890"/>
                  <a:pt x="185099" y="131128"/>
                </a:cubicBezTo>
                <a:cubicBezTo>
                  <a:pt x="169888" y="174367"/>
                  <a:pt x="126037" y="200639"/>
                  <a:pt x="80736" y="193656"/>
                </a:cubicBezTo>
                <a:cubicBezTo>
                  <a:pt x="35435" y="186673"/>
                  <a:pt x="1532" y="148415"/>
                  <a:pt x="48" y="102603"/>
                </a:cubicBezTo>
                <a:lnTo>
                  <a:pt x="0" y="99517"/>
                </a:lnTo>
                <a:lnTo>
                  <a:pt x="48" y="96431"/>
                </a:lnTo>
                <a:cubicBezTo>
                  <a:pt x="1133" y="62969"/>
                  <a:pt x="19706" y="32534"/>
                  <a:pt x="48967" y="16267"/>
                </a:cubicBezTo>
                <a:cubicBezTo>
                  <a:pt x="78228" y="0"/>
                  <a:pt x="113882" y="290"/>
                  <a:pt x="142875" y="17030"/>
                </a:cubicBezTo>
                <a:close/>
                <a:moveTo>
                  <a:pt x="132864" y="82219"/>
                </a:moveTo>
                <a:cubicBezTo>
                  <a:pt x="131337" y="77636"/>
                  <a:pt x="126621" y="74922"/>
                  <a:pt x="121891" y="75904"/>
                </a:cubicBezTo>
                <a:lnTo>
                  <a:pt x="120815" y="76190"/>
                </a:lnTo>
                <a:lnTo>
                  <a:pt x="95250" y="84715"/>
                </a:lnTo>
                <a:lnTo>
                  <a:pt x="69685" y="76190"/>
                </a:lnTo>
                <a:lnTo>
                  <a:pt x="68609" y="75904"/>
                </a:lnTo>
                <a:cubicBezTo>
                  <a:pt x="63884" y="74932"/>
                  <a:pt x="59178" y="77645"/>
                  <a:pt x="57652" y="82222"/>
                </a:cubicBezTo>
                <a:cubicBezTo>
                  <a:pt x="56127" y="86798"/>
                  <a:pt x="58263" y="91792"/>
                  <a:pt x="62627" y="93849"/>
                </a:cubicBezTo>
                <a:lnTo>
                  <a:pt x="63665" y="94268"/>
                </a:lnTo>
                <a:lnTo>
                  <a:pt x="85725" y="101612"/>
                </a:lnTo>
                <a:lnTo>
                  <a:pt x="85725" y="110909"/>
                </a:lnTo>
                <a:lnTo>
                  <a:pt x="68275" y="137102"/>
                </a:lnTo>
                <a:lnTo>
                  <a:pt x="67704" y="138055"/>
                </a:lnTo>
                <a:cubicBezTo>
                  <a:pt x="65716" y="141959"/>
                  <a:pt x="66648" y="146714"/>
                  <a:pt x="69961" y="149580"/>
                </a:cubicBezTo>
                <a:lnTo>
                  <a:pt x="70914" y="150304"/>
                </a:lnTo>
                <a:lnTo>
                  <a:pt x="71876" y="150875"/>
                </a:lnTo>
                <a:cubicBezTo>
                  <a:pt x="75779" y="152863"/>
                  <a:pt x="80535" y="151931"/>
                  <a:pt x="83401" y="148618"/>
                </a:cubicBezTo>
                <a:lnTo>
                  <a:pt x="84125" y="147665"/>
                </a:lnTo>
                <a:lnTo>
                  <a:pt x="95250" y="130978"/>
                </a:lnTo>
                <a:lnTo>
                  <a:pt x="106375" y="147665"/>
                </a:lnTo>
                <a:lnTo>
                  <a:pt x="107042" y="148551"/>
                </a:lnTo>
                <a:cubicBezTo>
                  <a:pt x="110170" y="152239"/>
                  <a:pt x="115565" y="152997"/>
                  <a:pt x="119589" y="150314"/>
                </a:cubicBezTo>
                <a:cubicBezTo>
                  <a:pt x="123612" y="147632"/>
                  <a:pt x="124987" y="142361"/>
                  <a:pt x="122787" y="138055"/>
                </a:cubicBezTo>
                <a:lnTo>
                  <a:pt x="122225" y="137102"/>
                </a:lnTo>
                <a:lnTo>
                  <a:pt x="104775" y="110909"/>
                </a:lnTo>
                <a:lnTo>
                  <a:pt x="104775" y="101603"/>
                </a:lnTo>
                <a:lnTo>
                  <a:pt x="126835" y="94259"/>
                </a:lnTo>
                <a:lnTo>
                  <a:pt x="127873" y="93840"/>
                </a:lnTo>
                <a:cubicBezTo>
                  <a:pt x="132244" y="91788"/>
                  <a:pt x="134389" y="86791"/>
                  <a:pt x="132864" y="82210"/>
                </a:cubicBezTo>
                <a:close/>
                <a:moveTo>
                  <a:pt x="95250" y="42367"/>
                </a:moveTo>
                <a:cubicBezTo>
                  <a:pt x="90146" y="42367"/>
                  <a:pt x="85429" y="45090"/>
                  <a:pt x="82877" y="49510"/>
                </a:cubicBezTo>
                <a:cubicBezTo>
                  <a:pt x="80324" y="53931"/>
                  <a:pt x="80324" y="59377"/>
                  <a:pt x="82877" y="63798"/>
                </a:cubicBezTo>
                <a:cubicBezTo>
                  <a:pt x="85429" y="68218"/>
                  <a:pt x="90146" y="70942"/>
                  <a:pt x="95250" y="70942"/>
                </a:cubicBezTo>
                <a:cubicBezTo>
                  <a:pt x="103141" y="70942"/>
                  <a:pt x="109538" y="64545"/>
                  <a:pt x="109538" y="56654"/>
                </a:cubicBezTo>
                <a:cubicBezTo>
                  <a:pt x="109538" y="48763"/>
                  <a:pt x="103141" y="42367"/>
                  <a:pt x="95250" y="42367"/>
                </a:cubicBezTo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62990" y="2739390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路线图：2026Q3 区域复制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" y="3314700"/>
            <a:ext cx="4953000" cy="419100"/>
          </a:xfrm>
          <a:custGeom>
            <a:avLst/>
            <a:gdLst/>
            <a:ahLst/>
            <a:cxnLst/>
            <a:rect l="l" t="t" r="r" b="b"/>
            <a:pathLst>
              <a:path w="4953000" h="4191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342900"/>
                </a:lnTo>
                <a:cubicBezTo>
                  <a:pt x="4953000" y="384984"/>
                  <a:pt x="4918884" y="419100"/>
                  <a:pt x="48768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781050" y="34099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61925" y="0"/>
                </a:moveTo>
                <a:lnTo>
                  <a:pt x="28575" y="0"/>
                </a:lnTo>
                <a:cubicBezTo>
                  <a:pt x="12793" y="0"/>
                  <a:pt x="0" y="12793"/>
                  <a:pt x="0" y="28575"/>
                </a:cubicBezTo>
                <a:lnTo>
                  <a:pt x="0" y="123825"/>
                </a:lnTo>
                <a:cubicBezTo>
                  <a:pt x="0" y="139607"/>
                  <a:pt x="12793" y="152400"/>
                  <a:pt x="28575" y="152400"/>
                </a:cubicBezTo>
                <a:lnTo>
                  <a:pt x="161925" y="152400"/>
                </a:lnTo>
                <a:cubicBezTo>
                  <a:pt x="177707" y="152400"/>
                  <a:pt x="190500" y="139607"/>
                  <a:pt x="190500" y="123825"/>
                </a:cubicBezTo>
                <a:lnTo>
                  <a:pt x="190500" y="28575"/>
                </a:lnTo>
                <a:cubicBezTo>
                  <a:pt x="190500" y="12793"/>
                  <a:pt x="177707" y="0"/>
                  <a:pt x="161925" y="0"/>
                </a:cubicBezTo>
                <a:close/>
                <a:moveTo>
                  <a:pt x="66675" y="38100"/>
                </a:moveTo>
                <a:cubicBezTo>
                  <a:pt x="81806" y="38099"/>
                  <a:pt x="94315" y="49894"/>
                  <a:pt x="95202" y="64999"/>
                </a:cubicBezTo>
                <a:lnTo>
                  <a:pt x="95250" y="66675"/>
                </a:lnTo>
                <a:lnTo>
                  <a:pt x="95250" y="104775"/>
                </a:lnTo>
                <a:cubicBezTo>
                  <a:pt x="95244" y="109815"/>
                  <a:pt x="91314" y="113978"/>
                  <a:pt x="86283" y="114273"/>
                </a:cubicBezTo>
                <a:cubicBezTo>
                  <a:pt x="81252" y="114568"/>
                  <a:pt x="76862" y="110894"/>
                  <a:pt x="76267" y="105889"/>
                </a:cubicBezTo>
                <a:lnTo>
                  <a:pt x="76200" y="104775"/>
                </a:lnTo>
                <a:lnTo>
                  <a:pt x="76200" y="95250"/>
                </a:lnTo>
                <a:lnTo>
                  <a:pt x="57150" y="95250"/>
                </a:lnTo>
                <a:lnTo>
                  <a:pt x="57150" y="104775"/>
                </a:lnTo>
                <a:cubicBezTo>
                  <a:pt x="57144" y="109815"/>
                  <a:pt x="53214" y="113978"/>
                  <a:pt x="48183" y="114273"/>
                </a:cubicBezTo>
                <a:cubicBezTo>
                  <a:pt x="43152" y="114568"/>
                  <a:pt x="38762" y="110894"/>
                  <a:pt x="38167" y="105889"/>
                </a:cubicBezTo>
                <a:lnTo>
                  <a:pt x="38100" y="104775"/>
                </a:lnTo>
                <a:lnTo>
                  <a:pt x="38100" y="66675"/>
                </a:lnTo>
                <a:cubicBezTo>
                  <a:pt x="38100" y="50893"/>
                  <a:pt x="50893" y="38100"/>
                  <a:pt x="66675" y="38100"/>
                </a:cubicBezTo>
                <a:close/>
                <a:moveTo>
                  <a:pt x="66675" y="57150"/>
                </a:moveTo>
                <a:cubicBezTo>
                  <a:pt x="61846" y="57151"/>
                  <a:pt x="57782" y="60765"/>
                  <a:pt x="57217" y="65561"/>
                </a:cubicBezTo>
                <a:lnTo>
                  <a:pt x="57150" y="66675"/>
                </a:lnTo>
                <a:lnTo>
                  <a:pt x="57150" y="76200"/>
                </a:lnTo>
                <a:lnTo>
                  <a:pt x="76200" y="76200"/>
                </a:lnTo>
                <a:lnTo>
                  <a:pt x="76200" y="66675"/>
                </a:lnTo>
                <a:cubicBezTo>
                  <a:pt x="76200" y="61414"/>
                  <a:pt x="71936" y="57150"/>
                  <a:pt x="66675" y="57150"/>
                </a:cubicBezTo>
                <a:close/>
                <a:moveTo>
                  <a:pt x="142875" y="38100"/>
                </a:moveTo>
                <a:cubicBezTo>
                  <a:pt x="147704" y="38101"/>
                  <a:pt x="151768" y="41715"/>
                  <a:pt x="152333" y="46511"/>
                </a:cubicBezTo>
                <a:lnTo>
                  <a:pt x="152400" y="47625"/>
                </a:lnTo>
                <a:lnTo>
                  <a:pt x="152400" y="104775"/>
                </a:lnTo>
                <a:cubicBezTo>
                  <a:pt x="152399" y="109604"/>
                  <a:pt x="148785" y="113668"/>
                  <a:pt x="143989" y="114233"/>
                </a:cubicBezTo>
                <a:lnTo>
                  <a:pt x="142875" y="114300"/>
                </a:lnTo>
                <a:lnTo>
                  <a:pt x="128588" y="114300"/>
                </a:lnTo>
                <a:cubicBezTo>
                  <a:pt x="119714" y="114291"/>
                  <a:pt x="111582" y="109348"/>
                  <a:pt x="107487" y="101476"/>
                </a:cubicBezTo>
                <a:cubicBezTo>
                  <a:pt x="103393" y="93604"/>
                  <a:pt x="104014" y="84109"/>
                  <a:pt x="109101" y="76838"/>
                </a:cubicBezTo>
                <a:cubicBezTo>
                  <a:pt x="114187" y="69567"/>
                  <a:pt x="122894" y="65727"/>
                  <a:pt x="131693" y="66875"/>
                </a:cubicBezTo>
                <a:lnTo>
                  <a:pt x="133350" y="67151"/>
                </a:lnTo>
                <a:lnTo>
                  <a:pt x="133350" y="47625"/>
                </a:lnTo>
                <a:cubicBezTo>
                  <a:pt x="133351" y="42796"/>
                  <a:pt x="136965" y="38732"/>
                  <a:pt x="141761" y="38167"/>
                </a:cubicBezTo>
                <a:lnTo>
                  <a:pt x="142875" y="38100"/>
                </a:lnTo>
                <a:close/>
                <a:moveTo>
                  <a:pt x="129445" y="85801"/>
                </a:moveTo>
                <a:lnTo>
                  <a:pt x="128588" y="85725"/>
                </a:lnTo>
                <a:cubicBezTo>
                  <a:pt x="126121" y="85720"/>
                  <a:pt x="124059" y="87600"/>
                  <a:pt x="123836" y="90057"/>
                </a:cubicBezTo>
                <a:cubicBezTo>
                  <a:pt x="123613" y="92514"/>
                  <a:pt x="125303" y="94734"/>
                  <a:pt x="127730" y="95174"/>
                </a:cubicBezTo>
                <a:lnTo>
                  <a:pt x="128588" y="95250"/>
                </a:lnTo>
                <a:lnTo>
                  <a:pt x="133350" y="95250"/>
                </a:lnTo>
                <a:lnTo>
                  <a:pt x="133350" y="90488"/>
                </a:lnTo>
                <a:lnTo>
                  <a:pt x="133274" y="89630"/>
                </a:lnTo>
                <a:cubicBezTo>
                  <a:pt x="132972" y="87977"/>
                  <a:pt x="131821" y="86605"/>
                  <a:pt x="130245" y="86020"/>
                </a:cubicBezTo>
                <a:lnTo>
                  <a:pt x="129445" y="85801"/>
                </a:lnTo>
                <a:close/>
              </a:path>
            </a:pathLst>
          </a:cu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2990" y="3348990"/>
            <a:ext cx="31478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路线图：2026Q4 集团推广</a:t>
            </a:r>
          </a:p>
        </p:txBody>
      </p:sp>
      <p:sp>
        <p:nvSpPr>
          <p:cNvPr id="17" name="Freeform 17"/>
          <p:cNvSpPr/>
          <p:nvPr/>
        </p:nvSpPr>
        <p:spPr>
          <a:xfrm>
            <a:off x="5619750" y="1752600"/>
            <a:ext cx="6038850" cy="4457700"/>
          </a:xfrm>
          <a:custGeom>
            <a:avLst/>
            <a:gdLst/>
            <a:ahLst/>
            <a:cxnLst/>
            <a:rect l="l" t="t" r="r" b="b"/>
            <a:pathLst>
              <a:path w="6038850" h="4457700">
                <a:moveTo>
                  <a:pt x="114300" y="0"/>
                </a:moveTo>
                <a:lnTo>
                  <a:pt x="5924550" y="0"/>
                </a:lnTo>
                <a:cubicBezTo>
                  <a:pt x="5987676" y="0"/>
                  <a:pt x="6038850" y="51174"/>
                  <a:pt x="6038850" y="114300"/>
                </a:cubicBezTo>
                <a:lnTo>
                  <a:pt x="6038850" y="4343400"/>
                </a:lnTo>
                <a:cubicBezTo>
                  <a:pt x="6038850" y="4406526"/>
                  <a:pt x="5987676" y="4457700"/>
                  <a:pt x="5924550" y="4457700"/>
                </a:cubicBezTo>
                <a:lnTo>
                  <a:pt x="114300" y="4457700"/>
                </a:lnTo>
                <a:cubicBezTo>
                  <a:pt x="51174" y="4457700"/>
                  <a:pt x="0" y="4406526"/>
                  <a:pt x="0" y="43434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61035" y="5656898"/>
            <a:ext cx="376613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语义匹配图表：gantt_chart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46710" y="489585"/>
            <a:ext cx="379504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治理机制与风险控制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8140" y="1120140"/>
            <a:ext cx="102589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建立组织治理、数据治理、模型治理和运营治理四道防线，确保平台长期稳定运行。</a:t>
            </a:r>
          </a:p>
        </p:txBody>
      </p:sp>
      <p:sp>
        <p:nvSpPr>
          <p:cNvPr id="6" name="Freeform 6"/>
          <p:cNvSpPr/>
          <p:nvPr/>
        </p:nvSpPr>
        <p:spPr>
          <a:xfrm>
            <a:off x="400050" y="1562100"/>
            <a:ext cx="11391900" cy="4762500"/>
          </a:xfrm>
          <a:custGeom>
            <a:avLst/>
            <a:gdLst/>
            <a:ahLst/>
            <a:cxnLst/>
            <a:rect l="l" t="t" r="r" b="b"/>
            <a:pathLst>
              <a:path w="11391900" h="4762500">
                <a:moveTo>
                  <a:pt x="171450" y="0"/>
                </a:moveTo>
                <a:lnTo>
                  <a:pt x="11220450" y="0"/>
                </a:lnTo>
                <a:cubicBezTo>
                  <a:pt x="11315139" y="0"/>
                  <a:pt x="11391900" y="76761"/>
                  <a:pt x="11391900" y="171450"/>
                </a:cubicBezTo>
                <a:lnTo>
                  <a:pt x="11391900" y="4591050"/>
                </a:lnTo>
                <a:cubicBezTo>
                  <a:pt x="11391900" y="4685739"/>
                  <a:pt x="11315139" y="4762500"/>
                  <a:pt x="11220450" y="4762500"/>
                </a:cubicBezTo>
                <a:lnTo>
                  <a:pt x="171450" y="4762500"/>
                </a:lnTo>
                <a:cubicBezTo>
                  <a:pt x="76761" y="4762500"/>
                  <a:pt x="0" y="4685739"/>
                  <a:pt x="0" y="45910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33400" y="1752600"/>
            <a:ext cx="5162550" cy="2781300"/>
          </a:xfrm>
          <a:custGeom>
            <a:avLst/>
            <a:gdLst/>
            <a:ahLst/>
            <a:cxnLst/>
            <a:rect l="l" t="t" r="r" b="b"/>
            <a:pathLst>
              <a:path w="5162550" h="2781300">
                <a:moveTo>
                  <a:pt x="114300" y="0"/>
                </a:moveTo>
                <a:lnTo>
                  <a:pt x="5048250" y="0"/>
                </a:lnTo>
                <a:cubicBezTo>
                  <a:pt x="5111376" y="0"/>
                  <a:pt x="5162550" y="51174"/>
                  <a:pt x="5162550" y="114300"/>
                </a:cubicBezTo>
                <a:lnTo>
                  <a:pt x="5162550" y="2667000"/>
                </a:lnTo>
                <a:cubicBezTo>
                  <a:pt x="5162550" y="2730126"/>
                  <a:pt x="5111376" y="2781300"/>
                  <a:pt x="50482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752600"/>
            <a:ext cx="5772150" cy="2781300"/>
          </a:xfrm>
          <a:custGeom>
            <a:avLst/>
            <a:gdLst/>
            <a:ahLst/>
            <a:cxnLst/>
            <a:rect l="l" t="t" r="r" b="b"/>
            <a:pathLst>
              <a:path w="5772150" h="2781300">
                <a:moveTo>
                  <a:pt x="114300" y="0"/>
                </a:moveTo>
                <a:lnTo>
                  <a:pt x="5657850" y="0"/>
                </a:lnTo>
                <a:cubicBezTo>
                  <a:pt x="5720976" y="0"/>
                  <a:pt x="5772150" y="51174"/>
                  <a:pt x="5772150" y="114300"/>
                </a:cubicBezTo>
                <a:lnTo>
                  <a:pt x="5772150" y="2667000"/>
                </a:lnTo>
                <a:cubicBezTo>
                  <a:pt x="5772150" y="2730126"/>
                  <a:pt x="5720976" y="2781300"/>
                  <a:pt x="5657850" y="2781300"/>
                </a:cubicBezTo>
                <a:lnTo>
                  <a:pt x="114300" y="2781300"/>
                </a:lnTo>
                <a:cubicBezTo>
                  <a:pt x="51174" y="2781300"/>
                  <a:pt x="0" y="2730126"/>
                  <a:pt x="0" y="26670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BFF"/>
          </a:solidFill>
          <a:ln w="9525">
            <a:solidFill>
              <a:srgbClr val="D7E4F2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132243" y="2060575"/>
            <a:ext cx="232303" cy="222369"/>
          </a:xfrm>
          <a:custGeom>
            <a:avLst/>
            <a:gdLst/>
            <a:ahLst/>
            <a:cxnLst/>
            <a:rect l="l" t="t" r="r" b="b"/>
            <a:pathLst>
              <a:path w="232303" h="222369">
                <a:moveTo>
                  <a:pt x="114868" y="78"/>
                </a:moveTo>
                <a:lnTo>
                  <a:pt x="116134" y="0"/>
                </a:lnTo>
                <a:lnTo>
                  <a:pt x="117446" y="78"/>
                </a:lnTo>
                <a:lnTo>
                  <a:pt x="118101" y="167"/>
                </a:lnTo>
                <a:lnTo>
                  <a:pt x="118779" y="311"/>
                </a:lnTo>
                <a:lnTo>
                  <a:pt x="120013" y="689"/>
                </a:lnTo>
                <a:cubicBezTo>
                  <a:pt x="120865" y="1003"/>
                  <a:pt x="121675" y="1421"/>
                  <a:pt x="122424" y="1934"/>
                </a:cubicBezTo>
                <a:lnTo>
                  <a:pt x="123580" y="2845"/>
                </a:lnTo>
                <a:lnTo>
                  <a:pt x="126414" y="5267"/>
                </a:lnTo>
                <a:cubicBezTo>
                  <a:pt x="148831" y="23887"/>
                  <a:pt x="177163" y="33885"/>
                  <a:pt x="206301" y="33460"/>
                </a:cubicBezTo>
                <a:lnTo>
                  <a:pt x="210102" y="33349"/>
                </a:lnTo>
                <a:cubicBezTo>
                  <a:pt x="215215" y="33115"/>
                  <a:pt x="219827" y="36405"/>
                  <a:pt x="221270" y="41316"/>
                </a:cubicBezTo>
                <a:cubicBezTo>
                  <a:pt x="232303" y="78846"/>
                  <a:pt x="227644" y="119246"/>
                  <a:pt x="208359" y="153280"/>
                </a:cubicBezTo>
                <a:cubicBezTo>
                  <a:pt x="189074" y="187314"/>
                  <a:pt x="156811" y="212072"/>
                  <a:pt x="118946" y="221894"/>
                </a:cubicBezTo>
                <a:cubicBezTo>
                  <a:pt x="117117" y="222369"/>
                  <a:pt x="115197" y="222369"/>
                  <a:pt x="113367" y="221894"/>
                </a:cubicBezTo>
                <a:cubicBezTo>
                  <a:pt x="75501" y="212074"/>
                  <a:pt x="43235" y="187317"/>
                  <a:pt x="23948" y="153283"/>
                </a:cubicBezTo>
                <a:cubicBezTo>
                  <a:pt x="4660" y="119249"/>
                  <a:pt x="0" y="78848"/>
                  <a:pt x="11032" y="41316"/>
                </a:cubicBezTo>
                <a:cubicBezTo>
                  <a:pt x="12476" y="36405"/>
                  <a:pt x="17087" y="33115"/>
                  <a:pt x="22200" y="33349"/>
                </a:cubicBezTo>
                <a:cubicBezTo>
                  <a:pt x="52621" y="34739"/>
                  <a:pt x="82464" y="24725"/>
                  <a:pt x="105889" y="5267"/>
                </a:cubicBezTo>
                <a:lnTo>
                  <a:pt x="108811" y="2767"/>
                </a:lnTo>
                <a:lnTo>
                  <a:pt x="109878" y="1934"/>
                </a:lnTo>
                <a:cubicBezTo>
                  <a:pt x="110628" y="1421"/>
                  <a:pt x="111438" y="1003"/>
                  <a:pt x="112290" y="689"/>
                </a:cubicBezTo>
                <a:lnTo>
                  <a:pt x="113534" y="311"/>
                </a:lnTo>
                <a:cubicBezTo>
                  <a:pt x="113970" y="206"/>
                  <a:pt x="114411" y="128"/>
                  <a:pt x="114857" y="78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446520" y="1988820"/>
            <a:ext cx="44775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安全：数据分级与权限闭环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48387" y="2689225"/>
            <a:ext cx="200026" cy="222250"/>
            <a:chOff x="6148387" y="2689225"/>
            <a:chExt cx="200026" cy="222250"/>
          </a:xfrm>
        </p:grpSpPr>
        <p:sp>
          <p:nvSpPr>
            <p:cNvPr id="11" name="Freeform 11"/>
            <p:cNvSpPr/>
            <p:nvPr/>
          </p:nvSpPr>
          <p:spPr>
            <a:xfrm>
              <a:off x="6148388" y="2841811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162"/>
                    <a:pt x="156742" y="68953"/>
                    <a:pt x="103424" y="69642"/>
                  </a:cubicBezTo>
                  <a:lnTo>
                    <a:pt x="100012" y="69664"/>
                  </a:lnTo>
                  <a:cubicBezTo>
                    <a:pt x="45139" y="69664"/>
                    <a:pt x="0" y="52740"/>
                    <a:pt x="0" y="25214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148388" y="2775136"/>
              <a:ext cx="200025" cy="69664"/>
            </a:xfrm>
            <a:custGeom>
              <a:avLst/>
              <a:gdLst/>
              <a:ahLst/>
              <a:cxnLst/>
              <a:rect l="l" t="t" r="r" b="b"/>
              <a:pathLst>
                <a:path w="200025" h="69664">
                  <a:moveTo>
                    <a:pt x="0" y="0"/>
                  </a:moveTo>
                  <a:cubicBezTo>
                    <a:pt x="21869" y="16747"/>
                    <a:pt x="58163" y="25214"/>
                    <a:pt x="100012" y="25214"/>
                  </a:cubicBezTo>
                  <a:cubicBezTo>
                    <a:pt x="141795" y="25214"/>
                    <a:pt x="178078" y="16769"/>
                    <a:pt x="200025" y="189"/>
                  </a:cubicBezTo>
                  <a:lnTo>
                    <a:pt x="200025" y="25214"/>
                  </a:lnTo>
                  <a:cubicBezTo>
                    <a:pt x="200025" y="52740"/>
                    <a:pt x="154886" y="69664"/>
                    <a:pt x="100012" y="69664"/>
                  </a:cubicBezTo>
                  <a:cubicBezTo>
                    <a:pt x="46695" y="69664"/>
                    <a:pt x="2556" y="53684"/>
                    <a:pt x="233" y="27492"/>
                  </a:cubicBezTo>
                  <a:lnTo>
                    <a:pt x="56" y="26370"/>
                  </a:lnTo>
                  <a:lnTo>
                    <a:pt x="0" y="25214"/>
                  </a:ln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148387" y="2689225"/>
              <a:ext cx="200026" cy="88900"/>
            </a:xfrm>
            <a:custGeom>
              <a:avLst/>
              <a:gdLst/>
              <a:ahLst/>
              <a:cxnLst/>
              <a:rect l="l" t="t" r="r" b="b"/>
              <a:pathLst>
                <a:path w="200026" h="88900">
                  <a:moveTo>
                    <a:pt x="100013" y="0"/>
                  </a:moveTo>
                  <a:cubicBezTo>
                    <a:pt x="111581" y="0"/>
                    <a:pt x="122727" y="756"/>
                    <a:pt x="133095" y="2200"/>
                  </a:cubicBezTo>
                  <a:lnTo>
                    <a:pt x="138307" y="2989"/>
                  </a:lnTo>
                  <a:cubicBezTo>
                    <a:pt x="144530" y="4026"/>
                    <a:pt x="150405" y="5315"/>
                    <a:pt x="155931" y="6856"/>
                  </a:cubicBezTo>
                  <a:lnTo>
                    <a:pt x="160821" y="8312"/>
                  </a:lnTo>
                  <a:lnTo>
                    <a:pt x="161654" y="8579"/>
                  </a:lnTo>
                  <a:cubicBezTo>
                    <a:pt x="164679" y="9573"/>
                    <a:pt x="167663" y="10685"/>
                    <a:pt x="170600" y="11913"/>
                  </a:cubicBezTo>
                  <a:lnTo>
                    <a:pt x="172811" y="12868"/>
                  </a:lnTo>
                  <a:cubicBezTo>
                    <a:pt x="176775" y="14661"/>
                    <a:pt x="180357" y="16624"/>
                    <a:pt x="183557" y="18758"/>
                  </a:cubicBezTo>
                  <a:cubicBezTo>
                    <a:pt x="184780" y="19573"/>
                    <a:pt x="185939" y="20406"/>
                    <a:pt x="187035" y="21258"/>
                  </a:cubicBezTo>
                  <a:cubicBezTo>
                    <a:pt x="189813" y="23413"/>
                    <a:pt x="192310" y="25907"/>
                    <a:pt x="194470" y="28681"/>
                  </a:cubicBezTo>
                  <a:lnTo>
                    <a:pt x="195481" y="30104"/>
                  </a:lnTo>
                  <a:cubicBezTo>
                    <a:pt x="195999" y="30882"/>
                    <a:pt x="196477" y="31663"/>
                    <a:pt x="196914" y="32449"/>
                  </a:cubicBezTo>
                  <a:lnTo>
                    <a:pt x="197692" y="33993"/>
                  </a:lnTo>
                  <a:cubicBezTo>
                    <a:pt x="198900" y="36586"/>
                    <a:pt x="199641" y="39290"/>
                    <a:pt x="199915" y="42105"/>
                  </a:cubicBezTo>
                  <a:lnTo>
                    <a:pt x="200026" y="44450"/>
                  </a:lnTo>
                  <a:cubicBezTo>
                    <a:pt x="200026" y="71976"/>
                    <a:pt x="154887" y="88900"/>
                    <a:pt x="100013" y="88900"/>
                  </a:cubicBezTo>
                  <a:cubicBezTo>
                    <a:pt x="46696" y="88900"/>
                    <a:pt x="2557" y="72920"/>
                    <a:pt x="234" y="46728"/>
                  </a:cubicBezTo>
                  <a:cubicBezTo>
                    <a:pt x="78" y="45979"/>
                    <a:pt x="0" y="45215"/>
                    <a:pt x="1" y="44450"/>
                  </a:cubicBezTo>
                  <a:lnTo>
                    <a:pt x="56" y="43294"/>
                  </a:lnTo>
                  <a:lnTo>
                    <a:pt x="234" y="42183"/>
                  </a:lnTo>
                  <a:cubicBezTo>
                    <a:pt x="2512" y="16558"/>
                    <a:pt x="44795" y="700"/>
                    <a:pt x="96546" y="22"/>
                  </a:cubicBezTo>
                  <a:close/>
                </a:path>
              </a:pathLst>
            </a:custGeom>
            <a:solidFill>
              <a:srgbClr val="2C7BC0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446520" y="2617470"/>
            <a:ext cx="410946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风险：模型输出校验机制</a:t>
            </a:r>
          </a:p>
        </p:txBody>
      </p:sp>
      <p:sp>
        <p:nvSpPr>
          <p:cNvPr id="16" name="Freeform 16"/>
          <p:cNvSpPr/>
          <p:nvPr/>
        </p:nvSpPr>
        <p:spPr>
          <a:xfrm>
            <a:off x="6124588" y="3314208"/>
            <a:ext cx="247495" cy="214760"/>
          </a:xfrm>
          <a:custGeom>
            <a:avLst/>
            <a:gdLst/>
            <a:ahLst/>
            <a:cxnLst/>
            <a:rect l="l" t="t" r="r" b="b"/>
            <a:pathLst>
              <a:path w="247495" h="214760">
                <a:moveTo>
                  <a:pt x="123812" y="0"/>
                </a:moveTo>
                <a:cubicBezTo>
                  <a:pt x="134425" y="0"/>
                  <a:pt x="144315" y="5190"/>
                  <a:pt x="150371" y="13857"/>
                </a:cubicBezTo>
                <a:lnTo>
                  <a:pt x="151538" y="15635"/>
                </a:lnTo>
                <a:lnTo>
                  <a:pt x="241705" y="166187"/>
                </a:lnTo>
                <a:cubicBezTo>
                  <a:pt x="247275" y="175835"/>
                  <a:pt x="247495" y="187668"/>
                  <a:pt x="242288" y="197516"/>
                </a:cubicBezTo>
                <a:cubicBezTo>
                  <a:pt x="237081" y="207363"/>
                  <a:pt x="227177" y="213843"/>
                  <a:pt x="216068" y="214671"/>
                </a:cubicBezTo>
                <a:lnTo>
                  <a:pt x="213901" y="214760"/>
                </a:lnTo>
                <a:lnTo>
                  <a:pt x="33601" y="214760"/>
                </a:lnTo>
                <a:cubicBezTo>
                  <a:pt x="22481" y="214635"/>
                  <a:pt x="12203" y="208813"/>
                  <a:pt x="6379" y="199339"/>
                </a:cubicBezTo>
                <a:cubicBezTo>
                  <a:pt x="555" y="189866"/>
                  <a:pt x="0" y="178066"/>
                  <a:pt x="4908" y="168088"/>
                </a:cubicBezTo>
                <a:lnTo>
                  <a:pt x="6009" y="166032"/>
                </a:lnTo>
                <a:lnTo>
                  <a:pt x="96131" y="15591"/>
                </a:lnTo>
                <a:cubicBezTo>
                  <a:pt x="101999" y="5914"/>
                  <a:pt x="112495" y="2"/>
                  <a:pt x="123812" y="0"/>
                </a:cubicBezTo>
                <a:close/>
                <a:moveTo>
                  <a:pt x="123923" y="148130"/>
                </a:moveTo>
                <a:lnTo>
                  <a:pt x="122512" y="148207"/>
                </a:lnTo>
                <a:cubicBezTo>
                  <a:pt x="116922" y="148872"/>
                  <a:pt x="112712" y="153613"/>
                  <a:pt x="112712" y="159242"/>
                </a:cubicBezTo>
                <a:cubicBezTo>
                  <a:pt x="112712" y="164872"/>
                  <a:pt x="116922" y="169612"/>
                  <a:pt x="122512" y="170277"/>
                </a:cubicBezTo>
                <a:lnTo>
                  <a:pt x="123812" y="170355"/>
                </a:lnTo>
                <a:lnTo>
                  <a:pt x="125223" y="170277"/>
                </a:lnTo>
                <a:cubicBezTo>
                  <a:pt x="130814" y="169612"/>
                  <a:pt x="135023" y="164872"/>
                  <a:pt x="135023" y="159242"/>
                </a:cubicBezTo>
                <a:cubicBezTo>
                  <a:pt x="135023" y="153613"/>
                  <a:pt x="130814" y="148872"/>
                  <a:pt x="125223" y="148207"/>
                </a:cubicBezTo>
                <a:lnTo>
                  <a:pt x="123923" y="148130"/>
                </a:lnTo>
                <a:close/>
                <a:moveTo>
                  <a:pt x="123812" y="70342"/>
                </a:moveTo>
                <a:cubicBezTo>
                  <a:pt x="118178" y="70343"/>
                  <a:pt x="113437" y="74559"/>
                  <a:pt x="112777" y="80154"/>
                </a:cubicBezTo>
                <a:lnTo>
                  <a:pt x="112700" y="81455"/>
                </a:lnTo>
                <a:lnTo>
                  <a:pt x="112700" y="125905"/>
                </a:lnTo>
                <a:lnTo>
                  <a:pt x="112777" y="127205"/>
                </a:lnTo>
                <a:cubicBezTo>
                  <a:pt x="113442" y="132795"/>
                  <a:pt x="118183" y="137005"/>
                  <a:pt x="123812" y="137005"/>
                </a:cubicBezTo>
                <a:cubicBezTo>
                  <a:pt x="129442" y="137005"/>
                  <a:pt x="134182" y="132795"/>
                  <a:pt x="134847" y="127205"/>
                </a:cubicBezTo>
                <a:lnTo>
                  <a:pt x="134925" y="125905"/>
                </a:lnTo>
                <a:lnTo>
                  <a:pt x="134925" y="81455"/>
                </a:lnTo>
                <a:lnTo>
                  <a:pt x="134847" y="80154"/>
                </a:lnTo>
                <a:cubicBezTo>
                  <a:pt x="134188" y="74559"/>
                  <a:pt x="129446" y="70343"/>
                  <a:pt x="123812" y="70342"/>
                </a:cubicBez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446520" y="3246120"/>
            <a:ext cx="521360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66B"/>
                </a:solidFill>
                <a:latin typeface="Microsoft YaHei"/>
                <a:ea typeface="Microsoft YaHei"/>
                <a:cs typeface="Microsoft YaHei"/>
              </a:rPr>
              <a:t>运营：培训、推广、品牌化运营</a:t>
            </a:r>
          </a:p>
        </p:txBody>
      </p:sp>
      <p:sp>
        <p:nvSpPr>
          <p:cNvPr id="18" name="Freeform 18"/>
          <p:cNvSpPr/>
          <p:nvPr/>
        </p:nvSpPr>
        <p:spPr>
          <a:xfrm>
            <a:off x="533400" y="4667250"/>
            <a:ext cx="11125200" cy="1543050"/>
          </a:xfrm>
          <a:custGeom>
            <a:avLst/>
            <a:gdLst/>
            <a:ahLst/>
            <a:cxnLst/>
            <a:rect l="l" t="t" r="r" b="b"/>
            <a:pathLst>
              <a:path w="11125200" h="1543050">
                <a:moveTo>
                  <a:pt x="114300" y="0"/>
                </a:moveTo>
                <a:lnTo>
                  <a:pt x="11010900" y="0"/>
                </a:lnTo>
                <a:cubicBezTo>
                  <a:pt x="11074026" y="0"/>
                  <a:pt x="11125200" y="51174"/>
                  <a:pt x="11125200" y="114300"/>
                </a:cubicBezTo>
                <a:lnTo>
                  <a:pt x="11125200" y="1428750"/>
                </a:lnTo>
                <a:cubicBezTo>
                  <a:pt x="11125200" y="1491876"/>
                  <a:pt x="11074026" y="1543050"/>
                  <a:pt x="11010900" y="1543050"/>
                </a:cubicBezTo>
                <a:lnTo>
                  <a:pt x="114300" y="1543050"/>
                </a:lnTo>
                <a:cubicBezTo>
                  <a:pt x="51174" y="1543050"/>
                  <a:pt x="0" y="1491876"/>
                  <a:pt x="0" y="14287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4F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67715" y="4811078"/>
            <a:ext cx="473780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语义匹配图表：bar_chart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1525" y="5300662"/>
            <a:ext cx="1221581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建立组织治理、数据治理、模型治理和运营治理四道防线，确保平台长期稳定运行。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" y="5716905"/>
            <a:ext cx="184756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· 关键要点四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01159" y="2807970"/>
            <a:ext cx="2789682" cy="1706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35805" y="4250055"/>
            <a:ext cx="312039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平台治理与应用运营组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
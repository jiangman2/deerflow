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第1页讲解：围绕“安全生产优先、效率持续提升”展开，强调可执行路径。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第2页讲解：围绕“安全生产优先、效率持续提升”展开，强调可执行路径。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第3页讲解：围绕“安全生产优先、效率持续提升”展开，强调可执行路径。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第4页讲解：围绕“安全生产优先、效率持续提升”展开，强调可执行路径。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第5页讲解：围绕“安全生产优先、效率持续提升”展开，强调可执行路径。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第6页讲解：围绕“安全生产优先、效率持续提升”展开，强调可执行路径。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第7页讲解：围绕“安全生产优先、效率持续提升”展开，强调可执行路径。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第8页讲解：围绕“安全生产优先、效率持续提升”展开，强调可执行路径。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第9页讲解：围绕“安全生产优先、效率持续提升”展开，强调可执行路径。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第10页讲解：围绕“安全生产优先、效率持续提升”展开，强调可执行路径。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1_img1.png"/>
  <Relationship Id="rId3" Type="http://schemas.openxmlformats.org/officeDocument/2006/relationships/image" Target="../media/s1_img2.png"/>
  <Relationship Id="rId4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2_img1.png"/>
  <Relationship Id="rId3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3_img1.png"/>
  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3_img1.png"/>
  <Relationship Id="rId3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10_img1.png"/>
  <Relationship Id="rId3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247650"/>
            <a:ext cx="1390650" cy="4191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662940" y="3025140"/>
            <a:ext cx="9691116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海上平台智能运维与安全生产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83895" y="3755708"/>
            <a:ext cx="4427553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EAF2F9"/>
                </a:solidFill>
                <a:latin typeface="Microsoft YaHei"/>
                <a:ea typeface="Microsoft YaHei"/>
                <a:cs typeface="Microsoft YaHei"/>
              </a:rPr>
              <a:t>主链路全调用演示版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95325" y="4291012"/>
            <a:ext cx="4246959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DDEAF6"/>
                </a:solidFill>
                <a:latin typeface="Microsoft YaHei"/>
                <a:ea typeface="Microsoft YaHei"/>
                <a:cs typeface="Microsoft YaHei"/>
              </a:rPr>
              <a:t>PPT Master Native Pipeline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95325" y="4672012"/>
            <a:ext cx="1864519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DDEAF6"/>
                </a:solidFill>
                <a:latin typeface="Microsoft YaHei"/>
                <a:ea typeface="Microsoft YaHei"/>
                <a:cs typeface="Microsoft YaHei"/>
              </a:rPr>
              <a:t>2026-05-04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" y="0"/>
            <a:ext cx="12174855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 rot="5400000">
            <a:off x="104394" y="1642110"/>
            <a:ext cx="3765042" cy="1097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400" dirty="0">
                <a:solidFill>
                  <a:srgbClr val="E3E8ED"/>
                </a:solidFill>
                <a:latin typeface="Arial"/>
                <a:ea typeface="Microsoft YaHei"/>
                <a:cs typeface="Arial"/>
              </a:rPr>
              <a:t>CONTENTS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008680" y="2415540"/>
            <a:ext cx="1126141" cy="1280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3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目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008680" y="3320415"/>
            <a:ext cx="1126141" cy="1280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3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录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417695" y="1974532"/>
            <a:ext cx="724236" cy="944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65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661660" y="2023110"/>
            <a:ext cx="3327082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现状与目标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417695" y="2927032"/>
            <a:ext cx="902508" cy="944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65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61660" y="2975610"/>
            <a:ext cx="3327082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方案与路径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417695" y="3879532"/>
            <a:ext cx="902508" cy="944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65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61660" y="3928110"/>
            <a:ext cx="3327082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收益与保障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" y="0"/>
            <a:ext cx="12099608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231590" y="1868805"/>
            <a:ext cx="1728821" cy="2255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10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5" name="Line 5"/>
          <p:cNvSpPr/>
          <p:nvPr/>
        </p:nvSpPr>
        <p:spPr>
          <a:xfrm>
            <a:off x="39814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6" name="Line 6"/>
          <p:cNvSpPr/>
          <p:nvPr/>
        </p:nvSpPr>
        <p:spPr>
          <a:xfrm>
            <a:off x="5505450" y="3638550"/>
            <a:ext cx="1181100" cy="9525"/>
          </a:xfrm>
          <a:custGeom>
            <a:avLst/>
            <a:gdLst/>
            <a:ahLst/>
            <a:cxnLst/>
            <a:rect l="l" t="t" r="r" b="b"/>
            <a:pathLst>
              <a:path w="1181100" h="9525">
                <a:moveTo>
                  <a:pt x="0" y="0"/>
                </a:moveTo>
                <a:lnTo>
                  <a:pt x="1181100" y="0"/>
                </a:lnTo>
              </a:path>
            </a:pathLst>
          </a:custGeom>
          <a:noFill/>
          <a:ln w="38100">
            <a:solidFill>
              <a:srgbClr val="DE002B"/>
            </a:solidFill>
          </a:ln>
        </p:spPr>
      </p:sp>
      <p:sp>
        <p:nvSpPr>
          <p:cNvPr id="7" name="Line 7"/>
          <p:cNvSpPr/>
          <p:nvPr/>
        </p:nvSpPr>
        <p:spPr>
          <a:xfrm>
            <a:off x="66865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3719512" y="4095750"/>
            <a:ext cx="4752975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现状与目标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46710" y="489585"/>
            <a:ext cx="379504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当前痛点与改进机会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8140" y="1120140"/>
            <a:ext cx="170192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关键问题清单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82930" y="1583055"/>
            <a:ext cx="526732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设备告警分散在多个系统，响应链路长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82930" y="2097405"/>
            <a:ext cx="404050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计划检修与状态检修衔接不足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82930" y="2611755"/>
            <a:ext cx="434721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经验依赖强，跨班组复用效率低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46710" y="489585"/>
            <a:ext cx="379504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年度目标与核心指标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8140" y="1120140"/>
            <a:ext cx="15639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2026 目标卡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82930" y="1583055"/>
            <a:ext cx="310505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非计划停机率下降 30%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82930" y="2097405"/>
            <a:ext cx="371846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关键风险处置时长缩短 40%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82930" y="2611755"/>
            <a:ext cx="463858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设备健康度可视化覆盖率达到 95%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" y="0"/>
            <a:ext cx="12099608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018813" y="1868805"/>
            <a:ext cx="2154374" cy="2255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10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5" name="Line 5"/>
          <p:cNvSpPr/>
          <p:nvPr/>
        </p:nvSpPr>
        <p:spPr>
          <a:xfrm>
            <a:off x="39814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6" name="Line 6"/>
          <p:cNvSpPr/>
          <p:nvPr/>
        </p:nvSpPr>
        <p:spPr>
          <a:xfrm>
            <a:off x="5505450" y="3638550"/>
            <a:ext cx="1181100" cy="9525"/>
          </a:xfrm>
          <a:custGeom>
            <a:avLst/>
            <a:gdLst/>
            <a:ahLst/>
            <a:cxnLst/>
            <a:rect l="l" t="t" r="r" b="b"/>
            <a:pathLst>
              <a:path w="1181100" h="9525">
                <a:moveTo>
                  <a:pt x="0" y="0"/>
                </a:moveTo>
                <a:lnTo>
                  <a:pt x="1181100" y="0"/>
                </a:lnTo>
              </a:path>
            </a:pathLst>
          </a:custGeom>
          <a:noFill/>
          <a:ln w="38100">
            <a:solidFill>
              <a:srgbClr val="DE002B"/>
            </a:solidFill>
          </a:ln>
        </p:spPr>
      </p:sp>
      <p:sp>
        <p:nvSpPr>
          <p:cNvPr id="7" name="Line 7"/>
          <p:cNvSpPr/>
          <p:nvPr/>
        </p:nvSpPr>
        <p:spPr>
          <a:xfrm>
            <a:off x="66865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3719512" y="4095750"/>
            <a:ext cx="4752975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方案与路径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46710" y="489585"/>
            <a:ext cx="296694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一体化能力架构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8140" y="1120140"/>
            <a:ext cx="1149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四层架构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82930" y="1583055"/>
            <a:ext cx="408651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采集层：边缘采集 + 协议适配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82930" y="2097405"/>
            <a:ext cx="526732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平台层：主数据、规则引擎、事件总线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82930" y="2611755"/>
            <a:ext cx="434721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应用层：诊断、预警、工单联动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46710" y="489585"/>
            <a:ext cx="213883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实施路线图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8140" y="1120140"/>
            <a:ext cx="1149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季度推进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82930" y="1583055"/>
            <a:ext cx="322773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Q1 数据治理与资产台账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82930" y="2097405"/>
            <a:ext cx="365712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Q2 故障模式库 + 诊断引擎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82930" y="2611755"/>
            <a:ext cx="335041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Q3 预警联动 + 现场闭环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46710" y="489585"/>
            <a:ext cx="296694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价值与风险控制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8140" y="1120140"/>
            <a:ext cx="142589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双维度评估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82930" y="1583055"/>
            <a:ext cx="496062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经营价值：减少停机损失与维修成本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82930" y="2097405"/>
            <a:ext cx="434721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管理价值：统一口径与决策透明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82930" y="2611755"/>
            <a:ext cx="404050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风险控制：红线指标日清日结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8" y="0"/>
            <a:ext cx="12049125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4701159" y="2807970"/>
            <a:ext cx="2789682" cy="1706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4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谢谢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
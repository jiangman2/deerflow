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image" Target="../media/s1_img2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0_img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7650"/>
            <a:ext cx="1390650" cy="419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62940" y="3025140"/>
            <a:ext cx="17052036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海上平台智能运维与安全生产一体化方案（升级版）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3895" y="3755708"/>
            <a:ext cx="510383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文档驱动高质量成片 V2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5325" y="4291012"/>
            <a:ext cx="345828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DeerFlow ppt-master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5325" y="4672012"/>
            <a:ext cx="186451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2026-05-04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" y="0"/>
            <a:ext cx="12174855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 rot="5400000">
            <a:off x="104394" y="1642110"/>
            <a:ext cx="3765042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dirty="0">
                <a:solidFill>
                  <a:srgbClr val="E3E8ED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08680" y="2415540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08680" y="3320415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7695" y="1974532"/>
            <a:ext cx="724236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1660" y="2023110"/>
            <a:ext cx="332708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现状与目标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17695" y="29270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1660" y="2975610"/>
            <a:ext cx="332708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方案与路线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17695" y="38795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0" y="3928110"/>
            <a:ext cx="332708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价值与保障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31590" y="1868805"/>
            <a:ext cx="1728821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719512" y="4095750"/>
            <a:ext cx="475297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现状与目标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24193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关键痛点洞察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75819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三类核心问题识别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8140" y="1082040"/>
            <a:ext cx="3910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告警治理、数据治理、处置提效</a:t>
            </a:r>
          </a:p>
        </p:txBody>
      </p:sp>
      <p:sp>
        <p:nvSpPr>
          <p:cNvPr id="7" name="Freeform 7"/>
          <p:cNvSpPr/>
          <p:nvPr/>
        </p:nvSpPr>
        <p:spPr>
          <a:xfrm>
            <a:off x="533400" y="1676400"/>
            <a:ext cx="11125200" cy="1524000"/>
          </a:xfrm>
          <a:custGeom>
            <a:avLst/>
            <a:gdLst/>
            <a:ahLst/>
            <a:cxnLst/>
            <a:rect l="l" t="t" r="r" b="b"/>
            <a:pathLst>
              <a:path w="11125200" h="1524000">
                <a:moveTo>
                  <a:pt x="171450" y="0"/>
                </a:moveTo>
                <a:lnTo>
                  <a:pt x="10953750" y="0"/>
                </a:lnTo>
                <a:cubicBezTo>
                  <a:pt x="11048439" y="0"/>
                  <a:pt x="11125200" y="76761"/>
                  <a:pt x="11125200" y="171450"/>
                </a:cubicBezTo>
                <a:lnTo>
                  <a:pt x="11125200" y="1352550"/>
                </a:lnTo>
                <a:cubicBezTo>
                  <a:pt x="11125200" y="1447239"/>
                  <a:pt x="11048439" y="1524000"/>
                  <a:pt x="10953750" y="1524000"/>
                </a:cubicBezTo>
                <a:lnTo>
                  <a:pt x="171450" y="1524000"/>
                </a:lnTo>
                <a:cubicBezTo>
                  <a:pt x="76761" y="1524000"/>
                  <a:pt x="0" y="1447239"/>
                  <a:pt x="0" y="1352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42950" y="2000250"/>
            <a:ext cx="419100" cy="392906"/>
          </a:xfrm>
          <a:custGeom>
            <a:avLst/>
            <a:gdLst/>
            <a:ahLst/>
            <a:cxnLst/>
            <a:rect l="l" t="t" r="r" b="b"/>
            <a:pathLst>
              <a:path w="419100" h="392906">
                <a:moveTo>
                  <a:pt x="419100" y="392906"/>
                </a:moveTo>
                <a:lnTo>
                  <a:pt x="0" y="392906"/>
                </a:lnTo>
                <a:lnTo>
                  <a:pt x="0" y="314325"/>
                </a:lnTo>
                <a:lnTo>
                  <a:pt x="183356" y="0"/>
                </a:lnTo>
                <a:lnTo>
                  <a:pt x="235744" y="0"/>
                </a:lnTo>
                <a:lnTo>
                  <a:pt x="419100" y="314325"/>
                </a:lnTo>
                <a:lnTo>
                  <a:pt x="419100" y="392906"/>
                </a:lnTo>
                <a:close/>
                <a:moveTo>
                  <a:pt x="183356" y="104775"/>
                </a:moveTo>
                <a:lnTo>
                  <a:pt x="235744" y="104775"/>
                </a:lnTo>
                <a:lnTo>
                  <a:pt x="235744" y="235744"/>
                </a:lnTo>
                <a:lnTo>
                  <a:pt x="183356" y="235744"/>
                </a:lnTo>
                <a:lnTo>
                  <a:pt x="183356" y="104775"/>
                </a:lnTo>
                <a:close/>
                <a:moveTo>
                  <a:pt x="183356" y="288131"/>
                </a:moveTo>
                <a:lnTo>
                  <a:pt x="235744" y="288131"/>
                </a:lnTo>
                <a:lnTo>
                  <a:pt x="235744" y="340519"/>
                </a:lnTo>
                <a:lnTo>
                  <a:pt x="183356" y="340519"/>
                </a:lnTo>
                <a:lnTo>
                  <a:pt x="183356" y="288131"/>
                </a:lnTo>
                <a:close/>
              </a:path>
            </a:pathLst>
          </a:custGeom>
          <a:solidFill>
            <a:srgbClr val="DE002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72540" y="2091690"/>
            <a:ext cx="517207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告警噪声高：日均1200+条，人工筛选负担重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95338" y="2571750"/>
            <a:ext cx="314325" cy="419100"/>
            <a:chOff x="795338" y="2571750"/>
            <a:chExt cx="314325" cy="419100"/>
          </a:xfrm>
        </p:grpSpPr>
        <p:sp>
          <p:nvSpPr>
            <p:cNvPr id="10" name="Freeform 10"/>
            <p:cNvSpPr/>
            <p:nvPr/>
          </p:nvSpPr>
          <p:spPr>
            <a:xfrm>
              <a:off x="795338" y="2739390"/>
              <a:ext cx="314325" cy="120491"/>
            </a:xfrm>
            <a:custGeom>
              <a:avLst/>
              <a:gdLst/>
              <a:ahLst/>
              <a:cxnLst/>
              <a:rect l="l" t="t" r="r" b="b"/>
              <a:pathLst>
                <a:path w="314325" h="120491">
                  <a:moveTo>
                    <a:pt x="291722" y="13363"/>
                  </a:moveTo>
                  <a:cubicBezTo>
                    <a:pt x="299091" y="9678"/>
                    <a:pt x="306789" y="5234"/>
                    <a:pt x="314325" y="0"/>
                  </a:cubicBezTo>
                  <a:lnTo>
                    <a:pt x="314325" y="41910"/>
                  </a:lnTo>
                  <a:cubicBezTo>
                    <a:pt x="314325" y="85309"/>
                    <a:pt x="243961" y="120491"/>
                    <a:pt x="157162" y="120491"/>
                  </a:cubicBezTo>
                  <a:cubicBezTo>
                    <a:pt x="70364" y="120491"/>
                    <a:pt x="0" y="85309"/>
                    <a:pt x="0" y="41910"/>
                  </a:cubicBezTo>
                  <a:lnTo>
                    <a:pt x="0" y="0"/>
                  </a:lnTo>
                  <a:cubicBezTo>
                    <a:pt x="7536" y="5234"/>
                    <a:pt x="15234" y="9678"/>
                    <a:pt x="22603" y="13363"/>
                  </a:cubicBezTo>
                  <a:cubicBezTo>
                    <a:pt x="59747" y="31935"/>
                    <a:pt x="107394" y="41910"/>
                    <a:pt x="157162" y="41910"/>
                  </a:cubicBezTo>
                  <a:cubicBezTo>
                    <a:pt x="206931" y="41910"/>
                    <a:pt x="254577" y="31935"/>
                    <a:pt x="291722" y="13363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95338" y="2870359"/>
              <a:ext cx="314325" cy="120491"/>
            </a:xfrm>
            <a:custGeom>
              <a:avLst/>
              <a:gdLst/>
              <a:ahLst/>
              <a:cxnLst/>
              <a:rect l="l" t="t" r="r" b="b"/>
              <a:pathLst>
                <a:path w="314325" h="120491">
                  <a:moveTo>
                    <a:pt x="0" y="0"/>
                  </a:moveTo>
                  <a:lnTo>
                    <a:pt x="0" y="41910"/>
                  </a:lnTo>
                  <a:cubicBezTo>
                    <a:pt x="0" y="85310"/>
                    <a:pt x="70364" y="120491"/>
                    <a:pt x="157162" y="120491"/>
                  </a:cubicBezTo>
                  <a:cubicBezTo>
                    <a:pt x="243961" y="120491"/>
                    <a:pt x="314325" y="85310"/>
                    <a:pt x="314325" y="41910"/>
                  </a:cubicBezTo>
                  <a:lnTo>
                    <a:pt x="314325" y="0"/>
                  </a:lnTo>
                  <a:cubicBezTo>
                    <a:pt x="306789" y="5234"/>
                    <a:pt x="299091" y="9679"/>
                    <a:pt x="291722" y="13364"/>
                  </a:cubicBezTo>
                  <a:cubicBezTo>
                    <a:pt x="254577" y="31935"/>
                    <a:pt x="206931" y="41910"/>
                    <a:pt x="157162" y="41910"/>
                  </a:cubicBezTo>
                  <a:cubicBezTo>
                    <a:pt x="107394" y="41910"/>
                    <a:pt x="59747" y="31935"/>
                    <a:pt x="22603" y="13364"/>
                  </a:cubicBezTo>
                  <a:cubicBezTo>
                    <a:pt x="15234" y="9679"/>
                    <a:pt x="7536" y="5234"/>
                    <a:pt x="0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795338" y="2571750"/>
              <a:ext cx="314325" cy="157162"/>
            </a:xfrm>
            <a:custGeom>
              <a:avLst/>
              <a:gdLst/>
              <a:ahLst/>
              <a:cxnLst/>
              <a:rect l="l" t="t" r="r" b="b"/>
              <a:pathLst>
                <a:path w="314325" h="157162">
                  <a:moveTo>
                    <a:pt x="157162" y="0"/>
                  </a:moveTo>
                  <a:cubicBezTo>
                    <a:pt x="243961" y="0"/>
                    <a:pt x="314325" y="35182"/>
                    <a:pt x="314325" y="78581"/>
                  </a:cubicBezTo>
                  <a:cubicBezTo>
                    <a:pt x="314325" y="121980"/>
                    <a:pt x="243961" y="157162"/>
                    <a:pt x="157162" y="157162"/>
                  </a:cubicBezTo>
                  <a:cubicBezTo>
                    <a:pt x="70364" y="157162"/>
                    <a:pt x="0" y="121980"/>
                    <a:pt x="0" y="78581"/>
                  </a:cubicBezTo>
                  <a:cubicBezTo>
                    <a:pt x="0" y="35182"/>
                    <a:pt x="70364" y="0"/>
                    <a:pt x="157162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272540" y="2663190"/>
            <a:ext cx="42519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数据口径不统一：跨系统追溯链路长</a:t>
            </a:r>
          </a:p>
        </p:txBody>
      </p:sp>
      <p:sp>
        <p:nvSpPr>
          <p:cNvPr id="15" name="Freeform 15"/>
          <p:cNvSpPr/>
          <p:nvPr/>
        </p:nvSpPr>
        <p:spPr>
          <a:xfrm>
            <a:off x="533400" y="3429000"/>
            <a:ext cx="5334000" cy="2667000"/>
          </a:xfrm>
          <a:custGeom>
            <a:avLst/>
            <a:gdLst/>
            <a:ahLst/>
            <a:cxnLst/>
            <a:rect l="l" t="t" r="r" b="b"/>
            <a:pathLst>
              <a:path w="5334000" h="2667000">
                <a:moveTo>
                  <a:pt x="171450" y="0"/>
                </a:moveTo>
                <a:lnTo>
                  <a:pt x="5162550" y="0"/>
                </a:lnTo>
                <a:cubicBezTo>
                  <a:pt x="5257239" y="0"/>
                  <a:pt x="5334000" y="76761"/>
                  <a:pt x="5334000" y="171450"/>
                </a:cubicBezTo>
                <a:lnTo>
                  <a:pt x="5334000" y="2495550"/>
                </a:lnTo>
                <a:cubicBezTo>
                  <a:pt x="5334000" y="2590239"/>
                  <a:pt x="5257239" y="2667000"/>
                  <a:pt x="5162550" y="2667000"/>
                </a:cubicBezTo>
                <a:lnTo>
                  <a:pt x="171450" y="2667000"/>
                </a:lnTo>
                <a:cubicBezTo>
                  <a:pt x="76761" y="2667000"/>
                  <a:pt x="0" y="2590239"/>
                  <a:pt x="0" y="2495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6324600" y="3429000"/>
            <a:ext cx="5334000" cy="2667000"/>
          </a:xfrm>
          <a:custGeom>
            <a:avLst/>
            <a:gdLst/>
            <a:ahLst/>
            <a:cxnLst/>
            <a:rect l="l" t="t" r="r" b="b"/>
            <a:pathLst>
              <a:path w="5334000" h="2667000">
                <a:moveTo>
                  <a:pt x="171450" y="0"/>
                </a:moveTo>
                <a:lnTo>
                  <a:pt x="5162550" y="0"/>
                </a:lnTo>
                <a:cubicBezTo>
                  <a:pt x="5257239" y="0"/>
                  <a:pt x="5334000" y="76761"/>
                  <a:pt x="5334000" y="171450"/>
                </a:cubicBezTo>
                <a:lnTo>
                  <a:pt x="5334000" y="2495550"/>
                </a:lnTo>
                <a:cubicBezTo>
                  <a:pt x="5334000" y="2590239"/>
                  <a:pt x="5257239" y="2667000"/>
                  <a:pt x="5162550" y="2667000"/>
                </a:cubicBezTo>
                <a:lnTo>
                  <a:pt x="171450" y="2667000"/>
                </a:lnTo>
                <a:cubicBezTo>
                  <a:pt x="76761" y="2667000"/>
                  <a:pt x="0" y="2590239"/>
                  <a:pt x="0" y="2495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98195" y="3727132"/>
            <a:ext cx="19697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当前平均处置时长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8190" y="4168140"/>
            <a:ext cx="174132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9.5h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89395" y="372713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目标处置时长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49390" y="4168140"/>
            <a:ext cx="174132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A870"/>
                </a:solidFill>
                <a:latin typeface="Arial"/>
                <a:ea typeface="Microsoft YaHei"/>
                <a:cs typeface="Arial"/>
              </a:rPr>
              <a:t>5.6h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241935"/>
            <a:ext cx="354661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年度目标与核心KPI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758190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量化目标卡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8140" y="1082040"/>
            <a:ext cx="3358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可靠性、效率、安全三维度</a:t>
            </a:r>
          </a:p>
        </p:txBody>
      </p:sp>
      <p:sp>
        <p:nvSpPr>
          <p:cNvPr id="7" name="Freeform 7"/>
          <p:cNvSpPr/>
          <p:nvPr/>
        </p:nvSpPr>
        <p:spPr>
          <a:xfrm>
            <a:off x="533400" y="1676400"/>
            <a:ext cx="3524250" cy="2000250"/>
          </a:xfrm>
          <a:custGeom>
            <a:avLst/>
            <a:gdLst/>
            <a:ahLst/>
            <a:cxnLst/>
            <a:rect l="l" t="t" r="r" b="b"/>
            <a:pathLst>
              <a:path w="3524250" h="2000250">
                <a:moveTo>
                  <a:pt x="171450" y="0"/>
                </a:moveTo>
                <a:lnTo>
                  <a:pt x="3352800" y="0"/>
                </a:lnTo>
                <a:cubicBezTo>
                  <a:pt x="3447489" y="0"/>
                  <a:pt x="3524250" y="76761"/>
                  <a:pt x="3524250" y="171450"/>
                </a:cubicBezTo>
                <a:lnTo>
                  <a:pt x="3524250" y="1828800"/>
                </a:lnTo>
                <a:cubicBezTo>
                  <a:pt x="3524250" y="1923489"/>
                  <a:pt x="3447489" y="2000250"/>
                  <a:pt x="3352800" y="2000250"/>
                </a:cubicBezTo>
                <a:lnTo>
                  <a:pt x="171450" y="2000250"/>
                </a:lnTo>
                <a:cubicBezTo>
                  <a:pt x="76761" y="2000250"/>
                  <a:pt x="0" y="1923489"/>
                  <a:pt x="0" y="1828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4343400" y="1676400"/>
            <a:ext cx="3524250" cy="2000250"/>
          </a:xfrm>
          <a:custGeom>
            <a:avLst/>
            <a:gdLst/>
            <a:ahLst/>
            <a:cxnLst/>
            <a:rect l="l" t="t" r="r" b="b"/>
            <a:pathLst>
              <a:path w="3524250" h="2000250">
                <a:moveTo>
                  <a:pt x="171450" y="0"/>
                </a:moveTo>
                <a:lnTo>
                  <a:pt x="3352800" y="0"/>
                </a:lnTo>
                <a:cubicBezTo>
                  <a:pt x="3447489" y="0"/>
                  <a:pt x="3524250" y="76761"/>
                  <a:pt x="3524250" y="171450"/>
                </a:cubicBezTo>
                <a:lnTo>
                  <a:pt x="3524250" y="1828800"/>
                </a:lnTo>
                <a:cubicBezTo>
                  <a:pt x="3524250" y="1923489"/>
                  <a:pt x="3447489" y="2000250"/>
                  <a:pt x="3352800" y="2000250"/>
                </a:cubicBezTo>
                <a:lnTo>
                  <a:pt x="171450" y="2000250"/>
                </a:lnTo>
                <a:cubicBezTo>
                  <a:pt x="76761" y="2000250"/>
                  <a:pt x="0" y="1923489"/>
                  <a:pt x="0" y="1828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153400" y="1676400"/>
            <a:ext cx="3524250" cy="2000250"/>
          </a:xfrm>
          <a:custGeom>
            <a:avLst/>
            <a:gdLst/>
            <a:ahLst/>
            <a:cxnLst/>
            <a:rect l="l" t="t" r="r" b="b"/>
            <a:pathLst>
              <a:path w="3524250" h="2000250">
                <a:moveTo>
                  <a:pt x="171450" y="0"/>
                </a:moveTo>
                <a:lnTo>
                  <a:pt x="3352800" y="0"/>
                </a:lnTo>
                <a:cubicBezTo>
                  <a:pt x="3447489" y="0"/>
                  <a:pt x="3524250" y="76761"/>
                  <a:pt x="3524250" y="171450"/>
                </a:cubicBezTo>
                <a:lnTo>
                  <a:pt x="3524250" y="1828800"/>
                </a:lnTo>
                <a:cubicBezTo>
                  <a:pt x="3524250" y="1923489"/>
                  <a:pt x="3447489" y="2000250"/>
                  <a:pt x="3352800" y="2000250"/>
                </a:cubicBezTo>
                <a:lnTo>
                  <a:pt x="171450" y="2000250"/>
                </a:lnTo>
                <a:cubicBezTo>
                  <a:pt x="76761" y="2000250"/>
                  <a:pt x="0" y="1923489"/>
                  <a:pt x="0" y="1828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800100" y="1962150"/>
            <a:ext cx="381000" cy="381000"/>
            <a:chOff x="800100" y="1962150"/>
            <a:chExt cx="381000" cy="381000"/>
          </a:xfrm>
        </p:grpSpPr>
        <p:sp>
          <p:nvSpPr>
            <p:cNvPr id="10" name="Freeform 10"/>
            <p:cNvSpPr/>
            <p:nvPr/>
          </p:nvSpPr>
          <p:spPr>
            <a:xfrm>
              <a:off x="895350" y="20574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cubicBezTo>
                    <a:pt x="42645" y="0"/>
                    <a:pt x="0" y="42645"/>
                    <a:pt x="0" y="95250"/>
                  </a:cubicBezTo>
                  <a:cubicBezTo>
                    <a:pt x="0" y="147854"/>
                    <a:pt x="42645" y="190500"/>
                    <a:pt x="95250" y="190500"/>
                  </a:cubicBezTo>
                  <a:cubicBezTo>
                    <a:pt x="147854" y="190500"/>
                    <a:pt x="190500" y="147854"/>
                    <a:pt x="190500" y="95250"/>
                  </a:cubicBezTo>
                  <a:cubicBezTo>
                    <a:pt x="190500" y="42645"/>
                    <a:pt x="147854" y="0"/>
                    <a:pt x="95250" y="0"/>
                  </a:cubicBezTo>
                  <a:close/>
                  <a:moveTo>
                    <a:pt x="47625" y="95250"/>
                  </a:moveTo>
                  <a:cubicBezTo>
                    <a:pt x="47625" y="68947"/>
                    <a:pt x="68947" y="47625"/>
                    <a:pt x="95250" y="47625"/>
                  </a:cubicBezTo>
                  <a:cubicBezTo>
                    <a:pt x="121553" y="47625"/>
                    <a:pt x="142875" y="68947"/>
                    <a:pt x="142875" y="95250"/>
                  </a:cubicBezTo>
                  <a:cubicBezTo>
                    <a:pt x="142875" y="121553"/>
                    <a:pt x="121553" y="142875"/>
                    <a:pt x="95250" y="142875"/>
                  </a:cubicBezTo>
                  <a:cubicBezTo>
                    <a:pt x="68947" y="142875"/>
                    <a:pt x="47625" y="121553"/>
                    <a:pt x="47625" y="9525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00100" y="19621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cubicBezTo>
                    <a:pt x="85290" y="0"/>
                    <a:pt x="0" y="85290"/>
                    <a:pt x="0" y="190500"/>
                  </a:cubicBezTo>
                  <a:cubicBezTo>
                    <a:pt x="0" y="295711"/>
                    <a:pt x="85290" y="381000"/>
                    <a:pt x="190500" y="381000"/>
                  </a:cubicBezTo>
                  <a:cubicBezTo>
                    <a:pt x="295711" y="381000"/>
                    <a:pt x="381000" y="295711"/>
                    <a:pt x="381000" y="190500"/>
                  </a:cubicBezTo>
                  <a:cubicBezTo>
                    <a:pt x="381000" y="85290"/>
                    <a:pt x="295711" y="0"/>
                    <a:pt x="190500" y="0"/>
                  </a:cubicBezTo>
                  <a:close/>
                  <a:moveTo>
                    <a:pt x="47625" y="190500"/>
                  </a:moveTo>
                  <a:cubicBezTo>
                    <a:pt x="47625" y="111592"/>
                    <a:pt x="111592" y="47625"/>
                    <a:pt x="190500" y="47625"/>
                  </a:cubicBezTo>
                  <a:cubicBezTo>
                    <a:pt x="269407" y="47625"/>
                    <a:pt x="333375" y="111592"/>
                    <a:pt x="333375" y="190500"/>
                  </a:cubicBezTo>
                  <a:cubicBezTo>
                    <a:pt x="333375" y="269407"/>
                    <a:pt x="269407" y="333375"/>
                    <a:pt x="190500" y="333375"/>
                  </a:cubicBezTo>
                  <a:cubicBezTo>
                    <a:pt x="111592" y="333375"/>
                    <a:pt x="47625" y="269407"/>
                    <a:pt x="47625" y="19050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255395" y="2050732"/>
            <a:ext cx="124682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设备可用率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2475" y="2700338"/>
            <a:ext cx="417826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0074CC"/>
                </a:solidFill>
                <a:latin typeface="Arial"/>
                <a:ea typeface="Microsoft YaHei"/>
                <a:cs typeface="Arial"/>
              </a:rPr>
              <a:t>96.8% 到 98.5%</a:t>
            </a:r>
          </a:p>
        </p:txBody>
      </p:sp>
      <p:sp>
        <p:nvSpPr>
          <p:cNvPr id="15" name="Freeform 15"/>
          <p:cNvSpPr/>
          <p:nvPr/>
        </p:nvSpPr>
        <p:spPr>
          <a:xfrm>
            <a:off x="4633912" y="196215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79774" y="318918"/>
                </a:moveTo>
                <a:lnTo>
                  <a:pt x="166688" y="381000"/>
                </a:lnTo>
                <a:lnTo>
                  <a:pt x="253601" y="318918"/>
                </a:lnTo>
                <a:cubicBezTo>
                  <a:pt x="303664" y="283159"/>
                  <a:pt x="333375" y="225425"/>
                  <a:pt x="333375" y="163903"/>
                </a:cubicBezTo>
                <a:lnTo>
                  <a:pt x="333375" y="71438"/>
                </a:lnTo>
                <a:lnTo>
                  <a:pt x="166688" y="0"/>
                </a:lnTo>
                <a:lnTo>
                  <a:pt x="0" y="71438"/>
                </a:lnTo>
                <a:lnTo>
                  <a:pt x="0" y="163903"/>
                </a:lnTo>
                <a:cubicBezTo>
                  <a:pt x="0" y="225425"/>
                  <a:pt x="29712" y="283159"/>
                  <a:pt x="79774" y="318918"/>
                </a:cubicBezTo>
                <a:close/>
              </a:path>
            </a:pathLst>
          </a:custGeom>
          <a:solidFill>
            <a:srgbClr val="DE002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065395" y="205073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高风险闭环率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62475" y="2700338"/>
            <a:ext cx="2769334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00A870"/>
                </a:solidFill>
                <a:latin typeface="Arial"/>
                <a:ea typeface="Microsoft YaHei"/>
                <a:cs typeface="Arial"/>
              </a:rPr>
              <a:t>71% 到 93%</a:t>
            </a:r>
          </a:p>
        </p:txBody>
      </p:sp>
      <p:sp>
        <p:nvSpPr>
          <p:cNvPr id="18" name="Freeform 18"/>
          <p:cNvSpPr/>
          <p:nvPr/>
        </p:nvSpPr>
        <p:spPr>
          <a:xfrm>
            <a:off x="8467725" y="196215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66688" y="166688"/>
                </a:moveTo>
                <a:lnTo>
                  <a:pt x="190500" y="0"/>
                </a:lnTo>
                <a:lnTo>
                  <a:pt x="142875" y="0"/>
                </a:lnTo>
                <a:lnTo>
                  <a:pt x="0" y="166688"/>
                </a:lnTo>
                <a:lnTo>
                  <a:pt x="0" y="214312"/>
                </a:lnTo>
                <a:lnTo>
                  <a:pt x="119062" y="214312"/>
                </a:lnTo>
                <a:lnTo>
                  <a:pt x="95250" y="381000"/>
                </a:lnTo>
                <a:lnTo>
                  <a:pt x="142875" y="381000"/>
                </a:lnTo>
                <a:lnTo>
                  <a:pt x="285750" y="214312"/>
                </a:lnTo>
                <a:lnTo>
                  <a:pt x="285750" y="166688"/>
                </a:lnTo>
                <a:lnTo>
                  <a:pt x="166688" y="166688"/>
                </a:ln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75395" y="205073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非计划停机率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72475" y="2700338"/>
            <a:ext cx="354568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DE002B"/>
                </a:solidFill>
                <a:latin typeface="Arial"/>
                <a:ea typeface="Microsoft YaHei"/>
                <a:cs typeface="Arial"/>
              </a:rPr>
              <a:t>5.2% 到 3.6%</a:t>
            </a:r>
          </a:p>
        </p:txBody>
      </p:sp>
      <p:sp>
        <p:nvSpPr>
          <p:cNvPr id="21" name="Freeform 21"/>
          <p:cNvSpPr/>
          <p:nvPr/>
        </p:nvSpPr>
        <p:spPr>
          <a:xfrm>
            <a:off x="533400" y="3962400"/>
            <a:ext cx="11125200" cy="2133600"/>
          </a:xfrm>
          <a:custGeom>
            <a:avLst/>
            <a:gdLst/>
            <a:ahLst/>
            <a:cxnLst/>
            <a:rect l="l" t="t" r="r" b="b"/>
            <a:pathLst>
              <a:path w="11125200" h="2133600">
                <a:moveTo>
                  <a:pt x="171450" y="0"/>
                </a:moveTo>
                <a:lnTo>
                  <a:pt x="10953750" y="0"/>
                </a:lnTo>
                <a:cubicBezTo>
                  <a:pt x="11048439" y="0"/>
                  <a:pt x="11125200" y="76761"/>
                  <a:pt x="11125200" y="171450"/>
                </a:cubicBezTo>
                <a:lnTo>
                  <a:pt x="11125200" y="1962150"/>
                </a:lnTo>
                <a:cubicBezTo>
                  <a:pt x="11125200" y="2056839"/>
                  <a:pt x="11048439" y="2133600"/>
                  <a:pt x="10953750" y="2133600"/>
                </a:cubicBezTo>
                <a:lnTo>
                  <a:pt x="171450" y="2133600"/>
                </a:lnTo>
                <a:cubicBezTo>
                  <a:pt x="76761" y="2133600"/>
                  <a:pt x="0" y="2056839"/>
                  <a:pt x="0" y="19621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77240" y="4282440"/>
            <a:ext cx="9154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指标解释：可靠性、效率、安全三维度联动，形成监测-诊断-处置-复盘闭环。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9145" y="4717732"/>
            <a:ext cx="399402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KPI纳入月度经营分析与作业区考核。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719512" y="4095750"/>
            <a:ext cx="475297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方案与路线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24193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实施路线与保障机制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75819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分阶段推进路径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8140" y="1082040"/>
            <a:ext cx="31373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Q1~Q4 里程碑与治理闭环</a:t>
            </a:r>
          </a:p>
        </p:txBody>
      </p:sp>
      <p:sp>
        <p:nvSpPr>
          <p:cNvPr id="7" name="Freeform 7"/>
          <p:cNvSpPr/>
          <p:nvPr/>
        </p:nvSpPr>
        <p:spPr>
          <a:xfrm>
            <a:off x="533400" y="1676400"/>
            <a:ext cx="11125200" cy="4381500"/>
          </a:xfrm>
          <a:custGeom>
            <a:avLst/>
            <a:gdLst/>
            <a:ahLst/>
            <a:cxnLst/>
            <a:rect l="l" t="t" r="r" b="b"/>
            <a:pathLst>
              <a:path w="11125200" h="4381500">
                <a:moveTo>
                  <a:pt x="171450" y="0"/>
                </a:moveTo>
                <a:lnTo>
                  <a:pt x="10953750" y="0"/>
                </a:lnTo>
                <a:cubicBezTo>
                  <a:pt x="11048439" y="0"/>
                  <a:pt x="11125200" y="76761"/>
                  <a:pt x="11125200" y="171450"/>
                </a:cubicBezTo>
                <a:lnTo>
                  <a:pt x="11125200" y="4210050"/>
                </a:lnTo>
                <a:cubicBezTo>
                  <a:pt x="11125200" y="4304739"/>
                  <a:pt x="11048439" y="4381500"/>
                  <a:pt x="10953750" y="4381500"/>
                </a:cubicBezTo>
                <a:lnTo>
                  <a:pt x="171450" y="4381500"/>
                </a:lnTo>
                <a:cubicBezTo>
                  <a:pt x="76761" y="4381500"/>
                  <a:pt x="0" y="4304739"/>
                  <a:pt x="0" y="4210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8" name="Line 8"/>
          <p:cNvSpPr/>
          <p:nvPr/>
        </p:nvSpPr>
        <p:spPr>
          <a:xfrm>
            <a:off x="1333500" y="386715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1962150" y="3733800"/>
            <a:ext cx="266700" cy="2667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4629150" y="3733800"/>
            <a:ext cx="266700" cy="2667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7296150" y="3733800"/>
            <a:ext cx="266700" cy="2667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963150" y="3733800"/>
            <a:ext cx="266700" cy="2667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624965" y="2982278"/>
            <a:ext cx="47537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47800" y="340042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数据治理与台账统一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291965" y="2982278"/>
            <a:ext cx="57313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Q2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95750" y="340042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模型上线与告警治理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58965" y="2982278"/>
            <a:ext cx="57313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Q3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43700" y="340042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预警联动作业票闭环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06915" y="2982278"/>
            <a:ext cx="57313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Q4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72600" y="3400425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跨作业区复制推广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38200" y="4539853"/>
            <a:ext cx="400050" cy="350044"/>
            <a:chOff x="838200" y="4539853"/>
            <a:chExt cx="400050" cy="350044"/>
          </a:xfrm>
        </p:grpSpPr>
        <p:sp>
          <p:nvSpPr>
            <p:cNvPr id="21" name="Freeform 21"/>
            <p:cNvSpPr/>
            <p:nvPr/>
          </p:nvSpPr>
          <p:spPr>
            <a:xfrm>
              <a:off x="913209" y="4539853"/>
              <a:ext cx="125016" cy="125016"/>
            </a:xfrm>
            <a:custGeom>
              <a:avLst/>
              <a:gdLst/>
              <a:ahLst/>
              <a:cxnLst/>
              <a:rect l="l" t="t" r="r" b="b"/>
              <a:pathLst>
                <a:path w="125016" h="125016">
                  <a:moveTo>
                    <a:pt x="125016" y="62508"/>
                  </a:moveTo>
                  <a:cubicBezTo>
                    <a:pt x="125016" y="97030"/>
                    <a:pt x="97030" y="125016"/>
                    <a:pt x="62508" y="125016"/>
                  </a:cubicBezTo>
                  <a:cubicBezTo>
                    <a:pt x="27986" y="125016"/>
                    <a:pt x="0" y="97030"/>
                    <a:pt x="0" y="62508"/>
                  </a:cubicBezTo>
                  <a:cubicBezTo>
                    <a:pt x="0" y="27986"/>
                    <a:pt x="27986" y="0"/>
                    <a:pt x="62508" y="0"/>
                  </a:cubicBezTo>
                  <a:cubicBezTo>
                    <a:pt x="97030" y="0"/>
                    <a:pt x="125016" y="27986"/>
                    <a:pt x="125016" y="62508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38200" y="4714875"/>
              <a:ext cx="200025" cy="175022"/>
            </a:xfrm>
            <a:custGeom>
              <a:avLst/>
              <a:gdLst/>
              <a:ahLst/>
              <a:cxnLst/>
              <a:rect l="l" t="t" r="r" b="b"/>
              <a:pathLst>
                <a:path w="200025" h="175022">
                  <a:moveTo>
                    <a:pt x="75009" y="0"/>
                  </a:moveTo>
                  <a:cubicBezTo>
                    <a:pt x="33583" y="0"/>
                    <a:pt x="0" y="33583"/>
                    <a:pt x="0" y="75009"/>
                  </a:cubicBezTo>
                  <a:lnTo>
                    <a:pt x="0" y="175022"/>
                  </a:lnTo>
                  <a:lnTo>
                    <a:pt x="200025" y="175022"/>
                  </a:lnTo>
                  <a:lnTo>
                    <a:pt x="200025" y="0"/>
                  </a:lnTo>
                  <a:lnTo>
                    <a:pt x="75009" y="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088231" y="4714875"/>
              <a:ext cx="150019" cy="175022"/>
            </a:xfrm>
            <a:custGeom>
              <a:avLst/>
              <a:gdLst/>
              <a:ahLst/>
              <a:cxnLst/>
              <a:rect l="l" t="t" r="r" b="b"/>
              <a:pathLst>
                <a:path w="150019" h="175022">
                  <a:moveTo>
                    <a:pt x="75009" y="0"/>
                  </a:moveTo>
                  <a:lnTo>
                    <a:pt x="0" y="0"/>
                  </a:lnTo>
                  <a:lnTo>
                    <a:pt x="0" y="175022"/>
                  </a:lnTo>
                  <a:lnTo>
                    <a:pt x="150019" y="175022"/>
                  </a:lnTo>
                  <a:lnTo>
                    <a:pt x="150019" y="75009"/>
                  </a:lnTo>
                  <a:cubicBezTo>
                    <a:pt x="150019" y="33583"/>
                    <a:pt x="116437" y="0"/>
                    <a:pt x="75009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088231" y="4564856"/>
              <a:ext cx="100012" cy="100012"/>
            </a:xfrm>
            <a:custGeom>
              <a:avLst/>
              <a:gdLst/>
              <a:ahLst/>
              <a:cxnLst/>
              <a:rect l="l" t="t" r="r" b="b"/>
              <a:pathLst>
                <a:path w="100012" h="100012">
                  <a:moveTo>
                    <a:pt x="50006" y="100012"/>
                  </a:moveTo>
                  <a:cubicBezTo>
                    <a:pt x="77625" y="100012"/>
                    <a:pt x="100012" y="77624"/>
                    <a:pt x="100012" y="50006"/>
                  </a:cubicBezTo>
                  <a:cubicBezTo>
                    <a:pt x="100012" y="22389"/>
                    <a:pt x="77625" y="0"/>
                    <a:pt x="50006" y="0"/>
                  </a:cubicBezTo>
                  <a:cubicBezTo>
                    <a:pt x="22388" y="0"/>
                    <a:pt x="0" y="22389"/>
                    <a:pt x="0" y="50006"/>
                  </a:cubicBezTo>
                  <a:cubicBezTo>
                    <a:pt x="0" y="77624"/>
                    <a:pt x="22388" y="100012"/>
                    <a:pt x="50006" y="100012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350645" y="4603432"/>
            <a:ext cx="34518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组织保障：样板先行 + 双周复盘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38200" y="5219700"/>
            <a:ext cx="400050" cy="400050"/>
            <a:chOff x="838200" y="5219700"/>
            <a:chExt cx="400050" cy="400050"/>
          </a:xfrm>
        </p:grpSpPr>
        <p:sp>
          <p:nvSpPr>
            <p:cNvPr id="27" name="Freeform 27"/>
            <p:cNvSpPr/>
            <p:nvPr/>
          </p:nvSpPr>
          <p:spPr>
            <a:xfrm>
              <a:off x="838200" y="5219700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204256" y="50065"/>
                  </a:moveTo>
                  <a:cubicBezTo>
                    <a:pt x="202851" y="50026"/>
                    <a:pt x="201440" y="50006"/>
                    <a:pt x="200025" y="50006"/>
                  </a:cubicBezTo>
                  <a:cubicBezTo>
                    <a:pt x="117172" y="50006"/>
                    <a:pt x="50006" y="117172"/>
                    <a:pt x="50006" y="200025"/>
                  </a:cubicBezTo>
                  <a:cubicBezTo>
                    <a:pt x="50006" y="282878"/>
                    <a:pt x="117172" y="350044"/>
                    <a:pt x="200025" y="350044"/>
                  </a:cubicBezTo>
                  <a:cubicBezTo>
                    <a:pt x="282878" y="350044"/>
                    <a:pt x="350044" y="282878"/>
                    <a:pt x="350044" y="200025"/>
                  </a:cubicBezTo>
                  <a:cubicBezTo>
                    <a:pt x="350044" y="198610"/>
                    <a:pt x="350024" y="197199"/>
                    <a:pt x="349986" y="195794"/>
                  </a:cubicBezTo>
                  <a:lnTo>
                    <a:pt x="394154" y="151624"/>
                  </a:lnTo>
                  <a:cubicBezTo>
                    <a:pt x="398005" y="167123"/>
                    <a:pt x="400050" y="183335"/>
                    <a:pt x="400050" y="200025"/>
                  </a:cubicBezTo>
                  <a:cubicBezTo>
                    <a:pt x="400050" y="310496"/>
                    <a:pt x="310496" y="400050"/>
                    <a:pt x="200025" y="400050"/>
                  </a:cubicBezTo>
                  <a:cubicBezTo>
                    <a:pt x="89554" y="400050"/>
                    <a:pt x="0" y="310496"/>
                    <a:pt x="0" y="200025"/>
                  </a:cubicBezTo>
                  <a:cubicBezTo>
                    <a:pt x="0" y="89554"/>
                    <a:pt x="89554" y="0"/>
                    <a:pt x="200025" y="0"/>
                  </a:cubicBezTo>
                  <a:cubicBezTo>
                    <a:pt x="216715" y="0"/>
                    <a:pt x="232927" y="2044"/>
                    <a:pt x="248426" y="5896"/>
                  </a:cubicBezTo>
                  <a:lnTo>
                    <a:pt x="204256" y="50065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938212" y="5322862"/>
              <a:ext cx="196875" cy="196875"/>
            </a:xfrm>
            <a:custGeom>
              <a:avLst/>
              <a:gdLst/>
              <a:ahLst/>
              <a:cxnLst/>
              <a:rect l="l" t="t" r="r" b="b"/>
              <a:pathLst>
                <a:path w="196875" h="196875">
                  <a:moveTo>
                    <a:pt x="0" y="96862"/>
                  </a:moveTo>
                  <a:cubicBezTo>
                    <a:pt x="0" y="50260"/>
                    <a:pt x="31873" y="11102"/>
                    <a:pt x="75009" y="0"/>
                  </a:cubicBezTo>
                  <a:lnTo>
                    <a:pt x="75009" y="53545"/>
                  </a:lnTo>
                  <a:cubicBezTo>
                    <a:pt x="60063" y="62192"/>
                    <a:pt x="50006" y="78352"/>
                    <a:pt x="50006" y="96862"/>
                  </a:cubicBezTo>
                  <a:cubicBezTo>
                    <a:pt x="50006" y="124479"/>
                    <a:pt x="72395" y="146868"/>
                    <a:pt x="100012" y="146868"/>
                  </a:cubicBezTo>
                  <a:cubicBezTo>
                    <a:pt x="118522" y="146868"/>
                    <a:pt x="134683" y="136812"/>
                    <a:pt x="143329" y="121865"/>
                  </a:cubicBezTo>
                  <a:lnTo>
                    <a:pt x="196875" y="121865"/>
                  </a:lnTo>
                  <a:cubicBezTo>
                    <a:pt x="185771" y="165001"/>
                    <a:pt x="146614" y="196875"/>
                    <a:pt x="100012" y="196875"/>
                  </a:cubicBezTo>
                  <a:cubicBezTo>
                    <a:pt x="44777" y="196875"/>
                    <a:pt x="0" y="152097"/>
                    <a:pt x="0" y="96862"/>
                  </a:cubicBez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033047" y="5219700"/>
              <a:ext cx="205203" cy="205203"/>
            </a:xfrm>
            <a:custGeom>
              <a:avLst/>
              <a:gdLst/>
              <a:ahLst/>
              <a:cxnLst/>
              <a:rect l="l" t="t" r="r" b="b"/>
              <a:pathLst>
                <a:path w="205203" h="205203">
                  <a:moveTo>
                    <a:pt x="155197" y="50006"/>
                  </a:moveTo>
                  <a:lnTo>
                    <a:pt x="130194" y="0"/>
                  </a:lnTo>
                  <a:lnTo>
                    <a:pt x="55185" y="75009"/>
                  </a:lnTo>
                  <a:lnTo>
                    <a:pt x="55185" y="114659"/>
                  </a:lnTo>
                  <a:lnTo>
                    <a:pt x="0" y="169843"/>
                  </a:lnTo>
                  <a:lnTo>
                    <a:pt x="35360" y="205203"/>
                  </a:lnTo>
                  <a:lnTo>
                    <a:pt x="90544" y="150019"/>
                  </a:lnTo>
                  <a:lnTo>
                    <a:pt x="130194" y="150019"/>
                  </a:lnTo>
                  <a:lnTo>
                    <a:pt x="205203" y="75009"/>
                  </a:lnTo>
                  <a:lnTo>
                    <a:pt x="155197" y="50006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350645" y="5308282"/>
            <a:ext cx="34518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治理保障：红线指标 + 过程审计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241935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关键指标改进（柱状图）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75819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基线与目标对比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8140" y="1082040"/>
            <a:ext cx="60080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CONTENT_AREA_LINE1：可用率、停机率、闭环率</a:t>
            </a:r>
          </a:p>
        </p:txBody>
      </p:sp>
      <p:sp>
        <p:nvSpPr>
          <p:cNvPr id="7" name="Line 7"/>
          <p:cNvSpPr/>
          <p:nvPr/>
        </p:nvSpPr>
        <p:spPr>
          <a:xfrm>
            <a:off x="1428750" y="5619750"/>
            <a:ext cx="9429750" cy="9525"/>
          </a:xfrm>
          <a:custGeom>
            <a:avLst/>
            <a:gdLst/>
            <a:ahLst/>
            <a:cxnLst/>
            <a:rect l="l" t="t" r="r" b="b"/>
            <a:pathLst>
              <a:path w="9429750" h="9525">
                <a:moveTo>
                  <a:pt x="0" y="0"/>
                </a:moveTo>
                <a:lnTo>
                  <a:pt x="9429750" y="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1714500"/>
            <a:ext cx="9525" cy="3905250"/>
          </a:xfrm>
          <a:custGeom>
            <a:avLst/>
            <a:gdLst/>
            <a:ahLst/>
            <a:cxnLst/>
            <a:rect l="l" t="t" r="r" b="b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2286000" y="3429000"/>
            <a:ext cx="666750" cy="2190750"/>
          </a:xfrm>
          <a:prstGeom prst="rect">
            <a:avLst/>
          </a:prstGeom>
          <a:solidFill>
            <a:srgbClr val="9CC9EC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143250" y="2667000"/>
            <a:ext cx="666750" cy="2952750"/>
          </a:xfrm>
          <a:prstGeom prst="rect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4762500" y="3905250"/>
            <a:ext cx="666750" cy="1714500"/>
          </a:xfrm>
          <a:prstGeom prst="rect">
            <a:avLst/>
          </a:prstGeom>
          <a:solidFill>
            <a:srgbClr val="F2A0B1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619750" y="4810125"/>
            <a:ext cx="666750" cy="809625"/>
          </a:xfrm>
          <a:prstGeom prst="rect">
            <a:avLst/>
          </a:prstGeom>
          <a:solidFill>
            <a:srgbClr val="DE002B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7239000" y="2857500"/>
            <a:ext cx="666750" cy="2762250"/>
          </a:xfrm>
          <a:prstGeom prst="rect">
            <a:avLst/>
          </a:prstGeom>
          <a:solidFill>
            <a:srgbClr val="9BE4C7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8096250" y="2000250"/>
            <a:ext cx="666750" cy="3619500"/>
          </a:xfrm>
          <a:prstGeom prst="rect">
            <a:avLst/>
          </a:prstGeom>
          <a:solidFill>
            <a:srgbClr val="00A87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17170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可用率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5295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停机率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4850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闭环率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64105" y="31689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7185"/>
                </a:solidFill>
                <a:latin typeface="Arial"/>
                <a:ea typeface="Microsoft YaHei"/>
                <a:cs typeface="Arial"/>
              </a:rPr>
              <a:t>96.8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221355" y="24069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98.5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40605" y="3645218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7185"/>
                </a:solidFill>
                <a:latin typeface="Arial"/>
                <a:ea typeface="Microsoft YaHei"/>
                <a:cs typeface="Arial"/>
              </a:rPr>
              <a:t>5.2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97855" y="4550092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3.6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17105" y="2597468"/>
            <a:ext cx="2018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7185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74355" y="1740218"/>
            <a:ext cx="2511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93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241935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季度推进趋势（折线图）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758190"/>
            <a:ext cx="3358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里程碑按期达成率持续提升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8140" y="1082040"/>
            <a:ext cx="611847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CONTENT_AREA_LINE1：Q1~Q4 覆盖率 35% 到 85%</a:t>
            </a:r>
          </a:p>
        </p:txBody>
      </p:sp>
      <p:sp>
        <p:nvSpPr>
          <p:cNvPr id="7" name="Freeform 7"/>
          <p:cNvSpPr/>
          <p:nvPr/>
        </p:nvSpPr>
        <p:spPr>
          <a:xfrm>
            <a:off x="762000" y="1524000"/>
            <a:ext cx="10668000" cy="4572000"/>
          </a:xfrm>
          <a:custGeom>
            <a:avLst/>
            <a:gdLst/>
            <a:ahLst/>
            <a:cxnLst/>
            <a:rect l="l" t="t" r="r" b="b"/>
            <a:pathLst>
              <a:path w="10668000" h="4572000">
                <a:moveTo>
                  <a:pt x="171450" y="0"/>
                </a:moveTo>
                <a:lnTo>
                  <a:pt x="10496550" y="0"/>
                </a:lnTo>
                <a:cubicBezTo>
                  <a:pt x="10591239" y="0"/>
                  <a:pt x="10668000" y="76761"/>
                  <a:pt x="10668000" y="171450"/>
                </a:cubicBezTo>
                <a:lnTo>
                  <a:pt x="10668000" y="4400550"/>
                </a:lnTo>
                <a:cubicBezTo>
                  <a:pt x="10668000" y="4495239"/>
                  <a:pt x="10591239" y="4572000"/>
                  <a:pt x="10496550" y="4572000"/>
                </a:cubicBezTo>
                <a:lnTo>
                  <a:pt x="171450" y="4572000"/>
                </a:lnTo>
                <a:cubicBezTo>
                  <a:pt x="76761" y="4572000"/>
                  <a:pt x="0" y="4495239"/>
                  <a:pt x="0" y="4400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8" name="Line 8"/>
          <p:cNvSpPr/>
          <p:nvPr/>
        </p:nvSpPr>
        <p:spPr>
          <a:xfrm>
            <a:off x="1619250" y="53340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9" name="Line 9"/>
          <p:cNvSpPr/>
          <p:nvPr/>
        </p:nvSpPr>
        <p:spPr>
          <a:xfrm>
            <a:off x="1619250" y="2190750"/>
            <a:ext cx="9525" cy="3143250"/>
          </a:xfrm>
          <a:custGeom>
            <a:avLst/>
            <a:gdLst/>
            <a:ahLst/>
            <a:cxnLst/>
            <a:rect l="l" t="t" r="r" b="b"/>
            <a:pathLst>
              <a:path w="9525" h="3143250">
                <a:moveTo>
                  <a:pt x="0" y="0"/>
                </a:moveTo>
                <a:lnTo>
                  <a:pt x="0" y="314325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10" name="Polyline 10"/>
          <p:cNvSpPr/>
          <p:nvPr/>
        </p:nvSpPr>
        <p:spPr>
          <a:xfrm>
            <a:off x="2095500" y="2667000"/>
            <a:ext cx="6572250" cy="2286000"/>
          </a:xfrm>
          <a:custGeom>
            <a:avLst/>
            <a:gdLst/>
            <a:ahLst/>
            <a:cxnLst/>
            <a:rect l="l" t="t" r="r" b="b"/>
            <a:pathLst>
              <a:path w="6572250" h="2286000">
                <a:moveTo>
                  <a:pt x="0" y="2286000"/>
                </a:moveTo>
                <a:lnTo>
                  <a:pt x="2190750" y="1714500"/>
                </a:lnTo>
                <a:lnTo>
                  <a:pt x="4381500" y="952500"/>
                </a:lnTo>
                <a:lnTo>
                  <a:pt x="6572250" y="0"/>
                </a:lnTo>
              </a:path>
            </a:pathLst>
          </a:custGeom>
          <a:noFill/>
          <a:ln w="57150">
            <a:solidFill>
              <a:srgbClr val="0074CC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2019300" y="48768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4210050" y="43053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6400800" y="35433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8591550" y="25908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884045" y="5536882"/>
            <a:ext cx="2949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7479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6554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5629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Q4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620250" y="2883694"/>
            <a:ext cx="419100" cy="366713"/>
            <a:chOff x="9620250" y="2883694"/>
            <a:chExt cx="419100" cy="366713"/>
          </a:xfrm>
        </p:grpSpPr>
        <p:sp>
          <p:nvSpPr>
            <p:cNvPr id="19" name="Freeform 19"/>
            <p:cNvSpPr/>
            <p:nvPr/>
          </p:nvSpPr>
          <p:spPr>
            <a:xfrm>
              <a:off x="9934575" y="2883694"/>
              <a:ext cx="104775" cy="366712"/>
            </a:xfrm>
            <a:custGeom>
              <a:avLst/>
              <a:gdLst/>
              <a:ahLst/>
              <a:cxnLst/>
              <a:rect l="l" t="t" r="r" b="b"/>
              <a:pathLst>
                <a:path w="104775" h="366712">
                  <a:moveTo>
                    <a:pt x="104775" y="0"/>
                  </a:moveTo>
                  <a:lnTo>
                    <a:pt x="0" y="0"/>
                  </a:lnTo>
                  <a:lnTo>
                    <a:pt x="0" y="366712"/>
                  </a:lnTo>
                  <a:lnTo>
                    <a:pt x="104775" y="366712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9777412" y="2988469"/>
              <a:ext cx="104775" cy="261938"/>
            </a:xfrm>
            <a:custGeom>
              <a:avLst/>
              <a:gdLst/>
              <a:ahLst/>
              <a:cxnLst/>
              <a:rect l="l" t="t" r="r" b="b"/>
              <a:pathLst>
                <a:path w="104775" h="261938">
                  <a:moveTo>
                    <a:pt x="0" y="0"/>
                  </a:moveTo>
                  <a:lnTo>
                    <a:pt x="104775" y="0"/>
                  </a:lnTo>
                  <a:lnTo>
                    <a:pt x="104775" y="261938"/>
                  </a:lnTo>
                  <a:lnTo>
                    <a:pt x="0" y="261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620250" y="3093244"/>
              <a:ext cx="104775" cy="157162"/>
            </a:xfrm>
            <a:custGeom>
              <a:avLst/>
              <a:gdLst/>
              <a:ahLst/>
              <a:cxnLst/>
              <a:rect l="l" t="t" r="r" b="b"/>
              <a:pathLst>
                <a:path w="104775" h="157162">
                  <a:moveTo>
                    <a:pt x="0" y="0"/>
                  </a:moveTo>
                  <a:lnTo>
                    <a:pt x="104775" y="0"/>
                  </a:lnTo>
                  <a:lnTo>
                    <a:pt x="104775" y="157162"/>
                  </a:lnTo>
                  <a:lnTo>
                    <a:pt x="0" y="157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0077450" y="2981325"/>
            <a:ext cx="156067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推广覆盖率 85%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0"/>
            <a:ext cx="1204912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01159" y="2807970"/>
            <a:ext cx="2789682" cy="1706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
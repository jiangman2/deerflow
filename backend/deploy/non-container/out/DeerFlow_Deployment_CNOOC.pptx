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DeerFlow2.0 内网可控数据接入与部署框架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多智能体编排与深度研究能力实践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背景与目标</a:t>
            </a:r>
          </a:p>
          <a:p>
            <a:pPr/>
            <a:r>
              <a:rPr sz="1800">
                <a:solidFill>
                  <a:srgbClr val="000000"/>
                </a:solidFill>
              </a:rPr>
              <a:t>框架能力</a:t>
            </a:r>
          </a:p>
          <a:p>
            <a:pPr/>
            <a:r>
              <a:rPr sz="1800">
                <a:solidFill>
                  <a:srgbClr val="000000"/>
                </a:solidFill>
              </a:rPr>
              <a:t>技术架构</a:t>
            </a:r>
          </a:p>
          <a:p>
            <a:pPr/>
            <a:r>
              <a:rPr sz="1800">
                <a:solidFill>
                  <a:srgbClr val="000000"/>
                </a:solidFill>
              </a:rPr>
              <a:t>MinIO与非结构化数据</a:t>
            </a:r>
          </a:p>
          <a:p>
            <a:pPr/>
            <a:r>
              <a:rPr sz="1800">
                <a:solidFill>
                  <a:srgbClr val="000000"/>
                </a:solidFill>
              </a:rPr>
              <a:t>深度研究与多智能体</a:t>
            </a:r>
          </a:p>
          <a:p>
            <a:pPr/>
            <a:r>
              <a:rPr sz="1800">
                <a:solidFill>
                  <a:srgbClr val="000000"/>
                </a:solidFill>
              </a:rPr>
              <a:t>部署方案（非容器/standalone）</a:t>
            </a:r>
          </a:p>
          <a:p>
            <a:pPr/>
            <a:r>
              <a:rPr sz="1800">
                <a:solidFill>
                  <a:srgbClr val="000000"/>
                </a:solidFill>
              </a:rPr>
              <a:t>配置与环境变量</a:t>
            </a:r>
          </a:p>
          <a:p>
            <a:pPr/>
            <a:r>
              <a:rPr sz="1800">
                <a:solidFill>
                  <a:srgbClr val="000000"/>
                </a:solidFill>
              </a:rPr>
              <a:t>运维与监控</a:t>
            </a:r>
          </a:p>
          <a:p>
            <a:pPr/>
            <a:r>
              <a:rPr sz="1800">
                <a:solidFill>
                  <a:srgbClr val="000000"/>
                </a:solidFill>
              </a:rPr>
              <a:t>风险与解决</a:t>
            </a:r>
          </a:p>
          <a:p>
            <a:pPr/>
            <a:r>
              <a:rPr sz="1800">
                <a:solidFill>
                  <a:srgbClr val="000000"/>
                </a:solidFill>
              </a:rPr>
              <a:t>演示与验证</a:t>
            </a:r>
          </a:p>
          <a:p>
            <a:pPr/>
            <a:r>
              <a:rPr sz="1800">
                <a:solidFill>
                  <a:srgbClr val="000000"/>
                </a:solidFill>
              </a:rPr>
              <a:t>里程碑与计划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内网可控地调用企业数据与自建工具，形成标准化交付</a:t>
            </a:r>
          </a:p>
          <a:p>
            <a:pPr/>
            <a:r>
              <a:rPr sz="1800">
                <a:solidFill>
                  <a:srgbClr val="000000"/>
                </a:solidFill>
              </a:rPr>
              <a:t>首期聚焦非结构化数据（MinIO）与深度研究</a:t>
            </a:r>
          </a:p>
          <a:p>
            <a:pPr/>
            <a:r>
              <a:rPr sz="1800">
                <a:solidFill>
                  <a:srgbClr val="000000"/>
                </a:solidFill>
              </a:rPr>
              <a:t>支撑多专业协同的通用 AI 能力框架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框架能力（DeerFlow2.0）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LangGraph 后端 + API Gateway + Next.js 前端</a:t>
            </a:r>
          </a:p>
          <a:p>
            <a:pPr/>
            <a:r>
              <a:rPr sz="1800">
                <a:solidFill>
                  <a:srgbClr val="000000"/>
                </a:solidFill>
              </a:rPr>
              <a:t>工具与技能管理、长任务治理、对话记忆</a:t>
            </a:r>
          </a:p>
          <a:p>
            <a:pPr/>
            <a:r>
              <a:rPr sz="1800">
                <a:solidFill>
                  <a:srgbClr val="000000"/>
                </a:solidFill>
              </a:rPr>
              <a:t>可插拔 Sandbox（本地/容器），安全可控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服务器部署架构图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377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>
                <a:solidFill>
                  <a:srgbClr val="000000"/>
                </a:solidFill>
              </a:rPr>
              <a:t>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280160"/>
            <a:ext cx="2377440" cy="731520"/>
          </a:xfrm>
          <a:prstGeom prst="roundRect">
            <a:avLst/>
          </a:prstGeom>
          <a:solidFill>
            <a:srgbClr val="0E5AA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>
                <a:solidFill>
                  <a:srgbClr val="000000"/>
                </a:solidFill>
              </a:rPr>
              <a:t>Nginx Reverse Proxy</a:t>
            </a:r>
            <a:br/>
            <a:r>
              <a:rPr sz="1600">
                <a:solidFill>
                  <a:srgbClr val="000000"/>
                </a:solidFill>
              </a:rPr>
              <a:t>:2026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2377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>
                <a:solidFill>
                  <a:srgbClr val="000000"/>
                </a:solidFill>
              </a:rPr>
              <a:t>Frontend</a:t>
            </a:r>
            <a:br/>
            <a:r>
              <a:rPr sz="1600">
                <a:solidFill>
                  <a:srgbClr val="000000"/>
                </a:solidFill>
              </a:rPr>
              <a:t>Next.js (Standalone)</a:t>
            </a:r>
            <a:br/>
            <a:r>
              <a:rPr sz="1600">
                <a:solidFill>
                  <a:srgbClr val="000000"/>
                </a:solidFill>
              </a:rPr>
              <a:t>:3000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468880"/>
            <a:ext cx="2377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>
                <a:solidFill>
                  <a:srgbClr val="000000"/>
                </a:solidFill>
              </a:rPr>
              <a:t>API Gateway</a:t>
            </a:r>
            <a:br/>
            <a:r>
              <a:rPr sz="1600">
                <a:solidFill>
                  <a:srgbClr val="000000"/>
                </a:solidFill>
              </a:rPr>
              <a:t>FastAPI (Uvicorn)</a:t>
            </a:r>
            <a:br/>
            <a:r>
              <a:rPr sz="1600">
                <a:solidFill>
                  <a:srgbClr val="000000"/>
                </a:solidFill>
              </a:rPr>
              <a:t>:8001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468880"/>
            <a:ext cx="2377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>
                <a:solidFill>
                  <a:srgbClr val="000000"/>
                </a:solidFill>
              </a:rPr>
              <a:t>LangGraph Server</a:t>
            </a:r>
            <a:br/>
            <a:r>
              <a:rPr sz="1600">
                <a:solidFill>
                  <a:srgbClr val="000000"/>
                </a:solidFill>
              </a:rPr>
              <a:t>:2025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657600"/>
            <a:ext cx="2377440" cy="731520"/>
          </a:xfrm>
          <a:prstGeom prst="roundRect">
            <a:avLst/>
          </a:prstGeom>
          <a:solidFill>
            <a:srgbClr val="E6001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>
                <a:solidFill>
                  <a:srgbClr val="000000"/>
                </a:solidFill>
              </a:rPr>
              <a:t>Tools &amp; Skills</a:t>
            </a:r>
            <a:br/>
            <a:r>
              <a:rPr sz="1600">
                <a:solidFill>
                  <a:srgbClr val="000000"/>
                </a:solidFill>
              </a:rPr>
              <a:t>MinIO / File Conversion /</a:t>
            </a:r>
            <a:br/>
            <a:r>
              <a:rPr sz="1600">
                <a:solidFill>
                  <a:srgbClr val="000000"/>
                </a:solidFill>
              </a:rPr>
              <a:t>Search / MCP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2377440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600">
                <a:solidFill>
                  <a:srgbClr val="000000"/>
                </a:solidFill>
              </a:rPr>
              <a:t>/etc/deerflow/deerflow.env</a:t>
            </a:r>
            <a:br/>
            <a:r>
              <a:rPr sz="1600">
                <a:solidFill>
                  <a:srgbClr val="000000"/>
                </a:solidFill>
              </a:rPr>
              <a:t>Environment Variables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1645920.0"/>
            <a:ext cx="365760" cy="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48640" y="1645920.0"/>
            <a:ext cx="5120640" cy="118872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291840" y="1645920.0"/>
            <a:ext cx="2377440" cy="118872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834640.0"/>
            <a:ext cx="365760" cy="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35040" y="2834640.0"/>
            <a:ext cx="2377440" cy="118872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926080" y="2834640.0"/>
            <a:ext cx="365760" cy="118872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548640" y="2834640.0"/>
            <a:ext cx="2377440" cy="118872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数据架构图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194560" cy="822960"/>
          </a:xfrm>
          <a:prstGeom prst="rect">
            <a:avLst/>
          </a:prstGeom>
          <a:solidFill>
            <a:srgbClr val="0E5AA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MinIO</a:t>
            </a:r>
            <a:br/>
            <a:r>
              <a:rPr sz="1600">
                <a:solidFill>
                  <a:srgbClr val="000000"/>
                </a:solidFill>
              </a:rPr>
              <a:t>Buckets/Keys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63040"/>
            <a:ext cx="2194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File Conversion</a:t>
            </a:r>
            <a:br/>
            <a:r>
              <a:rPr sz="1600">
                <a:solidFill>
                  <a:srgbClr val="000000"/>
                </a:solidFill>
              </a:rPr>
              <a:t>.doc/.pdf → 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463040"/>
            <a:ext cx="2194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Indexing &amp; Search</a:t>
            </a:r>
            <a:br/>
            <a:r>
              <a:rPr sz="1600">
                <a:solidFill>
                  <a:srgbClr val="000000"/>
                </a:solidFill>
              </a:rPr>
              <a:t>Embeddings/RAG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463040"/>
            <a:ext cx="2194560" cy="822960"/>
          </a:xfrm>
          <a:prstGeom prst="rect">
            <a:avLst/>
          </a:prstGeom>
          <a:solidFill>
            <a:srgbClr val="E6001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Agents Orchestration</a:t>
            </a:r>
            <a:br/>
            <a:r>
              <a:rPr sz="1600">
                <a:solidFill>
                  <a:srgbClr val="000000"/>
                </a:solidFill>
              </a:rPr>
              <a:t>Lead + Subagents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651760"/>
            <a:ext cx="2194560" cy="82296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Artifacts &amp; Reports</a:t>
            </a:r>
            <a:br/>
            <a:r>
              <a:rPr sz="1600">
                <a:solidFill>
                  <a:srgbClr val="000000"/>
                </a:solidFill>
              </a:rPr>
              <a:t>Markdown/PDF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2651760"/>
            <a:ext cx="2194560" cy="82296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Frontend</a:t>
            </a:r>
            <a:br/>
            <a:r>
              <a:rPr sz="1600">
                <a:solidFill>
                  <a:srgbClr val="000000"/>
                </a:solidFill>
              </a:rPr>
              <a:t>Workspace/Chats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651760"/>
            <a:ext cx="2194560" cy="82296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000000"/>
                </a:solidFill>
              </a:rPr>
              <a:t>API 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1874520.0"/>
            <a:ext cx="274320" cy="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1874520.0"/>
            <a:ext cx="274320" cy="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1874520.0"/>
            <a:ext cx="274320" cy="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138160" y="1874520.0"/>
            <a:ext cx="2194560" cy="118872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200400" y="3063240.0"/>
            <a:ext cx="4663440" cy="0.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部署方案（非容器/standalone）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Windows 打包：Next.js standalone + 后端依赖 → Zip</a:t>
            </a:r>
          </a:p>
          <a:p>
            <a:pPr/>
            <a:r>
              <a:rPr sz="1800">
                <a:solidFill>
                  <a:srgbClr val="000000"/>
                </a:solidFill>
              </a:rPr>
              <a:t>服务器安装：同步到 /opt/deer-flow，uv 同步后端，Node 运行前端</a:t>
            </a:r>
          </a:p>
          <a:p>
            <a:pPr/>
            <a:r>
              <a:rPr sz="1800">
                <a:solidFill>
                  <a:srgbClr val="000000"/>
                </a:solidFill>
              </a:rPr>
              <a:t>systemd 管理：gateway/langgraph/frontend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配置与环境变量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统一位置：/etc/deerflow/deerflow.env</a:t>
            </a:r>
          </a:p>
          <a:p>
            <a:pPr/>
            <a:r>
              <a:rPr sz="1800">
                <a:solidFill>
                  <a:srgbClr val="000000"/>
                </a:solidFill>
              </a:rPr>
              <a:t>关键项：DEER_FLOW_CONFIG_PATH、DEER_FLOW_EXTENSIONS_CONFIG_PATH、MINIO_*、BETTER_AUTH_SECRET、端口</a:t>
            </a:r>
          </a:p>
          <a:p>
            <a:pPr/>
            <a:r>
              <a:rPr sz="1800">
                <a:solidFill>
                  <a:srgbClr val="000000"/>
                </a:solidFill>
              </a:rPr>
              <a:t>配置：/opt/deer-flow/config.yaml（支持 $ENV 注入）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运维与监控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健康检查与文档：/health、/docs、前端 3000</a:t>
            </a:r>
          </a:p>
          <a:p>
            <a:pPr/>
            <a:r>
              <a:rPr sz="1800">
                <a:solidFill>
                  <a:srgbClr val="000000"/>
                </a:solidFill>
              </a:rPr>
              <a:t>日志与排错：journalctl/systemctl、端口监听、代理绕过（--noproxy）</a:t>
            </a:r>
          </a:p>
          <a:p>
            <a:pPr/>
            <a:r>
              <a:rPr sz="1800">
                <a:solidFill>
                  <a:srgbClr val="000000"/>
                </a:solidFill>
              </a:rPr>
              <a:t>依赖版本：Node 22、uv、LibreOffice/antiword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风险与解决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代理拦截导致 503：本地/localhost 验证与 noproxy</a:t>
            </a:r>
          </a:p>
          <a:p>
            <a:pPr/>
            <a:r>
              <a:rPr sz="1800">
                <a:solidFill>
                  <a:srgbClr val="000000"/>
                </a:solidFill>
              </a:rPr>
              <a:t>前端独立依赖缺失：确保 .next/standalone/node_modules 保留</a:t>
            </a:r>
          </a:p>
          <a:p>
            <a:pPr/>
            <a:r>
              <a:rPr sz="1800">
                <a:solidFill>
                  <a:srgbClr val="000000"/>
                </a:solidFill>
              </a:rPr>
              <a:t>配置未注入：DEER_FLOW_CONFIG_PATH 指向存在的 config.yaml，$ENV 齐备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演示与最小验证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本地：3000/8001/2025 三端口联通</a:t>
            </a:r>
          </a:p>
          <a:p>
            <a:pPr/>
            <a:r>
              <a:rPr sz="1800">
                <a:solidFill>
                  <a:srgbClr val="000000"/>
                </a:solidFill>
              </a:rPr>
              <a:t>服务器：run.sh 前台验证或 systemd 自启，curl noproxy 验证</a:t>
            </a:r>
          </a:p>
          <a:p>
            <a:pPr/>
            <a:r>
              <a:rPr sz="1800">
                <a:solidFill>
                  <a:srgbClr val="000000"/>
                </a:solidFill>
              </a:rPr>
              <a:t>MinIO 样例：列举→读取→转换→总结报告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里程碑与计划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000000"/>
                </a:solidFill>
              </a:rPr>
              <a:t>M1：MinIO 读取与转换通路打通</a:t>
            </a:r>
          </a:p>
          <a:p>
            <a:pPr/>
            <a:r>
              <a:rPr sz="1800">
                <a:solidFill>
                  <a:srgbClr val="000000"/>
                </a:solidFill>
              </a:rPr>
              <a:t>M2：多智能体编排与研究报告模板</a:t>
            </a:r>
          </a:p>
          <a:p>
            <a:pPr/>
            <a:r>
              <a:rPr sz="1800">
                <a:solidFill>
                  <a:srgbClr val="000000"/>
                </a:solidFill>
              </a:rPr>
              <a:t>M3：内网稳定部署与运维手册</a:t>
            </a:r>
          </a:p>
          <a:p>
            <a:pPr/>
            <a:r>
              <a:rPr sz="1800">
                <a:solidFill>
                  <a:srgbClr val="000000"/>
                </a:solidFill>
              </a:rPr>
              <a:t>M4：扩展到结构化数据与更多技能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DeerFlow2.0 内网可控数据接入与部署框架</dc:title>
  <dc:subject/>
  <dc:creator>DeerFlow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
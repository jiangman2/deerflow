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201.xml" ContentType="application/vnd.openxmlformats-officedocument.drawingml.char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  <Relationship Id="rId12" Type="http://schemas.openxmlformats.org/officeDocument/2006/relationships/notesMaster" Target="notesMasters/notesMaster1.xml"/>
</Relationships>
</file>

<file path=ppt/charts/_rels/chart2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201.xlsx"/>
</Relationships>
</file>

<file path=ppt/charts/chart2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装机容量（万千瓦）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2025</c:v>
                </c:pt>
                <c:pt idx="2">
                  <c:v>2026</c:v>
                </c:pt>
                <c:pt idx="3">
                  <c:v>2030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108</c:v>
                </c:pt>
                <c:pt idx="2">
                  <c:v>350</c:v>
                </c:pt>
                <c:pt idx="3">
                  <c:v>1000</c:v>
                </c:pt>
              </c:numCache>
            </c:numRef>
          </c:val>
        </c:ser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333333"/>
            </a:solidFill>
            <a:round/>
          </a:ln>
        </c:spPr>
        <c:txPr>
          <a:bodyPr/>
          <a:lstStyle/>
          <a:p>
            <a:pPr>
              <a:defRPr lang="zh-CN" sz="900">
                <a:solidFill>
                  <a:srgbClr val="6C7A89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8E8"/>
              </a:solidFill>
              <a:round/>
            </a:ln>
          </c:spPr>
        </c:majorGridlines>
        <c:majorTickMark val="out"/>
        <c:minorTickMark val="none"/>
        <c:tickLblPos val="nextTo"/>
        <c:spPr>
          <a:ln w="9525" cap="flat" cmpd="sng" algn="ctr">
            <a:solidFill>
              <a:srgbClr val="333333"/>
            </a:solidFill>
            <a:round/>
          </a:ln>
        </c:spPr>
        <c:txPr>
          <a:bodyPr/>
          <a:lstStyle/>
          <a:p>
            <a:pPr>
              <a:defRPr lang="zh-CN" sz="900">
                <a:solidFill>
                  <a:srgbClr val="6C7A89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autoZero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CN" sz="900">
          <a:solidFill>
            <a:srgbClr val="6C7A89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好，欢迎参加本次关于中国海油海上新能源发展路线图的汇报。中国海油作为国家能源安全的重要支柱，正在积极布局从传统深水油气向海上新能源的战略转型。本次汇报将从战略布局、技术突破、发展路径和未来愿景四个维度，为大家呈现这一转型的全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首先来看战略布局与核心目标。截至2025年，中国海油已获取新能源资源超过1100万千瓦，投产装机容量超过108万千瓦，远超最初规划的500到1000万千瓦获取目标。2026年，公司规划新增海上风电装机容量350万千瓦，同比增长百分之四十，资本开支计划达到1250亿元人民币。从图表中可以看到，从2023年到2030年，装机规模将呈现指数级增长态势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技术路线方面，中国海油有两个标志性项目。海油观澜号是中国首个深远海浮式风电平台，采用半潜式技术，容量7.25兆瓦，在水深120米、离岸136公里的海南文昌海域成功并网。而2026年8月刚刚并网的海油安澜号更是全球首创——16兆瓦张力腿浮式风电平台，装机容量提升了2.2倍，年发电量可达5400万千瓦时。从观澜号到安澜号，标志着中国深远海浮式风电技术实现了重大跨越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发展路径上，中国海油规划了四个阶段。近期2024到2025年，重点是海上风电规模化开发；中期2026到2028年，推动深远海浮式技术成熟和海上光伏突破；远期2029到2030年，实现绿氢制备和储能系统商业化，这也是碳达峰目标的关键节点；远景2035年之后，构建风电、光伏、制氢、储能、海洋牧场五位一体的多能互补综合体系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展望未来。目前中国海上风电累计装机约占全球百分之五十，达到36.5吉瓦。在国家2030年碳达峰、2060年碳中和的"双碳"目标驱动下，中国海油正朝着"国际一流的海上新能源综合服务商"的愿景迈进。通过深远海浮式风电技术引领、多能互补协同、油气与新能源融合发展，为国家能源转型做出重要贡献。谢谢大家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nooc_new_energ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nooc_new_energ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201.xml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1E3C"/>
            </a:gs>
            <a:gs pos="50000">
              <a:schemeClr val="accent1"/>
            </a:gs>
            <a:gs pos="100000">
              <a:srgbClr val="005C99"/>
            </a:gs>
          </a:gsLst>
          <a:lin ang="4091915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8763000" y="-571500"/>
            <a:ext cx="3429000" cy="3429000"/>
            <a:chOff x="8763000" y="-571500"/>
            <a:chExt cx="3429000" cy="3429000"/>
          </a:xfrm>
        </p:grpSpPr>
        <p:sp>
          <p:nvSpPr>
            <p:cNvPr id="2" name="Ellipse 2"/>
            <p:cNvSpPr/>
            <p:nvPr/>
          </p:nvSpPr>
          <p:spPr>
            <a:xfrm>
              <a:off x="8763000" y="-571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FFFFFF">
                  <a:alpha val="6000"/>
                </a:srgbClr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9239250" y="-95250"/>
              <a:ext cx="2476500" cy="2476500"/>
            </a:xfrm>
            <a:prstGeom prst="ellipse">
              <a:avLst/>
            </a:prstGeom>
            <a:noFill/>
            <a:ln w="9525">
              <a:solidFill>
                <a:srgbClr val="FFFFFF">
                  <a:alpha val="4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715500" y="381000"/>
              <a:ext cx="1524000" cy="1524000"/>
            </a:xfrm>
            <a:prstGeom prst="ellipse">
              <a:avLst/>
            </a:prstGeom>
            <a:noFill/>
            <a:ln w="9525">
              <a:solidFill>
                <a:srgbClr val="FFFFFF">
                  <a:alpha val="3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2814028" y="2000250"/>
            <a:ext cx="6563944" cy="1478089"/>
            <a:chOff x="2814028" y="2000250"/>
            <a:chExt cx="6563944" cy="1478089"/>
          </a:xfrm>
        </p:grpSpPr>
        <p:sp>
          <p:nvSpPr>
            <p:cNvPr id="6" name="Rectangle 6"/>
            <p:cNvSpPr/>
            <p:nvPr/>
          </p:nvSpPr>
          <p:spPr>
            <a:xfrm>
              <a:off x="5524500" y="2000250"/>
              <a:ext cx="1143000" cy="2857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814028" y="2406015"/>
              <a:ext cx="656394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中国海油海上新能源发展路线图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199572" y="315563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>
                      <a:alphaMod val="75000"/>
                    </a:srgbClr>
                  </a:solidFill>
                  <a:latin typeface="Arial"/>
                  <a:ea typeface="Microsoft YaHei"/>
                  <a:cs typeface="Arial"/>
                </a:rPr>
                <a:t>从深水油气到深远海新能源的战略跨越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848100" y="4229100"/>
            <a:ext cx="4495800" cy="863537"/>
            <a:chOff x="3848100" y="4229100"/>
            <a:chExt cx="4495800" cy="863537"/>
          </a:xfrm>
        </p:grpSpPr>
        <p:grpSp>
          <p:nvGrpSpPr>
            <p:cNvPr id="17" name="Group 17"/>
            <p:cNvGrpSpPr/>
            <p:nvPr/>
          </p:nvGrpSpPr>
          <p:grpSpPr>
            <a:xfrm>
              <a:off x="3848100" y="4229100"/>
              <a:ext cx="685800" cy="863537"/>
              <a:chOff x="3848100" y="4229100"/>
              <a:chExt cx="685800" cy="863537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3848100" y="4229100"/>
                <a:ext cx="685800" cy="685800"/>
              </a:xfrm>
              <a:prstGeom prst="ellipse">
                <a:avLst/>
              </a:pr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4162425" y="4476750"/>
                <a:ext cx="57150" cy="285750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4152900" y="4419600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4171950" y="4238625"/>
                <a:ext cx="38100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19075">
                    <a:moveTo>
                      <a:pt x="19050" y="219075"/>
                    </a:moveTo>
                    <a:lnTo>
                      <a:pt x="0" y="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191000" y="4457700"/>
                <a:ext cx="1905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33350">
                    <a:moveTo>
                      <a:pt x="0" y="0"/>
                    </a:moveTo>
                    <a:lnTo>
                      <a:pt x="190500" y="95250"/>
                    </a:lnTo>
                    <a:lnTo>
                      <a:pt x="171450" y="13335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000500" y="4457700"/>
                <a:ext cx="1905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33350">
                    <a:moveTo>
                      <a:pt x="190500" y="0"/>
                    </a:moveTo>
                    <a:lnTo>
                      <a:pt x="0" y="95250"/>
                    </a:lnTo>
                    <a:lnTo>
                      <a:pt x="19050" y="13335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902964" y="48872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>
                        <a:alphaMod val="70000"/>
                      </a:srgbClr>
                    </a:solidFill>
                    <a:latin typeface="Arial"/>
                    <a:ea typeface="Microsoft YaHei"/>
                    <a:cs typeface="Arial"/>
                  </a:rPr>
                  <a:t>海上风电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753100" y="4229100"/>
              <a:ext cx="685800" cy="863537"/>
              <a:chOff x="5753100" y="4229100"/>
              <a:chExt cx="685800" cy="863537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5753100" y="4229100"/>
                <a:ext cx="685800" cy="685800"/>
              </a:xfrm>
              <a:prstGeom prst="ellipse">
                <a:avLst/>
              </a:pr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5886450" y="4400550"/>
                <a:ext cx="419100" cy="266700"/>
              </a:xfrm>
              <a:prstGeom prst="roundRect">
                <a:avLst>
                  <a:gd name="adj" fmla="val 7143"/>
                </a:avLst>
              </a:pr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6000750" y="4400550"/>
                <a:ext cx="95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">
                    <a:moveTo>
                      <a:pt x="0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11430">
                <a:solidFill>
                  <a:schemeClr val="accent2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6096000" y="4400550"/>
                <a:ext cx="95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">
                    <a:moveTo>
                      <a:pt x="0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11430">
                <a:solidFill>
                  <a:schemeClr val="accent2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6191250" y="4400550"/>
                <a:ext cx="95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">
                    <a:moveTo>
                      <a:pt x="0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11430">
                <a:solidFill>
                  <a:schemeClr val="accent2"/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5886450" y="4533900"/>
                <a:ext cx="419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9525">
                    <a:moveTo>
                      <a:pt x="0" y="0"/>
                    </a:moveTo>
                    <a:lnTo>
                      <a:pt x="419100" y="0"/>
                    </a:lnTo>
                  </a:path>
                </a:pathLst>
              </a:custGeom>
              <a:noFill/>
              <a:ln w="11430">
                <a:solidFill>
                  <a:schemeClr val="accent2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067425" y="4667250"/>
                <a:ext cx="57150" cy="76200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807964" y="48872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>
                        <a:alphaMod val="70000"/>
                      </a:srgbClr>
                    </a:solidFill>
                    <a:latin typeface="Arial"/>
                    <a:ea typeface="Microsoft YaHei"/>
                    <a:cs typeface="Arial"/>
                  </a:rPr>
                  <a:t>海上光伏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7658100" y="4229100"/>
              <a:ext cx="685800" cy="863537"/>
              <a:chOff x="7658100" y="4229100"/>
              <a:chExt cx="685800" cy="863537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658100" y="4229100"/>
                <a:ext cx="685800" cy="685800"/>
              </a:xfrm>
              <a:prstGeom prst="ellipse">
                <a:avLst/>
              </a:pr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7772400" y="4438650"/>
                <a:ext cx="228600" cy="228600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8001000" y="4438650"/>
                <a:ext cx="228600" cy="228600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848259" y="4511516"/>
                <a:ext cx="7688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b="1" dirty="0">
                    <a:solidFill>
                      <a:schemeClr val="accent2"/>
                    </a:solidFill>
                    <a:latin typeface="Arial"/>
                    <a:ea typeface="Arial"/>
                    <a:cs typeface="Arial"/>
                  </a:rPr>
                  <a:t>H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076859" y="4511516"/>
                <a:ext cx="7688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b="1" dirty="0">
                    <a:solidFill>
                      <a:schemeClr val="accent2"/>
                    </a:solidFill>
                    <a:latin typeface="Arial"/>
                    <a:ea typeface="Arial"/>
                    <a:cs typeface="Arial"/>
                  </a:rPr>
                  <a:t>H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8001000" y="4552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712964" y="48872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>
                        <a:alphaMod val="70000"/>
                      </a:srgbClr>
                    </a:solidFill>
                    <a:latin typeface="Arial"/>
                    <a:ea typeface="Microsoft YaHei"/>
                    <a:cs typeface="Arial"/>
                  </a:rPr>
                  <a:t>绿氢制备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0" y="5794375"/>
            <a:ext cx="12192000" cy="1063625"/>
            <a:chOff x="0" y="5794375"/>
            <a:chExt cx="12192000" cy="1063625"/>
          </a:xfrm>
        </p:grpSpPr>
        <p:sp>
          <p:nvSpPr>
            <p:cNvPr id="36" name="Freeform 36"/>
            <p:cNvSpPr/>
            <p:nvPr/>
          </p:nvSpPr>
          <p:spPr>
            <a:xfrm>
              <a:off x="0" y="5794375"/>
              <a:ext cx="12192000" cy="1063625"/>
            </a:xfrm>
            <a:custGeom>
              <a:avLst/>
              <a:gdLst/>
              <a:ahLst/>
              <a:cxnLst/>
              <a:rect l="l" t="t" r="r" b="b"/>
              <a:pathLst>
                <a:path w="12192000" h="1063625">
                  <a:moveTo>
                    <a:pt x="0" y="301625"/>
                  </a:moveTo>
                  <a:cubicBezTo>
                    <a:pt x="1016000" y="111125"/>
                    <a:pt x="2032000" y="79375"/>
                    <a:pt x="3048000" y="206375"/>
                  </a:cubicBezTo>
                  <a:cubicBezTo>
                    <a:pt x="4064000" y="333375"/>
                    <a:pt x="5080000" y="317500"/>
                    <a:pt x="6096000" y="158750"/>
                  </a:cubicBezTo>
                  <a:cubicBezTo>
                    <a:pt x="7112000" y="0"/>
                    <a:pt x="8128000" y="15875"/>
                    <a:pt x="9144000" y="206375"/>
                  </a:cubicBezTo>
                  <a:cubicBezTo>
                    <a:pt x="10160000" y="396875"/>
                    <a:pt x="11176000" y="365125"/>
                    <a:pt x="12192000" y="111125"/>
                  </a:cubicBezTo>
                  <a:lnTo>
                    <a:pt x="12192000" y="1063625"/>
                  </a:lnTo>
                  <a:lnTo>
                    <a:pt x="0" y="1063625"/>
                  </a:lnTo>
                  <a:close/>
                </a:path>
              </a:pathLst>
            </a:custGeom>
            <a:gradFill>
              <a:gsLst>
                <a:gs pos="0">
                  <a:schemeClr val="lt1">
                    <a:alpha val="0"/>
                  </a:schemeClr>
                </a:gs>
                <a:gs pos="20000">
                  <a:schemeClr val="lt1">
                    <a:alpha val="15000"/>
                  </a:schemeClr>
                </a:gs>
                <a:gs pos="80000">
                  <a:schemeClr val="lt1">
                    <a:alpha val="15000"/>
                  </a:schemeClr>
                </a:gs>
                <a:gs pos="100000">
                  <a:schemeClr val="lt1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0" y="5953125"/>
              <a:ext cx="12192000" cy="412750"/>
            </a:xfrm>
            <a:custGeom>
              <a:avLst/>
              <a:gdLst/>
              <a:ahLst/>
              <a:cxnLst/>
              <a:rect l="l" t="t" r="r" b="b"/>
              <a:pathLst>
                <a:path w="12192000" h="412750">
                  <a:moveTo>
                    <a:pt x="0" y="333375"/>
                  </a:moveTo>
                  <a:cubicBezTo>
                    <a:pt x="1270000" y="174625"/>
                    <a:pt x="2540000" y="158750"/>
                    <a:pt x="3810000" y="285750"/>
                  </a:cubicBezTo>
                  <a:cubicBezTo>
                    <a:pt x="5080000" y="412750"/>
                    <a:pt x="6350000" y="381000"/>
                    <a:pt x="7620000" y="190500"/>
                  </a:cubicBezTo>
                  <a:cubicBezTo>
                    <a:pt x="8890000" y="0"/>
                    <a:pt x="10414000" y="15875"/>
                    <a:pt x="12192000" y="238125"/>
                  </a:cubicBezTo>
                </a:path>
              </a:pathLst>
            </a:custGeom>
            <a:noFill/>
            <a:ln w="19050">
              <a:gradFill>
                <a:gsLst>
                  <a:gs pos="0">
                    <a:schemeClr val="accent2">
                      <a:alpha val="0"/>
                    </a:schemeClr>
                  </a:gs>
                  <a:gs pos="30000">
                    <a:schemeClr val="accent2">
                      <a:alpha val="60000"/>
                    </a:schemeClr>
                  </a:gs>
                  <a:gs pos="70000">
                    <a:schemeClr val="accent2">
                      <a:alpha val="60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1"/>
              </a:gradFill>
            </a:ln>
          </p:spPr>
        </p:sp>
      </p:grpSp>
      <p:sp>
        <p:nvSpPr>
          <p:cNvPr id="39" name="TextBox 39"/>
          <p:cNvSpPr txBox="1"/>
          <p:nvPr/>
        </p:nvSpPr>
        <p:spPr>
          <a:xfrm>
            <a:off x="5438005" y="6562249"/>
            <a:ext cx="131598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FFFFFF">
                    <a:alphaMod val="45000"/>
                  </a:srgbClr>
                </a:solidFill>
                <a:latin typeface="Arial"/>
                <a:ea typeface="Microsoft YaHei"/>
                <a:cs typeface="Arial"/>
              </a:rPr>
              <a:t>2026年8月 · 行业汇报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9308" y="483870"/>
            <a:ext cx="4584192" cy="469392"/>
            <a:chOff x="559308" y="483870"/>
            <a:chExt cx="4584192" cy="469392"/>
          </a:xfrm>
        </p:grpSpPr>
        <p:sp>
          <p:nvSpPr>
            <p:cNvPr id="2" name="TextBox 2"/>
            <p:cNvSpPr txBox="1"/>
            <p:nvPr/>
          </p:nvSpPr>
          <p:spPr>
            <a:xfrm>
              <a:off x="559308" y="483870"/>
              <a:ext cx="30775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战略布局与核心目标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876300"/>
              <a:ext cx="4572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762000" y="1428750"/>
            <a:ext cx="4000500" cy="4381500"/>
            <a:chOff x="762000" y="1428750"/>
            <a:chExt cx="4000500" cy="4381500"/>
          </a:xfrm>
        </p:grpSpPr>
        <p:grpSp>
          <p:nvGrpSpPr>
            <p:cNvPr id="11" name="Group 11"/>
            <p:cNvGrpSpPr/>
            <p:nvPr/>
          </p:nvGrpSpPr>
          <p:grpSpPr>
            <a:xfrm>
              <a:off x="762000" y="1428750"/>
              <a:ext cx="4000500" cy="1333500"/>
              <a:chOff x="762000" y="1428750"/>
              <a:chExt cx="4000500" cy="133350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762000" y="1428750"/>
                <a:ext cx="4000500" cy="1333500"/>
              </a:xfrm>
              <a:prstGeom prst="roundRect">
                <a:avLst>
                  <a:gd name="adj" fmla="val 8571"/>
                </a:avLst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6" name="Rectangle 6"/>
              <p:cNvSpPr/>
              <p:nvPr/>
            </p:nvSpPr>
            <p:spPr>
              <a:xfrm>
                <a:off x="762000" y="1428750"/>
                <a:ext cx="57150" cy="13335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42035" y="1650206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新能源资源获取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29462" y="1897380"/>
                <a:ext cx="1715826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1"/>
                    </a:solidFill>
                    <a:latin typeface="Arial"/>
                    <a:ea typeface="Arial"/>
                    <a:cs typeface="Arial"/>
                  </a:rPr>
                  <a:t>&gt;1,100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3516630" y="21240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1"/>
                    </a:solidFill>
                    <a:latin typeface="Arial"/>
                    <a:ea typeface="Microsoft YaHei"/>
                    <a:cs typeface="Arial"/>
                  </a:rPr>
                  <a:t>万千瓦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42797" y="2485549"/>
                <a:ext cx="17593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截至2025年累计获取 · F002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62000" y="2952750"/>
              <a:ext cx="4000500" cy="1333500"/>
              <a:chOff x="762000" y="2952750"/>
              <a:chExt cx="4000500" cy="13335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62000" y="2952750"/>
                <a:ext cx="4000500" cy="1333500"/>
              </a:xfrm>
              <a:prstGeom prst="roundRect">
                <a:avLst>
                  <a:gd name="adj" fmla="val 8571"/>
                </a:avLst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762000" y="2952750"/>
                <a:ext cx="57150" cy="13335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42035" y="3174206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投产装机容量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29462" y="3421380"/>
                <a:ext cx="1156076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2"/>
                    </a:solidFill>
                    <a:latin typeface="Arial"/>
                    <a:ea typeface="Arial"/>
                    <a:cs typeface="Arial"/>
                  </a:rPr>
                  <a:t>&gt;108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897505" y="36480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2"/>
                    </a:solidFill>
                    <a:latin typeface="Arial"/>
                    <a:ea typeface="Microsoft YaHei"/>
                    <a:cs typeface="Arial"/>
                  </a:rPr>
                  <a:t>万千瓦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42797" y="4009549"/>
                <a:ext cx="161992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2025年已投产运营 · F002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62000" y="4476750"/>
              <a:ext cx="4000500" cy="1333500"/>
              <a:chOff x="762000" y="4476750"/>
              <a:chExt cx="4000500" cy="1333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762000" y="4476750"/>
                <a:ext cx="4000500" cy="1333500"/>
              </a:xfrm>
              <a:prstGeom prst="roundRect">
                <a:avLst>
                  <a:gd name="adj" fmla="val 8571"/>
                </a:avLst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762000" y="4476750"/>
                <a:ext cx="57150" cy="13335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42035" y="4698206"/>
                <a:ext cx="109700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2026年规划装机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29462" y="494538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3"/>
                    </a:solidFill>
                    <a:latin typeface="Arial"/>
                    <a:ea typeface="Arial"/>
                    <a:cs typeface="Arial"/>
                  </a:rPr>
                  <a:t>350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564130" y="51720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3"/>
                    </a:solidFill>
                    <a:latin typeface="Arial"/>
                    <a:ea typeface="Microsoft YaHei"/>
                    <a:cs typeface="Arial"/>
                  </a:rPr>
                  <a:t>万千瓦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42797" y="5533549"/>
                <a:ext cx="12923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同比增长40% · F003</a:t>
                </a:r>
              </a:p>
            </p:txBody>
          </p:sp>
        </p:grpSp>
      </p:grpSp>
      <p:graphicFrame>
        <p:nvGraphicFramePr>
          <p:cNvPr id="27" name="capacity-growth"/>
          <p:cNvGraphicFramePr>
            <a:graphicFrameLocks noGrp="1"/>
          </p:cNvGraphicFramePr>
          <p:nvPr/>
        </p:nvGraphicFramePr>
        <p:xfrm>
          <a:off x="5334000" y="1257300"/>
          <a:ext cx="6096000" cy="505539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TextBox 28"/>
          <p:cNvSpPr txBox="1"/>
          <p:nvPr/>
        </p:nvSpPr>
        <p:spPr>
          <a:xfrm>
            <a:off x="11739601" y="65703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chemeClr val="accent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2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9308" y="483870"/>
            <a:ext cx="5346192" cy="469392"/>
            <a:chOff x="559308" y="483870"/>
            <a:chExt cx="5346192" cy="469392"/>
          </a:xfrm>
        </p:grpSpPr>
        <p:sp>
          <p:nvSpPr>
            <p:cNvPr id="2" name="TextBox 2"/>
            <p:cNvSpPr txBox="1"/>
            <p:nvPr/>
          </p:nvSpPr>
          <p:spPr>
            <a:xfrm>
              <a:off x="559308" y="4838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技术路线与标志性项目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876300"/>
              <a:ext cx="5334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571500" y="1143000"/>
            <a:ext cx="5334000" cy="4191000"/>
            <a:chOff x="571500" y="1143000"/>
            <a:chExt cx="5334000" cy="4191000"/>
          </a:xfrm>
        </p:grpSpPr>
        <p:sp>
          <p:nvSpPr>
            <p:cNvPr id="5" name="Rectangle 5"/>
            <p:cNvSpPr/>
            <p:nvPr/>
          </p:nvSpPr>
          <p:spPr>
            <a:xfrm>
              <a:off x="571500" y="1143000"/>
              <a:ext cx="5334000" cy="4191000"/>
            </a:xfrm>
            <a:prstGeom prst="roundRect">
              <a:avLst>
                <a:gd name="adj" fmla="val 3636"/>
              </a:avLst>
            </a:prstGeom>
            <a:solidFill>
              <a:schemeClr val="lt1"/>
            </a:solidFill>
            <a:ln w="14288">
              <a:solidFill>
                <a:srgbClr val="E0E6ED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143000"/>
              <a:ext cx="5334000" cy="571500"/>
            </a:xfrm>
            <a:prstGeom prst="roundRect">
              <a:avLst>
                <a:gd name="adj" fmla="val 26667"/>
              </a:avLst>
            </a:prstGeom>
            <a:gradFill>
              <a:gsLst>
                <a:gs pos="0">
                  <a:schemeClr val="accent1"/>
                </a:gs>
                <a:gs pos="100000">
                  <a:srgbClr val="005C99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1524000"/>
              <a:ext cx="5334000" cy="190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rgbClr val="005C99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593276" y="13296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海油观澜号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933450" y="1981200"/>
              <a:ext cx="609600" cy="609600"/>
              <a:chOff x="933450" y="1981200"/>
              <a:chExt cx="609600" cy="60960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933450" y="1981200"/>
                <a:ext cx="609600" cy="609600"/>
              </a:xfrm>
              <a:prstGeom prst="ellipse">
                <a:avLst/>
              </a:prstGeom>
              <a:solidFill>
                <a:srgbClr val="E8F4FD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1209675" y="2228850"/>
                <a:ext cx="57150" cy="22860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204912" y="2176462"/>
                <a:ext cx="66675" cy="666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19200" y="2019300"/>
                <a:ext cx="381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90500">
                    <a:moveTo>
                      <a:pt x="19050" y="190500"/>
                    </a:moveTo>
                    <a:lnTo>
                      <a:pt x="0" y="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38250" y="2209800"/>
                <a:ext cx="1619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14300">
                    <a:moveTo>
                      <a:pt x="0" y="0"/>
                    </a:moveTo>
                    <a:lnTo>
                      <a:pt x="161925" y="76200"/>
                    </a:lnTo>
                    <a:lnTo>
                      <a:pt x="142875" y="1143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76325" y="2209800"/>
                <a:ext cx="1619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14300">
                    <a:moveTo>
                      <a:pt x="161925" y="0"/>
                    </a:moveTo>
                    <a:lnTo>
                      <a:pt x="0" y="76200"/>
                    </a:lnTo>
                    <a:lnTo>
                      <a:pt x="19050" y="1143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708785" y="20883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中国首个深远海浮式风电平台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9547" y="2314099"/>
              <a:ext cx="17117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半潜式浮式 · 2023年5月并网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57250" y="26479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E8E8E8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857250" y="2809875"/>
              <a:ext cx="4762500" cy="1962150"/>
              <a:chOff x="857250" y="2809875"/>
              <a:chExt cx="4762500" cy="19621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857250" y="2809875"/>
                <a:ext cx="4762500" cy="419100"/>
              </a:xfrm>
              <a:prstGeom prst="roundRect">
                <a:avLst>
                  <a:gd name="adj" fmla="val 18182"/>
                </a:avLst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89660" y="2955131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装机容量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339895" y="2898458"/>
                <a:ext cx="100248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b="1" dirty="0">
                    <a:solidFill>
                      <a:schemeClr val="accent1"/>
                    </a:solidFill>
                    <a:latin typeface="Arial"/>
                    <a:ea typeface="Arial"/>
                    <a:cs typeface="Arial"/>
                  </a:rPr>
                  <a:t>7.25 MW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857250" y="3324225"/>
                <a:ext cx="4762500" cy="419100"/>
              </a:xfrm>
              <a:prstGeom prst="roundRect">
                <a:avLst>
                  <a:gd name="adj" fmla="val 18182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89660" y="3469481"/>
                <a:ext cx="78791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水深 / 离岸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809629" y="3412808"/>
                <a:ext cx="153275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b="1" dirty="0">
                    <a:solidFill>
                      <a:schemeClr val="accent1"/>
                    </a:solidFill>
                    <a:latin typeface="Arial"/>
                    <a:ea typeface="Arial"/>
                    <a:cs typeface="Arial"/>
                  </a:rPr>
                  <a:t>120m / 136km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857250" y="3838575"/>
                <a:ext cx="4762500" cy="419100"/>
              </a:xfrm>
              <a:prstGeom prst="roundRect">
                <a:avLst>
                  <a:gd name="adj" fmla="val 18182"/>
                </a:avLst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89660" y="3983831"/>
                <a:ext cx="46375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总重量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346056" y="3927158"/>
                <a:ext cx="99632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b="1" dirty="0">
                    <a:solidFill>
                      <a:schemeClr val="accent1"/>
                    </a:solidFill>
                    <a:latin typeface="Arial"/>
                    <a:ea typeface="Microsoft YaHei"/>
                    <a:cs typeface="Arial"/>
                  </a:rPr>
                  <a:t>~1.1万吨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857250" y="4352925"/>
                <a:ext cx="4762500" cy="419100"/>
              </a:xfrm>
              <a:prstGeom prst="roundRect">
                <a:avLst>
                  <a:gd name="adj" fmla="val 18182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089660" y="4498181"/>
                <a:ext cx="31297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位置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423639" y="4498181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海南文昌海域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6286500" y="1143000"/>
            <a:ext cx="5334000" cy="4191000"/>
            <a:chOff x="6286500" y="1143000"/>
            <a:chExt cx="5334000" cy="4191000"/>
          </a:xfrm>
        </p:grpSpPr>
        <p:sp>
          <p:nvSpPr>
            <p:cNvPr id="33" name="Rectangle 33"/>
            <p:cNvSpPr/>
            <p:nvPr/>
          </p:nvSpPr>
          <p:spPr>
            <a:xfrm>
              <a:off x="6286500" y="1143000"/>
              <a:ext cx="5334000" cy="4191000"/>
            </a:xfrm>
            <a:prstGeom prst="roundRect">
              <a:avLst>
                <a:gd name="adj" fmla="val 3636"/>
              </a:avLst>
            </a:prstGeom>
            <a:solidFill>
              <a:schemeClr val="lt1"/>
            </a:solidFill>
            <a:ln w="14288">
              <a:solidFill>
                <a:srgbClr val="E0E6ED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86500" y="1143000"/>
              <a:ext cx="5334000" cy="571500"/>
            </a:xfrm>
            <a:prstGeom prst="roundRect">
              <a:avLst>
                <a:gd name="adj" fmla="val 26667"/>
              </a:avLst>
            </a:prstGeom>
            <a:gradFill>
              <a:gsLst>
                <a:gs pos="0">
                  <a:schemeClr val="accent2"/>
                </a:gs>
                <a:gs pos="100000">
                  <a:srgbClr val="00C96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86500" y="1524000"/>
              <a:ext cx="5334000" cy="1905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rgbClr val="00C96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08276" y="13296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海油安澜号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6648450" y="1981200"/>
              <a:ext cx="609600" cy="609600"/>
              <a:chOff x="6648450" y="1981200"/>
              <a:chExt cx="609600" cy="609600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6648450" y="1981200"/>
                <a:ext cx="609600" cy="609600"/>
              </a:xfrm>
              <a:prstGeom prst="ellipse">
                <a:avLst/>
              </a:prstGeom>
              <a:solidFill>
                <a:srgbClr val="E6F9EE"/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6858000" y="2171700"/>
                <a:ext cx="190500" cy="228600"/>
              </a:xfrm>
              <a:prstGeom prst="roundRect">
                <a:avLst>
                  <a:gd name="adj" fmla="val 1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Line 39"/>
              <p:cNvSpPr/>
              <p:nvPr/>
            </p:nvSpPr>
            <p:spPr>
              <a:xfrm>
                <a:off x="6819900" y="2400300"/>
                <a:ext cx="571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52400">
                    <a:moveTo>
                      <a:pt x="5715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7029450" y="2400300"/>
                <a:ext cx="571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52400">
                    <a:moveTo>
                      <a:pt x="0" y="0"/>
                    </a:moveTo>
                    <a:lnTo>
                      <a:pt x="57150" y="1524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6953250" y="24003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423785" y="2088356"/>
              <a:ext cx="21780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全球首座16MW张力腿浮式风电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24547" y="2314099"/>
              <a:ext cx="17117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张力腿浮式 · 2026年8月并网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6572250" y="26479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E8E8E8"/>
              </a:solidFill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572250" y="2809875"/>
              <a:ext cx="4762500" cy="1962150"/>
              <a:chOff x="6572250" y="2809875"/>
              <a:chExt cx="4762500" cy="196215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6572250" y="2809875"/>
                <a:ext cx="4762500" cy="419100"/>
              </a:xfrm>
              <a:prstGeom prst="roundRect">
                <a:avLst>
                  <a:gd name="adj" fmla="val 18182"/>
                </a:avLst>
              </a:prstGeom>
              <a:solidFill>
                <a:srgbClr val="E6F9EE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804660" y="2955131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装机容量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0325969" y="2898458"/>
                <a:ext cx="73141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b="1" dirty="0">
                    <a:solidFill>
                      <a:schemeClr val="accent2"/>
                    </a:solidFill>
                    <a:latin typeface="Arial"/>
                    <a:ea typeface="Arial"/>
                    <a:cs typeface="Arial"/>
                  </a:rPr>
                  <a:t>16 MW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6572250" y="3324225"/>
                <a:ext cx="4762500" cy="419100"/>
              </a:xfrm>
              <a:prstGeom prst="roundRect">
                <a:avLst>
                  <a:gd name="adj" fmla="val 18182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6804660" y="3469481"/>
                <a:ext cx="78791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水深 / 离岸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524629" y="3412808"/>
                <a:ext cx="153275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b="1" dirty="0">
                    <a:solidFill>
                      <a:schemeClr val="accent2"/>
                    </a:solidFill>
                    <a:latin typeface="Arial"/>
                    <a:ea typeface="Arial"/>
                    <a:cs typeface="Arial"/>
                  </a:rPr>
                  <a:t>136m / 136km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6572250" y="3838575"/>
                <a:ext cx="4762500" cy="419100"/>
              </a:xfrm>
              <a:prstGeom prst="roundRect">
                <a:avLst>
                  <a:gd name="adj" fmla="val 18182"/>
                </a:avLst>
              </a:prstGeom>
              <a:solidFill>
                <a:srgbClr val="E6F9EE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804660" y="3983831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年发电量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709892" y="3927158"/>
                <a:ext cx="134749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b="1" dirty="0">
                    <a:solidFill>
                      <a:schemeClr val="accent2"/>
                    </a:solidFill>
                    <a:latin typeface="Arial"/>
                    <a:ea typeface="Microsoft YaHei"/>
                    <a:cs typeface="Arial"/>
                  </a:rPr>
                  <a:t>5,400万kWh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6572250" y="4352925"/>
                <a:ext cx="4762500" cy="419100"/>
              </a:xfrm>
              <a:prstGeom prst="roundRect">
                <a:avLst>
                  <a:gd name="adj" fmla="val 18182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6804660" y="4498181"/>
                <a:ext cx="31297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位置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0138639" y="4498181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广东汕尾海域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5905500" y="3010852"/>
            <a:ext cx="533400" cy="303848"/>
            <a:chOff x="5905500" y="3010852"/>
            <a:chExt cx="533400" cy="303848"/>
          </a:xfrm>
        </p:grpSpPr>
        <p:sp>
          <p:nvSpPr>
            <p:cNvPr id="60" name="Rectangle 60"/>
            <p:cNvSpPr/>
            <p:nvPr/>
          </p:nvSpPr>
          <p:spPr>
            <a:xfrm>
              <a:off x="5905500" y="3219450"/>
              <a:ext cx="381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1" name="Polygon 61"/>
            <p:cNvSpPr/>
            <p:nvPr/>
          </p:nvSpPr>
          <p:spPr>
            <a:xfrm>
              <a:off x="6286500" y="31623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0"/>
                  </a:moveTo>
                  <a:lnTo>
                    <a:pt x="15240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927406" y="301085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3"/>
                  </a:solidFill>
                  <a:latin typeface="Arial"/>
                  <a:ea typeface="Arial"/>
                  <a:cs typeface="Arial"/>
                </a:rPr>
                <a:t>2.2×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71500" y="5619750"/>
            <a:ext cx="9144000" cy="419100"/>
            <a:chOff x="571500" y="5619750"/>
            <a:chExt cx="9144000" cy="419100"/>
          </a:xfrm>
        </p:grpSpPr>
        <p:sp>
          <p:nvSpPr>
            <p:cNvPr id="64" name="Rectangle 64"/>
            <p:cNvSpPr/>
            <p:nvPr/>
          </p:nvSpPr>
          <p:spPr>
            <a:xfrm>
              <a:off x="571500" y="5619750"/>
              <a:ext cx="1905000" cy="419100"/>
            </a:xfrm>
            <a:prstGeom prst="roundRect">
              <a:avLst>
                <a:gd name="adj" fmla="val 50000"/>
              </a:avLst>
            </a:prstGeom>
            <a:solidFill>
              <a:srgbClr val="E8F4FD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90575" y="57650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深远海浮式风电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2667000" y="5619750"/>
              <a:ext cx="1524000" cy="419100"/>
            </a:xfrm>
            <a:prstGeom prst="roundRect">
              <a:avLst>
                <a:gd name="adj" fmla="val 50000"/>
              </a:avLst>
            </a:prstGeom>
            <a:solidFill>
              <a:srgbClr val="E8F4FD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121736" y="57650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海上光伏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4381500" y="5619750"/>
              <a:ext cx="1524000" cy="419100"/>
            </a:xfrm>
            <a:prstGeom prst="roundRect">
              <a:avLst>
                <a:gd name="adj" fmla="val 50000"/>
              </a:avLst>
            </a:prstGeom>
            <a:solidFill>
              <a:srgbClr val="E6F9EE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836236" y="57650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绿氢制备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096000" y="5619750"/>
              <a:ext cx="1524000" cy="419100"/>
            </a:xfrm>
            <a:prstGeom prst="roundRect">
              <a:avLst>
                <a:gd name="adj" fmla="val 50000"/>
              </a:avLst>
            </a:prstGeom>
            <a:solidFill>
              <a:srgbClr val="E6F9EE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550736" y="57650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多能互补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810500" y="5619750"/>
              <a:ext cx="1905000" cy="419100"/>
            </a:xfrm>
            <a:prstGeom prst="roundRect">
              <a:avLst>
                <a:gd name="adj" fmla="val 50000"/>
              </a:avLst>
            </a:prstGeom>
            <a:solidFill>
              <a:srgbClr val="FFF3E0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304962" y="57650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海洋牧场融合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66738" y="6340316"/>
            <a:ext cx="2546375" cy="161925"/>
            <a:chOff x="566738" y="6340316"/>
            <a:chExt cx="2546375" cy="161925"/>
          </a:xfrm>
        </p:grpSpPr>
        <p:sp>
          <p:nvSpPr>
            <p:cNvPr id="75" name="TextBox 75"/>
            <p:cNvSpPr txBox="1"/>
            <p:nvPr/>
          </p:nvSpPr>
          <p:spPr>
            <a:xfrm>
              <a:off x="566738" y="6340316"/>
              <a:ext cx="25463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来源：中国海油官方 (F004, F005, F006, F007)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11739601" y="65703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chemeClr val="accent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5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00"/>
                            </p:stCondLst>
                            <p:childTnLst>
                              <p:par>
                                <p:cTn xmlns:p="http://schemas.openxmlformats.org/presentationml/2006/main" id="20" presetID="2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10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9308" y="483870"/>
            <a:ext cx="4965192" cy="469392"/>
            <a:chOff x="559308" y="483870"/>
            <a:chExt cx="4965192" cy="469392"/>
          </a:xfrm>
        </p:grpSpPr>
        <p:sp>
          <p:nvSpPr>
            <p:cNvPr id="2" name="TextBox 2"/>
            <p:cNvSpPr txBox="1"/>
            <p:nvPr/>
          </p:nvSpPr>
          <p:spPr>
            <a:xfrm>
              <a:off x="559308" y="483870"/>
              <a:ext cx="30775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多能互补与发展路径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876300"/>
              <a:ext cx="495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565404" y="1108710"/>
            <a:ext cx="4010406" cy="234696"/>
            <a:chOff x="565404" y="1108710"/>
            <a:chExt cx="4010406" cy="234696"/>
          </a:xfrm>
        </p:grpSpPr>
        <p:sp>
          <p:nvSpPr>
            <p:cNvPr id="5" name="TextBox 5"/>
            <p:cNvSpPr txBox="1"/>
            <p:nvPr/>
          </p:nvSpPr>
          <p:spPr>
            <a:xfrm>
              <a:off x="565404" y="1108710"/>
              <a:ext cx="40104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构建"风电→光伏→绿氢→储能"四位一体的海上新能源体系</a:t>
              </a:r>
            </a:p>
          </p:txBody>
        </p:sp>
      </p:grpSp>
      <p:sp>
        <p:nvSpPr>
          <p:cNvPr id="7" name="Rectangle 7"/>
          <p:cNvSpPr/>
          <p:nvPr/>
        </p:nvSpPr>
        <p:spPr>
          <a:xfrm>
            <a:off x="952500" y="2714625"/>
            <a:ext cx="102870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33000">
                <a:srgbClr val="0066AA"/>
              </a:gs>
              <a:gs pos="66000">
                <a:schemeClr val="accent2"/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</p:sp>
      <p:grpSp>
        <p:nvGrpSpPr>
          <p:cNvPr id="27" name="Group 27"/>
          <p:cNvGrpSpPr/>
          <p:nvPr/>
        </p:nvGrpSpPr>
        <p:grpSpPr>
          <a:xfrm>
            <a:off x="1047750" y="1524000"/>
            <a:ext cx="2095500" cy="3333750"/>
            <a:chOff x="1047750" y="1524000"/>
            <a:chExt cx="2095500" cy="3333750"/>
          </a:xfrm>
        </p:grpSpPr>
        <p:sp>
          <p:nvSpPr>
            <p:cNvPr id="8" name="Line 8"/>
            <p:cNvSpPr/>
            <p:nvPr/>
          </p:nvSpPr>
          <p:spPr>
            <a:xfrm>
              <a:off x="2095500" y="2238375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962150" y="2609850"/>
              <a:ext cx="266700" cy="2667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FFFF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58863" y="2701766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047750" y="1524000"/>
              <a:ext cx="2095500" cy="666750"/>
            </a:xfrm>
            <a:prstGeom prst="roundRect">
              <a:avLst>
                <a:gd name="adj" fmla="val 17143"/>
              </a:avLst>
            </a:prstGeom>
            <a:gradFill>
              <a:gsLst>
                <a:gs pos="0">
                  <a:schemeClr val="accent1"/>
                </a:gs>
                <a:gs pos="100000">
                  <a:srgbClr val="005C99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78305" y="1696402"/>
              <a:ext cx="8343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2024 – 2025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62075" y="19264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海上风电规模化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1047750" y="3048000"/>
              <a:ext cx="2095500" cy="1809750"/>
              <a:chOff x="1047750" y="3048000"/>
              <a:chExt cx="2095500" cy="18097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1047750" y="3048000"/>
                <a:ext cx="2095500" cy="1809750"/>
              </a:xfrm>
              <a:prstGeom prst="roundRect">
                <a:avLst>
                  <a:gd name="adj" fmla="val 6316"/>
                </a:avLst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1885950" y="3219450"/>
                <a:ext cx="419100" cy="419100"/>
              </a:xfrm>
              <a:prstGeom prst="ellipse">
                <a:avLst/>
              </a:prstGeom>
              <a:solidFill>
                <a:srgbClr val="E8F4FD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2066925" y="3390900"/>
                <a:ext cx="57150" cy="17145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2066925" y="3343275"/>
                <a:ext cx="57150" cy="571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076450" y="3238500"/>
                <a:ext cx="381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33350">
                    <a:moveTo>
                      <a:pt x="19050" y="133350"/>
                    </a:moveTo>
                    <a:lnTo>
                      <a:pt x="0" y="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095500" y="3371850"/>
                <a:ext cx="1143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85725">
                    <a:moveTo>
                      <a:pt x="0" y="0"/>
                    </a:moveTo>
                    <a:lnTo>
                      <a:pt x="114300" y="57150"/>
                    </a:lnTo>
                    <a:lnTo>
                      <a:pt x="104775" y="8572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981200" y="3371850"/>
                <a:ext cx="1143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85725">
                    <a:moveTo>
                      <a:pt x="114300" y="0"/>
                    </a:moveTo>
                    <a:lnTo>
                      <a:pt x="0" y="57150"/>
                    </a:lnTo>
                    <a:lnTo>
                      <a:pt x="9525" y="8572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628800" y="3752374"/>
                <a:ext cx="93339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获取新能源资源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357489" y="3886200"/>
                <a:ext cx="147602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1"/>
                    </a:solidFill>
                    <a:latin typeface="Arial"/>
                    <a:ea typeface="Microsoft YaHei"/>
                    <a:cs typeface="Arial"/>
                  </a:rPr>
                  <a:t>500–1000万kW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587932" y="418909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投产50–100万千瓦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606106" y="4379595"/>
                <a:ext cx="9787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推进海上光伏建设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767070" y="4625816"/>
                <a:ext cx="65685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2"/>
                    </a:solidFill>
                    <a:latin typeface="Arial"/>
                    <a:ea typeface="Arial"/>
                    <a:cs typeface="Arial"/>
                  </a:rPr>
                  <a:t>F001 · F002</a:t>
                </a: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3619500" y="1524000"/>
            <a:ext cx="2095500" cy="3333750"/>
            <a:chOff x="3619500" y="1524000"/>
            <a:chExt cx="2095500" cy="3333750"/>
          </a:xfrm>
        </p:grpSpPr>
        <p:sp>
          <p:nvSpPr>
            <p:cNvPr id="28" name="Line 28"/>
            <p:cNvSpPr/>
            <p:nvPr/>
          </p:nvSpPr>
          <p:spPr>
            <a:xfrm>
              <a:off x="4667250" y="2238375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19050">
              <a:solidFill>
                <a:srgbClr val="0066AA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533900" y="2609850"/>
              <a:ext cx="266700" cy="266700"/>
            </a:xfrm>
            <a:prstGeom prst="ellipse">
              <a:avLst/>
            </a:prstGeom>
            <a:solidFill>
              <a:srgbClr val="0066AA"/>
            </a:solidFill>
            <a:ln w="28575">
              <a:solidFill>
                <a:srgbClr val="FFFFF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30613" y="2701766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619500" y="1524000"/>
              <a:ext cx="2095500" cy="666750"/>
            </a:xfrm>
            <a:prstGeom prst="roundRect">
              <a:avLst>
                <a:gd name="adj" fmla="val 17143"/>
              </a:avLst>
            </a:prstGeom>
            <a:gradFill>
              <a:gsLst>
                <a:gs pos="0">
                  <a:srgbClr val="0066AA"/>
                </a:gs>
                <a:gs pos="100000">
                  <a:srgbClr val="0088CC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250055" y="1696402"/>
              <a:ext cx="8343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2026 – 2028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47129" y="1926431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深远海 + 光伏突破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3619500" y="3048000"/>
              <a:ext cx="2095500" cy="1809750"/>
              <a:chOff x="3619500" y="3048000"/>
              <a:chExt cx="2095500" cy="18097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3619500" y="3048000"/>
                <a:ext cx="2095500" cy="1809750"/>
              </a:xfrm>
              <a:prstGeom prst="roundRect">
                <a:avLst>
                  <a:gd name="adj" fmla="val 6316"/>
                </a:avLst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4457700" y="3219450"/>
                <a:ext cx="419100" cy="419100"/>
              </a:xfrm>
              <a:prstGeom prst="ellipse">
                <a:avLst/>
              </a:prstGeom>
              <a:solidFill>
                <a:srgbClr val="E8F4FD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4524375" y="3314700"/>
                <a:ext cx="285750" cy="171450"/>
              </a:xfrm>
              <a:prstGeom prst="roundRect">
                <a:avLst>
                  <a:gd name="adj" fmla="val 11111"/>
                </a:avLst>
              </a:prstGeom>
              <a:noFill/>
              <a:ln w="14288">
                <a:solidFill>
                  <a:srgbClr val="0066AA"/>
                </a:solidFill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4600575" y="3314700"/>
                <a:ext cx="95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1450">
                    <a:moveTo>
                      <a:pt x="0" y="0"/>
                    </a:moveTo>
                    <a:lnTo>
                      <a:pt x="0" y="171450"/>
                    </a:lnTo>
                  </a:path>
                </a:pathLst>
              </a:custGeom>
              <a:noFill/>
              <a:ln w="9525">
                <a:solidFill>
                  <a:srgbClr val="0066AA"/>
                </a:solidFill>
              </a:ln>
            </p:spPr>
          </p:sp>
          <p:sp>
            <p:nvSpPr>
              <p:cNvPr id="38" name="Line 38"/>
              <p:cNvSpPr/>
              <p:nvPr/>
            </p:nvSpPr>
            <p:spPr>
              <a:xfrm>
                <a:off x="4667250" y="3314700"/>
                <a:ext cx="95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1450">
                    <a:moveTo>
                      <a:pt x="0" y="0"/>
                    </a:moveTo>
                    <a:lnTo>
                      <a:pt x="0" y="171450"/>
                    </a:lnTo>
                  </a:path>
                </a:pathLst>
              </a:custGeom>
              <a:noFill/>
              <a:ln w="9525">
                <a:solidFill>
                  <a:srgbClr val="0066AA"/>
                </a:solidFill>
              </a:ln>
            </p:spPr>
          </p:sp>
          <p:sp>
            <p:nvSpPr>
              <p:cNvPr id="39" name="Line 39"/>
              <p:cNvSpPr/>
              <p:nvPr/>
            </p:nvSpPr>
            <p:spPr>
              <a:xfrm>
                <a:off x="4733925" y="3314700"/>
                <a:ext cx="95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1450">
                    <a:moveTo>
                      <a:pt x="0" y="0"/>
                    </a:moveTo>
                    <a:lnTo>
                      <a:pt x="0" y="171450"/>
                    </a:lnTo>
                  </a:path>
                </a:pathLst>
              </a:custGeom>
              <a:noFill/>
              <a:ln w="9525">
                <a:solidFill>
                  <a:srgbClr val="0066AA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4524375" y="3400425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9525">
                <a:solidFill>
                  <a:srgbClr val="0066AA"/>
                </a:solidFill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4638675" y="3486150"/>
                <a:ext cx="57150" cy="57150"/>
              </a:xfrm>
              <a:prstGeom prst="roundRect">
                <a:avLst>
                  <a:gd name="adj" fmla="val 16667"/>
                </a:avLst>
              </a:prstGeom>
              <a:solidFill>
                <a:srgbClr val="0066AA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4200550" y="3752374"/>
                <a:ext cx="93339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安澜号投产运营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169069" y="3886200"/>
                <a:ext cx="996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66AA"/>
                    </a:solidFill>
                    <a:latin typeface="Arial"/>
                    <a:ea typeface="Microsoft YaHei"/>
                    <a:cs typeface="Arial"/>
                  </a:rPr>
                  <a:t>350万kW+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117276" y="4189095"/>
                <a:ext cx="109994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深远海浮式技术成熟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4238434" y="4379595"/>
                <a:ext cx="85763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海上光伏规模化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338820" y="4625816"/>
                <a:ext cx="65685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2"/>
                    </a:solidFill>
                    <a:latin typeface="Arial"/>
                    <a:ea typeface="Arial"/>
                    <a:cs typeface="Arial"/>
                  </a:rPr>
                  <a:t>F003 · F005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6191250" y="1524000"/>
            <a:ext cx="2095500" cy="3333750"/>
            <a:chOff x="6191250" y="1524000"/>
            <a:chExt cx="2095500" cy="3333750"/>
          </a:xfrm>
        </p:grpSpPr>
        <p:sp>
          <p:nvSpPr>
            <p:cNvPr id="49" name="Line 49"/>
            <p:cNvSpPr/>
            <p:nvPr/>
          </p:nvSpPr>
          <p:spPr>
            <a:xfrm>
              <a:off x="7239000" y="2238375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7105650" y="2609850"/>
              <a:ext cx="266700" cy="2667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rgbClr val="FFFFFF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202363" y="2701766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191250" y="1524000"/>
              <a:ext cx="2095500" cy="666750"/>
            </a:xfrm>
            <a:prstGeom prst="roundRect">
              <a:avLst>
                <a:gd name="adj" fmla="val 17143"/>
              </a:avLst>
            </a:prstGeom>
            <a:gradFill>
              <a:gsLst>
                <a:gs pos="0">
                  <a:schemeClr val="accent2"/>
                </a:gs>
                <a:gs pos="100000">
                  <a:srgbClr val="00C962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21805" y="1696402"/>
              <a:ext cx="8343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2029 – 2030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18879" y="1926431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绿氢 + 储能商业化</a:t>
              </a:r>
            </a:p>
          </p:txBody>
        </p:sp>
        <p:grpSp>
          <p:nvGrpSpPr>
            <p:cNvPr id="66" name="Group 66"/>
            <p:cNvGrpSpPr/>
            <p:nvPr/>
          </p:nvGrpSpPr>
          <p:grpSpPr>
            <a:xfrm>
              <a:off x="6191250" y="3048000"/>
              <a:ext cx="2095500" cy="1809750"/>
              <a:chOff x="6191250" y="3048000"/>
              <a:chExt cx="2095500" cy="180975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6191250" y="3048000"/>
                <a:ext cx="2095500" cy="1809750"/>
              </a:xfrm>
              <a:prstGeom prst="roundRect">
                <a:avLst>
                  <a:gd name="adj" fmla="val 6316"/>
                </a:avLst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7029450" y="3219450"/>
                <a:ext cx="419100" cy="419100"/>
              </a:xfrm>
              <a:prstGeom prst="ellipse">
                <a:avLst/>
              </a:prstGeom>
              <a:solidFill>
                <a:srgbClr val="E6F9EE"/>
              </a:solidFill>
              <a:ln>
                <a:noFill/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7048500" y="3314700"/>
                <a:ext cx="190500" cy="190500"/>
              </a:xfrm>
              <a:prstGeom prst="ellipse">
                <a:avLst/>
              </a:prstGeom>
              <a:noFill/>
              <a:ln w="14288">
                <a:solidFill>
                  <a:schemeClr val="accent2"/>
                </a:solidFill>
              </a:ln>
            </p:spPr>
          </p:sp>
          <p:sp>
            <p:nvSpPr>
              <p:cNvPr id="58" name="Ellipse 58"/>
              <p:cNvSpPr/>
              <p:nvPr/>
            </p:nvSpPr>
            <p:spPr>
              <a:xfrm>
                <a:off x="7239000" y="3314700"/>
                <a:ext cx="190500" cy="190500"/>
              </a:xfrm>
              <a:prstGeom prst="ellipse">
                <a:avLst/>
              </a:prstGeom>
              <a:noFill/>
              <a:ln w="14288">
                <a:solidFill>
                  <a:schemeClr val="accent2"/>
                </a:solidFill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108184" y="3376612"/>
                <a:ext cx="71133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 dirty="0">
                    <a:solidFill>
                      <a:schemeClr val="accent2"/>
                    </a:solidFill>
                    <a:latin typeface="Arial"/>
                    <a:ea typeface="Arial"/>
                    <a:cs typeface="Arial"/>
                  </a:rPr>
                  <a:t>H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298684" y="3376612"/>
                <a:ext cx="71133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 dirty="0">
                    <a:solidFill>
                      <a:schemeClr val="accent2"/>
                    </a:solidFill>
                    <a:latin typeface="Arial"/>
                    <a:ea typeface="Arial"/>
                    <a:cs typeface="Arial"/>
                  </a:rPr>
                  <a:t>H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838264" y="3752374"/>
                <a:ext cx="80147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海上风电制氢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837502" y="3926681"/>
                <a:ext cx="80299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accent2"/>
                    </a:solidFill>
                    <a:latin typeface="Arial"/>
                    <a:ea typeface="Microsoft YaHei"/>
                    <a:cs typeface="Arial"/>
                  </a:rPr>
                  <a:t>绿氢商业化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870764" y="418909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储能系统配套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6810184" y="4379595"/>
                <a:ext cx="85763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碳达峰目标节点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105937" y="4625816"/>
                <a:ext cx="266126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2"/>
                    </a:solidFill>
                    <a:latin typeface="Arial"/>
                    <a:ea typeface="Arial"/>
                    <a:cs typeface="Arial"/>
                  </a:rPr>
                  <a:t>F009</a:t>
                </a:r>
              </a:p>
            </p:txBody>
          </p:sp>
        </p:grpSp>
      </p:grpSp>
      <p:grpSp>
        <p:nvGrpSpPr>
          <p:cNvPr id="85" name="Group 85"/>
          <p:cNvGrpSpPr/>
          <p:nvPr/>
        </p:nvGrpSpPr>
        <p:grpSpPr>
          <a:xfrm>
            <a:off x="8763000" y="1524000"/>
            <a:ext cx="2095500" cy="3333750"/>
            <a:chOff x="8763000" y="1524000"/>
            <a:chExt cx="2095500" cy="3333750"/>
          </a:xfrm>
        </p:grpSpPr>
        <p:sp>
          <p:nvSpPr>
            <p:cNvPr id="68" name="Line 68"/>
            <p:cNvSpPr/>
            <p:nvPr/>
          </p:nvSpPr>
          <p:spPr>
            <a:xfrm>
              <a:off x="9810750" y="2238375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9677400" y="2609850"/>
              <a:ext cx="266700" cy="266700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rgbClr val="FFFFFF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774113" y="2701766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763000" y="1524000"/>
              <a:ext cx="2095500" cy="666750"/>
            </a:xfrm>
            <a:prstGeom prst="roundRect">
              <a:avLst>
                <a:gd name="adj" fmla="val 17143"/>
              </a:avLst>
            </a:prstGeom>
            <a:gradFill>
              <a:gsLst>
                <a:gs pos="0">
                  <a:schemeClr val="accent3"/>
                </a:gs>
                <a:gs pos="100000">
                  <a:srgbClr val="FFB347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601340" y="1696402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2035+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201937" y="19264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多能互补综合体系</a:t>
              </a:r>
            </a:p>
          </p:txBody>
        </p:sp>
        <p:grpSp>
          <p:nvGrpSpPr>
            <p:cNvPr id="84" name="Group 84"/>
            <p:cNvGrpSpPr/>
            <p:nvPr/>
          </p:nvGrpSpPr>
          <p:grpSpPr>
            <a:xfrm>
              <a:off x="8763000" y="3048000"/>
              <a:ext cx="2095500" cy="1809750"/>
              <a:chOff x="8763000" y="3048000"/>
              <a:chExt cx="2095500" cy="1809750"/>
            </a:xfrm>
          </p:grpSpPr>
          <p:sp>
            <p:nvSpPr>
              <p:cNvPr id="74" name="Rectangle 74"/>
              <p:cNvSpPr/>
              <p:nvPr/>
            </p:nvSpPr>
            <p:spPr>
              <a:xfrm>
                <a:off x="8763000" y="3048000"/>
                <a:ext cx="2095500" cy="1809750"/>
              </a:xfrm>
              <a:prstGeom prst="roundRect">
                <a:avLst>
                  <a:gd name="adj" fmla="val 6316"/>
                </a:avLst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75" name="Ellipse 75"/>
              <p:cNvSpPr/>
              <p:nvPr/>
            </p:nvSpPr>
            <p:spPr>
              <a:xfrm>
                <a:off x="9601200" y="3219450"/>
                <a:ext cx="419100" cy="419100"/>
              </a:xfrm>
              <a:prstGeom prst="ellipse">
                <a:avLst/>
              </a:prstGeom>
              <a:solidFill>
                <a:srgbClr val="FFF3E0"/>
              </a:solidFill>
              <a:ln>
                <a:noFill/>
              </a:ln>
            </p:spPr>
          </p:sp>
          <p:sp>
            <p:nvSpPr>
              <p:cNvPr id="76" name="Ellipse 76"/>
              <p:cNvSpPr/>
              <p:nvPr/>
            </p:nvSpPr>
            <p:spPr>
              <a:xfrm>
                <a:off x="9677400" y="3295650"/>
                <a:ext cx="266700" cy="266700"/>
              </a:xfrm>
              <a:prstGeom prst="ellipse">
                <a:avLst/>
              </a:prstGeom>
              <a:noFill/>
              <a:ln w="14288">
                <a:solidFill>
                  <a:schemeClr val="accent3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9810750" y="3295650"/>
                <a:ext cx="1143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33350">
                    <a:moveTo>
                      <a:pt x="0" y="0"/>
                    </a:moveTo>
                    <a:lnTo>
                      <a:pt x="0" y="133350"/>
                    </a:lnTo>
                    <a:lnTo>
                      <a:pt x="114300" y="133350"/>
                    </a:lnTo>
                  </a:path>
                </a:pathLst>
              </a:custGeom>
              <a:noFill/>
              <a:ln w="14288">
                <a:solidFill>
                  <a:schemeClr val="accent3"/>
                </a:solidFill>
              </a:ln>
            </p:spPr>
          </p:sp>
          <p:sp>
            <p:nvSpPr>
              <p:cNvPr id="78" name="Ellipse 78"/>
              <p:cNvSpPr/>
              <p:nvPr/>
            </p:nvSpPr>
            <p:spPr>
              <a:xfrm>
                <a:off x="9782175" y="3400425"/>
                <a:ext cx="57150" cy="571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9337454" y="3752374"/>
                <a:ext cx="94659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风电+光伏+制氢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9250939" y="3926681"/>
                <a:ext cx="111962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accent3"/>
                    </a:solidFill>
                    <a:latin typeface="Arial"/>
                    <a:ea typeface="Microsoft YaHei"/>
                    <a:cs typeface="Arial"/>
                  </a:rPr>
                  <a:t>海洋能源综合体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9391021" y="4189095"/>
                <a:ext cx="8394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+ 海洋牧场融合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9381934" y="4379595"/>
                <a:ext cx="85763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碳中和路径贡献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9677687" y="4625816"/>
                <a:ext cx="266126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2"/>
                    </a:solidFill>
                    <a:latin typeface="Arial"/>
                    <a:ea typeface="Arial"/>
                    <a:cs typeface="Arial"/>
                  </a:rPr>
                  <a:t>F009</a:t>
                </a:r>
              </a:p>
            </p:txBody>
          </p:sp>
        </p:grpSp>
      </p:grpSp>
      <p:grpSp>
        <p:nvGrpSpPr>
          <p:cNvPr id="88" name="Group 88"/>
          <p:cNvGrpSpPr/>
          <p:nvPr/>
        </p:nvGrpSpPr>
        <p:grpSpPr>
          <a:xfrm>
            <a:off x="571500" y="5381625"/>
            <a:ext cx="11049000" cy="457200"/>
            <a:chOff x="571500" y="5381625"/>
            <a:chExt cx="11049000" cy="457200"/>
          </a:xfrm>
        </p:grpSpPr>
        <p:sp>
          <p:nvSpPr>
            <p:cNvPr id="86" name="Rectangle 86"/>
            <p:cNvSpPr/>
            <p:nvPr/>
          </p:nvSpPr>
          <p:spPr>
            <a:xfrm>
              <a:off x="571500" y="5381625"/>
              <a:ext cx="11049000" cy="457200"/>
            </a:xfrm>
            <a:prstGeom prst="roundRect">
              <a:avLst>
                <a:gd name="adj" fmla="val 16667"/>
              </a:avLst>
            </a:prstGeom>
            <a:solidFill>
              <a:srgbClr val="E8F4FD">
                <a:alpha val="50000"/>
              </a:srgbClr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3857320" y="5554028"/>
              <a:ext cx="44773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风电 + 海洋牧场 + 制氢一体化 · 绿电直连海洋平台 · 多能互补智能调度</a:t>
              </a:r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11739601" y="6570345"/>
            <a:ext cx="142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chemeClr val="accent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4" presetID="2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20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100"/>
                            </p:stCondLst>
                            <p:childTnLst>
                              <p:par>
                                <p:cTn xmlns:p="http://schemas.openxmlformats.org/presentationml/2006/main" id="23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9308" y="483870"/>
            <a:ext cx="4203192" cy="469392"/>
            <a:chOff x="559308" y="483870"/>
            <a:chExt cx="4203192" cy="469392"/>
          </a:xfrm>
        </p:grpSpPr>
        <p:sp>
          <p:nvSpPr>
            <p:cNvPr id="2" name="TextBox 2"/>
            <p:cNvSpPr txBox="1"/>
            <p:nvPr/>
          </p:nvSpPr>
          <p:spPr>
            <a:xfrm>
              <a:off x="559308" y="483870"/>
              <a:ext cx="23990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Arial"/>
                  <a:ea typeface="Microsoft YaHei"/>
                  <a:cs typeface="Arial"/>
                </a:rPr>
                <a:t>展望与战略愿景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876300"/>
              <a:ext cx="4191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762000" y="1381125"/>
            <a:ext cx="4572000" cy="4381500"/>
            <a:chOff x="762000" y="1381125"/>
            <a:chExt cx="4572000" cy="4381500"/>
          </a:xfrm>
        </p:grpSpPr>
        <p:grpSp>
          <p:nvGrpSpPr>
            <p:cNvPr id="14" name="Group 14"/>
            <p:cNvGrpSpPr/>
            <p:nvPr/>
          </p:nvGrpSpPr>
          <p:grpSpPr>
            <a:xfrm>
              <a:off x="762000" y="1381125"/>
              <a:ext cx="4572000" cy="1333500"/>
              <a:chOff x="762000" y="1381125"/>
              <a:chExt cx="4572000" cy="133350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762000" y="1381125"/>
                <a:ext cx="4572000" cy="1333500"/>
              </a:xfrm>
              <a:prstGeom prst="roundRect">
                <a:avLst>
                  <a:gd name="adj" fmla="val 11429"/>
                </a:avLst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6" name="Rectangle 6"/>
              <p:cNvSpPr/>
              <p:nvPr/>
            </p:nvSpPr>
            <p:spPr>
              <a:xfrm>
                <a:off x="762000" y="1381125"/>
                <a:ext cx="76200" cy="13335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990600" y="1704975"/>
                <a:ext cx="495300" cy="495300"/>
              </a:xfrm>
              <a:prstGeom prst="ellipse">
                <a:avLst/>
              </a:prstGeom>
              <a:solidFill>
                <a:srgbClr val="E8F4FD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1085850" y="1800225"/>
                <a:ext cx="304800" cy="304800"/>
              </a:xfrm>
              <a:prstGeom prst="ellipse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162050" y="1800225"/>
                <a:ext cx="152400" cy="304800"/>
              </a:xfrm>
              <a:prstGeom prst="ellipse">
                <a:avLst/>
              </a:prstGeom>
              <a:noFill/>
              <a:ln w="9525">
                <a:solidFill>
                  <a:schemeClr val="accent1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1085850" y="1952625"/>
                <a:ext cx="304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9525">
                    <a:moveTo>
                      <a:pt x="0" y="0"/>
                    </a:moveTo>
                    <a:lnTo>
                      <a:pt x="304800" y="0"/>
                    </a:lnTo>
                  </a:path>
                </a:pathLst>
              </a:custGeom>
              <a:noFill/>
              <a:ln w="9525">
                <a:solidFill>
                  <a:schemeClr val="accent1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661541" y="1667828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中国海上风电全球占比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650111" y="1815465"/>
                <a:ext cx="1153028" cy="645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b="1" dirty="0">
                    <a:solidFill>
                      <a:schemeClr val="accent1"/>
                    </a:solidFill>
                    <a:latin typeface="Arial"/>
                    <a:ea typeface="Arial"/>
                    <a:cs typeface="Arial"/>
                  </a:rPr>
                  <a:t>~50%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62112" y="2379345"/>
                <a:ext cx="193616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2023年累计装机约36.5GW · F008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762000" y="2905125"/>
              <a:ext cx="4572000" cy="1333500"/>
              <a:chOff x="762000" y="2905125"/>
              <a:chExt cx="4572000" cy="13335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762000" y="2905125"/>
                <a:ext cx="4572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E6F9EE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762000" y="2905125"/>
                <a:ext cx="76200" cy="13335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990600" y="3228975"/>
                <a:ext cx="495300" cy="49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1085850" y="3324225"/>
                <a:ext cx="304800" cy="304800"/>
              </a:xfrm>
              <a:prstGeom prst="ellipse">
                <a:avLst/>
              </a:prstGeom>
              <a:noFill/>
              <a:ln w="14288">
                <a:solidFill>
                  <a:schemeClr val="accent2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1162050" y="3400425"/>
                <a:ext cx="152400" cy="152400"/>
              </a:xfrm>
              <a:prstGeom prst="ellipse">
                <a:avLst/>
              </a:prstGeom>
              <a:noFill/>
              <a:ln w="14288">
                <a:solidFill>
                  <a:schemeClr val="accent2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1219200" y="3457575"/>
                <a:ext cx="38100" cy="3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661541" y="3191828"/>
                <a:ext cx="101426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"双碳"目标驱动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653159" y="3404235"/>
                <a:ext cx="867057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2"/>
                    </a:solidFill>
                    <a:latin typeface="Arial"/>
                    <a:ea typeface="Arial"/>
                    <a:cs typeface="Arial"/>
                  </a:rPr>
                  <a:t>2030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945892" y="35499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2"/>
                    </a:solidFill>
                    <a:latin typeface="Arial"/>
                    <a:ea typeface="Microsoft YaHei"/>
                    <a:cs typeface="Arial"/>
                  </a:rPr>
                  <a:t>碳达峰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653159" y="3689985"/>
                <a:ext cx="867057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2"/>
                    </a:solidFill>
                    <a:latin typeface="Arial"/>
                    <a:ea typeface="Arial"/>
                    <a:cs typeface="Arial"/>
                  </a:rPr>
                  <a:t>2060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945892" y="383571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2"/>
                    </a:solidFill>
                    <a:latin typeface="Arial"/>
                    <a:ea typeface="Microsoft YaHei"/>
                    <a:cs typeface="Arial"/>
                  </a:rPr>
                  <a:t>碳中和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762000" y="4429125"/>
              <a:ext cx="4572000" cy="1333500"/>
              <a:chOff x="762000" y="4429125"/>
              <a:chExt cx="4572000" cy="13335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762000" y="4429125"/>
                <a:ext cx="4572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3E0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762000" y="4429125"/>
                <a:ext cx="76200" cy="13335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990600" y="4752975"/>
                <a:ext cx="495300" cy="49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165730" y="4898708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3"/>
                    </a:solidFill>
                    <a:latin typeface="Arial"/>
                    <a:ea typeface="Arial"/>
                    <a:cs typeface="Arial"/>
                  </a:rPr>
                  <a:t>¥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661541" y="4715828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年度资本开支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650111" y="4863465"/>
                <a:ext cx="1782747" cy="645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b="1" dirty="0">
                    <a:solidFill>
                      <a:schemeClr val="accent3"/>
                    </a:solidFill>
                    <a:latin typeface="Arial"/>
                    <a:ea typeface="Microsoft YaHei"/>
                    <a:cs typeface="Arial"/>
                  </a:rPr>
                  <a:t>1,250亿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662112" y="5408295"/>
                <a:ext cx="201937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2025年计划 · 含新能源投资 · F010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5905500" y="1238250"/>
            <a:ext cx="5715000" cy="4572000"/>
            <a:chOff x="5905500" y="1238250"/>
            <a:chExt cx="5715000" cy="4572000"/>
          </a:xfrm>
        </p:grpSpPr>
        <p:sp>
          <p:nvSpPr>
            <p:cNvPr id="36" name="Rectangle 36"/>
            <p:cNvSpPr/>
            <p:nvPr/>
          </p:nvSpPr>
          <p:spPr>
            <a:xfrm>
              <a:off x="5905500" y="1238250"/>
              <a:ext cx="5715000" cy="4572000"/>
            </a:xfrm>
            <a:prstGeom prst="roundRect">
              <a:avLst>
                <a:gd name="adj" fmla="val 4167"/>
              </a:avLst>
            </a:prstGeom>
            <a:gradFill>
              <a:gsLst>
                <a:gs pos="0">
                  <a:schemeClr val="accent1"/>
                </a:gs>
                <a:gs pos="100000">
                  <a:srgbClr val="005C99"/>
                </a:gs>
              </a:gsLst>
              <a:lin ang="4398045" scaled="1"/>
            </a:gra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67450" y="1543050"/>
              <a:ext cx="507492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dirty="0">
                  <a:solidFill>
                    <a:srgbClr val="FFFFFF">
                      <a:alphaMod val="15000"/>
                    </a:srgbClr>
                  </a:solidFill>
                  <a:latin typeface="Georgia"/>
                  <a:ea typeface="Georgia"/>
                  <a:cs typeface="Georgia"/>
                </a:rPr>
                <a:t>"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6466332" y="2440305"/>
              <a:ext cx="2099196" cy="1267968"/>
              <a:chOff x="6466332" y="2440305"/>
              <a:chExt cx="2099196" cy="1267968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6466332" y="2440305"/>
                <a:ext cx="209919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成为国际一流的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466332" y="2868930"/>
                <a:ext cx="15055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海上新能源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466332" y="3297555"/>
                <a:ext cx="15055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2"/>
                    </a:solidFill>
                    <a:latin typeface="Arial"/>
                    <a:ea typeface="Microsoft YaHei"/>
                    <a:cs typeface="Arial"/>
                  </a:rPr>
                  <a:t>综合服务商</a:t>
                </a:r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10839450" y="3257550"/>
              <a:ext cx="507492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dirty="0">
                  <a:solidFill>
                    <a:srgbClr val="FFFFFF">
                      <a:alphaMod val="15000"/>
                    </a:srgbClr>
                  </a:solidFill>
                  <a:latin typeface="Georgia"/>
                  <a:ea typeface="Georgia"/>
                  <a:cs typeface="Georgia"/>
                </a:rPr>
                <a:t>"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477000" y="39052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471285" y="4212431"/>
              <a:ext cx="1865795" cy="1432656"/>
              <a:chOff x="6471285" y="4212431"/>
              <a:chExt cx="1865795" cy="1432656"/>
            </a:xfrm>
          </p:grpSpPr>
          <p:sp>
            <p:nvSpPr>
              <p:cNvPr id="44" name="TextBox 44"/>
              <p:cNvSpPr txBox="1"/>
              <p:nvPr/>
            </p:nvSpPr>
            <p:spPr>
              <a:xfrm>
                <a:off x="6471285" y="4212431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FFFFFF">
                        <a:alphaMod val="80000"/>
                      </a:srgbClr>
                    </a:solidFill>
                    <a:latin typeface="Arial"/>
                    <a:ea typeface="Microsoft YaHei"/>
                    <a:cs typeface="Arial"/>
                  </a:rPr>
                  <a:t>战略方向</a:t>
                </a:r>
              </a:p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6581775" y="4610100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757416" y="4582478"/>
                <a:ext cx="156552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>
                        <a:alphaMod val="90000"/>
                      </a:srgbClr>
                    </a:solidFill>
                    <a:latin typeface="Arial"/>
                    <a:ea typeface="Microsoft YaHei"/>
                    <a:cs typeface="Arial"/>
                  </a:rPr>
                  <a:t>深远海浮式风电技术引领</a:t>
                </a:r>
              </a:p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6581775" y="4895850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6757416" y="4868228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>
                        <a:alphaMod val="90000"/>
                      </a:srgbClr>
                    </a:solidFill>
                    <a:latin typeface="Arial"/>
                    <a:ea typeface="Microsoft YaHei"/>
                    <a:cs typeface="Arial"/>
                  </a:rPr>
                  <a:t>海上风光氢储多能互补</a:t>
                </a:r>
              </a:p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6581775" y="5181600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6757416" y="5153978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>
                        <a:alphaMod val="90000"/>
                      </a:srgbClr>
                    </a:solidFill>
                    <a:latin typeface="Arial"/>
                    <a:ea typeface="Microsoft YaHei"/>
                    <a:cs typeface="Arial"/>
                  </a:rPr>
                  <a:t>油气与新能源融合发展</a:t>
                </a:r>
              </a:p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6581775" y="5467350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6757416" y="5439728"/>
                <a:ext cx="157966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>
                        <a:alphaMod val="90000"/>
                      </a:srgbClr>
                    </a:solidFill>
                    <a:latin typeface="Arial"/>
                    <a:ea typeface="Microsoft YaHei"/>
                    <a:cs typeface="Arial"/>
                  </a:rPr>
                  <a:t>助力国家"双碳"战略目标</a:t>
                </a:r>
              </a:p>
            </p:txBody>
          </p:sp>
        </p:grpSp>
      </p:grpSp>
      <p:sp>
        <p:nvSpPr>
          <p:cNvPr id="55" name="Freeform 55"/>
          <p:cNvSpPr/>
          <p:nvPr/>
        </p:nvSpPr>
        <p:spPr>
          <a:xfrm>
            <a:off x="0" y="6159500"/>
            <a:ext cx="12192000" cy="269875"/>
          </a:xfrm>
          <a:custGeom>
            <a:avLst/>
            <a:gdLst/>
            <a:ahLst/>
            <a:cxnLst/>
            <a:rect l="l" t="t" r="r" b="b"/>
            <a:pathLst>
              <a:path w="12192000" h="269875">
                <a:moveTo>
                  <a:pt x="0" y="222250"/>
                </a:moveTo>
                <a:cubicBezTo>
                  <a:pt x="1270000" y="95250"/>
                  <a:pt x="2540000" y="79375"/>
                  <a:pt x="3810000" y="174625"/>
                </a:cubicBezTo>
                <a:cubicBezTo>
                  <a:pt x="5080000" y="269875"/>
                  <a:pt x="6350000" y="254000"/>
                  <a:pt x="7620000" y="127000"/>
                </a:cubicBezTo>
                <a:cubicBezTo>
                  <a:pt x="8890000" y="0"/>
                  <a:pt x="10414000" y="15875"/>
                  <a:pt x="12192000" y="174625"/>
                </a:cubicBezTo>
              </a:path>
            </a:pathLst>
          </a:custGeom>
          <a:noFill/>
          <a:ln w="19050">
            <a:gradFill>
              <a:gsLst>
                <a:gs pos="0">
                  <a:schemeClr val="accent2">
                    <a:alpha val="0"/>
                  </a:schemeClr>
                </a:gs>
                <a:gs pos="30000">
                  <a:schemeClr val="accent2">
                    <a:alpha val="40000"/>
                  </a:schemeClr>
                </a:gs>
                <a:gs pos="70000">
                  <a:schemeClr val="accent2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</a:gradFill>
          </a:ln>
        </p:spPr>
      </p:sp>
      <p:grpSp>
        <p:nvGrpSpPr>
          <p:cNvPr id="57" name="Group 57"/>
          <p:cNvGrpSpPr/>
          <p:nvPr/>
        </p:nvGrpSpPr>
        <p:grpSpPr>
          <a:xfrm>
            <a:off x="4715702" y="6562249"/>
            <a:ext cx="2760596" cy="190690"/>
            <a:chOff x="4715702" y="6562249"/>
            <a:chExt cx="276059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4715702" y="6562249"/>
              <a:ext cx="2760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2030碳达峰 · 2060碳中和 · 深远海 · 多能互补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10" presetID="2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30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nooc_new_energy">
  <a:themeElements>
    <a:clrScheme name="cnooc_new_energy">
      <a:dk1>
        <a:srgbClr val="333333"/>
      </a:dk1>
      <a:lt1>
        <a:srgbClr val="FFFFFF"/>
      </a:lt1>
      <a:dk2>
        <a:srgbClr val="1F497D"/>
      </a:dk2>
      <a:lt2>
        <a:srgbClr val="FFFFFF"/>
      </a:lt2>
      <a:accent1>
        <a:srgbClr val="003F72"/>
      </a:accent1>
      <a:accent2>
        <a:srgbClr val="00A651"/>
      </a:accent2>
      <a:accent3>
        <a:srgbClr val="FF8C00"/>
      </a:accent3>
      <a:accent4>
        <a:srgbClr val="003F72"/>
      </a:accent4>
      <a:accent5>
        <a:srgbClr val="F0F4F8"/>
      </a:accent5>
      <a:accent6>
        <a:srgbClr val="6C7A89"/>
      </a:accent6>
      <a:hlink>
        <a:srgbClr val="00A651"/>
      </a:hlink>
      <a:folHlink>
        <a:srgbClr val="FF8C00"/>
      </a:folHlink>
    </a:clrScheme>
    <a:fontScheme name="cnooc_new_energy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nooc_new_energ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nooc_new_energy">
  <a:themeElements>
    <a:clrScheme name="cnooc_new_energy">
      <a:dk1>
        <a:srgbClr val="333333"/>
      </a:dk1>
      <a:lt1>
        <a:srgbClr val="FFFFFF"/>
      </a:lt1>
      <a:dk2>
        <a:srgbClr val="1F497D"/>
      </a:dk2>
      <a:lt2>
        <a:srgbClr val="FFFFFF"/>
      </a:lt2>
      <a:accent1>
        <a:srgbClr val="003F72"/>
      </a:accent1>
      <a:accent2>
        <a:srgbClr val="00A651"/>
      </a:accent2>
      <a:accent3>
        <a:srgbClr val="FF8C00"/>
      </a:accent3>
      <a:accent4>
        <a:srgbClr val="003F72"/>
      </a:accent4>
      <a:accent5>
        <a:srgbClr val="F0F4F8"/>
      </a:accent5>
      <a:accent6>
        <a:srgbClr val="6C7A89"/>
      </a:accent6>
      <a:hlink>
        <a:srgbClr val="00A651"/>
      </a:hlink>
      <a:folHlink>
        <a:srgbClr val="FF8C00"/>
      </a:folHlink>
    </a:clrScheme>
    <a:fontScheme name="cnooc_new_energy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nooc_new_energ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2026-08-10T19:13:52Z</dcterms:created>
  <dcterms:modified xsi:type="dcterms:W3CDTF">2026-08-10T19:13:52Z</dcterms:modified>
  <cp:category/>
  <cp:contentStatus/>
</cp:coreProperties>
</file>